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1.xml" ContentType="application/vnd.openxmlformats-officedocument.drawingml.chart+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339" r:id="rId20"/>
    <p:sldId id="275" r:id="rId21"/>
    <p:sldId id="276" r:id="rId22"/>
    <p:sldId id="277" r:id="rId23"/>
    <p:sldId id="278" r:id="rId24"/>
    <p:sldId id="279" r:id="rId25"/>
    <p:sldId id="280" r:id="rId26"/>
    <p:sldId id="281" r:id="rId27"/>
    <p:sldId id="282" r:id="rId28"/>
    <p:sldId id="283" r:id="rId29"/>
    <p:sldId id="346" r:id="rId30"/>
    <p:sldId id="347" r:id="rId31"/>
    <p:sldId id="286" r:id="rId32"/>
    <p:sldId id="287" r:id="rId33"/>
    <p:sldId id="288" r:id="rId34"/>
    <p:sldId id="289" r:id="rId35"/>
    <p:sldId id="290" r:id="rId36"/>
    <p:sldId id="291" r:id="rId37"/>
    <p:sldId id="292" r:id="rId38"/>
    <p:sldId id="293" r:id="rId39"/>
    <p:sldId id="294" r:id="rId40"/>
    <p:sldId id="350" r:id="rId41"/>
    <p:sldId id="296" r:id="rId42"/>
    <p:sldId id="349" r:id="rId43"/>
    <p:sldId id="298" r:id="rId44"/>
    <p:sldId id="299" r:id="rId45"/>
    <p:sldId id="300" r:id="rId46"/>
    <p:sldId id="301" r:id="rId47"/>
    <p:sldId id="30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rts/_rels/chart1.xml.rels><Relationships xmlns="http://schemas.openxmlformats.org/package/2006/relationships"><Relationship Id="rIdChartSnapshot1" Type="http://schemas.openxmlformats.org/officeDocument/2006/relationships/package" Target="../embeddings/chart-data-snapshot-00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Tokens</c:v>
          </c:tx>
          <c:spPr>
            <a:solidFill>
              <a:srgbClr val="007B92"/>
            </a:solidFill>
          </c:spPr>
          <c:invertIfNegative val="0"/>
          <c:dLbls>
            <c:spPr>
              <a:noFill/>
              <a:ln>
                <a:noFill/>
              </a:ln>
              <a:effectLst/>
            </c:spPr>
            <c:txPr>
              <a:bodyPr anchorCtr="1"/>
              <a:lstStyle/>
              <a:p>
                <a:pPr>
                  <a:defRPr sz="1875" b="1">
                    <a:solidFill>
                      <a:srgbClr val="171717"/>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E1</c:v>
                </c:pt>
                <c:pt idx="1">
                  <c:v>E2</c:v>
                </c:pt>
                <c:pt idx="2">
                  <c:v>E3</c:v>
                </c:pt>
                <c:pt idx="3">
                  <c:v>E4</c:v>
                </c:pt>
              </c:strCache>
            </c:strRef>
          </c:cat>
          <c:val>
            <c:numRef>
              <c:f>'Chart Data'!$B$2:$B$5</c:f>
              <c:numCache>
                <c:formatCode>General</c:formatCode>
                <c:ptCount val="4"/>
                <c:pt idx="0">
                  <c:v>12</c:v>
                </c:pt>
                <c:pt idx="1">
                  <c:v>2</c:v>
                </c:pt>
                <c:pt idx="2">
                  <c:v>1</c:v>
                </c:pt>
                <c:pt idx="3">
                  <c:v>1</c:v>
                </c:pt>
              </c:numCache>
            </c:numRef>
          </c:val>
          <c:extLst>
            <c:ext xmlns:c16="http://schemas.microsoft.com/office/drawing/2014/chart" uri="{C3380CC4-5D6E-409C-BE32-E72D297353CC}">
              <c16:uniqueId val="{00000000-D27F-46F7-A459-0AC9EB49F371}"/>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875">
                <a:solidFill>
                  <a:srgbClr val="171717"/>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6"/>
          <c:min val="0"/>
        </c:scaling>
        <c:delete val="0"/>
        <c:axPos val="l"/>
        <c:majorGridlines>
          <c:spPr>
            <a:ln w="9525">
              <a:solidFill>
                <a:srgbClr val="DDDDDD"/>
              </a:solidFill>
            </a:ln>
          </c:spPr>
        </c:majorGridlines>
        <c:title>
          <c:tx>
            <c:rich>
              <a:bodyPr/>
              <a:lstStyle/>
              <a:p>
                <a:r>
                  <a:rPr sz="1800">
                    <a:latin typeface="Calibri"/>
                    <a:ea typeface="Calibri"/>
                    <a:cs typeface="Calibri"/>
                  </a:rPr>
                  <a:t>Tokens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650">
                <a:solidFill>
                  <a:srgbClr val="666666"/>
                </a:solidFill>
                <a:latin typeface="Calibri"/>
                <a:ea typeface="Calibri"/>
                <a:cs typeface="Calibri"/>
              </a:defRPr>
            </a:pPr>
            <a:endParaRPr lang="en-US"/>
          </a:p>
        </c:txPr>
        <c:crossAx val="48650112"/>
        <c:crosses val="autoZero"/>
        <c:crossBetween val="between"/>
        <c:majorUnit val="4"/>
      </c:valAx>
      <c:spPr>
        <a:solidFill>
          <a:srgbClr val="FFFFFF"/>
        </a:solidFill>
      </c:spPr>
    </c:plotArea>
    <c:plotVisOnly val="1"/>
    <c:dispBlanksAs val="zero"/>
    <c:showDLblsOverMax val="1"/>
  </c:chart>
  <c:spPr>
    <a:solidFill>
      <a:srgbClr val="FFFFFF"/>
    </a:solidFill>
  </c:spPr>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Continuation of Lecture 3. All 48 original foundation slides remain in Lecture 3. This lecture combines the original 27 architecture slides with selected explanations and figures from CME 295 Lecture 2 by Afshine Amidi and Shervine Amidi.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original course lecture 3, PDF page 50, Git a085b64. Roadmap, not a list to memorize. Begin with normalization and the FFN, then explain the positional rotation. Many modern implementations also omit bias terms in linear layers and normalization.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86. Source: fall26-cme295-lecture2.pdf. The normalized vector has approximately zero mean and unit variance before the learned affine transformation. Statistics are per token, across d hidden coordinates.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84–85. Source: fall26-cme295-lecture2.pdf. The comparison combines the fully visible half of each reveal. Sublayer means either attention or the FFN.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87. Source: fall26-cme295-lecture2.pdf. Formula includes numerical stabilization epsilon. RMS is defined using the mean of squared coordinates.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original course lecture 3, PDF page 53, Git a085b64. Values transcribed from the original table. Arithmetic shares and runtime shares each sum to 100%. This is an example measurement, not a universal cost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original course lecture 3, PDF page 54, Git a085b64. The product is element-wise. W1 and V map the model dimension to the FFN hidden dimension; W2 projects 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original course lecture 3, PDF page 55, Git a085b64. SiLU equals Swish with beta equal to one. Source formula uses Swish_1.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original course lecture 3, PDF page 55, 60, Git a085b64. Parameter counts follow directly from matrix dimensions: d by f plus f by d, versus two d by f matrices plus one f by 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original course lecture 3, PDF page 61, Git a085b64. The figure illustrates layer placement. Wider is not universally faster: communication and kernel efficiency also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transition. Connect the new question with the preceding section before introducing notation.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52. Source: fall26-cme295-lecture2.pdf. The statement concerns content-only attention before positional signals and masking. A causal mask already imposes an ordering constraint.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53–54. Source: fall26-cme295-lecture2.pdf. The faded architecture is intentional source emphasis: the addition of positional information is highlighted.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55. Source: fall26-cme295-lecture2.pdf.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58. Source: fall26-cme295-lecture2.pdf. These formulas can be evaluated for unseen positions. That does not by itself guarantee reliable generalization to longer sequences.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66. Source: fall26-cme295-lecture2.pdf. This isolates the positional component of an attention score. Content still affects the score. The next slides show how RoPE obtains relative positional dependence.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71. Source: fall26-cme295-lecture2.pdf. For column vectors the rotated query is R_m q and the rotated key is R_n k. The source illustration labels equivalent row-vector notation.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original course lecture 3, PDF page 58, Git a085b64. Adapted from Afshine Amidi and Shervine Amidi, CME 295 Lecture 2, PDF page 73. Source: fall26-cme295-lecture2.pdf. Orthogonal rotations satisfy R_m^T R_n = R_(n-m). The next slide assembles these 2D rotations into the full block-diagonal matrix. Adding absolute position vectors to content creates content-position cross terms in a dot product. RoPE makes the positional part depend on the relative rotation instead.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Original lecture 3 page 59. Su et al., 2021, RoFormer. Each 2 by 2 diagonal block rotates one coordinate pair. Its angle is m times theta_i. Point out the repeated blocks rather than asking students to memorize the full matrix. The input projection W creates the query or key before rotation.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857100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transition. Connect the new question with the preceding section before introducing notation.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original course lecture 3, PDF page 62, Git a085b64. Illustration already used in course lecture 10. https://jax-ml.github.io/scaling-book/inference/ . The figure contrasts prefill with subsequent cached decoding steps; the exact compute/memory balance depends on batch size and hardware.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Derived from the cache shape for conventional MHA, MQA and GQA. Source: lecture_10.py, kv_cache_size_per_seq. Assumes equal key/value head dimensions and an uncompressed cache. Cache metadata and allocation overhead are excluded.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83. Source: fall26-cme295-lecture2.pdf. G denotes the number of KV heads, h the number of query heads. Only the active final row is retained.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81. Source: fall26-cme295-lecture2.pdf. Cache ratios refer only to stored keys and values at the same B, T, L, head dimension and dtype.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82. Source: fall26-cme295-lecture2.pdf. The illustration shows one group, repeated G times. Assume the number of query heads is divisible by 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Worked example derived from 2*B*T*L*G*d_h*b, with B=1, T=4096, L=32, d_h=128 and b=2. GiB=2^30 bytes. This is only K/V storage, excluding model weights, activations, allocator overhead and metadata. It illustrates memory scaling, not equal model quality.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lecture 3 page 65 and CME 295 lecture 2 pages 77-78. Native schematic uses a causal decoder, avoiding the bidirectional/global-CLS pattern in the reference. Rows are query positions, columns are key positions. Teal cells are visible attention entries. w includes the current position. The complexity concerns attention scores at fixed head dimensions. Sparse patterns may also add selected distant connections.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78. Source: fall26-cme295-lecture2.pdf. The right-hand figure in the source illustrates growth of receptive field across layers. This is indirect information flow, not full attention at every layer.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Original lecture 3 page 66. Shen et al., 2018; Katharopoulos et al., 2020. Matrix associativity applies here only after removing the softmax. This is a change to the attention mechanism, not an exact rearrangement of softmax attention. Q, K and V are projected matrices, unlike the weight-matrix notation used earlier in Lecture 3.</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417145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Original lecture 3 page 67. The recurrence S_t=S_(t-1)+k_t v_t^T, y_t=q_t^T S_t uses column k_t and v_t. S_t has d_k by d_v entries. This simplified unnormalized linear attention uses no softmax. Feature maps and normalization appear in other linear-attention variants. The state compresses the past, so individual token values are no longer independently accessible.</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864907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Comparison of the preceding mechanisms. K/V sharing changes the parameterization and cache size. Local and sparse attention change connectivity. The simplified linear attention just shown changes the weighting rule and stores accumulated statistics. Avoid implying identical quality or universally faster execution.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transition. Connect the new question with the preceding section before introducing notation.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43. Source: fall26-cme295-lecture2.pdf. The diagram highlights the FFN position. Architectures may mix dense and MoE layers.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38. Source: fall26-cme295-lecture2.pdf. G is the router. Each E_i is an expert network. Sparse activation changes active computation, while all expert weights still require storage.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top-2 routing example, not experimental data. Sum of probabilities is 1. Selected probabilities sum to 0.85. This example renormalizes after top-k selection. Other implementations retain the original probabilities. All entries are probabilities, not expert output values. k is the number of active experts for one token.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41. Source: fall26-cme295-lecture2.pdf. Many implementations select top-k router logits. Normalizing all probabilities before selection or renormalizing selected weights are distinct variants. The displayed equation leaves that choice in 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Re-expresses the original lecture 3 page 71 in the same notation as the preceding example. x is the token representation, W_r is the learned router projection, p is a probability vector, I_k is the selected index set, E_i is expert i and y is the combined expert output. Unselected weights are zero. The surrounding Transformer block adds the residual. Renormalization shown here is one implementation choice; some architectures use the selected original probabilities.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44. Source: fall26-cme295-lecture2.pdf. Collapse is an extreme case of skewed assignments. Token capacity handling differs by implementation. The native chart is an illustrative top-1 dispatch count [12,2,1,1], not measurements from the cited paper. Equal counts would be four tokens per expert. Show how the busiest expert can dominate a synchronized batch.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Afshine Amidi and Shervine Amidi, CME 295 Lecture 2, PDF page 45. Source: fall26-cme295-lecture2.pdf. This definition of f_i follows top-1 Switch routing. P_i averages the differentiable router probability over tokens. The assignment fractions are treated as fixed within the loss gradient. The normalization must be adapted for top-k dispatch.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Original lecture 3 page 70. Fedus et al., 2022. Token-choice routing selects experts for each token. Expert-choice routing selects tokens for each expert, usually with fixed expert capacity. Global assignment optimizes the routing under capacity constraints. These approaches trade off load balance, assignment flexibility and routing overhead.</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358232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original course lecture 3, PDF page 72, Git a085b64. Fine-grained segmentation and shared expert isolation are separate architectural choices.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Original lecture 3 page 69. Fedus et al., 2022, Switch Transformers. These experiments compare model quality at matched per-token FLOPs. The x-axis on the left is total sparse parameter count; more experts increase total memory. The figure is evidence for this experimental setting, not a universal speedup guarantee.</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545903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original course lecture 3, PDF page 74, Git a085b64. Crops retain the Expert and Data Parallelism column from the source figure. The weights are partitioned by expert. Devices cooperate on the batch; dispatch and combine are shown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original course lecture 3, PDF page 74, Git a085b64. All-to-all dispatch and combine appear explicitly in the source diagram. With top-k routing, a token can be sent to multiple experts. Communication is a material part of execution cost. The crop enlarges the routing and expert-computation region from the original figure. Its surrounding dense Transformer blocks were already explained earlier in the lecture.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original course lecture 3, PDF page 75, Git a085b64. The figure compares batched, block-diagonal and block-sparse matrix multiplication. Grouped GEMM is another execution strategy; this source figure specifically illustrates block sparsity.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Adapted from the original course lecture 3, PDF page 76, Git a085b64. Sparse activation does not imply that total parameter memory shrinks, or that wall-clock speed scales directly with the active parameter count.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synthesis of Lecture 4. Ask students to connect each mechanism to the resource it changes: normalization and residuals to training behavior, positional rotation to attention scores, K/V sharing and windows to memory and work, and MoE to capacity plus communication. The next lecture examines GPU execution.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679A7AB-AB3C-4C5E-B98A-539C6EE35B61}"/>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EC29E026-CE75-488B-8FB3-8D1237A5A9A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A89DC7D-3A15-4CF1-8406-A941401B1F6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CD96243-CAEE-474E-AE5D-58D89F3A8D6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E0445BDC-16A2-4BCC-864A-2FE941D8E04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D173EEA-C57F-4739-B33C-D8167C81EA7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EDD32F6-F64D-4E6E-9C3F-E932F5EF2F8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102A51E-D68F-47FF-8354-5554A0F18C5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97197B2-769C-4F96-A023-0A92510D9E7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E195574-F5F5-47FF-9D0F-C31B7FB69B5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6C78366-2FD3-4963-8A6B-58FB9B8C7E75}"/>
              </a:ext>
            </a:extLst>
          </p:cNvPr>
          <p:cNvSpPr>
            <a:spLocks noGrp="1"/>
          </p:cNvSpPr>
          <p:nvPr/>
        </p:nvSpPr>
        <p:spPr>
          <a:xfrm>
            <a:off x="762000" y="2000250"/>
            <a:ext cx="10668000" cy="1762125"/>
          </a:xfrm>
          <a:prstGeom prst="rect">
            <a:avLst/>
          </a:prstGeom>
          <a:noFill/>
          <a:ln w="0">
            <a:noFill/>
          </a:ln>
        </p:spPr>
        <p:txBody>
          <a:bodyPr wrap="square" lIns="0" tIns="0" rIns="0" bIns="0" anchor="t">
            <a:noAutofit/>
          </a:bodyPr>
          <a:lstStyle>
            <a:defPPr algn="l">
              <a:defRPr sz="4650" b="1">
                <a:solidFill>
                  <a:srgbClr val="007B92"/>
                </a:solidFill>
                <a:latin typeface="Calibri"/>
                <a:ea typeface="Calibri"/>
                <a:cs typeface="Calibri"/>
              </a:defRPr>
            </a:defPPr>
            <a:lvl1pPr algn="l">
              <a:defRPr sz="4650" b="1">
                <a:solidFill>
                  <a:srgbClr val="007B92"/>
                </a:solidFill>
                <a:latin typeface="Calibri"/>
                <a:ea typeface="Calibri"/>
                <a:cs typeface="Calibri"/>
              </a:defRPr>
            </a:lvl1pPr>
            <a:lvl2pPr algn="l">
              <a:defRPr sz="4650" b="1">
                <a:solidFill>
                  <a:srgbClr val="007B92"/>
                </a:solidFill>
                <a:latin typeface="Calibri"/>
                <a:ea typeface="Calibri"/>
                <a:cs typeface="Calibri"/>
              </a:defRPr>
            </a:lvl2pPr>
            <a:lvl3pPr algn="l">
              <a:defRPr sz="4650" b="1">
                <a:solidFill>
                  <a:srgbClr val="007B92"/>
                </a:solidFill>
                <a:latin typeface="Calibri"/>
                <a:ea typeface="Calibri"/>
                <a:cs typeface="Calibri"/>
              </a:defRPr>
            </a:lvl3pPr>
            <a:lvl4pPr algn="l">
              <a:defRPr sz="4650" b="1">
                <a:solidFill>
                  <a:srgbClr val="007B92"/>
                </a:solidFill>
                <a:latin typeface="Calibri"/>
                <a:ea typeface="Calibri"/>
                <a:cs typeface="Calibri"/>
              </a:defRPr>
            </a:lvl4pPr>
            <a:lvl5pPr algn="l">
              <a:defRPr sz="4650" b="1">
                <a:solidFill>
                  <a:srgbClr val="007B92"/>
                </a:solidFill>
                <a:latin typeface="Calibri"/>
                <a:ea typeface="Calibri"/>
                <a:cs typeface="Calibri"/>
              </a:defRPr>
            </a:lvl5pPr>
            <a:lvl6pPr algn="l">
              <a:defRPr sz="4650" b="1">
                <a:solidFill>
                  <a:srgbClr val="007B92"/>
                </a:solidFill>
                <a:latin typeface="Calibri"/>
                <a:ea typeface="Calibri"/>
                <a:cs typeface="Calibri"/>
              </a:defRPr>
            </a:lvl6pPr>
            <a:lvl7pPr algn="l">
              <a:defRPr sz="4650" b="1">
                <a:solidFill>
                  <a:srgbClr val="007B92"/>
                </a:solidFill>
                <a:latin typeface="Calibri"/>
                <a:ea typeface="Calibri"/>
                <a:cs typeface="Calibri"/>
              </a:defRPr>
            </a:lvl7pPr>
            <a:lvl8pPr algn="l">
              <a:defRPr sz="4650" b="1">
                <a:solidFill>
                  <a:srgbClr val="007B92"/>
                </a:solidFill>
                <a:latin typeface="Calibri"/>
                <a:ea typeface="Calibri"/>
                <a:cs typeface="Calibri"/>
              </a:defRPr>
            </a:lvl8pPr>
            <a:lvl9pPr algn="l">
              <a:defRPr sz="4650" b="1">
                <a:solidFill>
                  <a:srgbClr val="007B92"/>
                </a:solidFill>
                <a:latin typeface="Calibri"/>
                <a:ea typeface="Calibri"/>
                <a:cs typeface="Calibri"/>
              </a:defRPr>
            </a:lvl9pPr>
          </a:lstStyle>
          <a:p>
            <a:pPr algn="l">
              <a:defRPr sz="4650" b="1">
                <a:solidFill>
                  <a:srgbClr val="007B92"/>
                </a:solidFill>
                <a:latin typeface="Calibri"/>
                <a:ea typeface="Calibri"/>
                <a:cs typeface="Calibri"/>
              </a:defRPr>
            </a:pPr>
            <a:r>
              <a:rPr sz="4650" b="1">
                <a:solidFill>
                  <a:srgbClr val="007B92"/>
                </a:solidFill>
                <a:latin typeface="Calibri"/>
                <a:ea typeface="Calibri"/>
                <a:cs typeface="Calibri"/>
              </a:rPr>
              <a:t>Modern Transformer</a:t>
            </a:r>
          </a:p>
          <a:p>
            <a:pPr algn="l">
              <a:defRPr sz="4650" b="1">
                <a:solidFill>
                  <a:srgbClr val="007B92"/>
                </a:solidFill>
                <a:latin typeface="Calibri"/>
                <a:ea typeface="Calibri"/>
                <a:cs typeface="Calibri"/>
              </a:defRPr>
            </a:pPr>
            <a:r>
              <a:rPr sz="4650" b="1">
                <a:solidFill>
                  <a:srgbClr val="007B92"/>
                </a:solidFill>
                <a:latin typeface="Calibri"/>
                <a:ea typeface="Calibri"/>
                <a:cs typeface="Calibri"/>
              </a:rPr>
              <a:t>design choices</a:t>
            </a:r>
          </a:p>
        </p:txBody>
      </p:sp>
      <p:sp>
        <p:nvSpPr>
          <p:cNvPr id="2" name="Rectangle 1">
            <a:extLst>
              <a:ext uri="{FF2B5EF4-FFF2-40B4-BE49-F238E27FC236}">
                <a16:creationId xmlns:a16="http://schemas.microsoft.com/office/drawing/2014/main" id="{C12762AA-2526-4201-B8E8-F431DF068E15}"/>
              </a:ext>
            </a:extLst>
          </p:cNvPr>
          <p:cNvSpPr>
            <a:spLocks noGrp="1"/>
          </p:cNvSpPr>
          <p:nvPr/>
        </p:nvSpPr>
        <p:spPr>
          <a:xfrm>
            <a:off x="762000" y="4143375"/>
            <a:ext cx="10477500" cy="952500"/>
          </a:xfrm>
          <a:prstGeom prst="rect">
            <a:avLst/>
          </a:prstGeom>
          <a:noFill/>
          <a:ln w="0">
            <a:noFill/>
          </a:ln>
        </p:spPr>
        <p:txBody>
          <a:bodyPr wrap="square" lIns="0" tIns="0" rIns="0" bIns="0" anchor="t">
            <a:noAutofit/>
          </a:bodyPr>
          <a:lstStyle>
            <a:defPPr algn="l">
              <a:defRPr sz="2550" b="0">
                <a:solidFill>
                  <a:srgbClr val="171717"/>
                </a:solidFill>
                <a:latin typeface="Calibri"/>
                <a:ea typeface="Calibri"/>
                <a:cs typeface="Calibri"/>
              </a:defRPr>
            </a:defPPr>
            <a:lvl1pPr algn="l">
              <a:defRPr sz="2550" b="0">
                <a:solidFill>
                  <a:srgbClr val="171717"/>
                </a:solidFill>
                <a:latin typeface="Calibri"/>
                <a:ea typeface="Calibri"/>
                <a:cs typeface="Calibri"/>
              </a:defRPr>
            </a:lvl1pPr>
            <a:lvl2pPr algn="l">
              <a:defRPr sz="2550" b="0">
                <a:solidFill>
                  <a:srgbClr val="171717"/>
                </a:solidFill>
                <a:latin typeface="Calibri"/>
                <a:ea typeface="Calibri"/>
                <a:cs typeface="Calibri"/>
              </a:defRPr>
            </a:lvl2pPr>
            <a:lvl3pPr algn="l">
              <a:defRPr sz="2550" b="0">
                <a:solidFill>
                  <a:srgbClr val="171717"/>
                </a:solidFill>
                <a:latin typeface="Calibri"/>
                <a:ea typeface="Calibri"/>
                <a:cs typeface="Calibri"/>
              </a:defRPr>
            </a:lvl3pPr>
            <a:lvl4pPr algn="l">
              <a:defRPr sz="2550" b="0">
                <a:solidFill>
                  <a:srgbClr val="171717"/>
                </a:solidFill>
                <a:latin typeface="Calibri"/>
                <a:ea typeface="Calibri"/>
                <a:cs typeface="Calibri"/>
              </a:defRPr>
            </a:lvl4pPr>
            <a:lvl5pPr algn="l">
              <a:defRPr sz="2550" b="0">
                <a:solidFill>
                  <a:srgbClr val="171717"/>
                </a:solidFill>
                <a:latin typeface="Calibri"/>
                <a:ea typeface="Calibri"/>
                <a:cs typeface="Calibri"/>
              </a:defRPr>
            </a:lvl5pPr>
            <a:lvl6pPr algn="l">
              <a:defRPr sz="2550" b="0">
                <a:solidFill>
                  <a:srgbClr val="171717"/>
                </a:solidFill>
                <a:latin typeface="Calibri"/>
                <a:ea typeface="Calibri"/>
                <a:cs typeface="Calibri"/>
              </a:defRPr>
            </a:lvl6pPr>
            <a:lvl7pPr algn="l">
              <a:defRPr sz="2550" b="0">
                <a:solidFill>
                  <a:srgbClr val="171717"/>
                </a:solidFill>
                <a:latin typeface="Calibri"/>
                <a:ea typeface="Calibri"/>
                <a:cs typeface="Calibri"/>
              </a:defRPr>
            </a:lvl7pPr>
            <a:lvl8pPr algn="l">
              <a:defRPr sz="2550" b="0">
                <a:solidFill>
                  <a:srgbClr val="171717"/>
                </a:solidFill>
                <a:latin typeface="Calibri"/>
                <a:ea typeface="Calibri"/>
                <a:cs typeface="Calibri"/>
              </a:defRPr>
            </a:lvl8pPr>
            <a:lvl9pPr algn="l">
              <a:defRPr sz="2550" b="0">
                <a:solidFill>
                  <a:srgbClr val="171717"/>
                </a:solidFill>
                <a:latin typeface="Calibri"/>
                <a:ea typeface="Calibri"/>
                <a:cs typeface="Calibri"/>
              </a:defRPr>
            </a:lvl9pPr>
          </a:lstStyle>
          <a:p>
            <a:pPr algn="l">
              <a:defRPr sz="2550" b="0">
                <a:solidFill>
                  <a:srgbClr val="171717"/>
                </a:solidFill>
                <a:latin typeface="Calibri"/>
                <a:ea typeface="Calibri"/>
                <a:cs typeface="Calibri"/>
              </a:defRPr>
            </a:pPr>
            <a:r>
              <a:rPr sz="2550" b="0">
                <a:solidFill>
                  <a:srgbClr val="171717"/>
                </a:solidFill>
                <a:latin typeface="Calibri"/>
                <a:ea typeface="Calibri"/>
                <a:cs typeface="Calibri"/>
              </a:rPr>
              <a:t>Stable blocks, position information, efficient attention and experts</a:t>
            </a:r>
          </a:p>
        </p:txBody>
      </p:sp>
      <p:sp>
        <p:nvSpPr>
          <p:cNvPr id="3" name="Rectangle 2">
            <a:extLst>
              <a:ext uri="{FF2B5EF4-FFF2-40B4-BE49-F238E27FC236}">
                <a16:creationId xmlns:a16="http://schemas.microsoft.com/office/drawing/2014/main" id="{9F8B6490-481A-4882-AF41-257FD7DE7398}"/>
              </a:ext>
            </a:extLst>
          </p:cNvPr>
          <p:cNvSpPr>
            <a:spLocks noGrp="1"/>
          </p:cNvSpPr>
          <p:nvPr/>
        </p:nvSpPr>
        <p:spPr>
          <a:xfrm>
            <a:off x="762000" y="5362575"/>
            <a:ext cx="10001250" cy="857250"/>
          </a:xfrm>
          <a:prstGeom prst="rect">
            <a:avLst/>
          </a:prstGeom>
          <a:noFill/>
          <a:ln w="0">
            <a:noFill/>
          </a:ln>
        </p:spPr>
        <p:txBody>
          <a:bodyPr wrap="square" lIns="0" tIns="0" rIns="0" bIns="0" anchor="t">
            <a:noAutofit/>
          </a:bodyPr>
          <a:lstStyle>
            <a:defPPr algn="l">
              <a:defRPr sz="2100" b="0">
                <a:solidFill>
                  <a:srgbClr val="171717"/>
                </a:solidFill>
                <a:latin typeface="Calibri"/>
                <a:ea typeface="Calibri"/>
                <a:cs typeface="Calibri"/>
              </a:defRPr>
            </a:defPPr>
            <a:lvl1pPr algn="l">
              <a:defRPr sz="2100" b="0">
                <a:solidFill>
                  <a:srgbClr val="171717"/>
                </a:solidFill>
                <a:latin typeface="Calibri"/>
                <a:ea typeface="Calibri"/>
                <a:cs typeface="Calibri"/>
              </a:defRPr>
            </a:lvl1pPr>
            <a:lvl2pPr algn="l">
              <a:defRPr sz="2100" b="0">
                <a:solidFill>
                  <a:srgbClr val="171717"/>
                </a:solidFill>
                <a:latin typeface="Calibri"/>
                <a:ea typeface="Calibri"/>
                <a:cs typeface="Calibri"/>
              </a:defRPr>
            </a:lvl2pPr>
            <a:lvl3pPr algn="l">
              <a:defRPr sz="2100" b="0">
                <a:solidFill>
                  <a:srgbClr val="171717"/>
                </a:solidFill>
                <a:latin typeface="Calibri"/>
                <a:ea typeface="Calibri"/>
                <a:cs typeface="Calibri"/>
              </a:defRPr>
            </a:lvl3pPr>
            <a:lvl4pPr algn="l">
              <a:defRPr sz="2100" b="0">
                <a:solidFill>
                  <a:srgbClr val="171717"/>
                </a:solidFill>
                <a:latin typeface="Calibri"/>
                <a:ea typeface="Calibri"/>
                <a:cs typeface="Calibri"/>
              </a:defRPr>
            </a:lvl4pPr>
            <a:lvl5pPr algn="l">
              <a:defRPr sz="2100" b="0">
                <a:solidFill>
                  <a:srgbClr val="171717"/>
                </a:solidFill>
                <a:latin typeface="Calibri"/>
                <a:ea typeface="Calibri"/>
                <a:cs typeface="Calibri"/>
              </a:defRPr>
            </a:lvl5pPr>
            <a:lvl6pPr algn="l">
              <a:defRPr sz="2100" b="0">
                <a:solidFill>
                  <a:srgbClr val="171717"/>
                </a:solidFill>
                <a:latin typeface="Calibri"/>
                <a:ea typeface="Calibri"/>
                <a:cs typeface="Calibri"/>
              </a:defRPr>
            </a:lvl6pPr>
            <a:lvl7pPr algn="l">
              <a:defRPr sz="2100" b="0">
                <a:solidFill>
                  <a:srgbClr val="171717"/>
                </a:solidFill>
                <a:latin typeface="Calibri"/>
                <a:ea typeface="Calibri"/>
                <a:cs typeface="Calibri"/>
              </a:defRPr>
            </a:lvl7pPr>
            <a:lvl8pPr algn="l">
              <a:defRPr sz="2100" b="0">
                <a:solidFill>
                  <a:srgbClr val="171717"/>
                </a:solidFill>
                <a:latin typeface="Calibri"/>
                <a:ea typeface="Calibri"/>
                <a:cs typeface="Calibri"/>
              </a:defRPr>
            </a:lvl8pPr>
            <a:lvl9pPr algn="l">
              <a:defRPr sz="2100" b="0">
                <a:solidFill>
                  <a:srgbClr val="171717"/>
                </a:solidFill>
                <a:latin typeface="Calibri"/>
                <a:ea typeface="Calibri"/>
                <a:cs typeface="Calibri"/>
              </a:defRPr>
            </a:lvl9pPr>
          </a:lstStyle>
          <a:p>
            <a:pPr algn="l">
              <a:defRPr sz="2100" b="0">
                <a:solidFill>
                  <a:srgbClr val="171717"/>
                </a:solidFill>
                <a:latin typeface="Calibri"/>
                <a:ea typeface="Calibri"/>
                <a:cs typeface="Calibri"/>
              </a:defRPr>
            </a:pPr>
            <a:r>
              <a:rPr sz="2100" b="0">
                <a:solidFill>
                  <a:srgbClr val="171717"/>
                </a:solidFill>
                <a:latin typeface="Calibri"/>
                <a:ea typeface="Calibri"/>
                <a:cs typeface="Calibri"/>
              </a:rPr>
              <a:t>Parallel Programming for LLMs</a:t>
            </a:r>
          </a:p>
          <a:p>
            <a:pPr algn="l">
              <a:defRPr sz="2100" b="0">
                <a:solidFill>
                  <a:srgbClr val="171717"/>
                </a:solidFill>
                <a:latin typeface="Calibri"/>
                <a:ea typeface="Calibri"/>
                <a:cs typeface="Calibri"/>
              </a:defRPr>
            </a:pPr>
            <a:r>
              <a:rPr sz="2100" b="0">
                <a:solidFill>
                  <a:srgbClr val="171717"/>
                </a:solidFill>
                <a:latin typeface="Calibri"/>
                <a:ea typeface="Calibri"/>
                <a:cs typeface="Calibri"/>
              </a:rPr>
              <a:t>Lecture 4</a:t>
            </a:r>
          </a:p>
        </p:txBody>
      </p:sp>
      <p:sp>
        <p:nvSpPr>
          <p:cNvPr id="4" name="Slide number">
            <a:extLst>
              <a:ext uri="{FF2B5EF4-FFF2-40B4-BE49-F238E27FC236}">
                <a16:creationId xmlns:a16="http://schemas.microsoft.com/office/drawing/2014/main" id="{2DD7165A-F289-453B-888A-5A8DF940B481}"/>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1</a:t>
            </a:r>
          </a:p>
        </p:txBody>
      </p:sp>
    </p:spTree>
    <p:extLst>
      <p:ext uri="{BB962C8B-B14F-4D97-AF65-F5344CB8AC3E}">
        <p14:creationId xmlns:p14="http://schemas.microsoft.com/office/powerpoint/2010/main" val="303195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CC9C30FA-B4BA-4D13-9287-D7207BC92CCF}"/>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From the basic decoder to a modern block</a:t>
            </a:r>
          </a:p>
        </p:txBody>
      </p:sp>
      <p:pic>
        <p:nvPicPr>
          <p:cNvPr id="2" name="Picture 1">
            <a:extLst>
              <a:ext uri="{FF2B5EF4-FFF2-40B4-BE49-F238E27FC236}">
                <a16:creationId xmlns:a16="http://schemas.microsoft.com/office/drawing/2014/main" id="{E5C70DDE-B5ED-4738-8DD2-67C260353772}"/>
              </a:ext>
            </a:extLst>
          </p:cNvPr>
          <p:cNvPicPr>
            <a:picLocks noChangeAspect="1"/>
          </p:cNvPicPr>
          <p:nvPr/>
        </p:nvPicPr>
        <p:blipFill>
          <a:blip r:embed="rId3"/>
          <a:stretch/>
        </p:blipFill>
        <p:spPr>
          <a:xfrm>
            <a:off x="523875" y="1543358"/>
            <a:ext cx="6096000" cy="4533284"/>
          </a:xfrm>
          <a:prstGeom prst="rect">
            <a:avLst/>
          </a:prstGeom>
        </p:spPr>
      </p:pic>
      <p:sp>
        <p:nvSpPr>
          <p:cNvPr id="3" name="Rectangle 2">
            <a:extLst>
              <a:ext uri="{FF2B5EF4-FFF2-40B4-BE49-F238E27FC236}">
                <a16:creationId xmlns:a16="http://schemas.microsoft.com/office/drawing/2014/main" id="{41DE56E1-BBD6-4914-8B04-E1D7935AC38A}"/>
              </a:ext>
            </a:extLst>
          </p:cNvPr>
          <p:cNvSpPr>
            <a:spLocks noGrp="1"/>
          </p:cNvSpPr>
          <p:nvPr/>
        </p:nvSpPr>
        <p:spPr>
          <a:xfrm>
            <a:off x="7000875" y="1381125"/>
            <a:ext cx="4381500" cy="428625"/>
          </a:xfrm>
          <a:prstGeom prst="rect">
            <a:avLst/>
          </a:prstGeom>
          <a:noFill/>
          <a:ln w="0">
            <a:noFill/>
          </a:ln>
        </p:spPr>
        <p:txBody>
          <a:bodyPr wrap="square" lIns="0" tIns="0" rIns="0" bIns="0" anchor="t">
            <a:noAutofit/>
          </a:bodyPr>
          <a:lstStyle>
            <a:defPPr algn="l">
              <a:defRPr sz="2325" b="1">
                <a:solidFill>
                  <a:srgbClr val="171717"/>
                </a:solidFill>
                <a:latin typeface="Calibri"/>
                <a:ea typeface="Calibri"/>
                <a:cs typeface="Calibri"/>
              </a:defRPr>
            </a:defPPr>
            <a:lvl1pPr algn="l">
              <a:defRPr sz="2325" b="1">
                <a:solidFill>
                  <a:srgbClr val="171717"/>
                </a:solidFill>
                <a:latin typeface="Calibri"/>
                <a:ea typeface="Calibri"/>
                <a:cs typeface="Calibri"/>
              </a:defRPr>
            </a:lvl1pPr>
            <a:lvl2pPr algn="l">
              <a:defRPr sz="2325" b="1">
                <a:solidFill>
                  <a:srgbClr val="171717"/>
                </a:solidFill>
                <a:latin typeface="Calibri"/>
                <a:ea typeface="Calibri"/>
                <a:cs typeface="Calibri"/>
              </a:defRPr>
            </a:lvl2pPr>
            <a:lvl3pPr algn="l">
              <a:defRPr sz="2325" b="1">
                <a:solidFill>
                  <a:srgbClr val="171717"/>
                </a:solidFill>
                <a:latin typeface="Calibri"/>
                <a:ea typeface="Calibri"/>
                <a:cs typeface="Calibri"/>
              </a:defRPr>
            </a:lvl3pPr>
            <a:lvl4pPr algn="l">
              <a:defRPr sz="2325" b="1">
                <a:solidFill>
                  <a:srgbClr val="171717"/>
                </a:solidFill>
                <a:latin typeface="Calibri"/>
                <a:ea typeface="Calibri"/>
                <a:cs typeface="Calibri"/>
              </a:defRPr>
            </a:lvl4pPr>
            <a:lvl5pPr algn="l">
              <a:defRPr sz="2325" b="1">
                <a:solidFill>
                  <a:srgbClr val="171717"/>
                </a:solidFill>
                <a:latin typeface="Calibri"/>
                <a:ea typeface="Calibri"/>
                <a:cs typeface="Calibri"/>
              </a:defRPr>
            </a:lvl5pPr>
            <a:lvl6pPr algn="l">
              <a:defRPr sz="2325" b="1">
                <a:solidFill>
                  <a:srgbClr val="171717"/>
                </a:solidFill>
                <a:latin typeface="Calibri"/>
                <a:ea typeface="Calibri"/>
                <a:cs typeface="Calibri"/>
              </a:defRPr>
            </a:lvl6pPr>
            <a:lvl7pPr algn="l">
              <a:defRPr sz="2325" b="1">
                <a:solidFill>
                  <a:srgbClr val="171717"/>
                </a:solidFill>
                <a:latin typeface="Calibri"/>
                <a:ea typeface="Calibri"/>
                <a:cs typeface="Calibri"/>
              </a:defRPr>
            </a:lvl7pPr>
            <a:lvl8pPr algn="l">
              <a:defRPr sz="2325" b="1">
                <a:solidFill>
                  <a:srgbClr val="171717"/>
                </a:solidFill>
                <a:latin typeface="Calibri"/>
                <a:ea typeface="Calibri"/>
                <a:cs typeface="Calibri"/>
              </a:defRPr>
            </a:lvl8pPr>
            <a:lvl9pPr algn="l">
              <a:defRPr sz="2325" b="1">
                <a:solidFill>
                  <a:srgbClr val="171717"/>
                </a:solidFill>
                <a:latin typeface="Calibri"/>
                <a:ea typeface="Calibri"/>
                <a:cs typeface="Calibri"/>
              </a:defRPr>
            </a:lvl9pPr>
          </a:lstStyle>
          <a:p>
            <a:pPr algn="l">
              <a:defRPr sz="2325" b="1">
                <a:solidFill>
                  <a:srgbClr val="171717"/>
                </a:solidFill>
                <a:latin typeface="Calibri"/>
                <a:ea typeface="Calibri"/>
                <a:cs typeface="Calibri"/>
              </a:defRPr>
            </a:pPr>
            <a:r>
              <a:rPr sz="2325" b="1">
                <a:solidFill>
                  <a:srgbClr val="171717"/>
                </a:solidFill>
                <a:latin typeface="Calibri"/>
                <a:ea typeface="Calibri"/>
                <a:cs typeface="Calibri"/>
              </a:rPr>
              <a:t>Stable activations</a:t>
            </a:r>
          </a:p>
        </p:txBody>
      </p:sp>
      <p:sp>
        <p:nvSpPr>
          <p:cNvPr id="4" name="Rectangle 3">
            <a:extLst>
              <a:ext uri="{FF2B5EF4-FFF2-40B4-BE49-F238E27FC236}">
                <a16:creationId xmlns:a16="http://schemas.microsoft.com/office/drawing/2014/main" id="{61613861-1C37-4A51-9722-777587C070C2}"/>
              </a:ext>
            </a:extLst>
          </p:cNvPr>
          <p:cNvSpPr>
            <a:spLocks noGrp="1"/>
          </p:cNvSpPr>
          <p:nvPr/>
        </p:nvSpPr>
        <p:spPr>
          <a:xfrm>
            <a:off x="7000875" y="1885950"/>
            <a:ext cx="4381500" cy="1095375"/>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Choose normalization and its position in the residual block.</a:t>
            </a:r>
          </a:p>
        </p:txBody>
      </p:sp>
      <p:sp>
        <p:nvSpPr>
          <p:cNvPr id="5" name="Rectangle 4">
            <a:extLst>
              <a:ext uri="{FF2B5EF4-FFF2-40B4-BE49-F238E27FC236}">
                <a16:creationId xmlns:a16="http://schemas.microsoft.com/office/drawing/2014/main" id="{94C0F819-147D-4D2D-BD0B-AF0EFBDC017D}"/>
              </a:ext>
            </a:extLst>
          </p:cNvPr>
          <p:cNvSpPr>
            <a:spLocks noGrp="1"/>
          </p:cNvSpPr>
          <p:nvPr/>
        </p:nvSpPr>
        <p:spPr>
          <a:xfrm>
            <a:off x="7000875" y="3238500"/>
            <a:ext cx="4381500" cy="428625"/>
          </a:xfrm>
          <a:prstGeom prst="rect">
            <a:avLst/>
          </a:prstGeom>
          <a:noFill/>
          <a:ln w="0">
            <a:noFill/>
          </a:ln>
        </p:spPr>
        <p:txBody>
          <a:bodyPr wrap="square" lIns="0" tIns="0" rIns="0" bIns="0" anchor="t">
            <a:noAutofit/>
          </a:bodyPr>
          <a:lstStyle>
            <a:defPPr algn="l">
              <a:defRPr sz="2325" b="1">
                <a:solidFill>
                  <a:srgbClr val="171717"/>
                </a:solidFill>
                <a:latin typeface="Calibri"/>
                <a:ea typeface="Calibri"/>
                <a:cs typeface="Calibri"/>
              </a:defRPr>
            </a:defPPr>
            <a:lvl1pPr algn="l">
              <a:defRPr sz="2325" b="1">
                <a:solidFill>
                  <a:srgbClr val="171717"/>
                </a:solidFill>
                <a:latin typeface="Calibri"/>
                <a:ea typeface="Calibri"/>
                <a:cs typeface="Calibri"/>
              </a:defRPr>
            </a:lvl1pPr>
            <a:lvl2pPr algn="l">
              <a:defRPr sz="2325" b="1">
                <a:solidFill>
                  <a:srgbClr val="171717"/>
                </a:solidFill>
                <a:latin typeface="Calibri"/>
                <a:ea typeface="Calibri"/>
                <a:cs typeface="Calibri"/>
              </a:defRPr>
            </a:lvl2pPr>
            <a:lvl3pPr algn="l">
              <a:defRPr sz="2325" b="1">
                <a:solidFill>
                  <a:srgbClr val="171717"/>
                </a:solidFill>
                <a:latin typeface="Calibri"/>
                <a:ea typeface="Calibri"/>
                <a:cs typeface="Calibri"/>
              </a:defRPr>
            </a:lvl3pPr>
            <a:lvl4pPr algn="l">
              <a:defRPr sz="2325" b="1">
                <a:solidFill>
                  <a:srgbClr val="171717"/>
                </a:solidFill>
                <a:latin typeface="Calibri"/>
                <a:ea typeface="Calibri"/>
                <a:cs typeface="Calibri"/>
              </a:defRPr>
            </a:lvl4pPr>
            <a:lvl5pPr algn="l">
              <a:defRPr sz="2325" b="1">
                <a:solidFill>
                  <a:srgbClr val="171717"/>
                </a:solidFill>
                <a:latin typeface="Calibri"/>
                <a:ea typeface="Calibri"/>
                <a:cs typeface="Calibri"/>
              </a:defRPr>
            </a:lvl5pPr>
            <a:lvl6pPr algn="l">
              <a:defRPr sz="2325" b="1">
                <a:solidFill>
                  <a:srgbClr val="171717"/>
                </a:solidFill>
                <a:latin typeface="Calibri"/>
                <a:ea typeface="Calibri"/>
                <a:cs typeface="Calibri"/>
              </a:defRPr>
            </a:lvl6pPr>
            <a:lvl7pPr algn="l">
              <a:defRPr sz="2325" b="1">
                <a:solidFill>
                  <a:srgbClr val="171717"/>
                </a:solidFill>
                <a:latin typeface="Calibri"/>
                <a:ea typeface="Calibri"/>
                <a:cs typeface="Calibri"/>
              </a:defRPr>
            </a:lvl7pPr>
            <a:lvl8pPr algn="l">
              <a:defRPr sz="2325" b="1">
                <a:solidFill>
                  <a:srgbClr val="171717"/>
                </a:solidFill>
                <a:latin typeface="Calibri"/>
                <a:ea typeface="Calibri"/>
                <a:cs typeface="Calibri"/>
              </a:defRPr>
            </a:lvl8pPr>
            <a:lvl9pPr algn="l">
              <a:defRPr sz="2325" b="1">
                <a:solidFill>
                  <a:srgbClr val="171717"/>
                </a:solidFill>
                <a:latin typeface="Calibri"/>
                <a:ea typeface="Calibri"/>
                <a:cs typeface="Calibri"/>
              </a:defRPr>
            </a:lvl9pPr>
          </a:lstStyle>
          <a:p>
            <a:pPr algn="l">
              <a:defRPr sz="2325" b="1">
                <a:solidFill>
                  <a:srgbClr val="171717"/>
                </a:solidFill>
                <a:latin typeface="Calibri"/>
                <a:ea typeface="Calibri"/>
                <a:cs typeface="Calibri"/>
              </a:defRPr>
            </a:pPr>
            <a:r>
              <a:rPr sz="2325" b="1">
                <a:solidFill>
                  <a:srgbClr val="171717"/>
                </a:solidFill>
                <a:latin typeface="Calibri"/>
                <a:ea typeface="Calibri"/>
                <a:cs typeface="Calibri"/>
              </a:rPr>
              <a:t>Position information</a:t>
            </a:r>
          </a:p>
        </p:txBody>
      </p:sp>
      <p:sp>
        <p:nvSpPr>
          <p:cNvPr id="6" name="Rectangle 5">
            <a:extLst>
              <a:ext uri="{FF2B5EF4-FFF2-40B4-BE49-F238E27FC236}">
                <a16:creationId xmlns:a16="http://schemas.microsoft.com/office/drawing/2014/main" id="{97BF1B5A-9173-4308-8F6E-8AF0C9D558CA}"/>
              </a:ext>
            </a:extLst>
          </p:cNvPr>
          <p:cNvSpPr>
            <a:spLocks noGrp="1"/>
          </p:cNvSpPr>
          <p:nvPr/>
        </p:nvSpPr>
        <p:spPr>
          <a:xfrm>
            <a:off x="7000875" y="3743325"/>
            <a:ext cx="4381500" cy="95250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Let attention distinguish token order and distance.</a:t>
            </a:r>
          </a:p>
        </p:txBody>
      </p:sp>
      <p:sp>
        <p:nvSpPr>
          <p:cNvPr id="7" name="Rectangle 6">
            <a:extLst>
              <a:ext uri="{FF2B5EF4-FFF2-40B4-BE49-F238E27FC236}">
                <a16:creationId xmlns:a16="http://schemas.microsoft.com/office/drawing/2014/main" id="{AD7B474E-AE4F-412E-99DA-4ED22F71BA7C}"/>
              </a:ext>
            </a:extLst>
          </p:cNvPr>
          <p:cNvSpPr>
            <a:spLocks noGrp="1"/>
          </p:cNvSpPr>
          <p:nvPr/>
        </p:nvSpPr>
        <p:spPr>
          <a:xfrm>
            <a:off x="7000875" y="4953000"/>
            <a:ext cx="4476750" cy="428625"/>
          </a:xfrm>
          <a:prstGeom prst="rect">
            <a:avLst/>
          </a:prstGeom>
          <a:noFill/>
          <a:ln w="0">
            <a:noFill/>
          </a:ln>
        </p:spPr>
        <p:txBody>
          <a:bodyPr wrap="square" lIns="0" tIns="0" rIns="0" bIns="0" anchor="t">
            <a:noAutofit/>
          </a:bodyPr>
          <a:lstStyle>
            <a:defPPr algn="l">
              <a:defRPr sz="2325" b="1">
                <a:solidFill>
                  <a:srgbClr val="171717"/>
                </a:solidFill>
                <a:latin typeface="Calibri"/>
                <a:ea typeface="Calibri"/>
                <a:cs typeface="Calibri"/>
              </a:defRPr>
            </a:defPPr>
            <a:lvl1pPr algn="l">
              <a:defRPr sz="2325" b="1">
                <a:solidFill>
                  <a:srgbClr val="171717"/>
                </a:solidFill>
                <a:latin typeface="Calibri"/>
                <a:ea typeface="Calibri"/>
                <a:cs typeface="Calibri"/>
              </a:defRPr>
            </a:lvl1pPr>
            <a:lvl2pPr algn="l">
              <a:defRPr sz="2325" b="1">
                <a:solidFill>
                  <a:srgbClr val="171717"/>
                </a:solidFill>
                <a:latin typeface="Calibri"/>
                <a:ea typeface="Calibri"/>
                <a:cs typeface="Calibri"/>
              </a:defRPr>
            </a:lvl2pPr>
            <a:lvl3pPr algn="l">
              <a:defRPr sz="2325" b="1">
                <a:solidFill>
                  <a:srgbClr val="171717"/>
                </a:solidFill>
                <a:latin typeface="Calibri"/>
                <a:ea typeface="Calibri"/>
                <a:cs typeface="Calibri"/>
              </a:defRPr>
            </a:lvl3pPr>
            <a:lvl4pPr algn="l">
              <a:defRPr sz="2325" b="1">
                <a:solidFill>
                  <a:srgbClr val="171717"/>
                </a:solidFill>
                <a:latin typeface="Calibri"/>
                <a:ea typeface="Calibri"/>
                <a:cs typeface="Calibri"/>
              </a:defRPr>
            </a:lvl4pPr>
            <a:lvl5pPr algn="l">
              <a:defRPr sz="2325" b="1">
                <a:solidFill>
                  <a:srgbClr val="171717"/>
                </a:solidFill>
                <a:latin typeface="Calibri"/>
                <a:ea typeface="Calibri"/>
                <a:cs typeface="Calibri"/>
              </a:defRPr>
            </a:lvl5pPr>
            <a:lvl6pPr algn="l">
              <a:defRPr sz="2325" b="1">
                <a:solidFill>
                  <a:srgbClr val="171717"/>
                </a:solidFill>
                <a:latin typeface="Calibri"/>
                <a:ea typeface="Calibri"/>
                <a:cs typeface="Calibri"/>
              </a:defRPr>
            </a:lvl6pPr>
            <a:lvl7pPr algn="l">
              <a:defRPr sz="2325" b="1">
                <a:solidFill>
                  <a:srgbClr val="171717"/>
                </a:solidFill>
                <a:latin typeface="Calibri"/>
                <a:ea typeface="Calibri"/>
                <a:cs typeface="Calibri"/>
              </a:defRPr>
            </a:lvl7pPr>
            <a:lvl8pPr algn="l">
              <a:defRPr sz="2325" b="1">
                <a:solidFill>
                  <a:srgbClr val="171717"/>
                </a:solidFill>
                <a:latin typeface="Calibri"/>
                <a:ea typeface="Calibri"/>
                <a:cs typeface="Calibri"/>
              </a:defRPr>
            </a:lvl8pPr>
            <a:lvl9pPr algn="l">
              <a:defRPr sz="2325" b="1">
                <a:solidFill>
                  <a:srgbClr val="171717"/>
                </a:solidFill>
                <a:latin typeface="Calibri"/>
                <a:ea typeface="Calibri"/>
                <a:cs typeface="Calibri"/>
              </a:defRPr>
            </a:lvl9pPr>
          </a:lstStyle>
          <a:p>
            <a:pPr algn="l">
              <a:defRPr sz="2325" b="1">
                <a:solidFill>
                  <a:srgbClr val="171717"/>
                </a:solidFill>
                <a:latin typeface="Calibri"/>
                <a:ea typeface="Calibri"/>
                <a:cs typeface="Calibri"/>
              </a:defRPr>
            </a:pPr>
            <a:r>
              <a:rPr sz="2325" b="1">
                <a:solidFill>
                  <a:srgbClr val="171717"/>
                </a:solidFill>
                <a:latin typeface="Calibri"/>
                <a:ea typeface="Calibri"/>
                <a:cs typeface="Calibri"/>
              </a:rPr>
              <a:t>Feedforward computation</a:t>
            </a:r>
          </a:p>
        </p:txBody>
      </p:sp>
      <p:sp>
        <p:nvSpPr>
          <p:cNvPr id="8" name="Rectangle 7">
            <a:extLst>
              <a:ext uri="{FF2B5EF4-FFF2-40B4-BE49-F238E27FC236}">
                <a16:creationId xmlns:a16="http://schemas.microsoft.com/office/drawing/2014/main" id="{143EFA82-B7BC-4FEC-90D9-88736EDA783B}"/>
              </a:ext>
            </a:extLst>
          </p:cNvPr>
          <p:cNvSpPr>
            <a:spLocks noGrp="1"/>
          </p:cNvSpPr>
          <p:nvPr/>
        </p:nvSpPr>
        <p:spPr>
          <a:xfrm>
            <a:off x="7000875" y="5457825"/>
            <a:ext cx="4476750" cy="809625"/>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Use gating to control which features pass through.</a:t>
            </a:r>
          </a:p>
        </p:txBody>
      </p:sp>
      <p:sp>
        <p:nvSpPr>
          <p:cNvPr id="9" name="Slide number">
            <a:extLst>
              <a:ext uri="{FF2B5EF4-FFF2-40B4-BE49-F238E27FC236}">
                <a16:creationId xmlns:a16="http://schemas.microsoft.com/office/drawing/2014/main" id="{C5E2092E-CBBD-4635-8573-9A52E4EC05F3}"/>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2</a:t>
            </a:r>
          </a:p>
        </p:txBody>
      </p:sp>
    </p:spTree>
    <p:extLst>
      <p:ext uri="{BB962C8B-B14F-4D97-AF65-F5344CB8AC3E}">
        <p14:creationId xmlns:p14="http://schemas.microsoft.com/office/powerpoint/2010/main" val="440810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9C5C54B8-C112-4FC0-8FF9-9672F7BA7040}"/>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Layer normalization</a:t>
            </a:r>
          </a:p>
        </p:txBody>
      </p:sp>
      <p:pic>
        <p:nvPicPr>
          <p:cNvPr id="2" name="Picture 1">
            <a:extLst>
              <a:ext uri="{FF2B5EF4-FFF2-40B4-BE49-F238E27FC236}">
                <a16:creationId xmlns:a16="http://schemas.microsoft.com/office/drawing/2014/main" id="{97692C08-CAB7-42B0-A55F-67FC6E83B27C}"/>
              </a:ext>
            </a:extLst>
          </p:cNvPr>
          <p:cNvPicPr>
            <a:picLocks noChangeAspect="1"/>
          </p:cNvPicPr>
          <p:nvPr/>
        </p:nvPicPr>
        <p:blipFill>
          <a:blip r:embed="rId3"/>
          <a:stretch/>
        </p:blipFill>
        <p:spPr>
          <a:xfrm>
            <a:off x="5240842" y="2000250"/>
            <a:ext cx="6187065" cy="3143250"/>
          </a:xfrm>
          <a:prstGeom prst="rect">
            <a:avLst/>
          </a:prstGeom>
        </p:spPr>
      </p:pic>
      <p:sp>
        <p:nvSpPr>
          <p:cNvPr id="3" name="Rectangle 2">
            <a:extLst>
              <a:ext uri="{FF2B5EF4-FFF2-40B4-BE49-F238E27FC236}">
                <a16:creationId xmlns:a16="http://schemas.microsoft.com/office/drawing/2014/main" id="{BF955F75-C4AF-4AF8-BF17-B6E2E7B740B6}"/>
              </a:ext>
            </a:extLst>
          </p:cNvPr>
          <p:cNvSpPr>
            <a:spLocks noGrp="1"/>
          </p:cNvSpPr>
          <p:nvPr/>
        </p:nvSpPr>
        <p:spPr>
          <a:xfrm>
            <a:off x="666750" y="1104900"/>
            <a:ext cx="10668000" cy="666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Normalize each token across its hidden dimensions.</a:t>
            </a:r>
          </a:p>
        </p:txBody>
      </p:sp>
      <p:sp>
        <p:nvSpPr>
          <p:cNvPr id="4" name="Rectangle 3">
            <a:extLst>
              <a:ext uri="{FF2B5EF4-FFF2-40B4-BE49-F238E27FC236}">
                <a16:creationId xmlns:a16="http://schemas.microsoft.com/office/drawing/2014/main" id="{6B783BC5-2613-417D-AFD2-4246ACDC4326}"/>
              </a:ext>
            </a:extLst>
          </p:cNvPr>
          <p:cNvSpPr>
            <a:spLocks noGrp="1"/>
          </p:cNvSpPr>
          <p:nvPr/>
        </p:nvSpPr>
        <p:spPr>
          <a:xfrm>
            <a:off x="666750" y="1981200"/>
            <a:ext cx="4238625" cy="12382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Center using the mean μ, then rescale using the variance σ².</a:t>
            </a:r>
          </a:p>
        </p:txBody>
      </p:sp>
      <p:sp>
        <p:nvSpPr>
          <p:cNvPr id="5" name="Rectangle 4">
            <a:extLst>
              <a:ext uri="{FF2B5EF4-FFF2-40B4-BE49-F238E27FC236}">
                <a16:creationId xmlns:a16="http://schemas.microsoft.com/office/drawing/2014/main" id="{96D7375F-97C5-476C-B1D1-ED953BE1E2A4}"/>
              </a:ext>
            </a:extLst>
          </p:cNvPr>
          <p:cNvSpPr>
            <a:spLocks noGrp="1"/>
          </p:cNvSpPr>
          <p:nvPr/>
        </p:nvSpPr>
        <p:spPr>
          <a:xfrm>
            <a:off x="666750" y="3676650"/>
            <a:ext cx="4238625" cy="1428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Learned γ and β adjust the scale and offset. ε prevents division by zero.</a:t>
            </a:r>
          </a:p>
        </p:txBody>
      </p:sp>
      <p:sp>
        <p:nvSpPr>
          <p:cNvPr id="6" name="Source">
            <a:extLst>
              <a:ext uri="{FF2B5EF4-FFF2-40B4-BE49-F238E27FC236}">
                <a16:creationId xmlns:a16="http://schemas.microsoft.com/office/drawing/2014/main" id="{6A41CB44-C2D3-4D6C-A2FB-2C5D40894A55}"/>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Ba et al., 2016. Layer Normalization</a:t>
            </a:r>
          </a:p>
        </p:txBody>
      </p:sp>
      <p:sp>
        <p:nvSpPr>
          <p:cNvPr id="7" name="Slide number">
            <a:extLst>
              <a:ext uri="{FF2B5EF4-FFF2-40B4-BE49-F238E27FC236}">
                <a16:creationId xmlns:a16="http://schemas.microsoft.com/office/drawing/2014/main" id="{05240157-B9D0-4880-981F-803725BAF9A0}"/>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3</a:t>
            </a:r>
          </a:p>
        </p:txBody>
      </p:sp>
    </p:spTree>
    <p:extLst>
      <p:ext uri="{BB962C8B-B14F-4D97-AF65-F5344CB8AC3E}">
        <p14:creationId xmlns:p14="http://schemas.microsoft.com/office/powerpoint/2010/main" val="626455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CF2D7025-F43D-498B-92CE-D5A046D3840F}"/>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Pre-norm and post-norm</a:t>
            </a:r>
          </a:p>
        </p:txBody>
      </p:sp>
      <p:pic>
        <p:nvPicPr>
          <p:cNvPr id="2" name="Picture 1">
            <a:extLst>
              <a:ext uri="{FF2B5EF4-FFF2-40B4-BE49-F238E27FC236}">
                <a16:creationId xmlns:a16="http://schemas.microsoft.com/office/drawing/2014/main" id="{AA3670C4-7F8B-46B4-B3BF-917C4FD25083}"/>
              </a:ext>
            </a:extLst>
          </p:cNvPr>
          <p:cNvPicPr>
            <a:picLocks noChangeAspect="1"/>
          </p:cNvPicPr>
          <p:nvPr/>
        </p:nvPicPr>
        <p:blipFill>
          <a:blip r:embed="rId3"/>
          <a:stretch/>
        </p:blipFill>
        <p:spPr>
          <a:xfrm>
            <a:off x="1112450" y="1666875"/>
            <a:ext cx="4252099" cy="3810000"/>
          </a:xfrm>
          <a:prstGeom prst="rect">
            <a:avLst/>
          </a:prstGeom>
        </p:spPr>
      </p:pic>
      <p:pic>
        <p:nvPicPr>
          <p:cNvPr id="3" name="Picture 2">
            <a:extLst>
              <a:ext uri="{FF2B5EF4-FFF2-40B4-BE49-F238E27FC236}">
                <a16:creationId xmlns:a16="http://schemas.microsoft.com/office/drawing/2014/main" id="{48E104EB-F405-4708-944E-3C8AD29945B6}"/>
              </a:ext>
            </a:extLst>
          </p:cNvPr>
          <p:cNvPicPr>
            <a:picLocks noChangeAspect="1"/>
          </p:cNvPicPr>
          <p:nvPr/>
        </p:nvPicPr>
        <p:blipFill>
          <a:blip r:embed="rId4"/>
          <a:stretch/>
        </p:blipFill>
        <p:spPr>
          <a:xfrm>
            <a:off x="6735553" y="1666875"/>
            <a:ext cx="4435893" cy="3810000"/>
          </a:xfrm>
          <a:prstGeom prst="rect">
            <a:avLst/>
          </a:prstGeom>
        </p:spPr>
      </p:pic>
      <p:sp>
        <p:nvSpPr>
          <p:cNvPr id="4" name="Rectangle 3">
            <a:extLst>
              <a:ext uri="{FF2B5EF4-FFF2-40B4-BE49-F238E27FC236}">
                <a16:creationId xmlns:a16="http://schemas.microsoft.com/office/drawing/2014/main" id="{759E9B62-9ADA-4862-B841-26990D89BB67}"/>
              </a:ext>
            </a:extLst>
          </p:cNvPr>
          <p:cNvSpPr>
            <a:spLocks noGrp="1"/>
          </p:cNvSpPr>
          <p:nvPr/>
        </p:nvSpPr>
        <p:spPr>
          <a:xfrm>
            <a:off x="952500" y="1047750"/>
            <a:ext cx="4857750" cy="476250"/>
          </a:xfrm>
          <a:prstGeom prst="rect">
            <a:avLst/>
          </a:prstGeom>
          <a:noFill/>
          <a:ln w="0">
            <a:noFill/>
          </a:ln>
        </p:spPr>
        <p:txBody>
          <a:bodyPr wrap="square" lIns="0" tIns="0" rIns="0" bIns="0" anchor="t">
            <a:noAutofit/>
          </a:bodyPr>
          <a:lstStyle>
            <a:defPPr algn="l">
              <a:defRPr sz="2400" b="1">
                <a:solidFill>
                  <a:srgbClr val="171717"/>
                </a:solidFill>
                <a:latin typeface="Calibri"/>
                <a:ea typeface="Calibri"/>
                <a:cs typeface="Calibri"/>
              </a:defRPr>
            </a:defPPr>
            <a:lvl1pPr algn="l">
              <a:defRPr sz="2400" b="1">
                <a:solidFill>
                  <a:srgbClr val="171717"/>
                </a:solidFill>
                <a:latin typeface="Calibri"/>
                <a:ea typeface="Calibri"/>
                <a:cs typeface="Calibri"/>
              </a:defRPr>
            </a:lvl1pPr>
            <a:lvl2pPr algn="l">
              <a:defRPr sz="2400" b="1">
                <a:solidFill>
                  <a:srgbClr val="171717"/>
                </a:solidFill>
                <a:latin typeface="Calibri"/>
                <a:ea typeface="Calibri"/>
                <a:cs typeface="Calibri"/>
              </a:defRPr>
            </a:lvl2pPr>
            <a:lvl3pPr algn="l">
              <a:defRPr sz="2400" b="1">
                <a:solidFill>
                  <a:srgbClr val="171717"/>
                </a:solidFill>
                <a:latin typeface="Calibri"/>
                <a:ea typeface="Calibri"/>
                <a:cs typeface="Calibri"/>
              </a:defRPr>
            </a:lvl3pPr>
            <a:lvl4pPr algn="l">
              <a:defRPr sz="2400" b="1">
                <a:solidFill>
                  <a:srgbClr val="171717"/>
                </a:solidFill>
                <a:latin typeface="Calibri"/>
                <a:ea typeface="Calibri"/>
                <a:cs typeface="Calibri"/>
              </a:defRPr>
            </a:lvl4pPr>
            <a:lvl5pPr algn="l">
              <a:defRPr sz="2400" b="1">
                <a:solidFill>
                  <a:srgbClr val="171717"/>
                </a:solidFill>
                <a:latin typeface="Calibri"/>
                <a:ea typeface="Calibri"/>
                <a:cs typeface="Calibri"/>
              </a:defRPr>
            </a:lvl5pPr>
            <a:lvl6pPr algn="l">
              <a:defRPr sz="2400" b="1">
                <a:solidFill>
                  <a:srgbClr val="171717"/>
                </a:solidFill>
                <a:latin typeface="Calibri"/>
                <a:ea typeface="Calibri"/>
                <a:cs typeface="Calibri"/>
              </a:defRPr>
            </a:lvl6pPr>
            <a:lvl7pPr algn="l">
              <a:defRPr sz="2400" b="1">
                <a:solidFill>
                  <a:srgbClr val="171717"/>
                </a:solidFill>
                <a:latin typeface="Calibri"/>
                <a:ea typeface="Calibri"/>
                <a:cs typeface="Calibri"/>
              </a:defRPr>
            </a:lvl7pPr>
            <a:lvl8pPr algn="l">
              <a:defRPr sz="2400" b="1">
                <a:solidFill>
                  <a:srgbClr val="171717"/>
                </a:solidFill>
                <a:latin typeface="Calibri"/>
                <a:ea typeface="Calibri"/>
                <a:cs typeface="Calibri"/>
              </a:defRPr>
            </a:lvl8pPr>
            <a:lvl9pPr algn="l">
              <a:defRPr sz="2400" b="1">
                <a:solidFill>
                  <a:srgbClr val="171717"/>
                </a:solidFill>
                <a:latin typeface="Calibri"/>
                <a:ea typeface="Calibri"/>
                <a:cs typeface="Calibri"/>
              </a:defRPr>
            </a:lvl9pPr>
          </a:lstStyle>
          <a:p>
            <a:pPr algn="l">
              <a:defRPr sz="2400" b="1">
                <a:solidFill>
                  <a:srgbClr val="171717"/>
                </a:solidFill>
                <a:latin typeface="Calibri"/>
                <a:ea typeface="Calibri"/>
                <a:cs typeface="Calibri"/>
              </a:defRPr>
            </a:pPr>
            <a:r>
              <a:rPr sz="2400" b="1">
                <a:solidFill>
                  <a:srgbClr val="171717"/>
                </a:solidFill>
                <a:latin typeface="Calibri"/>
                <a:ea typeface="Calibri"/>
                <a:cs typeface="Calibri"/>
              </a:rPr>
              <a:t>Post-norm</a:t>
            </a:r>
          </a:p>
        </p:txBody>
      </p:sp>
      <p:sp>
        <p:nvSpPr>
          <p:cNvPr id="5" name="Rectangle 4">
            <a:extLst>
              <a:ext uri="{FF2B5EF4-FFF2-40B4-BE49-F238E27FC236}">
                <a16:creationId xmlns:a16="http://schemas.microsoft.com/office/drawing/2014/main" id="{E20A4644-00BF-4EA2-8205-466E47A13E26}"/>
              </a:ext>
            </a:extLst>
          </p:cNvPr>
          <p:cNvSpPr>
            <a:spLocks noGrp="1"/>
          </p:cNvSpPr>
          <p:nvPr/>
        </p:nvSpPr>
        <p:spPr>
          <a:xfrm>
            <a:off x="6572250" y="1047750"/>
            <a:ext cx="4762500" cy="476250"/>
          </a:xfrm>
          <a:prstGeom prst="rect">
            <a:avLst/>
          </a:prstGeom>
          <a:noFill/>
          <a:ln w="0">
            <a:noFill/>
          </a:ln>
        </p:spPr>
        <p:txBody>
          <a:bodyPr wrap="square" lIns="0" tIns="0" rIns="0" bIns="0" anchor="t">
            <a:noAutofit/>
          </a:bodyPr>
          <a:lstStyle>
            <a:defPPr algn="l">
              <a:defRPr sz="2400" b="1">
                <a:solidFill>
                  <a:srgbClr val="171717"/>
                </a:solidFill>
                <a:latin typeface="Calibri"/>
                <a:ea typeface="Calibri"/>
                <a:cs typeface="Calibri"/>
              </a:defRPr>
            </a:defPPr>
            <a:lvl1pPr algn="l">
              <a:defRPr sz="2400" b="1">
                <a:solidFill>
                  <a:srgbClr val="171717"/>
                </a:solidFill>
                <a:latin typeface="Calibri"/>
                <a:ea typeface="Calibri"/>
                <a:cs typeface="Calibri"/>
              </a:defRPr>
            </a:lvl1pPr>
            <a:lvl2pPr algn="l">
              <a:defRPr sz="2400" b="1">
                <a:solidFill>
                  <a:srgbClr val="171717"/>
                </a:solidFill>
                <a:latin typeface="Calibri"/>
                <a:ea typeface="Calibri"/>
                <a:cs typeface="Calibri"/>
              </a:defRPr>
            </a:lvl2pPr>
            <a:lvl3pPr algn="l">
              <a:defRPr sz="2400" b="1">
                <a:solidFill>
                  <a:srgbClr val="171717"/>
                </a:solidFill>
                <a:latin typeface="Calibri"/>
                <a:ea typeface="Calibri"/>
                <a:cs typeface="Calibri"/>
              </a:defRPr>
            </a:lvl3pPr>
            <a:lvl4pPr algn="l">
              <a:defRPr sz="2400" b="1">
                <a:solidFill>
                  <a:srgbClr val="171717"/>
                </a:solidFill>
                <a:latin typeface="Calibri"/>
                <a:ea typeface="Calibri"/>
                <a:cs typeface="Calibri"/>
              </a:defRPr>
            </a:lvl4pPr>
            <a:lvl5pPr algn="l">
              <a:defRPr sz="2400" b="1">
                <a:solidFill>
                  <a:srgbClr val="171717"/>
                </a:solidFill>
                <a:latin typeface="Calibri"/>
                <a:ea typeface="Calibri"/>
                <a:cs typeface="Calibri"/>
              </a:defRPr>
            </a:lvl5pPr>
            <a:lvl6pPr algn="l">
              <a:defRPr sz="2400" b="1">
                <a:solidFill>
                  <a:srgbClr val="171717"/>
                </a:solidFill>
                <a:latin typeface="Calibri"/>
                <a:ea typeface="Calibri"/>
                <a:cs typeface="Calibri"/>
              </a:defRPr>
            </a:lvl6pPr>
            <a:lvl7pPr algn="l">
              <a:defRPr sz="2400" b="1">
                <a:solidFill>
                  <a:srgbClr val="171717"/>
                </a:solidFill>
                <a:latin typeface="Calibri"/>
                <a:ea typeface="Calibri"/>
                <a:cs typeface="Calibri"/>
              </a:defRPr>
            </a:lvl7pPr>
            <a:lvl8pPr algn="l">
              <a:defRPr sz="2400" b="1">
                <a:solidFill>
                  <a:srgbClr val="171717"/>
                </a:solidFill>
                <a:latin typeface="Calibri"/>
                <a:ea typeface="Calibri"/>
                <a:cs typeface="Calibri"/>
              </a:defRPr>
            </a:lvl8pPr>
            <a:lvl9pPr algn="l">
              <a:defRPr sz="2400" b="1">
                <a:solidFill>
                  <a:srgbClr val="171717"/>
                </a:solidFill>
                <a:latin typeface="Calibri"/>
                <a:ea typeface="Calibri"/>
                <a:cs typeface="Calibri"/>
              </a:defRPr>
            </a:lvl9pPr>
          </a:lstStyle>
          <a:p>
            <a:pPr algn="l">
              <a:defRPr sz="2400" b="1">
                <a:solidFill>
                  <a:srgbClr val="171717"/>
                </a:solidFill>
                <a:latin typeface="Calibri"/>
                <a:ea typeface="Calibri"/>
                <a:cs typeface="Calibri"/>
              </a:defRPr>
            </a:pPr>
            <a:r>
              <a:rPr sz="2400" b="1">
                <a:solidFill>
                  <a:srgbClr val="171717"/>
                </a:solidFill>
                <a:latin typeface="Calibri"/>
                <a:ea typeface="Calibri"/>
                <a:cs typeface="Calibri"/>
              </a:rPr>
              <a:t>Pre-norm</a:t>
            </a:r>
          </a:p>
        </p:txBody>
      </p:sp>
      <p:sp>
        <p:nvSpPr>
          <p:cNvPr id="6" name="Rectangle 5">
            <a:extLst>
              <a:ext uri="{FF2B5EF4-FFF2-40B4-BE49-F238E27FC236}">
                <a16:creationId xmlns:a16="http://schemas.microsoft.com/office/drawing/2014/main" id="{9ABA3859-C7BC-4F05-B469-5B6D9F8C5906}"/>
              </a:ext>
            </a:extLst>
          </p:cNvPr>
          <p:cNvSpPr>
            <a:spLocks noGrp="1"/>
          </p:cNvSpPr>
          <p:nvPr/>
        </p:nvSpPr>
        <p:spPr>
          <a:xfrm>
            <a:off x="714375" y="5715000"/>
            <a:ext cx="5191125" cy="523875"/>
          </a:xfrm>
          <a:prstGeom prst="rect">
            <a:avLst/>
          </a:prstGeom>
          <a:noFill/>
          <a:ln w="0">
            <a:noFill/>
          </a:ln>
        </p:spPr>
        <p:txBody>
          <a:bodyPr wrap="square" lIns="0" tIns="0" rIns="0" bIns="0" anchor="t">
            <a:noAutofit/>
          </a:bodyPr>
          <a:lstStyle>
            <a:defPPr algn="l">
              <a:defRPr sz="2025" b="0">
                <a:solidFill>
                  <a:srgbClr val="171717"/>
                </a:solidFill>
                <a:latin typeface="Calibri"/>
                <a:ea typeface="Calibri"/>
                <a:cs typeface="Calibri"/>
              </a:defRPr>
            </a:defPPr>
            <a:lvl1pPr algn="l">
              <a:defRPr sz="2025" b="0">
                <a:solidFill>
                  <a:srgbClr val="171717"/>
                </a:solidFill>
                <a:latin typeface="Calibri"/>
                <a:ea typeface="Calibri"/>
                <a:cs typeface="Calibri"/>
              </a:defRPr>
            </a:lvl1pPr>
            <a:lvl2pPr algn="l">
              <a:defRPr sz="2025" b="0">
                <a:solidFill>
                  <a:srgbClr val="171717"/>
                </a:solidFill>
                <a:latin typeface="Calibri"/>
                <a:ea typeface="Calibri"/>
                <a:cs typeface="Calibri"/>
              </a:defRPr>
            </a:lvl2pPr>
            <a:lvl3pPr algn="l">
              <a:defRPr sz="2025" b="0">
                <a:solidFill>
                  <a:srgbClr val="171717"/>
                </a:solidFill>
                <a:latin typeface="Calibri"/>
                <a:ea typeface="Calibri"/>
                <a:cs typeface="Calibri"/>
              </a:defRPr>
            </a:lvl3pPr>
            <a:lvl4pPr algn="l">
              <a:defRPr sz="2025" b="0">
                <a:solidFill>
                  <a:srgbClr val="171717"/>
                </a:solidFill>
                <a:latin typeface="Calibri"/>
                <a:ea typeface="Calibri"/>
                <a:cs typeface="Calibri"/>
              </a:defRPr>
            </a:lvl4pPr>
            <a:lvl5pPr algn="l">
              <a:defRPr sz="2025" b="0">
                <a:solidFill>
                  <a:srgbClr val="171717"/>
                </a:solidFill>
                <a:latin typeface="Calibri"/>
                <a:ea typeface="Calibri"/>
                <a:cs typeface="Calibri"/>
              </a:defRPr>
            </a:lvl5pPr>
            <a:lvl6pPr algn="l">
              <a:defRPr sz="2025" b="0">
                <a:solidFill>
                  <a:srgbClr val="171717"/>
                </a:solidFill>
                <a:latin typeface="Calibri"/>
                <a:ea typeface="Calibri"/>
                <a:cs typeface="Calibri"/>
              </a:defRPr>
            </a:lvl6pPr>
            <a:lvl7pPr algn="l">
              <a:defRPr sz="2025" b="0">
                <a:solidFill>
                  <a:srgbClr val="171717"/>
                </a:solidFill>
                <a:latin typeface="Calibri"/>
                <a:ea typeface="Calibri"/>
                <a:cs typeface="Calibri"/>
              </a:defRPr>
            </a:lvl7pPr>
            <a:lvl8pPr algn="l">
              <a:defRPr sz="2025" b="0">
                <a:solidFill>
                  <a:srgbClr val="171717"/>
                </a:solidFill>
                <a:latin typeface="Calibri"/>
                <a:ea typeface="Calibri"/>
                <a:cs typeface="Calibri"/>
              </a:defRPr>
            </a:lvl8pPr>
            <a:lvl9pPr algn="l">
              <a:defRPr sz="2025" b="0">
                <a:solidFill>
                  <a:srgbClr val="171717"/>
                </a:solidFill>
                <a:latin typeface="Calibri"/>
                <a:ea typeface="Calibri"/>
                <a:cs typeface="Calibri"/>
              </a:defRPr>
            </a:lvl9pPr>
          </a:lstStyle>
          <a:p>
            <a:pPr algn="l">
              <a:defRPr sz="2025" b="0">
                <a:solidFill>
                  <a:srgbClr val="171717"/>
                </a:solidFill>
                <a:latin typeface="Calibri"/>
                <a:ea typeface="Calibri"/>
                <a:cs typeface="Calibri"/>
              </a:defRPr>
            </a:pPr>
            <a:r>
              <a:rPr sz="2025" b="0">
                <a:solidFill>
                  <a:srgbClr val="171717"/>
                </a:solidFill>
                <a:latin typeface="Calibri"/>
                <a:ea typeface="Calibri"/>
                <a:cs typeface="Calibri"/>
              </a:rPr>
              <a:t>Normalize after adding the residual.</a:t>
            </a:r>
          </a:p>
        </p:txBody>
      </p:sp>
      <p:sp>
        <p:nvSpPr>
          <p:cNvPr id="7" name="Rectangle 6">
            <a:extLst>
              <a:ext uri="{FF2B5EF4-FFF2-40B4-BE49-F238E27FC236}">
                <a16:creationId xmlns:a16="http://schemas.microsoft.com/office/drawing/2014/main" id="{B31511D1-7485-49F4-9048-3072C829D2E1}"/>
              </a:ext>
            </a:extLst>
          </p:cNvPr>
          <p:cNvSpPr>
            <a:spLocks noGrp="1"/>
          </p:cNvSpPr>
          <p:nvPr/>
        </p:nvSpPr>
        <p:spPr>
          <a:xfrm>
            <a:off x="6572250" y="5715000"/>
            <a:ext cx="4857750" cy="523875"/>
          </a:xfrm>
          <a:prstGeom prst="rect">
            <a:avLst/>
          </a:prstGeom>
          <a:noFill/>
          <a:ln w="0">
            <a:noFill/>
          </a:ln>
        </p:spPr>
        <p:txBody>
          <a:bodyPr wrap="square" lIns="0" tIns="0" rIns="0" bIns="0" anchor="t">
            <a:noAutofit/>
          </a:bodyPr>
          <a:lstStyle>
            <a:defPPr algn="l">
              <a:defRPr sz="2025" b="0">
                <a:solidFill>
                  <a:srgbClr val="171717"/>
                </a:solidFill>
                <a:latin typeface="Calibri"/>
                <a:ea typeface="Calibri"/>
                <a:cs typeface="Calibri"/>
              </a:defRPr>
            </a:defPPr>
            <a:lvl1pPr algn="l">
              <a:defRPr sz="2025" b="0">
                <a:solidFill>
                  <a:srgbClr val="171717"/>
                </a:solidFill>
                <a:latin typeface="Calibri"/>
                <a:ea typeface="Calibri"/>
                <a:cs typeface="Calibri"/>
              </a:defRPr>
            </a:lvl1pPr>
            <a:lvl2pPr algn="l">
              <a:defRPr sz="2025" b="0">
                <a:solidFill>
                  <a:srgbClr val="171717"/>
                </a:solidFill>
                <a:latin typeface="Calibri"/>
                <a:ea typeface="Calibri"/>
                <a:cs typeface="Calibri"/>
              </a:defRPr>
            </a:lvl2pPr>
            <a:lvl3pPr algn="l">
              <a:defRPr sz="2025" b="0">
                <a:solidFill>
                  <a:srgbClr val="171717"/>
                </a:solidFill>
                <a:latin typeface="Calibri"/>
                <a:ea typeface="Calibri"/>
                <a:cs typeface="Calibri"/>
              </a:defRPr>
            </a:lvl3pPr>
            <a:lvl4pPr algn="l">
              <a:defRPr sz="2025" b="0">
                <a:solidFill>
                  <a:srgbClr val="171717"/>
                </a:solidFill>
                <a:latin typeface="Calibri"/>
                <a:ea typeface="Calibri"/>
                <a:cs typeface="Calibri"/>
              </a:defRPr>
            </a:lvl4pPr>
            <a:lvl5pPr algn="l">
              <a:defRPr sz="2025" b="0">
                <a:solidFill>
                  <a:srgbClr val="171717"/>
                </a:solidFill>
                <a:latin typeface="Calibri"/>
                <a:ea typeface="Calibri"/>
                <a:cs typeface="Calibri"/>
              </a:defRPr>
            </a:lvl5pPr>
            <a:lvl6pPr algn="l">
              <a:defRPr sz="2025" b="0">
                <a:solidFill>
                  <a:srgbClr val="171717"/>
                </a:solidFill>
                <a:latin typeface="Calibri"/>
                <a:ea typeface="Calibri"/>
                <a:cs typeface="Calibri"/>
              </a:defRPr>
            </a:lvl6pPr>
            <a:lvl7pPr algn="l">
              <a:defRPr sz="2025" b="0">
                <a:solidFill>
                  <a:srgbClr val="171717"/>
                </a:solidFill>
                <a:latin typeface="Calibri"/>
                <a:ea typeface="Calibri"/>
                <a:cs typeface="Calibri"/>
              </a:defRPr>
            </a:lvl7pPr>
            <a:lvl8pPr algn="l">
              <a:defRPr sz="2025" b="0">
                <a:solidFill>
                  <a:srgbClr val="171717"/>
                </a:solidFill>
                <a:latin typeface="Calibri"/>
                <a:ea typeface="Calibri"/>
                <a:cs typeface="Calibri"/>
              </a:defRPr>
            </a:lvl8pPr>
            <a:lvl9pPr algn="l">
              <a:defRPr sz="2025" b="0">
                <a:solidFill>
                  <a:srgbClr val="171717"/>
                </a:solidFill>
                <a:latin typeface="Calibri"/>
                <a:ea typeface="Calibri"/>
                <a:cs typeface="Calibri"/>
              </a:defRPr>
            </a:lvl9pPr>
          </a:lstStyle>
          <a:p>
            <a:pPr algn="l">
              <a:defRPr sz="2025" b="0">
                <a:solidFill>
                  <a:srgbClr val="171717"/>
                </a:solidFill>
                <a:latin typeface="Calibri"/>
                <a:ea typeface="Calibri"/>
                <a:cs typeface="Calibri"/>
              </a:defRPr>
            </a:pPr>
            <a:r>
              <a:rPr sz="2025" b="0">
                <a:solidFill>
                  <a:srgbClr val="171717"/>
                </a:solidFill>
                <a:latin typeface="Calibri"/>
                <a:ea typeface="Calibri"/>
                <a:cs typeface="Calibri"/>
              </a:rPr>
              <a:t>Keep a direct residual path.</a:t>
            </a:r>
          </a:p>
        </p:txBody>
      </p:sp>
      <p:sp>
        <p:nvSpPr>
          <p:cNvPr id="8" name="Source">
            <a:extLst>
              <a:ext uri="{FF2B5EF4-FFF2-40B4-BE49-F238E27FC236}">
                <a16:creationId xmlns:a16="http://schemas.microsoft.com/office/drawing/2014/main" id="{F595E6B7-7F71-45B6-85A0-6B9C923EC0E9}"/>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Xiong et al., 2020. On Layer Normalization in the Transformer Architecture</a:t>
            </a:r>
          </a:p>
        </p:txBody>
      </p:sp>
      <p:sp>
        <p:nvSpPr>
          <p:cNvPr id="9" name="Slide number">
            <a:extLst>
              <a:ext uri="{FF2B5EF4-FFF2-40B4-BE49-F238E27FC236}">
                <a16:creationId xmlns:a16="http://schemas.microsoft.com/office/drawing/2014/main" id="{589E57E9-75F4-484C-8205-D91A804D4146}"/>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4</a:t>
            </a:r>
          </a:p>
        </p:txBody>
      </p:sp>
    </p:spTree>
    <p:extLst>
      <p:ext uri="{BB962C8B-B14F-4D97-AF65-F5344CB8AC3E}">
        <p14:creationId xmlns:p14="http://schemas.microsoft.com/office/powerpoint/2010/main" val="1844096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08F17E80-8E1D-4DC0-8EA5-2265D08ED6D4}"/>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RMSNorm</a:t>
            </a:r>
          </a:p>
        </p:txBody>
      </p:sp>
      <p:sp>
        <p:nvSpPr>
          <p:cNvPr id="2" name="Rectangle 1">
            <a:extLst>
              <a:ext uri="{FF2B5EF4-FFF2-40B4-BE49-F238E27FC236}">
                <a16:creationId xmlns:a16="http://schemas.microsoft.com/office/drawing/2014/main" id="{BC5A0BAF-36B4-4BDA-B6F1-E3A377524285}"/>
              </a:ext>
            </a:extLst>
          </p:cNvPr>
          <p:cNvSpPr>
            <a:spLocks noGrp="1"/>
          </p:cNvSpPr>
          <p:nvPr/>
        </p:nvSpPr>
        <p:spPr>
          <a:xfrm>
            <a:off x="666750" y="1123950"/>
            <a:ext cx="10858500" cy="666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Rescale the hidden vector without subtracting its mean.</a:t>
            </a:r>
          </a:p>
        </p:txBody>
      </p:sp>
      <p:sp>
        <p:nvSpPr>
          <p:cNvPr id="3" name="Rectangle 2">
            <a:extLst>
              <a:ext uri="{FF2B5EF4-FFF2-40B4-BE49-F238E27FC236}">
                <a16:creationId xmlns:a16="http://schemas.microsoft.com/office/drawing/2014/main" id="{08D2FB2E-06BC-4BAF-9851-AF46066B0C3C}"/>
              </a:ext>
            </a:extLst>
          </p:cNvPr>
          <p:cNvSpPr>
            <a:spLocks noGrp="1"/>
          </p:cNvSpPr>
          <p:nvPr/>
        </p:nvSpPr>
        <p:spPr>
          <a:xfrm>
            <a:off x="1476375" y="2333625"/>
            <a:ext cx="9334500" cy="762000"/>
          </a:xfrm>
          <a:prstGeom prst="rect">
            <a:avLst/>
          </a:prstGeom>
          <a:noFill/>
          <a:ln w="0">
            <a:noFill/>
          </a:ln>
        </p:spPr>
        <p:txBody>
          <a:bodyPr wrap="square" lIns="0" tIns="0" rIns="0" bIns="0" anchor="t">
            <a:noAutofit/>
          </a:bodyPr>
          <a:lstStyle>
            <a:defPPr algn="l">
              <a:defRPr sz="3000" b="0">
                <a:solidFill>
                  <a:srgbClr val="171717"/>
                </a:solidFill>
                <a:latin typeface="Cambria Math"/>
                <a:ea typeface="Cambria Math"/>
                <a:cs typeface="Cambria Math"/>
              </a:defRPr>
            </a:defPPr>
            <a:lvl1pPr algn="l">
              <a:defRPr sz="3000" b="0">
                <a:solidFill>
                  <a:srgbClr val="171717"/>
                </a:solidFill>
                <a:latin typeface="Cambria Math"/>
                <a:ea typeface="Cambria Math"/>
                <a:cs typeface="Cambria Math"/>
              </a:defRPr>
            </a:lvl1pPr>
            <a:lvl2pPr algn="l">
              <a:defRPr sz="3000" b="0">
                <a:solidFill>
                  <a:srgbClr val="171717"/>
                </a:solidFill>
                <a:latin typeface="Cambria Math"/>
                <a:ea typeface="Cambria Math"/>
                <a:cs typeface="Cambria Math"/>
              </a:defRPr>
            </a:lvl2pPr>
            <a:lvl3pPr algn="l">
              <a:defRPr sz="3000" b="0">
                <a:solidFill>
                  <a:srgbClr val="171717"/>
                </a:solidFill>
                <a:latin typeface="Cambria Math"/>
                <a:ea typeface="Cambria Math"/>
                <a:cs typeface="Cambria Math"/>
              </a:defRPr>
            </a:lvl3pPr>
            <a:lvl4pPr algn="l">
              <a:defRPr sz="3000" b="0">
                <a:solidFill>
                  <a:srgbClr val="171717"/>
                </a:solidFill>
                <a:latin typeface="Cambria Math"/>
                <a:ea typeface="Cambria Math"/>
                <a:cs typeface="Cambria Math"/>
              </a:defRPr>
            </a:lvl4pPr>
            <a:lvl5pPr algn="l">
              <a:defRPr sz="3000" b="0">
                <a:solidFill>
                  <a:srgbClr val="171717"/>
                </a:solidFill>
                <a:latin typeface="Cambria Math"/>
                <a:ea typeface="Cambria Math"/>
                <a:cs typeface="Cambria Math"/>
              </a:defRPr>
            </a:lvl5pPr>
            <a:lvl6pPr algn="l">
              <a:defRPr sz="3000" b="0">
                <a:solidFill>
                  <a:srgbClr val="171717"/>
                </a:solidFill>
                <a:latin typeface="Cambria Math"/>
                <a:ea typeface="Cambria Math"/>
                <a:cs typeface="Cambria Math"/>
              </a:defRPr>
            </a:lvl6pPr>
            <a:lvl7pPr algn="l">
              <a:defRPr sz="3000" b="0">
                <a:solidFill>
                  <a:srgbClr val="171717"/>
                </a:solidFill>
                <a:latin typeface="Cambria Math"/>
                <a:ea typeface="Cambria Math"/>
                <a:cs typeface="Cambria Math"/>
              </a:defRPr>
            </a:lvl7pPr>
            <a:lvl8pPr algn="l">
              <a:defRPr sz="3000" b="0">
                <a:solidFill>
                  <a:srgbClr val="171717"/>
                </a:solidFill>
                <a:latin typeface="Cambria Math"/>
                <a:ea typeface="Cambria Math"/>
                <a:cs typeface="Cambria Math"/>
              </a:defRPr>
            </a:lvl8pPr>
            <a:lvl9pPr algn="l">
              <a:defRPr sz="3000" b="0">
                <a:solidFill>
                  <a:srgbClr val="171717"/>
                </a:solidFill>
                <a:latin typeface="Cambria Math"/>
                <a:ea typeface="Cambria Math"/>
                <a:cs typeface="Cambria Math"/>
              </a:defRPr>
            </a:lvl9pPr>
          </a:lstStyle>
          <a:p>
            <a:pPr algn="l">
              <a:defRPr sz="3000" b="0">
                <a:solidFill>
                  <a:srgbClr val="171717"/>
                </a:solidFill>
                <a:latin typeface="Cambria Math"/>
                <a:ea typeface="Cambria Math"/>
                <a:cs typeface="Cambria Math"/>
              </a:defRPr>
            </a:pPr>
            <a:r>
              <a:rPr sz="3000" b="0">
                <a:solidFill>
                  <a:srgbClr val="171717"/>
                </a:solidFill>
                <a:latin typeface="Cambria Math"/>
                <a:ea typeface="Cambria Math"/>
                <a:cs typeface="Cambria Math"/>
              </a:rPr>
              <a:t>RMS(x) = √[(1/d) ∑ᵢ xᵢ² + ε]</a:t>
            </a:r>
          </a:p>
        </p:txBody>
      </p:sp>
      <p:sp>
        <p:nvSpPr>
          <p:cNvPr id="4" name="Rectangle 3">
            <a:extLst>
              <a:ext uri="{FF2B5EF4-FFF2-40B4-BE49-F238E27FC236}">
                <a16:creationId xmlns:a16="http://schemas.microsoft.com/office/drawing/2014/main" id="{3E070B36-72CF-4BBB-913A-54A92E0DFAC8}"/>
              </a:ext>
            </a:extLst>
          </p:cNvPr>
          <p:cNvSpPr>
            <a:spLocks noGrp="1"/>
          </p:cNvSpPr>
          <p:nvPr/>
        </p:nvSpPr>
        <p:spPr>
          <a:xfrm>
            <a:off x="2286000" y="3476625"/>
            <a:ext cx="8096250" cy="762000"/>
          </a:xfrm>
          <a:prstGeom prst="rect">
            <a:avLst/>
          </a:prstGeom>
          <a:noFill/>
          <a:ln w="0">
            <a:noFill/>
          </a:ln>
        </p:spPr>
        <p:txBody>
          <a:bodyPr wrap="square" lIns="0" tIns="0" rIns="0" bIns="0" anchor="t">
            <a:noAutofit/>
          </a:bodyPr>
          <a:lstStyle>
            <a:defPPr algn="l">
              <a:defRPr sz="3150" b="0">
                <a:solidFill>
                  <a:srgbClr val="171717"/>
                </a:solidFill>
                <a:latin typeface="Cambria Math"/>
                <a:ea typeface="Cambria Math"/>
                <a:cs typeface="Cambria Math"/>
              </a:defRPr>
            </a:defPPr>
            <a:lvl1pPr algn="l">
              <a:defRPr sz="3150" b="0">
                <a:solidFill>
                  <a:srgbClr val="171717"/>
                </a:solidFill>
                <a:latin typeface="Cambria Math"/>
                <a:ea typeface="Cambria Math"/>
                <a:cs typeface="Cambria Math"/>
              </a:defRPr>
            </a:lvl1pPr>
            <a:lvl2pPr algn="l">
              <a:defRPr sz="3150" b="0">
                <a:solidFill>
                  <a:srgbClr val="171717"/>
                </a:solidFill>
                <a:latin typeface="Cambria Math"/>
                <a:ea typeface="Cambria Math"/>
                <a:cs typeface="Cambria Math"/>
              </a:defRPr>
            </a:lvl2pPr>
            <a:lvl3pPr algn="l">
              <a:defRPr sz="3150" b="0">
                <a:solidFill>
                  <a:srgbClr val="171717"/>
                </a:solidFill>
                <a:latin typeface="Cambria Math"/>
                <a:ea typeface="Cambria Math"/>
                <a:cs typeface="Cambria Math"/>
              </a:defRPr>
            </a:lvl3pPr>
            <a:lvl4pPr algn="l">
              <a:defRPr sz="3150" b="0">
                <a:solidFill>
                  <a:srgbClr val="171717"/>
                </a:solidFill>
                <a:latin typeface="Cambria Math"/>
                <a:ea typeface="Cambria Math"/>
                <a:cs typeface="Cambria Math"/>
              </a:defRPr>
            </a:lvl4pPr>
            <a:lvl5pPr algn="l">
              <a:defRPr sz="3150" b="0">
                <a:solidFill>
                  <a:srgbClr val="171717"/>
                </a:solidFill>
                <a:latin typeface="Cambria Math"/>
                <a:ea typeface="Cambria Math"/>
                <a:cs typeface="Cambria Math"/>
              </a:defRPr>
            </a:lvl5pPr>
            <a:lvl6pPr algn="l">
              <a:defRPr sz="3150" b="0">
                <a:solidFill>
                  <a:srgbClr val="171717"/>
                </a:solidFill>
                <a:latin typeface="Cambria Math"/>
                <a:ea typeface="Cambria Math"/>
                <a:cs typeface="Cambria Math"/>
              </a:defRPr>
            </a:lvl6pPr>
            <a:lvl7pPr algn="l">
              <a:defRPr sz="3150" b="0">
                <a:solidFill>
                  <a:srgbClr val="171717"/>
                </a:solidFill>
                <a:latin typeface="Cambria Math"/>
                <a:ea typeface="Cambria Math"/>
                <a:cs typeface="Cambria Math"/>
              </a:defRPr>
            </a:lvl7pPr>
            <a:lvl8pPr algn="l">
              <a:defRPr sz="3150" b="0">
                <a:solidFill>
                  <a:srgbClr val="171717"/>
                </a:solidFill>
                <a:latin typeface="Cambria Math"/>
                <a:ea typeface="Cambria Math"/>
                <a:cs typeface="Cambria Math"/>
              </a:defRPr>
            </a:lvl8pPr>
            <a:lvl9pPr algn="l">
              <a:defRPr sz="3150" b="0">
                <a:solidFill>
                  <a:srgbClr val="171717"/>
                </a:solidFill>
                <a:latin typeface="Cambria Math"/>
                <a:ea typeface="Cambria Math"/>
                <a:cs typeface="Cambria Math"/>
              </a:defRPr>
            </a:lvl9pPr>
          </a:lstStyle>
          <a:p>
            <a:pPr algn="l">
              <a:defRPr sz="3150" b="0">
                <a:solidFill>
                  <a:srgbClr val="171717"/>
                </a:solidFill>
                <a:latin typeface="Cambria Math"/>
                <a:ea typeface="Cambria Math"/>
                <a:cs typeface="Cambria Math"/>
              </a:defRPr>
            </a:pPr>
            <a:r>
              <a:rPr sz="3150" b="0">
                <a:solidFill>
                  <a:srgbClr val="171717"/>
                </a:solidFill>
                <a:latin typeface="Cambria Math"/>
                <a:ea typeface="Cambria Math"/>
                <a:cs typeface="Cambria Math"/>
              </a:rPr>
              <a:t>yᵢ = γᵢ xᵢ / RMS(x)</a:t>
            </a:r>
          </a:p>
        </p:txBody>
      </p:sp>
      <p:sp>
        <p:nvSpPr>
          <p:cNvPr id="5" name="Rectangle 4">
            <a:extLst>
              <a:ext uri="{FF2B5EF4-FFF2-40B4-BE49-F238E27FC236}">
                <a16:creationId xmlns:a16="http://schemas.microsoft.com/office/drawing/2014/main" id="{BD1C7624-3371-416D-AA04-C041E22CDE9D}"/>
              </a:ext>
            </a:extLst>
          </p:cNvPr>
          <p:cNvSpPr>
            <a:spLocks noGrp="1"/>
          </p:cNvSpPr>
          <p:nvPr/>
        </p:nvSpPr>
        <p:spPr>
          <a:xfrm>
            <a:off x="666750" y="4857750"/>
            <a:ext cx="10858500" cy="619125"/>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d is the hidden dimension. γ is a learned scale for each coordinate.</a:t>
            </a:r>
          </a:p>
        </p:txBody>
      </p:sp>
      <p:sp>
        <p:nvSpPr>
          <p:cNvPr id="6" name="Rectangle 5">
            <a:extLst>
              <a:ext uri="{FF2B5EF4-FFF2-40B4-BE49-F238E27FC236}">
                <a16:creationId xmlns:a16="http://schemas.microsoft.com/office/drawing/2014/main" id="{1834A586-1EA3-45E8-A4BF-D567A84F1835}"/>
              </a:ext>
            </a:extLst>
          </p:cNvPr>
          <p:cNvSpPr>
            <a:spLocks noGrp="1"/>
          </p:cNvSpPr>
          <p:nvPr/>
        </p:nvSpPr>
        <p:spPr>
          <a:xfrm>
            <a:off x="666750" y="5648325"/>
            <a:ext cx="10858500" cy="66675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Compared with LayerNorm, RMSNorm omits mean centering and usually the additive bias.</a:t>
            </a:r>
          </a:p>
        </p:txBody>
      </p:sp>
      <p:sp>
        <p:nvSpPr>
          <p:cNvPr id="7" name="Source">
            <a:extLst>
              <a:ext uri="{FF2B5EF4-FFF2-40B4-BE49-F238E27FC236}">
                <a16:creationId xmlns:a16="http://schemas.microsoft.com/office/drawing/2014/main" id="{7F710781-10E4-4035-821D-D3374A7CE24A}"/>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Zhang and Sennrich, 2019. Root Mean Square Layer Normalization</a:t>
            </a:r>
          </a:p>
        </p:txBody>
      </p:sp>
      <p:sp>
        <p:nvSpPr>
          <p:cNvPr id="8" name="Slide number">
            <a:extLst>
              <a:ext uri="{FF2B5EF4-FFF2-40B4-BE49-F238E27FC236}">
                <a16:creationId xmlns:a16="http://schemas.microsoft.com/office/drawing/2014/main" id="{A5963766-AA2D-4D5D-9123-577E59ECCF41}"/>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5</a:t>
            </a:r>
          </a:p>
        </p:txBody>
      </p:sp>
    </p:spTree>
    <p:extLst>
      <p:ext uri="{BB962C8B-B14F-4D97-AF65-F5344CB8AC3E}">
        <p14:creationId xmlns:p14="http://schemas.microsoft.com/office/powerpoint/2010/main" val="741201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91D66A06-B0B6-412F-BA35-DD30F722DF5E}"/>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Normalization and data movement</a:t>
            </a:r>
          </a:p>
        </p:txBody>
      </p:sp>
      <p:sp>
        <p:nvSpPr>
          <p:cNvPr id="2" name="Rectangle 1">
            <a:extLst>
              <a:ext uri="{FF2B5EF4-FFF2-40B4-BE49-F238E27FC236}">
                <a16:creationId xmlns:a16="http://schemas.microsoft.com/office/drawing/2014/main" id="{7E4A0C08-FA1C-45DF-AF71-855CD76704F4}"/>
              </a:ext>
            </a:extLst>
          </p:cNvPr>
          <p:cNvSpPr>
            <a:spLocks noGrp="1"/>
          </p:cNvSpPr>
          <p:nvPr/>
        </p:nvSpPr>
        <p:spPr>
          <a:xfrm>
            <a:off x="666750" y="1095375"/>
            <a:ext cx="10858500" cy="666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Few arithmetic operations can still take a noticeable share of runtime.</a:t>
            </a:r>
          </a:p>
        </p:txBody>
      </p:sp>
      <p:sp>
        <p:nvSpPr>
          <p:cNvPr id="3" name="Rectangle 2">
            <a:extLst>
              <a:ext uri="{FF2B5EF4-FFF2-40B4-BE49-F238E27FC236}">
                <a16:creationId xmlns:a16="http://schemas.microsoft.com/office/drawing/2014/main" id="{C8EDC5A0-458B-41AA-8B78-A947D058AC23}"/>
              </a:ext>
            </a:extLst>
          </p:cNvPr>
          <p:cNvSpPr>
            <a:spLocks noGrp="1"/>
          </p:cNvSpPr>
          <p:nvPr/>
        </p:nvSpPr>
        <p:spPr>
          <a:xfrm>
            <a:off x="666750" y="4572000"/>
            <a:ext cx="10858500" cy="8572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Normalization and element-wise operations repeatedly read and write activations.</a:t>
            </a:r>
          </a:p>
        </p:txBody>
      </p:sp>
      <p:sp>
        <p:nvSpPr>
          <p:cNvPr id="4" name="Rectangle 3">
            <a:extLst>
              <a:ext uri="{FF2B5EF4-FFF2-40B4-BE49-F238E27FC236}">
                <a16:creationId xmlns:a16="http://schemas.microsoft.com/office/drawing/2014/main" id="{27CC35E0-7C90-4A62-BA39-988E1AC5E67E}"/>
              </a:ext>
            </a:extLst>
          </p:cNvPr>
          <p:cNvSpPr>
            <a:spLocks noGrp="1"/>
          </p:cNvSpPr>
          <p:nvPr/>
        </p:nvSpPr>
        <p:spPr>
          <a:xfrm>
            <a:off x="666750" y="5667375"/>
            <a:ext cx="10858500" cy="571500"/>
          </a:xfrm>
          <a:prstGeom prst="rect">
            <a:avLst/>
          </a:prstGeom>
          <a:noFill/>
          <a:ln w="0">
            <a:noFill/>
          </a:ln>
        </p:spPr>
        <p:txBody>
          <a:bodyPr wrap="square" lIns="0" tIns="0" rIns="0" bIns="0" anchor="t">
            <a:noAutofit/>
          </a:bodyPr>
          <a:lstStyle>
            <a:defPPr algn="l">
              <a:defRPr sz="1875" b="0">
                <a:solidFill>
                  <a:srgbClr val="171717"/>
                </a:solidFill>
                <a:latin typeface="Calibri"/>
                <a:ea typeface="Calibri"/>
                <a:cs typeface="Calibri"/>
              </a:defRPr>
            </a:defPPr>
            <a:lvl1pPr algn="l">
              <a:defRPr sz="1875" b="0">
                <a:solidFill>
                  <a:srgbClr val="171717"/>
                </a:solidFill>
                <a:latin typeface="Calibri"/>
                <a:ea typeface="Calibri"/>
                <a:cs typeface="Calibri"/>
              </a:defRPr>
            </a:lvl1pPr>
            <a:lvl2pPr algn="l">
              <a:defRPr sz="1875" b="0">
                <a:solidFill>
                  <a:srgbClr val="171717"/>
                </a:solidFill>
                <a:latin typeface="Calibri"/>
                <a:ea typeface="Calibri"/>
                <a:cs typeface="Calibri"/>
              </a:defRPr>
            </a:lvl2pPr>
            <a:lvl3pPr algn="l">
              <a:defRPr sz="1875" b="0">
                <a:solidFill>
                  <a:srgbClr val="171717"/>
                </a:solidFill>
                <a:latin typeface="Calibri"/>
                <a:ea typeface="Calibri"/>
                <a:cs typeface="Calibri"/>
              </a:defRPr>
            </a:lvl3pPr>
            <a:lvl4pPr algn="l">
              <a:defRPr sz="1875" b="0">
                <a:solidFill>
                  <a:srgbClr val="171717"/>
                </a:solidFill>
                <a:latin typeface="Calibri"/>
                <a:ea typeface="Calibri"/>
                <a:cs typeface="Calibri"/>
              </a:defRPr>
            </a:lvl4pPr>
            <a:lvl5pPr algn="l">
              <a:defRPr sz="1875" b="0">
                <a:solidFill>
                  <a:srgbClr val="171717"/>
                </a:solidFill>
                <a:latin typeface="Calibri"/>
                <a:ea typeface="Calibri"/>
                <a:cs typeface="Calibri"/>
              </a:defRPr>
            </a:lvl5pPr>
            <a:lvl6pPr algn="l">
              <a:defRPr sz="1875" b="0">
                <a:solidFill>
                  <a:srgbClr val="171717"/>
                </a:solidFill>
                <a:latin typeface="Calibri"/>
                <a:ea typeface="Calibri"/>
                <a:cs typeface="Calibri"/>
              </a:defRPr>
            </a:lvl6pPr>
            <a:lvl7pPr algn="l">
              <a:defRPr sz="1875" b="0">
                <a:solidFill>
                  <a:srgbClr val="171717"/>
                </a:solidFill>
                <a:latin typeface="Calibri"/>
                <a:ea typeface="Calibri"/>
                <a:cs typeface="Calibri"/>
              </a:defRPr>
            </a:lvl7pPr>
            <a:lvl8pPr algn="l">
              <a:defRPr sz="1875" b="0">
                <a:solidFill>
                  <a:srgbClr val="171717"/>
                </a:solidFill>
                <a:latin typeface="Calibri"/>
                <a:ea typeface="Calibri"/>
                <a:cs typeface="Calibri"/>
              </a:defRPr>
            </a:lvl8pPr>
            <a:lvl9pPr algn="l">
              <a:defRPr sz="1875" b="0">
                <a:solidFill>
                  <a:srgbClr val="171717"/>
                </a:solidFill>
                <a:latin typeface="Calibri"/>
                <a:ea typeface="Calibri"/>
                <a:cs typeface="Calibri"/>
              </a:defRPr>
            </a:lvl9pPr>
          </a:lstStyle>
          <a:p>
            <a:pPr algn="l">
              <a:defRPr sz="1875" b="0">
                <a:solidFill>
                  <a:srgbClr val="171717"/>
                </a:solidFill>
                <a:latin typeface="Calibri"/>
                <a:ea typeface="Calibri"/>
                <a:cs typeface="Calibri"/>
              </a:defRPr>
            </a:pPr>
            <a:r>
              <a:rPr sz="1875" b="0">
                <a:solidFill>
                  <a:srgbClr val="171717"/>
                </a:solidFill>
                <a:latin typeface="Calibri"/>
                <a:ea typeface="Calibri"/>
                <a:cs typeface="Calibri"/>
              </a:rPr>
              <a:t>These measurements illustrate one workload. The percentages depend on the model and hardware.</a:t>
            </a:r>
          </a:p>
        </p:txBody>
      </p:sp>
      <p:graphicFrame>
        <p:nvGraphicFramePr>
          <p:cNvPr id="5" name="Table 4">
            <a:extLst>
              <a:ext uri="{FF2B5EF4-FFF2-40B4-BE49-F238E27FC236}">
                <a16:creationId xmlns:a16="http://schemas.microsoft.com/office/drawing/2014/main" id="{05ACC0E4-20FD-4B10-9205-10D09303998B}"/>
              </a:ext>
            </a:extLst>
          </p:cNvPr>
          <p:cNvGraphicFramePr/>
          <p:nvPr/>
        </p:nvGraphicFramePr>
        <p:xfrm>
          <a:off x="1095375" y="2333625"/>
          <a:ext cx="10001250" cy="2000250"/>
        </p:xfrm>
        <a:graphic>
          <a:graphicData uri="http://schemas.openxmlformats.org/drawingml/2006/table">
            <a:tbl>
              <a:tblPr/>
              <a:tblGrid>
                <a:gridCol w="5715000">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tblGrid>
              <a:tr h="500063">
                <a:tc>
                  <a:txBody>
                    <a:bodyPr/>
                    <a:lstStyle/>
                    <a:p>
                      <a:r>
                        <a:rPr sz="2100" b="1">
                          <a:solidFill>
                            <a:srgbClr val="007B92"/>
                          </a:solidFill>
                          <a:latin typeface="Calibri"/>
                          <a:ea typeface="Calibri"/>
                          <a:cs typeface="Calibri"/>
                        </a:rPr>
                        <a:t>Operator class</a:t>
                      </a:r>
                    </a:p>
                  </a:txBody>
                  <a:tcPr>
                    <a:lnL w="9525">
                      <a:solidFill>
                        <a:srgbClr val="CFD5D6"/>
                      </a:solidFill>
                    </a:lnL>
                    <a:lnR w="9525">
                      <a:solidFill>
                        <a:srgbClr val="CFD5D6"/>
                      </a:solidFill>
                    </a:lnR>
                    <a:lnT w="9525">
                      <a:solidFill>
                        <a:srgbClr val="CFD5D6"/>
                      </a:solidFill>
                    </a:lnT>
                    <a:lnB w="9525">
                      <a:solidFill>
                        <a:srgbClr val="CFD5D6"/>
                      </a:solidFill>
                    </a:lnB>
                    <a:solidFill>
                      <a:srgbClr val="FFFFFF"/>
                    </a:solidFill>
                  </a:tcPr>
                </a:tc>
                <a:tc>
                  <a:txBody>
                    <a:bodyPr/>
                    <a:lstStyle/>
                    <a:p>
                      <a:r>
                        <a:rPr sz="2100" b="1">
                          <a:solidFill>
                            <a:srgbClr val="007B92"/>
                          </a:solidFill>
                          <a:latin typeface="Calibri"/>
                          <a:ea typeface="Calibri"/>
                          <a:cs typeface="Calibri"/>
                        </a:rPr>
                        <a:t>FLOPs (%)</a:t>
                      </a:r>
                    </a:p>
                  </a:txBody>
                  <a:tcPr>
                    <a:lnL w="9525" cap="flat" cmpd="sng" algn="ctr">
                      <a:solidFill>
                        <a:srgbClr val="CFD5D6"/>
                      </a:solidFill>
                      <a:prstDash val="solid"/>
                      <a:round/>
                      <a:headEnd type="none" w="med" len="med"/>
                      <a:tailEnd type="none" w="med" len="med"/>
                    </a:lnL>
                    <a:lnR w="9525">
                      <a:solidFill>
                        <a:srgbClr val="CFD5D6"/>
                      </a:solidFill>
                    </a:lnR>
                    <a:lnT w="9525">
                      <a:solidFill>
                        <a:srgbClr val="CFD5D6"/>
                      </a:solidFill>
                    </a:lnT>
                    <a:lnB w="9525">
                      <a:solidFill>
                        <a:srgbClr val="CFD5D6"/>
                      </a:solidFill>
                    </a:lnB>
                    <a:solidFill>
                      <a:srgbClr val="FFFFFF"/>
                    </a:solidFill>
                  </a:tcPr>
                </a:tc>
                <a:tc>
                  <a:txBody>
                    <a:bodyPr/>
                    <a:lstStyle/>
                    <a:p>
                      <a:r>
                        <a:rPr sz="2100" b="1">
                          <a:solidFill>
                            <a:srgbClr val="007B92"/>
                          </a:solidFill>
                          <a:latin typeface="Calibri"/>
                          <a:ea typeface="Calibri"/>
                          <a:cs typeface="Calibri"/>
                        </a:rPr>
                        <a:t>Runtime (%)</a:t>
                      </a:r>
                    </a:p>
                  </a:txBody>
                  <a:tcPr>
                    <a:lnL w="9525" cap="flat" cmpd="sng" algn="ctr">
                      <a:solidFill>
                        <a:srgbClr val="CFD5D6"/>
                      </a:solidFill>
                      <a:prstDash val="solid"/>
                      <a:round/>
                      <a:headEnd type="none" w="med" len="med"/>
                      <a:tailEnd type="none" w="med" len="med"/>
                    </a:lnL>
                    <a:lnR w="9525">
                      <a:solidFill>
                        <a:srgbClr val="CFD5D6"/>
                      </a:solidFill>
                    </a:lnR>
                    <a:lnT w="9525">
                      <a:solidFill>
                        <a:srgbClr val="CFD5D6"/>
                      </a:solidFill>
                    </a:lnT>
                    <a:lnB w="9525">
                      <a:solidFill>
                        <a:srgbClr val="CFD5D6"/>
                      </a:solidFill>
                    </a:lnB>
                    <a:solidFill>
                      <a:srgbClr val="FFFFFF"/>
                    </a:solidFill>
                  </a:tcPr>
                </a:tc>
                <a:extLst>
                  <a:ext uri="{0D108BD9-81ED-4DB2-BD59-A6C34878D82A}">
                    <a16:rowId xmlns:a16="http://schemas.microsoft.com/office/drawing/2014/main" val="10000"/>
                  </a:ext>
                </a:extLst>
              </a:tr>
              <a:tr h="500063">
                <a:tc>
                  <a:txBody>
                    <a:bodyPr/>
                    <a:lstStyle/>
                    <a:p>
                      <a:r>
                        <a:rPr sz="2100" b="0">
                          <a:solidFill>
                            <a:srgbClr val="171717"/>
                          </a:solidFill>
                          <a:latin typeface="Calibri"/>
                          <a:ea typeface="Calibri"/>
                          <a:cs typeface="Calibri"/>
                        </a:rPr>
                        <a:t>Tensor contraction</a:t>
                      </a:r>
                    </a:p>
                  </a:txBody>
                  <a:tcPr>
                    <a:lnL w="9525">
                      <a:solidFill>
                        <a:srgbClr val="CFD5D6"/>
                      </a:solidFill>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99.80</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61.0</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extLst>
                  <a:ext uri="{0D108BD9-81ED-4DB2-BD59-A6C34878D82A}">
                    <a16:rowId xmlns:a16="http://schemas.microsoft.com/office/drawing/2014/main" val="10001"/>
                  </a:ext>
                </a:extLst>
              </a:tr>
              <a:tr h="500063">
                <a:tc>
                  <a:txBody>
                    <a:bodyPr/>
                    <a:lstStyle/>
                    <a:p>
                      <a:r>
                        <a:rPr sz="2100" b="0">
                          <a:solidFill>
                            <a:srgbClr val="171717"/>
                          </a:solidFill>
                          <a:latin typeface="Calibri"/>
                          <a:ea typeface="Calibri"/>
                          <a:cs typeface="Calibri"/>
                        </a:rPr>
                        <a:t>Normalization</a:t>
                      </a:r>
                    </a:p>
                  </a:txBody>
                  <a:tcPr>
                    <a:lnL w="9525">
                      <a:solidFill>
                        <a:srgbClr val="CFD5D6"/>
                      </a:solidFill>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0.17</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25.5</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extLst>
                  <a:ext uri="{0D108BD9-81ED-4DB2-BD59-A6C34878D82A}">
                    <a16:rowId xmlns:a16="http://schemas.microsoft.com/office/drawing/2014/main" val="10002"/>
                  </a:ext>
                </a:extLst>
              </a:tr>
              <a:tr h="500063">
                <a:tc>
                  <a:txBody>
                    <a:bodyPr/>
                    <a:lstStyle/>
                    <a:p>
                      <a:r>
                        <a:rPr sz="2100" b="0">
                          <a:solidFill>
                            <a:srgbClr val="171717"/>
                          </a:solidFill>
                          <a:latin typeface="Calibri"/>
                          <a:ea typeface="Calibri"/>
                          <a:cs typeface="Calibri"/>
                        </a:rPr>
                        <a:t>Element-wise</a:t>
                      </a:r>
                    </a:p>
                  </a:txBody>
                  <a:tcPr>
                    <a:lnL w="9525">
                      <a:solidFill>
                        <a:srgbClr val="CFD5D6"/>
                      </a:solidFill>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0.03</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13.5</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extLst>
                  <a:ext uri="{0D108BD9-81ED-4DB2-BD59-A6C34878D82A}">
                    <a16:rowId xmlns:a16="http://schemas.microsoft.com/office/drawing/2014/main" val="10003"/>
                  </a:ext>
                </a:extLst>
              </a:tr>
            </a:tbl>
          </a:graphicData>
        </a:graphic>
      </p:graphicFrame>
      <p:sp>
        <p:nvSpPr>
          <p:cNvPr id="6" name="Source">
            <a:extLst>
              <a:ext uri="{FF2B5EF4-FFF2-40B4-BE49-F238E27FC236}">
                <a16:creationId xmlns:a16="http://schemas.microsoft.com/office/drawing/2014/main" id="{1555C1A7-F54A-45CA-AC40-FDBD8307E223}"/>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Ivanov et al., 2023</a:t>
            </a:r>
          </a:p>
        </p:txBody>
      </p:sp>
      <p:sp>
        <p:nvSpPr>
          <p:cNvPr id="7" name="Slide number">
            <a:extLst>
              <a:ext uri="{FF2B5EF4-FFF2-40B4-BE49-F238E27FC236}">
                <a16:creationId xmlns:a16="http://schemas.microsoft.com/office/drawing/2014/main" id="{22392D31-A274-439E-90D8-C06219EA7C3F}"/>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6</a:t>
            </a:r>
          </a:p>
        </p:txBody>
      </p:sp>
    </p:spTree>
    <p:extLst>
      <p:ext uri="{BB962C8B-B14F-4D97-AF65-F5344CB8AC3E}">
        <p14:creationId xmlns:p14="http://schemas.microsoft.com/office/powerpoint/2010/main" val="1255315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6E7BD7B4-0FCA-40FF-A4E7-48ED8768D582}"/>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Gated feedforward layers</a:t>
            </a:r>
          </a:p>
        </p:txBody>
      </p:sp>
      <p:sp>
        <p:nvSpPr>
          <p:cNvPr id="2" name="Rectangle 1">
            <a:extLst>
              <a:ext uri="{FF2B5EF4-FFF2-40B4-BE49-F238E27FC236}">
                <a16:creationId xmlns:a16="http://schemas.microsoft.com/office/drawing/2014/main" id="{D8E80035-7D89-4DD2-A7F9-185EAA26D25B}"/>
              </a:ext>
            </a:extLst>
          </p:cNvPr>
          <p:cNvSpPr>
            <a:spLocks noGrp="1"/>
          </p:cNvSpPr>
          <p:nvPr/>
        </p:nvSpPr>
        <p:spPr>
          <a:xfrm>
            <a:off x="666750" y="1066800"/>
            <a:ext cx="10858500" cy="7620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An ordinary FFN expands the hidden vector, applies a nonlinearity and projects back.</a:t>
            </a:r>
          </a:p>
        </p:txBody>
      </p:sp>
      <p:sp>
        <p:nvSpPr>
          <p:cNvPr id="3" name="Rectangle 2">
            <a:extLst>
              <a:ext uri="{FF2B5EF4-FFF2-40B4-BE49-F238E27FC236}">
                <a16:creationId xmlns:a16="http://schemas.microsoft.com/office/drawing/2014/main" id="{53D7790D-E0EF-4C43-9F7B-69491E1B3236}"/>
              </a:ext>
            </a:extLst>
          </p:cNvPr>
          <p:cNvSpPr>
            <a:spLocks noGrp="1"/>
          </p:cNvSpPr>
          <p:nvPr/>
        </p:nvSpPr>
        <p:spPr>
          <a:xfrm>
            <a:off x="1905000" y="2171700"/>
            <a:ext cx="9525000" cy="762000"/>
          </a:xfrm>
          <a:prstGeom prst="rect">
            <a:avLst/>
          </a:prstGeom>
          <a:noFill/>
          <a:ln w="0">
            <a:noFill/>
          </a:ln>
        </p:spPr>
        <p:txBody>
          <a:bodyPr wrap="square" lIns="0" tIns="0" rIns="0" bIns="0" anchor="t">
            <a:noAutofit/>
          </a:bodyPr>
          <a:lstStyle>
            <a:defPPr algn="l">
              <a:defRPr sz="3000" b="0">
                <a:solidFill>
                  <a:srgbClr val="171717"/>
                </a:solidFill>
                <a:latin typeface="Cambria Math"/>
                <a:ea typeface="Cambria Math"/>
                <a:cs typeface="Cambria Math"/>
              </a:defRPr>
            </a:defPPr>
            <a:lvl1pPr algn="l">
              <a:defRPr sz="3000" b="0">
                <a:solidFill>
                  <a:srgbClr val="171717"/>
                </a:solidFill>
                <a:latin typeface="Cambria Math"/>
                <a:ea typeface="Cambria Math"/>
                <a:cs typeface="Cambria Math"/>
              </a:defRPr>
            </a:lvl1pPr>
            <a:lvl2pPr algn="l">
              <a:defRPr sz="3000" b="0">
                <a:solidFill>
                  <a:srgbClr val="171717"/>
                </a:solidFill>
                <a:latin typeface="Cambria Math"/>
                <a:ea typeface="Cambria Math"/>
                <a:cs typeface="Cambria Math"/>
              </a:defRPr>
            </a:lvl2pPr>
            <a:lvl3pPr algn="l">
              <a:defRPr sz="3000" b="0">
                <a:solidFill>
                  <a:srgbClr val="171717"/>
                </a:solidFill>
                <a:latin typeface="Cambria Math"/>
                <a:ea typeface="Cambria Math"/>
                <a:cs typeface="Cambria Math"/>
              </a:defRPr>
            </a:lvl3pPr>
            <a:lvl4pPr algn="l">
              <a:defRPr sz="3000" b="0">
                <a:solidFill>
                  <a:srgbClr val="171717"/>
                </a:solidFill>
                <a:latin typeface="Cambria Math"/>
                <a:ea typeface="Cambria Math"/>
                <a:cs typeface="Cambria Math"/>
              </a:defRPr>
            </a:lvl4pPr>
            <a:lvl5pPr algn="l">
              <a:defRPr sz="3000" b="0">
                <a:solidFill>
                  <a:srgbClr val="171717"/>
                </a:solidFill>
                <a:latin typeface="Cambria Math"/>
                <a:ea typeface="Cambria Math"/>
                <a:cs typeface="Cambria Math"/>
              </a:defRPr>
            </a:lvl5pPr>
            <a:lvl6pPr algn="l">
              <a:defRPr sz="3000" b="0">
                <a:solidFill>
                  <a:srgbClr val="171717"/>
                </a:solidFill>
                <a:latin typeface="Cambria Math"/>
                <a:ea typeface="Cambria Math"/>
                <a:cs typeface="Cambria Math"/>
              </a:defRPr>
            </a:lvl6pPr>
            <a:lvl7pPr algn="l">
              <a:defRPr sz="3000" b="0">
                <a:solidFill>
                  <a:srgbClr val="171717"/>
                </a:solidFill>
                <a:latin typeface="Cambria Math"/>
                <a:ea typeface="Cambria Math"/>
                <a:cs typeface="Cambria Math"/>
              </a:defRPr>
            </a:lvl7pPr>
            <a:lvl8pPr algn="l">
              <a:defRPr sz="3000" b="0">
                <a:solidFill>
                  <a:srgbClr val="171717"/>
                </a:solidFill>
                <a:latin typeface="Cambria Math"/>
                <a:ea typeface="Cambria Math"/>
                <a:cs typeface="Cambria Math"/>
              </a:defRPr>
            </a:lvl8pPr>
            <a:lvl9pPr algn="l">
              <a:defRPr sz="3000" b="0">
                <a:solidFill>
                  <a:srgbClr val="171717"/>
                </a:solidFill>
                <a:latin typeface="Cambria Math"/>
                <a:ea typeface="Cambria Math"/>
                <a:cs typeface="Cambria Math"/>
              </a:defRPr>
            </a:lvl9pPr>
          </a:lstStyle>
          <a:p>
            <a:pPr algn="l">
              <a:defRPr sz="3000" b="0">
                <a:solidFill>
                  <a:srgbClr val="171717"/>
                </a:solidFill>
                <a:latin typeface="Cambria Math"/>
                <a:ea typeface="Cambria Math"/>
                <a:cs typeface="Cambria Math"/>
              </a:defRPr>
            </a:pPr>
            <a:r>
              <a:rPr sz="3000" b="0">
                <a:solidFill>
                  <a:srgbClr val="171717"/>
                </a:solidFill>
                <a:latin typeface="Cambria Math"/>
                <a:ea typeface="Cambria Math"/>
                <a:cs typeface="Cambria Math"/>
              </a:rPr>
              <a:t>FFN(x) = ReLU(xW₁) W₂</a:t>
            </a:r>
          </a:p>
        </p:txBody>
      </p:sp>
      <p:sp>
        <p:nvSpPr>
          <p:cNvPr id="4" name="Rectangle 3">
            <a:extLst>
              <a:ext uri="{FF2B5EF4-FFF2-40B4-BE49-F238E27FC236}">
                <a16:creationId xmlns:a16="http://schemas.microsoft.com/office/drawing/2014/main" id="{D8844834-7181-4DDD-8427-DCEA99077479}"/>
              </a:ext>
            </a:extLst>
          </p:cNvPr>
          <p:cNvSpPr>
            <a:spLocks noGrp="1"/>
          </p:cNvSpPr>
          <p:nvPr/>
        </p:nvSpPr>
        <p:spPr>
          <a:xfrm>
            <a:off x="666750" y="3238500"/>
            <a:ext cx="10858500" cy="8096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A gated FFN multiplies two projections element by element before the output projection.</a:t>
            </a:r>
          </a:p>
        </p:txBody>
      </p:sp>
      <p:sp>
        <p:nvSpPr>
          <p:cNvPr id="5" name="Rectangle 4">
            <a:extLst>
              <a:ext uri="{FF2B5EF4-FFF2-40B4-BE49-F238E27FC236}">
                <a16:creationId xmlns:a16="http://schemas.microsoft.com/office/drawing/2014/main" id="{AC068E1A-7D8E-4D34-A793-0EB4C81D40F6}"/>
              </a:ext>
            </a:extLst>
          </p:cNvPr>
          <p:cNvSpPr>
            <a:spLocks noGrp="1"/>
          </p:cNvSpPr>
          <p:nvPr/>
        </p:nvSpPr>
        <p:spPr>
          <a:xfrm>
            <a:off x="1428750" y="4514850"/>
            <a:ext cx="10001250" cy="762000"/>
          </a:xfrm>
          <a:prstGeom prst="rect">
            <a:avLst/>
          </a:prstGeom>
          <a:noFill/>
          <a:ln w="0">
            <a:noFill/>
          </a:ln>
        </p:spPr>
        <p:txBody>
          <a:bodyPr wrap="square" lIns="0" tIns="0" rIns="0" bIns="0" anchor="t">
            <a:noAutofit/>
          </a:bodyPr>
          <a:lstStyle>
            <a:defPPr algn="l">
              <a:defRPr sz="3000" b="0">
                <a:solidFill>
                  <a:srgbClr val="171717"/>
                </a:solidFill>
                <a:latin typeface="Cambria Math"/>
                <a:ea typeface="Cambria Math"/>
                <a:cs typeface="Cambria Math"/>
              </a:defRPr>
            </a:defPPr>
            <a:lvl1pPr algn="l">
              <a:defRPr sz="3000" b="0">
                <a:solidFill>
                  <a:srgbClr val="171717"/>
                </a:solidFill>
                <a:latin typeface="Cambria Math"/>
                <a:ea typeface="Cambria Math"/>
                <a:cs typeface="Cambria Math"/>
              </a:defRPr>
            </a:lvl1pPr>
            <a:lvl2pPr algn="l">
              <a:defRPr sz="3000" b="0">
                <a:solidFill>
                  <a:srgbClr val="171717"/>
                </a:solidFill>
                <a:latin typeface="Cambria Math"/>
                <a:ea typeface="Cambria Math"/>
                <a:cs typeface="Cambria Math"/>
              </a:defRPr>
            </a:lvl2pPr>
            <a:lvl3pPr algn="l">
              <a:defRPr sz="3000" b="0">
                <a:solidFill>
                  <a:srgbClr val="171717"/>
                </a:solidFill>
                <a:latin typeface="Cambria Math"/>
                <a:ea typeface="Cambria Math"/>
                <a:cs typeface="Cambria Math"/>
              </a:defRPr>
            </a:lvl3pPr>
            <a:lvl4pPr algn="l">
              <a:defRPr sz="3000" b="0">
                <a:solidFill>
                  <a:srgbClr val="171717"/>
                </a:solidFill>
                <a:latin typeface="Cambria Math"/>
                <a:ea typeface="Cambria Math"/>
                <a:cs typeface="Cambria Math"/>
              </a:defRPr>
            </a:lvl4pPr>
            <a:lvl5pPr algn="l">
              <a:defRPr sz="3000" b="0">
                <a:solidFill>
                  <a:srgbClr val="171717"/>
                </a:solidFill>
                <a:latin typeface="Cambria Math"/>
                <a:ea typeface="Cambria Math"/>
                <a:cs typeface="Cambria Math"/>
              </a:defRPr>
            </a:lvl5pPr>
            <a:lvl6pPr algn="l">
              <a:defRPr sz="3000" b="0">
                <a:solidFill>
                  <a:srgbClr val="171717"/>
                </a:solidFill>
                <a:latin typeface="Cambria Math"/>
                <a:ea typeface="Cambria Math"/>
                <a:cs typeface="Cambria Math"/>
              </a:defRPr>
            </a:lvl6pPr>
            <a:lvl7pPr algn="l">
              <a:defRPr sz="3000" b="0">
                <a:solidFill>
                  <a:srgbClr val="171717"/>
                </a:solidFill>
                <a:latin typeface="Cambria Math"/>
                <a:ea typeface="Cambria Math"/>
                <a:cs typeface="Cambria Math"/>
              </a:defRPr>
            </a:lvl7pPr>
            <a:lvl8pPr algn="l">
              <a:defRPr sz="3000" b="0">
                <a:solidFill>
                  <a:srgbClr val="171717"/>
                </a:solidFill>
                <a:latin typeface="Cambria Math"/>
                <a:ea typeface="Cambria Math"/>
                <a:cs typeface="Cambria Math"/>
              </a:defRPr>
            </a:lvl8pPr>
            <a:lvl9pPr algn="l">
              <a:defRPr sz="3000" b="0">
                <a:solidFill>
                  <a:srgbClr val="171717"/>
                </a:solidFill>
                <a:latin typeface="Cambria Math"/>
                <a:ea typeface="Cambria Math"/>
                <a:cs typeface="Cambria Math"/>
              </a:defRPr>
            </a:lvl9pPr>
          </a:lstStyle>
          <a:p>
            <a:pPr algn="l">
              <a:defRPr sz="3000" b="0">
                <a:solidFill>
                  <a:srgbClr val="171717"/>
                </a:solidFill>
                <a:latin typeface="Cambria Math"/>
                <a:ea typeface="Cambria Math"/>
                <a:cs typeface="Cambria Math"/>
              </a:defRPr>
            </a:pPr>
            <a:r>
              <a:rPr sz="3000" b="0">
                <a:solidFill>
                  <a:srgbClr val="171717"/>
                </a:solidFill>
                <a:latin typeface="Cambria Math"/>
                <a:ea typeface="Cambria Math"/>
                <a:cs typeface="Cambria Math"/>
              </a:rPr>
              <a:t>ReGLU(x) = (ReLU(xW₁) ⊙ xV) W₂</a:t>
            </a:r>
          </a:p>
        </p:txBody>
      </p:sp>
      <p:sp>
        <p:nvSpPr>
          <p:cNvPr id="6" name="Rectangle 5">
            <a:extLst>
              <a:ext uri="{FF2B5EF4-FFF2-40B4-BE49-F238E27FC236}">
                <a16:creationId xmlns:a16="http://schemas.microsoft.com/office/drawing/2014/main" id="{864157DD-66EE-480C-9583-B7AC802857EA}"/>
              </a:ext>
            </a:extLst>
          </p:cNvPr>
          <p:cNvSpPr>
            <a:spLocks noGrp="1"/>
          </p:cNvSpPr>
          <p:nvPr/>
        </p:nvSpPr>
        <p:spPr>
          <a:xfrm>
            <a:off x="666750" y="5667375"/>
            <a:ext cx="10858500" cy="619125"/>
          </a:xfrm>
          <a:prstGeom prst="rect">
            <a:avLst/>
          </a:prstGeom>
          <a:noFill/>
          <a:ln w="0">
            <a:noFill/>
          </a:ln>
        </p:spPr>
        <p:txBody>
          <a:bodyPr wrap="square" lIns="0" tIns="0" rIns="0" bIns="0" anchor="t">
            <a:noAutofit/>
          </a:bodyPr>
          <a:lstStyle>
            <a:defPPr algn="l">
              <a:defRPr sz="2100" b="0">
                <a:solidFill>
                  <a:srgbClr val="171717"/>
                </a:solidFill>
                <a:latin typeface="Calibri"/>
                <a:ea typeface="Calibri"/>
                <a:cs typeface="Calibri"/>
              </a:defRPr>
            </a:defPPr>
            <a:lvl1pPr algn="l">
              <a:defRPr sz="2100" b="0">
                <a:solidFill>
                  <a:srgbClr val="171717"/>
                </a:solidFill>
                <a:latin typeface="Calibri"/>
                <a:ea typeface="Calibri"/>
                <a:cs typeface="Calibri"/>
              </a:defRPr>
            </a:lvl1pPr>
            <a:lvl2pPr algn="l">
              <a:defRPr sz="2100" b="0">
                <a:solidFill>
                  <a:srgbClr val="171717"/>
                </a:solidFill>
                <a:latin typeface="Calibri"/>
                <a:ea typeface="Calibri"/>
                <a:cs typeface="Calibri"/>
              </a:defRPr>
            </a:lvl2pPr>
            <a:lvl3pPr algn="l">
              <a:defRPr sz="2100" b="0">
                <a:solidFill>
                  <a:srgbClr val="171717"/>
                </a:solidFill>
                <a:latin typeface="Calibri"/>
                <a:ea typeface="Calibri"/>
                <a:cs typeface="Calibri"/>
              </a:defRPr>
            </a:lvl3pPr>
            <a:lvl4pPr algn="l">
              <a:defRPr sz="2100" b="0">
                <a:solidFill>
                  <a:srgbClr val="171717"/>
                </a:solidFill>
                <a:latin typeface="Calibri"/>
                <a:ea typeface="Calibri"/>
                <a:cs typeface="Calibri"/>
              </a:defRPr>
            </a:lvl4pPr>
            <a:lvl5pPr algn="l">
              <a:defRPr sz="2100" b="0">
                <a:solidFill>
                  <a:srgbClr val="171717"/>
                </a:solidFill>
                <a:latin typeface="Calibri"/>
                <a:ea typeface="Calibri"/>
                <a:cs typeface="Calibri"/>
              </a:defRPr>
            </a:lvl5pPr>
            <a:lvl6pPr algn="l">
              <a:defRPr sz="2100" b="0">
                <a:solidFill>
                  <a:srgbClr val="171717"/>
                </a:solidFill>
                <a:latin typeface="Calibri"/>
                <a:ea typeface="Calibri"/>
                <a:cs typeface="Calibri"/>
              </a:defRPr>
            </a:lvl6pPr>
            <a:lvl7pPr algn="l">
              <a:defRPr sz="2100" b="0">
                <a:solidFill>
                  <a:srgbClr val="171717"/>
                </a:solidFill>
                <a:latin typeface="Calibri"/>
                <a:ea typeface="Calibri"/>
                <a:cs typeface="Calibri"/>
              </a:defRPr>
            </a:lvl7pPr>
            <a:lvl8pPr algn="l">
              <a:defRPr sz="2100" b="0">
                <a:solidFill>
                  <a:srgbClr val="171717"/>
                </a:solidFill>
                <a:latin typeface="Calibri"/>
                <a:ea typeface="Calibri"/>
                <a:cs typeface="Calibri"/>
              </a:defRPr>
            </a:lvl8pPr>
            <a:lvl9pPr algn="l">
              <a:defRPr sz="2100" b="0">
                <a:solidFill>
                  <a:srgbClr val="171717"/>
                </a:solidFill>
                <a:latin typeface="Calibri"/>
                <a:ea typeface="Calibri"/>
                <a:cs typeface="Calibri"/>
              </a:defRPr>
            </a:lvl9pPr>
          </a:lstStyle>
          <a:p>
            <a:pPr algn="l">
              <a:defRPr sz="2100" b="0">
                <a:solidFill>
                  <a:srgbClr val="171717"/>
                </a:solidFill>
                <a:latin typeface="Calibri"/>
                <a:ea typeface="Calibri"/>
                <a:cs typeface="Calibri"/>
              </a:defRPr>
            </a:pPr>
            <a:r>
              <a:rPr sz="2100" b="0">
                <a:solidFill>
                  <a:srgbClr val="171717"/>
                </a:solidFill>
                <a:latin typeface="Calibri"/>
                <a:ea typeface="Calibri"/>
                <a:cs typeface="Calibri"/>
              </a:rPr>
              <a:t>⊙ is the element-wise product. The extra projection modulates which features pass through.</a:t>
            </a:r>
          </a:p>
        </p:txBody>
      </p:sp>
      <p:sp>
        <p:nvSpPr>
          <p:cNvPr id="7" name="Source">
            <a:extLst>
              <a:ext uri="{FF2B5EF4-FFF2-40B4-BE49-F238E27FC236}">
                <a16:creationId xmlns:a16="http://schemas.microsoft.com/office/drawing/2014/main" id="{B57D804F-32A7-40EB-9C82-524DD258722D}"/>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Shazeer, 2020. GLU Variants Improve Transformer</a:t>
            </a:r>
          </a:p>
        </p:txBody>
      </p:sp>
      <p:sp>
        <p:nvSpPr>
          <p:cNvPr id="8" name="Slide number">
            <a:extLst>
              <a:ext uri="{FF2B5EF4-FFF2-40B4-BE49-F238E27FC236}">
                <a16:creationId xmlns:a16="http://schemas.microsoft.com/office/drawing/2014/main" id="{8D6BF9D5-383D-45C0-9320-5B141B810815}"/>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7</a:t>
            </a:r>
          </a:p>
        </p:txBody>
      </p:sp>
    </p:spTree>
    <p:extLst>
      <p:ext uri="{BB962C8B-B14F-4D97-AF65-F5344CB8AC3E}">
        <p14:creationId xmlns:p14="http://schemas.microsoft.com/office/powerpoint/2010/main" val="2129602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6DBF9442-647B-46F3-A744-ADFCF5DD1388}"/>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GeGLU and SwiGLU</a:t>
            </a:r>
          </a:p>
        </p:txBody>
      </p:sp>
      <p:sp>
        <p:nvSpPr>
          <p:cNvPr id="2" name="Rectangle 1">
            <a:extLst>
              <a:ext uri="{FF2B5EF4-FFF2-40B4-BE49-F238E27FC236}">
                <a16:creationId xmlns:a16="http://schemas.microsoft.com/office/drawing/2014/main" id="{884D11EB-46DF-44B3-991A-BCEE51386A73}"/>
              </a:ext>
            </a:extLst>
          </p:cNvPr>
          <p:cNvSpPr>
            <a:spLocks noGrp="1"/>
          </p:cNvSpPr>
          <p:nvPr/>
        </p:nvSpPr>
        <p:spPr>
          <a:xfrm>
            <a:off x="666750" y="1143000"/>
            <a:ext cx="10858500" cy="523875"/>
          </a:xfrm>
          <a:prstGeom prst="rect">
            <a:avLst/>
          </a:prstGeom>
          <a:noFill/>
          <a:ln w="0">
            <a:noFill/>
          </a:ln>
        </p:spPr>
        <p:txBody>
          <a:bodyPr wrap="square" lIns="0" tIns="0" rIns="0" bIns="0" anchor="t">
            <a:noAutofit/>
          </a:bodyPr>
          <a:lstStyle>
            <a:defPPr algn="l">
              <a:defRPr sz="2250" b="1">
                <a:solidFill>
                  <a:srgbClr val="171717"/>
                </a:solidFill>
                <a:latin typeface="Calibri"/>
                <a:ea typeface="Calibri"/>
                <a:cs typeface="Calibri"/>
              </a:defRPr>
            </a:defPPr>
            <a:lvl1pPr algn="l">
              <a:defRPr sz="2250" b="1">
                <a:solidFill>
                  <a:srgbClr val="171717"/>
                </a:solidFill>
                <a:latin typeface="Calibri"/>
                <a:ea typeface="Calibri"/>
                <a:cs typeface="Calibri"/>
              </a:defRPr>
            </a:lvl1pPr>
            <a:lvl2pPr algn="l">
              <a:defRPr sz="2250" b="1">
                <a:solidFill>
                  <a:srgbClr val="171717"/>
                </a:solidFill>
                <a:latin typeface="Calibri"/>
                <a:ea typeface="Calibri"/>
                <a:cs typeface="Calibri"/>
              </a:defRPr>
            </a:lvl2pPr>
            <a:lvl3pPr algn="l">
              <a:defRPr sz="2250" b="1">
                <a:solidFill>
                  <a:srgbClr val="171717"/>
                </a:solidFill>
                <a:latin typeface="Calibri"/>
                <a:ea typeface="Calibri"/>
                <a:cs typeface="Calibri"/>
              </a:defRPr>
            </a:lvl3pPr>
            <a:lvl4pPr algn="l">
              <a:defRPr sz="2250" b="1">
                <a:solidFill>
                  <a:srgbClr val="171717"/>
                </a:solidFill>
                <a:latin typeface="Calibri"/>
                <a:ea typeface="Calibri"/>
                <a:cs typeface="Calibri"/>
              </a:defRPr>
            </a:lvl4pPr>
            <a:lvl5pPr algn="l">
              <a:defRPr sz="2250" b="1">
                <a:solidFill>
                  <a:srgbClr val="171717"/>
                </a:solidFill>
                <a:latin typeface="Calibri"/>
                <a:ea typeface="Calibri"/>
                <a:cs typeface="Calibri"/>
              </a:defRPr>
            </a:lvl5pPr>
            <a:lvl6pPr algn="l">
              <a:defRPr sz="2250" b="1">
                <a:solidFill>
                  <a:srgbClr val="171717"/>
                </a:solidFill>
                <a:latin typeface="Calibri"/>
                <a:ea typeface="Calibri"/>
                <a:cs typeface="Calibri"/>
              </a:defRPr>
            </a:lvl6pPr>
            <a:lvl7pPr algn="l">
              <a:defRPr sz="2250" b="1">
                <a:solidFill>
                  <a:srgbClr val="171717"/>
                </a:solidFill>
                <a:latin typeface="Calibri"/>
                <a:ea typeface="Calibri"/>
                <a:cs typeface="Calibri"/>
              </a:defRPr>
            </a:lvl7pPr>
            <a:lvl8pPr algn="l">
              <a:defRPr sz="2250" b="1">
                <a:solidFill>
                  <a:srgbClr val="171717"/>
                </a:solidFill>
                <a:latin typeface="Calibri"/>
                <a:ea typeface="Calibri"/>
                <a:cs typeface="Calibri"/>
              </a:defRPr>
            </a:lvl8pPr>
            <a:lvl9pPr algn="l">
              <a:defRPr sz="2250" b="1">
                <a:solidFill>
                  <a:srgbClr val="171717"/>
                </a:solidFill>
                <a:latin typeface="Calibri"/>
                <a:ea typeface="Calibri"/>
                <a:cs typeface="Calibri"/>
              </a:defRPr>
            </a:lvl9pPr>
          </a:lstStyle>
          <a:p>
            <a:pPr algn="l">
              <a:defRPr sz="2250" b="1">
                <a:solidFill>
                  <a:srgbClr val="171717"/>
                </a:solidFill>
                <a:latin typeface="Calibri"/>
                <a:ea typeface="Calibri"/>
                <a:cs typeface="Calibri"/>
              </a:defRPr>
            </a:pPr>
            <a:r>
              <a:rPr sz="2250" b="1">
                <a:solidFill>
                  <a:srgbClr val="171717"/>
                </a:solidFill>
                <a:latin typeface="Calibri"/>
                <a:ea typeface="Calibri"/>
                <a:cs typeface="Calibri"/>
              </a:rPr>
              <a:t>GeGLU uses GELU for the gate.</a:t>
            </a:r>
          </a:p>
        </p:txBody>
      </p:sp>
      <p:sp>
        <p:nvSpPr>
          <p:cNvPr id="3" name="Rectangle 2">
            <a:extLst>
              <a:ext uri="{FF2B5EF4-FFF2-40B4-BE49-F238E27FC236}">
                <a16:creationId xmlns:a16="http://schemas.microsoft.com/office/drawing/2014/main" id="{B33E92D6-3D15-4055-80DF-A5C6CF8C43CA}"/>
              </a:ext>
            </a:extLst>
          </p:cNvPr>
          <p:cNvSpPr>
            <a:spLocks noGrp="1"/>
          </p:cNvSpPr>
          <p:nvPr/>
        </p:nvSpPr>
        <p:spPr>
          <a:xfrm>
            <a:off x="1428750" y="2095500"/>
            <a:ext cx="10096500" cy="762000"/>
          </a:xfrm>
          <a:prstGeom prst="rect">
            <a:avLst/>
          </a:prstGeom>
          <a:noFill/>
          <a:ln w="0">
            <a:noFill/>
          </a:ln>
        </p:spPr>
        <p:txBody>
          <a:bodyPr wrap="square" lIns="0" tIns="0" rIns="0" bIns="0" anchor="t">
            <a:noAutofit/>
          </a:bodyPr>
          <a:lstStyle>
            <a:defPPr algn="l">
              <a:defRPr sz="3000" b="0">
                <a:solidFill>
                  <a:srgbClr val="171717"/>
                </a:solidFill>
                <a:latin typeface="Cambria Math"/>
                <a:ea typeface="Cambria Math"/>
                <a:cs typeface="Cambria Math"/>
              </a:defRPr>
            </a:defPPr>
            <a:lvl1pPr algn="l">
              <a:defRPr sz="3000" b="0">
                <a:solidFill>
                  <a:srgbClr val="171717"/>
                </a:solidFill>
                <a:latin typeface="Cambria Math"/>
                <a:ea typeface="Cambria Math"/>
                <a:cs typeface="Cambria Math"/>
              </a:defRPr>
            </a:lvl1pPr>
            <a:lvl2pPr algn="l">
              <a:defRPr sz="3000" b="0">
                <a:solidFill>
                  <a:srgbClr val="171717"/>
                </a:solidFill>
                <a:latin typeface="Cambria Math"/>
                <a:ea typeface="Cambria Math"/>
                <a:cs typeface="Cambria Math"/>
              </a:defRPr>
            </a:lvl2pPr>
            <a:lvl3pPr algn="l">
              <a:defRPr sz="3000" b="0">
                <a:solidFill>
                  <a:srgbClr val="171717"/>
                </a:solidFill>
                <a:latin typeface="Cambria Math"/>
                <a:ea typeface="Cambria Math"/>
                <a:cs typeface="Cambria Math"/>
              </a:defRPr>
            </a:lvl3pPr>
            <a:lvl4pPr algn="l">
              <a:defRPr sz="3000" b="0">
                <a:solidFill>
                  <a:srgbClr val="171717"/>
                </a:solidFill>
                <a:latin typeface="Cambria Math"/>
                <a:ea typeface="Cambria Math"/>
                <a:cs typeface="Cambria Math"/>
              </a:defRPr>
            </a:lvl4pPr>
            <a:lvl5pPr algn="l">
              <a:defRPr sz="3000" b="0">
                <a:solidFill>
                  <a:srgbClr val="171717"/>
                </a:solidFill>
                <a:latin typeface="Cambria Math"/>
                <a:ea typeface="Cambria Math"/>
                <a:cs typeface="Cambria Math"/>
              </a:defRPr>
            </a:lvl5pPr>
            <a:lvl6pPr algn="l">
              <a:defRPr sz="3000" b="0">
                <a:solidFill>
                  <a:srgbClr val="171717"/>
                </a:solidFill>
                <a:latin typeface="Cambria Math"/>
                <a:ea typeface="Cambria Math"/>
                <a:cs typeface="Cambria Math"/>
              </a:defRPr>
            </a:lvl6pPr>
            <a:lvl7pPr algn="l">
              <a:defRPr sz="3000" b="0">
                <a:solidFill>
                  <a:srgbClr val="171717"/>
                </a:solidFill>
                <a:latin typeface="Cambria Math"/>
                <a:ea typeface="Cambria Math"/>
                <a:cs typeface="Cambria Math"/>
              </a:defRPr>
            </a:lvl7pPr>
            <a:lvl8pPr algn="l">
              <a:defRPr sz="3000" b="0">
                <a:solidFill>
                  <a:srgbClr val="171717"/>
                </a:solidFill>
                <a:latin typeface="Cambria Math"/>
                <a:ea typeface="Cambria Math"/>
                <a:cs typeface="Cambria Math"/>
              </a:defRPr>
            </a:lvl8pPr>
            <a:lvl9pPr algn="l">
              <a:defRPr sz="3000" b="0">
                <a:solidFill>
                  <a:srgbClr val="171717"/>
                </a:solidFill>
                <a:latin typeface="Cambria Math"/>
                <a:ea typeface="Cambria Math"/>
                <a:cs typeface="Cambria Math"/>
              </a:defRPr>
            </a:lvl9pPr>
          </a:lstStyle>
          <a:p>
            <a:pPr algn="l">
              <a:defRPr sz="3000" b="0">
                <a:solidFill>
                  <a:srgbClr val="171717"/>
                </a:solidFill>
                <a:latin typeface="Cambria Math"/>
                <a:ea typeface="Cambria Math"/>
                <a:cs typeface="Cambria Math"/>
              </a:defRPr>
            </a:pPr>
            <a:r>
              <a:rPr sz="3000" b="0">
                <a:solidFill>
                  <a:srgbClr val="171717"/>
                </a:solidFill>
                <a:latin typeface="Cambria Math"/>
                <a:ea typeface="Cambria Math"/>
                <a:cs typeface="Cambria Math"/>
              </a:rPr>
              <a:t>GeGLU(x) = (GELU(xW₁) ⊙ xV) W₂</a:t>
            </a:r>
          </a:p>
        </p:txBody>
      </p:sp>
      <p:sp>
        <p:nvSpPr>
          <p:cNvPr id="4" name="Rectangle 3">
            <a:extLst>
              <a:ext uri="{FF2B5EF4-FFF2-40B4-BE49-F238E27FC236}">
                <a16:creationId xmlns:a16="http://schemas.microsoft.com/office/drawing/2014/main" id="{34894F45-B528-4BA1-8A09-C3D6A45D96AE}"/>
              </a:ext>
            </a:extLst>
          </p:cNvPr>
          <p:cNvSpPr>
            <a:spLocks noGrp="1"/>
          </p:cNvSpPr>
          <p:nvPr/>
        </p:nvSpPr>
        <p:spPr>
          <a:xfrm>
            <a:off x="666750" y="3238500"/>
            <a:ext cx="10858500" cy="619125"/>
          </a:xfrm>
          <a:prstGeom prst="rect">
            <a:avLst/>
          </a:prstGeom>
          <a:noFill/>
          <a:ln w="0">
            <a:noFill/>
          </a:ln>
        </p:spPr>
        <p:txBody>
          <a:bodyPr wrap="square" lIns="0" tIns="0" rIns="0" bIns="0" anchor="t">
            <a:noAutofit/>
          </a:bodyPr>
          <a:lstStyle>
            <a:defPPr algn="l">
              <a:defRPr sz="2250" b="1">
                <a:solidFill>
                  <a:srgbClr val="171717"/>
                </a:solidFill>
                <a:latin typeface="Calibri"/>
                <a:ea typeface="Calibri"/>
                <a:cs typeface="Calibri"/>
              </a:defRPr>
            </a:defPPr>
            <a:lvl1pPr algn="l">
              <a:defRPr sz="2250" b="1">
                <a:solidFill>
                  <a:srgbClr val="171717"/>
                </a:solidFill>
                <a:latin typeface="Calibri"/>
                <a:ea typeface="Calibri"/>
                <a:cs typeface="Calibri"/>
              </a:defRPr>
            </a:lvl1pPr>
            <a:lvl2pPr algn="l">
              <a:defRPr sz="2250" b="1">
                <a:solidFill>
                  <a:srgbClr val="171717"/>
                </a:solidFill>
                <a:latin typeface="Calibri"/>
                <a:ea typeface="Calibri"/>
                <a:cs typeface="Calibri"/>
              </a:defRPr>
            </a:lvl2pPr>
            <a:lvl3pPr algn="l">
              <a:defRPr sz="2250" b="1">
                <a:solidFill>
                  <a:srgbClr val="171717"/>
                </a:solidFill>
                <a:latin typeface="Calibri"/>
                <a:ea typeface="Calibri"/>
                <a:cs typeface="Calibri"/>
              </a:defRPr>
            </a:lvl3pPr>
            <a:lvl4pPr algn="l">
              <a:defRPr sz="2250" b="1">
                <a:solidFill>
                  <a:srgbClr val="171717"/>
                </a:solidFill>
                <a:latin typeface="Calibri"/>
                <a:ea typeface="Calibri"/>
                <a:cs typeface="Calibri"/>
              </a:defRPr>
            </a:lvl4pPr>
            <a:lvl5pPr algn="l">
              <a:defRPr sz="2250" b="1">
                <a:solidFill>
                  <a:srgbClr val="171717"/>
                </a:solidFill>
                <a:latin typeface="Calibri"/>
                <a:ea typeface="Calibri"/>
                <a:cs typeface="Calibri"/>
              </a:defRPr>
            </a:lvl5pPr>
            <a:lvl6pPr algn="l">
              <a:defRPr sz="2250" b="1">
                <a:solidFill>
                  <a:srgbClr val="171717"/>
                </a:solidFill>
                <a:latin typeface="Calibri"/>
                <a:ea typeface="Calibri"/>
                <a:cs typeface="Calibri"/>
              </a:defRPr>
            </a:lvl6pPr>
            <a:lvl7pPr algn="l">
              <a:defRPr sz="2250" b="1">
                <a:solidFill>
                  <a:srgbClr val="171717"/>
                </a:solidFill>
                <a:latin typeface="Calibri"/>
                <a:ea typeface="Calibri"/>
                <a:cs typeface="Calibri"/>
              </a:defRPr>
            </a:lvl7pPr>
            <a:lvl8pPr algn="l">
              <a:defRPr sz="2250" b="1">
                <a:solidFill>
                  <a:srgbClr val="171717"/>
                </a:solidFill>
                <a:latin typeface="Calibri"/>
                <a:ea typeface="Calibri"/>
                <a:cs typeface="Calibri"/>
              </a:defRPr>
            </a:lvl8pPr>
            <a:lvl9pPr algn="l">
              <a:defRPr sz="2250" b="1">
                <a:solidFill>
                  <a:srgbClr val="171717"/>
                </a:solidFill>
                <a:latin typeface="Calibri"/>
                <a:ea typeface="Calibri"/>
                <a:cs typeface="Calibri"/>
              </a:defRPr>
            </a:lvl9pPr>
          </a:lstStyle>
          <a:p>
            <a:pPr algn="l">
              <a:defRPr sz="2250" b="1">
                <a:solidFill>
                  <a:srgbClr val="171717"/>
                </a:solidFill>
                <a:latin typeface="Calibri"/>
                <a:ea typeface="Calibri"/>
                <a:cs typeface="Calibri"/>
              </a:defRPr>
            </a:pPr>
            <a:r>
              <a:rPr sz="2250" b="1">
                <a:solidFill>
                  <a:srgbClr val="171717"/>
                </a:solidFill>
                <a:latin typeface="Calibri"/>
                <a:ea typeface="Calibri"/>
                <a:cs typeface="Calibri"/>
              </a:rPr>
              <a:t>SwiGLU uses SiLU(x) = x · sigmoid(x).</a:t>
            </a:r>
          </a:p>
        </p:txBody>
      </p:sp>
      <p:sp>
        <p:nvSpPr>
          <p:cNvPr id="5" name="Rectangle 4">
            <a:extLst>
              <a:ext uri="{FF2B5EF4-FFF2-40B4-BE49-F238E27FC236}">
                <a16:creationId xmlns:a16="http://schemas.microsoft.com/office/drawing/2014/main" id="{EA315598-5962-45D7-8072-C50632E47497}"/>
              </a:ext>
            </a:extLst>
          </p:cNvPr>
          <p:cNvSpPr>
            <a:spLocks noGrp="1"/>
          </p:cNvSpPr>
          <p:nvPr/>
        </p:nvSpPr>
        <p:spPr>
          <a:xfrm>
            <a:off x="1428750" y="4286250"/>
            <a:ext cx="10096500" cy="762000"/>
          </a:xfrm>
          <a:prstGeom prst="rect">
            <a:avLst/>
          </a:prstGeom>
          <a:noFill/>
          <a:ln w="0">
            <a:noFill/>
          </a:ln>
        </p:spPr>
        <p:txBody>
          <a:bodyPr wrap="square" lIns="0" tIns="0" rIns="0" bIns="0" anchor="t">
            <a:noAutofit/>
          </a:bodyPr>
          <a:lstStyle>
            <a:defPPr algn="l">
              <a:defRPr sz="3000" b="0">
                <a:solidFill>
                  <a:srgbClr val="171717"/>
                </a:solidFill>
                <a:latin typeface="Cambria Math"/>
                <a:ea typeface="Cambria Math"/>
                <a:cs typeface="Cambria Math"/>
              </a:defRPr>
            </a:defPPr>
            <a:lvl1pPr algn="l">
              <a:defRPr sz="3000" b="0">
                <a:solidFill>
                  <a:srgbClr val="171717"/>
                </a:solidFill>
                <a:latin typeface="Cambria Math"/>
                <a:ea typeface="Cambria Math"/>
                <a:cs typeface="Cambria Math"/>
              </a:defRPr>
            </a:lvl1pPr>
            <a:lvl2pPr algn="l">
              <a:defRPr sz="3000" b="0">
                <a:solidFill>
                  <a:srgbClr val="171717"/>
                </a:solidFill>
                <a:latin typeface="Cambria Math"/>
                <a:ea typeface="Cambria Math"/>
                <a:cs typeface="Cambria Math"/>
              </a:defRPr>
            </a:lvl2pPr>
            <a:lvl3pPr algn="l">
              <a:defRPr sz="3000" b="0">
                <a:solidFill>
                  <a:srgbClr val="171717"/>
                </a:solidFill>
                <a:latin typeface="Cambria Math"/>
                <a:ea typeface="Cambria Math"/>
                <a:cs typeface="Cambria Math"/>
              </a:defRPr>
            </a:lvl3pPr>
            <a:lvl4pPr algn="l">
              <a:defRPr sz="3000" b="0">
                <a:solidFill>
                  <a:srgbClr val="171717"/>
                </a:solidFill>
                <a:latin typeface="Cambria Math"/>
                <a:ea typeface="Cambria Math"/>
                <a:cs typeface="Cambria Math"/>
              </a:defRPr>
            </a:lvl4pPr>
            <a:lvl5pPr algn="l">
              <a:defRPr sz="3000" b="0">
                <a:solidFill>
                  <a:srgbClr val="171717"/>
                </a:solidFill>
                <a:latin typeface="Cambria Math"/>
                <a:ea typeface="Cambria Math"/>
                <a:cs typeface="Cambria Math"/>
              </a:defRPr>
            </a:lvl5pPr>
            <a:lvl6pPr algn="l">
              <a:defRPr sz="3000" b="0">
                <a:solidFill>
                  <a:srgbClr val="171717"/>
                </a:solidFill>
                <a:latin typeface="Cambria Math"/>
                <a:ea typeface="Cambria Math"/>
                <a:cs typeface="Cambria Math"/>
              </a:defRPr>
            </a:lvl6pPr>
            <a:lvl7pPr algn="l">
              <a:defRPr sz="3000" b="0">
                <a:solidFill>
                  <a:srgbClr val="171717"/>
                </a:solidFill>
                <a:latin typeface="Cambria Math"/>
                <a:ea typeface="Cambria Math"/>
                <a:cs typeface="Cambria Math"/>
              </a:defRPr>
            </a:lvl7pPr>
            <a:lvl8pPr algn="l">
              <a:defRPr sz="3000" b="0">
                <a:solidFill>
                  <a:srgbClr val="171717"/>
                </a:solidFill>
                <a:latin typeface="Cambria Math"/>
                <a:ea typeface="Cambria Math"/>
                <a:cs typeface="Cambria Math"/>
              </a:defRPr>
            </a:lvl8pPr>
            <a:lvl9pPr algn="l">
              <a:defRPr sz="3000" b="0">
                <a:solidFill>
                  <a:srgbClr val="171717"/>
                </a:solidFill>
                <a:latin typeface="Cambria Math"/>
                <a:ea typeface="Cambria Math"/>
                <a:cs typeface="Cambria Math"/>
              </a:defRPr>
            </a:lvl9pPr>
          </a:lstStyle>
          <a:p>
            <a:pPr algn="l">
              <a:defRPr sz="3000" b="0">
                <a:solidFill>
                  <a:srgbClr val="171717"/>
                </a:solidFill>
                <a:latin typeface="Cambria Math"/>
                <a:ea typeface="Cambria Math"/>
                <a:cs typeface="Cambria Math"/>
              </a:defRPr>
            </a:pPr>
            <a:r>
              <a:rPr sz="3000" b="0">
                <a:solidFill>
                  <a:srgbClr val="171717"/>
                </a:solidFill>
                <a:latin typeface="Cambria Math"/>
                <a:ea typeface="Cambria Math"/>
                <a:cs typeface="Cambria Math"/>
              </a:rPr>
              <a:t>SwiGLU(x) = (SiLU(xW₁) ⊙ xV) W₂</a:t>
            </a:r>
          </a:p>
        </p:txBody>
      </p:sp>
      <p:sp>
        <p:nvSpPr>
          <p:cNvPr id="6" name="Rectangle 5">
            <a:extLst>
              <a:ext uri="{FF2B5EF4-FFF2-40B4-BE49-F238E27FC236}">
                <a16:creationId xmlns:a16="http://schemas.microsoft.com/office/drawing/2014/main" id="{A8947030-F22C-4FFD-B58B-3ED015388F17}"/>
              </a:ext>
            </a:extLst>
          </p:cNvPr>
          <p:cNvSpPr>
            <a:spLocks noGrp="1"/>
          </p:cNvSpPr>
          <p:nvPr/>
        </p:nvSpPr>
        <p:spPr>
          <a:xfrm>
            <a:off x="666750" y="5562600"/>
            <a:ext cx="10858500" cy="714375"/>
          </a:xfrm>
          <a:prstGeom prst="rect">
            <a:avLst/>
          </a:prstGeom>
          <a:noFill/>
          <a:ln w="0">
            <a:noFill/>
          </a:ln>
        </p:spPr>
        <p:txBody>
          <a:bodyPr wrap="square" lIns="0" tIns="0" rIns="0" bIns="0" anchor="t">
            <a:noAutofit/>
          </a:bodyPr>
          <a:lstStyle>
            <a:defPPr algn="l">
              <a:defRPr sz="2100" b="0">
                <a:solidFill>
                  <a:srgbClr val="171717"/>
                </a:solidFill>
                <a:latin typeface="Calibri"/>
                <a:ea typeface="Calibri"/>
                <a:cs typeface="Calibri"/>
              </a:defRPr>
            </a:defPPr>
            <a:lvl1pPr algn="l">
              <a:defRPr sz="2100" b="0">
                <a:solidFill>
                  <a:srgbClr val="171717"/>
                </a:solidFill>
                <a:latin typeface="Calibri"/>
                <a:ea typeface="Calibri"/>
                <a:cs typeface="Calibri"/>
              </a:defRPr>
            </a:lvl1pPr>
            <a:lvl2pPr algn="l">
              <a:defRPr sz="2100" b="0">
                <a:solidFill>
                  <a:srgbClr val="171717"/>
                </a:solidFill>
                <a:latin typeface="Calibri"/>
                <a:ea typeface="Calibri"/>
                <a:cs typeface="Calibri"/>
              </a:defRPr>
            </a:lvl2pPr>
            <a:lvl3pPr algn="l">
              <a:defRPr sz="2100" b="0">
                <a:solidFill>
                  <a:srgbClr val="171717"/>
                </a:solidFill>
                <a:latin typeface="Calibri"/>
                <a:ea typeface="Calibri"/>
                <a:cs typeface="Calibri"/>
              </a:defRPr>
            </a:lvl3pPr>
            <a:lvl4pPr algn="l">
              <a:defRPr sz="2100" b="0">
                <a:solidFill>
                  <a:srgbClr val="171717"/>
                </a:solidFill>
                <a:latin typeface="Calibri"/>
                <a:ea typeface="Calibri"/>
                <a:cs typeface="Calibri"/>
              </a:defRPr>
            </a:lvl4pPr>
            <a:lvl5pPr algn="l">
              <a:defRPr sz="2100" b="0">
                <a:solidFill>
                  <a:srgbClr val="171717"/>
                </a:solidFill>
                <a:latin typeface="Calibri"/>
                <a:ea typeface="Calibri"/>
                <a:cs typeface="Calibri"/>
              </a:defRPr>
            </a:lvl5pPr>
            <a:lvl6pPr algn="l">
              <a:defRPr sz="2100" b="0">
                <a:solidFill>
                  <a:srgbClr val="171717"/>
                </a:solidFill>
                <a:latin typeface="Calibri"/>
                <a:ea typeface="Calibri"/>
                <a:cs typeface="Calibri"/>
              </a:defRPr>
            </a:lvl6pPr>
            <a:lvl7pPr algn="l">
              <a:defRPr sz="2100" b="0">
                <a:solidFill>
                  <a:srgbClr val="171717"/>
                </a:solidFill>
                <a:latin typeface="Calibri"/>
                <a:ea typeface="Calibri"/>
                <a:cs typeface="Calibri"/>
              </a:defRPr>
            </a:lvl7pPr>
            <a:lvl8pPr algn="l">
              <a:defRPr sz="2100" b="0">
                <a:solidFill>
                  <a:srgbClr val="171717"/>
                </a:solidFill>
                <a:latin typeface="Calibri"/>
                <a:ea typeface="Calibri"/>
                <a:cs typeface="Calibri"/>
              </a:defRPr>
            </a:lvl8pPr>
            <a:lvl9pPr algn="l">
              <a:defRPr sz="2100" b="0">
                <a:solidFill>
                  <a:srgbClr val="171717"/>
                </a:solidFill>
                <a:latin typeface="Calibri"/>
                <a:ea typeface="Calibri"/>
                <a:cs typeface="Calibri"/>
              </a:defRPr>
            </a:lvl9pPr>
          </a:lstStyle>
          <a:p>
            <a:pPr algn="l">
              <a:defRPr sz="2100" b="0">
                <a:solidFill>
                  <a:srgbClr val="171717"/>
                </a:solidFill>
                <a:latin typeface="Calibri"/>
                <a:ea typeface="Calibri"/>
                <a:cs typeface="Calibri"/>
              </a:defRPr>
            </a:pPr>
            <a:r>
              <a:rPr sz="2100" b="0">
                <a:solidFill>
                  <a:srgbClr val="171717"/>
                </a:solidFill>
                <a:latin typeface="Calibri"/>
                <a:ea typeface="Calibri"/>
                <a:cs typeface="Calibri"/>
              </a:rPr>
              <a:t>Both use three weight matrices. The next slide accounts for the extra parameters.</a:t>
            </a:r>
          </a:p>
        </p:txBody>
      </p:sp>
      <p:sp>
        <p:nvSpPr>
          <p:cNvPr id="7" name="Source">
            <a:extLst>
              <a:ext uri="{FF2B5EF4-FFF2-40B4-BE49-F238E27FC236}">
                <a16:creationId xmlns:a16="http://schemas.microsoft.com/office/drawing/2014/main" id="{483CCCE0-49B6-4558-B086-CDDE5CF07B8A}"/>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Shazeer, 2020. GLU Variants Improve Transformer</a:t>
            </a:r>
          </a:p>
        </p:txBody>
      </p:sp>
      <p:sp>
        <p:nvSpPr>
          <p:cNvPr id="8" name="Slide number">
            <a:extLst>
              <a:ext uri="{FF2B5EF4-FFF2-40B4-BE49-F238E27FC236}">
                <a16:creationId xmlns:a16="http://schemas.microsoft.com/office/drawing/2014/main" id="{735C9A61-1C30-4B99-BA31-7E080C832976}"/>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8</a:t>
            </a:r>
          </a:p>
        </p:txBody>
      </p:sp>
    </p:spTree>
    <p:extLst>
      <p:ext uri="{BB962C8B-B14F-4D97-AF65-F5344CB8AC3E}">
        <p14:creationId xmlns:p14="http://schemas.microsoft.com/office/powerpoint/2010/main" val="1090502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845CA8B7-5A56-4C49-895B-BB30E46E2E1F}"/>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Feedforward width and parameter count</a:t>
            </a:r>
          </a:p>
        </p:txBody>
      </p:sp>
      <p:sp>
        <p:nvSpPr>
          <p:cNvPr id="2" name="Rectangle 1">
            <a:extLst>
              <a:ext uri="{FF2B5EF4-FFF2-40B4-BE49-F238E27FC236}">
                <a16:creationId xmlns:a16="http://schemas.microsoft.com/office/drawing/2014/main" id="{C7E97A87-B65D-43AB-B07F-E6FAC8B6BCB4}"/>
              </a:ext>
            </a:extLst>
          </p:cNvPr>
          <p:cNvSpPr>
            <a:spLocks noGrp="1"/>
          </p:cNvSpPr>
          <p:nvPr/>
        </p:nvSpPr>
        <p:spPr>
          <a:xfrm>
            <a:off x="666750" y="10953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Let d be the model dimension and f the FFN hidden width.</a:t>
            </a:r>
          </a:p>
        </p:txBody>
      </p:sp>
      <p:sp>
        <p:nvSpPr>
          <p:cNvPr id="3" name="Rectangle 2">
            <a:extLst>
              <a:ext uri="{FF2B5EF4-FFF2-40B4-BE49-F238E27FC236}">
                <a16:creationId xmlns:a16="http://schemas.microsoft.com/office/drawing/2014/main" id="{6DF616D6-CA61-4169-BE87-2B8BC891D76E}"/>
              </a:ext>
            </a:extLst>
          </p:cNvPr>
          <p:cNvSpPr>
            <a:spLocks noGrp="1"/>
          </p:cNvSpPr>
          <p:nvPr/>
        </p:nvSpPr>
        <p:spPr>
          <a:xfrm>
            <a:off x="857250" y="2190750"/>
            <a:ext cx="4762500" cy="476250"/>
          </a:xfrm>
          <a:prstGeom prst="rect">
            <a:avLst/>
          </a:prstGeom>
          <a:noFill/>
          <a:ln w="0">
            <a:noFill/>
          </a:ln>
        </p:spPr>
        <p:txBody>
          <a:bodyPr wrap="square" lIns="0" tIns="0" rIns="0" bIns="0" anchor="t">
            <a:noAutofit/>
          </a:bodyPr>
          <a:lstStyle>
            <a:defPPr algn="l">
              <a:defRPr sz="2400" b="1">
                <a:solidFill>
                  <a:srgbClr val="171717"/>
                </a:solidFill>
                <a:latin typeface="Calibri"/>
                <a:ea typeface="Calibri"/>
                <a:cs typeface="Calibri"/>
              </a:defRPr>
            </a:defPPr>
            <a:lvl1pPr algn="l">
              <a:defRPr sz="2400" b="1">
                <a:solidFill>
                  <a:srgbClr val="171717"/>
                </a:solidFill>
                <a:latin typeface="Calibri"/>
                <a:ea typeface="Calibri"/>
                <a:cs typeface="Calibri"/>
              </a:defRPr>
            </a:lvl1pPr>
            <a:lvl2pPr algn="l">
              <a:defRPr sz="2400" b="1">
                <a:solidFill>
                  <a:srgbClr val="171717"/>
                </a:solidFill>
                <a:latin typeface="Calibri"/>
                <a:ea typeface="Calibri"/>
                <a:cs typeface="Calibri"/>
              </a:defRPr>
            </a:lvl2pPr>
            <a:lvl3pPr algn="l">
              <a:defRPr sz="2400" b="1">
                <a:solidFill>
                  <a:srgbClr val="171717"/>
                </a:solidFill>
                <a:latin typeface="Calibri"/>
                <a:ea typeface="Calibri"/>
                <a:cs typeface="Calibri"/>
              </a:defRPr>
            </a:lvl3pPr>
            <a:lvl4pPr algn="l">
              <a:defRPr sz="2400" b="1">
                <a:solidFill>
                  <a:srgbClr val="171717"/>
                </a:solidFill>
                <a:latin typeface="Calibri"/>
                <a:ea typeface="Calibri"/>
                <a:cs typeface="Calibri"/>
              </a:defRPr>
            </a:lvl4pPr>
            <a:lvl5pPr algn="l">
              <a:defRPr sz="2400" b="1">
                <a:solidFill>
                  <a:srgbClr val="171717"/>
                </a:solidFill>
                <a:latin typeface="Calibri"/>
                <a:ea typeface="Calibri"/>
                <a:cs typeface="Calibri"/>
              </a:defRPr>
            </a:lvl5pPr>
            <a:lvl6pPr algn="l">
              <a:defRPr sz="2400" b="1">
                <a:solidFill>
                  <a:srgbClr val="171717"/>
                </a:solidFill>
                <a:latin typeface="Calibri"/>
                <a:ea typeface="Calibri"/>
                <a:cs typeface="Calibri"/>
              </a:defRPr>
            </a:lvl6pPr>
            <a:lvl7pPr algn="l">
              <a:defRPr sz="2400" b="1">
                <a:solidFill>
                  <a:srgbClr val="171717"/>
                </a:solidFill>
                <a:latin typeface="Calibri"/>
                <a:ea typeface="Calibri"/>
                <a:cs typeface="Calibri"/>
              </a:defRPr>
            </a:lvl7pPr>
            <a:lvl8pPr algn="l">
              <a:defRPr sz="2400" b="1">
                <a:solidFill>
                  <a:srgbClr val="171717"/>
                </a:solidFill>
                <a:latin typeface="Calibri"/>
                <a:ea typeface="Calibri"/>
                <a:cs typeface="Calibri"/>
              </a:defRPr>
            </a:lvl8pPr>
            <a:lvl9pPr algn="l">
              <a:defRPr sz="2400" b="1">
                <a:solidFill>
                  <a:srgbClr val="171717"/>
                </a:solidFill>
                <a:latin typeface="Calibri"/>
                <a:ea typeface="Calibri"/>
                <a:cs typeface="Calibri"/>
              </a:defRPr>
            </a:lvl9pPr>
          </a:lstStyle>
          <a:p>
            <a:pPr algn="l">
              <a:defRPr sz="2400" b="1">
                <a:solidFill>
                  <a:srgbClr val="171717"/>
                </a:solidFill>
                <a:latin typeface="Calibri"/>
                <a:ea typeface="Calibri"/>
                <a:cs typeface="Calibri"/>
              </a:defRPr>
            </a:pPr>
            <a:r>
              <a:rPr sz="2400" b="1">
                <a:solidFill>
                  <a:srgbClr val="171717"/>
                </a:solidFill>
                <a:latin typeface="Calibri"/>
                <a:ea typeface="Calibri"/>
                <a:cs typeface="Calibri"/>
              </a:rPr>
              <a:t>Ordinary FFN</a:t>
            </a:r>
          </a:p>
        </p:txBody>
      </p:sp>
      <p:sp>
        <p:nvSpPr>
          <p:cNvPr id="4" name="Rectangle 3">
            <a:extLst>
              <a:ext uri="{FF2B5EF4-FFF2-40B4-BE49-F238E27FC236}">
                <a16:creationId xmlns:a16="http://schemas.microsoft.com/office/drawing/2014/main" id="{2CDF9B0A-5C01-4310-9021-011A47C79F5F}"/>
              </a:ext>
            </a:extLst>
          </p:cNvPr>
          <p:cNvSpPr>
            <a:spLocks noGrp="1"/>
          </p:cNvSpPr>
          <p:nvPr/>
        </p:nvSpPr>
        <p:spPr>
          <a:xfrm>
            <a:off x="857250" y="2886075"/>
            <a:ext cx="4762500" cy="1428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Two matrices: about 2df parameters.</a:t>
            </a:r>
          </a:p>
          <a:p>
            <a:pPr algn="l">
              <a:defRPr sz="2250" b="0">
                <a:solidFill>
                  <a:srgbClr val="171717"/>
                </a:solidFill>
                <a:latin typeface="Calibri"/>
                <a:ea typeface="Calibri"/>
                <a:cs typeface="Calibri"/>
              </a:defRPr>
            </a:pPr>
            <a:r>
              <a:rPr sz="2250" b="0">
                <a:solidFill>
                  <a:srgbClr val="171717"/>
                </a:solidFill>
                <a:latin typeface="Calibri"/>
                <a:ea typeface="Calibri"/>
                <a:cs typeface="Calibri"/>
              </a:rPr>
              <a:t>A common width f = 4d gives 8d².</a:t>
            </a:r>
          </a:p>
        </p:txBody>
      </p:sp>
      <p:sp>
        <p:nvSpPr>
          <p:cNvPr id="5" name="Rectangle 4">
            <a:extLst>
              <a:ext uri="{FF2B5EF4-FFF2-40B4-BE49-F238E27FC236}">
                <a16:creationId xmlns:a16="http://schemas.microsoft.com/office/drawing/2014/main" id="{5C2F592B-5ACE-4C21-98D7-8FFD6090FEC8}"/>
              </a:ext>
            </a:extLst>
          </p:cNvPr>
          <p:cNvSpPr>
            <a:spLocks noGrp="1"/>
          </p:cNvSpPr>
          <p:nvPr/>
        </p:nvSpPr>
        <p:spPr>
          <a:xfrm>
            <a:off x="6572250" y="2190750"/>
            <a:ext cx="4762500" cy="476250"/>
          </a:xfrm>
          <a:prstGeom prst="rect">
            <a:avLst/>
          </a:prstGeom>
          <a:noFill/>
          <a:ln w="0">
            <a:noFill/>
          </a:ln>
        </p:spPr>
        <p:txBody>
          <a:bodyPr wrap="square" lIns="0" tIns="0" rIns="0" bIns="0" anchor="t">
            <a:noAutofit/>
          </a:bodyPr>
          <a:lstStyle>
            <a:defPPr algn="l">
              <a:defRPr sz="2400" b="1">
                <a:solidFill>
                  <a:srgbClr val="171717"/>
                </a:solidFill>
                <a:latin typeface="Calibri"/>
                <a:ea typeface="Calibri"/>
                <a:cs typeface="Calibri"/>
              </a:defRPr>
            </a:defPPr>
            <a:lvl1pPr algn="l">
              <a:defRPr sz="2400" b="1">
                <a:solidFill>
                  <a:srgbClr val="171717"/>
                </a:solidFill>
                <a:latin typeface="Calibri"/>
                <a:ea typeface="Calibri"/>
                <a:cs typeface="Calibri"/>
              </a:defRPr>
            </a:lvl1pPr>
            <a:lvl2pPr algn="l">
              <a:defRPr sz="2400" b="1">
                <a:solidFill>
                  <a:srgbClr val="171717"/>
                </a:solidFill>
                <a:latin typeface="Calibri"/>
                <a:ea typeface="Calibri"/>
                <a:cs typeface="Calibri"/>
              </a:defRPr>
            </a:lvl2pPr>
            <a:lvl3pPr algn="l">
              <a:defRPr sz="2400" b="1">
                <a:solidFill>
                  <a:srgbClr val="171717"/>
                </a:solidFill>
                <a:latin typeface="Calibri"/>
                <a:ea typeface="Calibri"/>
                <a:cs typeface="Calibri"/>
              </a:defRPr>
            </a:lvl3pPr>
            <a:lvl4pPr algn="l">
              <a:defRPr sz="2400" b="1">
                <a:solidFill>
                  <a:srgbClr val="171717"/>
                </a:solidFill>
                <a:latin typeface="Calibri"/>
                <a:ea typeface="Calibri"/>
                <a:cs typeface="Calibri"/>
              </a:defRPr>
            </a:lvl4pPr>
            <a:lvl5pPr algn="l">
              <a:defRPr sz="2400" b="1">
                <a:solidFill>
                  <a:srgbClr val="171717"/>
                </a:solidFill>
                <a:latin typeface="Calibri"/>
                <a:ea typeface="Calibri"/>
                <a:cs typeface="Calibri"/>
              </a:defRPr>
            </a:lvl5pPr>
            <a:lvl6pPr algn="l">
              <a:defRPr sz="2400" b="1">
                <a:solidFill>
                  <a:srgbClr val="171717"/>
                </a:solidFill>
                <a:latin typeface="Calibri"/>
                <a:ea typeface="Calibri"/>
                <a:cs typeface="Calibri"/>
              </a:defRPr>
            </a:lvl6pPr>
            <a:lvl7pPr algn="l">
              <a:defRPr sz="2400" b="1">
                <a:solidFill>
                  <a:srgbClr val="171717"/>
                </a:solidFill>
                <a:latin typeface="Calibri"/>
                <a:ea typeface="Calibri"/>
                <a:cs typeface="Calibri"/>
              </a:defRPr>
            </a:lvl7pPr>
            <a:lvl8pPr algn="l">
              <a:defRPr sz="2400" b="1">
                <a:solidFill>
                  <a:srgbClr val="171717"/>
                </a:solidFill>
                <a:latin typeface="Calibri"/>
                <a:ea typeface="Calibri"/>
                <a:cs typeface="Calibri"/>
              </a:defRPr>
            </a:lvl8pPr>
            <a:lvl9pPr algn="l">
              <a:defRPr sz="2400" b="1">
                <a:solidFill>
                  <a:srgbClr val="171717"/>
                </a:solidFill>
                <a:latin typeface="Calibri"/>
                <a:ea typeface="Calibri"/>
                <a:cs typeface="Calibri"/>
              </a:defRPr>
            </a:lvl9pPr>
          </a:lstStyle>
          <a:p>
            <a:pPr algn="l">
              <a:defRPr sz="2400" b="1">
                <a:solidFill>
                  <a:srgbClr val="171717"/>
                </a:solidFill>
                <a:latin typeface="Calibri"/>
                <a:ea typeface="Calibri"/>
                <a:cs typeface="Calibri"/>
              </a:defRPr>
            </a:pPr>
            <a:r>
              <a:rPr sz="2400" b="1">
                <a:solidFill>
                  <a:srgbClr val="171717"/>
                </a:solidFill>
                <a:latin typeface="Calibri"/>
                <a:ea typeface="Calibri"/>
                <a:cs typeface="Calibri"/>
              </a:rPr>
              <a:t>Gated FFN</a:t>
            </a:r>
          </a:p>
        </p:txBody>
      </p:sp>
      <p:sp>
        <p:nvSpPr>
          <p:cNvPr id="6" name="Rectangle 5">
            <a:extLst>
              <a:ext uri="{FF2B5EF4-FFF2-40B4-BE49-F238E27FC236}">
                <a16:creationId xmlns:a16="http://schemas.microsoft.com/office/drawing/2014/main" id="{D5F20FE7-9CBF-44B6-859F-39BF23C5CC92}"/>
              </a:ext>
            </a:extLst>
          </p:cNvPr>
          <p:cNvSpPr>
            <a:spLocks noGrp="1"/>
          </p:cNvSpPr>
          <p:nvPr/>
        </p:nvSpPr>
        <p:spPr>
          <a:xfrm>
            <a:off x="6572250" y="2886075"/>
            <a:ext cx="4762500" cy="1428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Three matrices: about 3df parameters.</a:t>
            </a:r>
          </a:p>
          <a:p>
            <a:pPr algn="l">
              <a:defRPr sz="2250" b="0">
                <a:solidFill>
                  <a:srgbClr val="171717"/>
                </a:solidFill>
                <a:latin typeface="Calibri"/>
                <a:ea typeface="Calibri"/>
                <a:cs typeface="Calibri"/>
              </a:defRPr>
            </a:pPr>
            <a:r>
              <a:rPr sz="2250" b="0">
                <a:solidFill>
                  <a:srgbClr val="171717"/>
                </a:solidFill>
                <a:latin typeface="Calibri"/>
                <a:ea typeface="Calibri"/>
                <a:cs typeface="Calibri"/>
              </a:rPr>
              <a:t>A width f ≈ 8d/3 also gives 8d².</a:t>
            </a:r>
          </a:p>
        </p:txBody>
      </p:sp>
      <p:sp>
        <p:nvSpPr>
          <p:cNvPr id="7" name="Rectangle 6">
            <a:extLst>
              <a:ext uri="{FF2B5EF4-FFF2-40B4-BE49-F238E27FC236}">
                <a16:creationId xmlns:a16="http://schemas.microsoft.com/office/drawing/2014/main" id="{94260558-02A5-4BFB-8350-86C1EBB845B8}"/>
              </a:ext>
            </a:extLst>
          </p:cNvPr>
          <p:cNvSpPr>
            <a:spLocks noGrp="1"/>
          </p:cNvSpPr>
          <p:nvPr/>
        </p:nvSpPr>
        <p:spPr>
          <a:xfrm>
            <a:off x="857250" y="5095875"/>
            <a:ext cx="10477500" cy="904875"/>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This comparison ignores biases. Implementations often round f to hardware-friendly multiples.</a:t>
            </a:r>
          </a:p>
        </p:txBody>
      </p:sp>
      <p:sp>
        <p:nvSpPr>
          <p:cNvPr id="8" name="Source">
            <a:extLst>
              <a:ext uri="{FF2B5EF4-FFF2-40B4-BE49-F238E27FC236}">
                <a16:creationId xmlns:a16="http://schemas.microsoft.com/office/drawing/2014/main" id="{7584EA96-F19F-487C-8EF9-A7342FD2D7D7}"/>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Shazeer, 2020</a:t>
            </a:r>
          </a:p>
        </p:txBody>
      </p:sp>
      <p:sp>
        <p:nvSpPr>
          <p:cNvPr id="9" name="Slide number">
            <a:extLst>
              <a:ext uri="{FF2B5EF4-FFF2-40B4-BE49-F238E27FC236}">
                <a16:creationId xmlns:a16="http://schemas.microsoft.com/office/drawing/2014/main" id="{9C785A8B-BE96-4CA8-9EFD-5D8918CDB5FD}"/>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9</a:t>
            </a:r>
          </a:p>
        </p:txBody>
      </p:sp>
    </p:spTree>
    <p:extLst>
      <p:ext uri="{BB962C8B-B14F-4D97-AF65-F5344CB8AC3E}">
        <p14:creationId xmlns:p14="http://schemas.microsoft.com/office/powerpoint/2010/main" val="1038568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59F7C548-9491-45AF-85B4-E5E3A46D12ED}"/>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Depth, width and parallelism</a:t>
            </a:r>
          </a:p>
        </p:txBody>
      </p:sp>
      <p:pic>
        <p:nvPicPr>
          <p:cNvPr id="2" name="Picture 1">
            <a:extLst>
              <a:ext uri="{FF2B5EF4-FFF2-40B4-BE49-F238E27FC236}">
                <a16:creationId xmlns:a16="http://schemas.microsoft.com/office/drawing/2014/main" id="{FB75C34F-B873-4974-BFE9-96ECB2F60CA3}"/>
              </a:ext>
            </a:extLst>
          </p:cNvPr>
          <p:cNvPicPr>
            <a:picLocks noChangeAspect="1"/>
          </p:cNvPicPr>
          <p:nvPr/>
        </p:nvPicPr>
        <p:blipFill>
          <a:blip r:embed="rId3"/>
          <a:stretch/>
        </p:blipFill>
        <p:spPr>
          <a:xfrm>
            <a:off x="3785192" y="3476625"/>
            <a:ext cx="4621616" cy="2857500"/>
          </a:xfrm>
          <a:prstGeom prst="rect">
            <a:avLst/>
          </a:prstGeom>
        </p:spPr>
      </p:pic>
      <p:sp>
        <p:nvSpPr>
          <p:cNvPr id="3" name="Rectangle 2">
            <a:extLst>
              <a:ext uri="{FF2B5EF4-FFF2-40B4-BE49-F238E27FC236}">
                <a16:creationId xmlns:a16="http://schemas.microsoft.com/office/drawing/2014/main" id="{8E384BFB-1501-40F8-B067-EE2CE93E8148}"/>
              </a:ext>
            </a:extLst>
          </p:cNvPr>
          <p:cNvSpPr>
            <a:spLocks noGrp="1"/>
          </p:cNvSpPr>
          <p:nvPr/>
        </p:nvSpPr>
        <p:spPr>
          <a:xfrm>
            <a:off x="666750" y="1085850"/>
            <a:ext cx="10858500" cy="5715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Depth creates sequential dependencies between layers.</a:t>
            </a:r>
          </a:p>
        </p:txBody>
      </p:sp>
      <p:sp>
        <p:nvSpPr>
          <p:cNvPr id="4" name="Rectangle 3">
            <a:extLst>
              <a:ext uri="{FF2B5EF4-FFF2-40B4-BE49-F238E27FC236}">
                <a16:creationId xmlns:a16="http://schemas.microsoft.com/office/drawing/2014/main" id="{70C9762A-EFFF-4B75-9C6E-E296BFE28A42}"/>
              </a:ext>
            </a:extLst>
          </p:cNvPr>
          <p:cNvSpPr>
            <a:spLocks noGrp="1"/>
          </p:cNvSpPr>
          <p:nvPr/>
        </p:nvSpPr>
        <p:spPr>
          <a:xfrm>
            <a:off x="666750" y="1819275"/>
            <a:ext cx="10858500" cy="5715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Width allows matrix operations to be split across devices.</a:t>
            </a:r>
          </a:p>
        </p:txBody>
      </p:sp>
      <p:sp>
        <p:nvSpPr>
          <p:cNvPr id="5" name="Rectangle 4">
            <a:extLst>
              <a:ext uri="{FF2B5EF4-FFF2-40B4-BE49-F238E27FC236}">
                <a16:creationId xmlns:a16="http://schemas.microsoft.com/office/drawing/2014/main" id="{2149551A-5494-4E33-A982-394C61B7C1C8}"/>
              </a:ext>
            </a:extLst>
          </p:cNvPr>
          <p:cNvSpPr>
            <a:spLocks noGrp="1"/>
          </p:cNvSpPr>
          <p:nvPr/>
        </p:nvSpPr>
        <p:spPr>
          <a:xfrm>
            <a:off x="666750" y="25431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Pipeline parallelism places groups of layers on different devices.</a:t>
            </a:r>
          </a:p>
        </p:txBody>
      </p:sp>
      <p:sp>
        <p:nvSpPr>
          <p:cNvPr id="6" name="Source">
            <a:extLst>
              <a:ext uri="{FF2B5EF4-FFF2-40B4-BE49-F238E27FC236}">
                <a16:creationId xmlns:a16="http://schemas.microsoft.com/office/drawing/2014/main" id="{10847B7D-D07E-4454-83A3-65FAD0DD0EE9}"/>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Tay et al., 2021</a:t>
            </a:r>
          </a:p>
        </p:txBody>
      </p:sp>
      <p:sp>
        <p:nvSpPr>
          <p:cNvPr id="7" name="Slide number">
            <a:extLst>
              <a:ext uri="{FF2B5EF4-FFF2-40B4-BE49-F238E27FC236}">
                <a16:creationId xmlns:a16="http://schemas.microsoft.com/office/drawing/2014/main" id="{B75D3E97-43DD-4144-A47E-200AA060EB65}"/>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10</a:t>
            </a:r>
          </a:p>
        </p:txBody>
      </p:sp>
    </p:spTree>
    <p:extLst>
      <p:ext uri="{BB962C8B-B14F-4D97-AF65-F5344CB8AC3E}">
        <p14:creationId xmlns:p14="http://schemas.microsoft.com/office/powerpoint/2010/main" val="556532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FA2D34-1DCE-4A5D-A29B-4AE1CA0EA85E}"/>
              </a:ext>
            </a:extLst>
          </p:cNvPr>
          <p:cNvSpPr>
            <a:spLocks noGrp="1"/>
          </p:cNvSpPr>
          <p:nvPr/>
        </p:nvSpPr>
        <p:spPr>
          <a:xfrm>
            <a:off x="857250" y="2000250"/>
            <a:ext cx="10668000" cy="1762125"/>
          </a:xfrm>
          <a:prstGeom prst="rect">
            <a:avLst/>
          </a:prstGeom>
          <a:noFill/>
          <a:ln w="0">
            <a:noFill/>
          </a:ln>
        </p:spPr>
        <p:txBody>
          <a:bodyPr wrap="square" lIns="0" tIns="0" rIns="0" bIns="0" anchor="t">
            <a:noAutofit/>
          </a:bodyPr>
          <a:lstStyle>
            <a:defPPr algn="l">
              <a:defRPr sz="4350" b="1">
                <a:solidFill>
                  <a:srgbClr val="007B92"/>
                </a:solidFill>
                <a:latin typeface="Calibri"/>
                <a:ea typeface="Calibri"/>
                <a:cs typeface="Calibri"/>
              </a:defRPr>
            </a:defPPr>
            <a:lvl1pPr algn="l">
              <a:defRPr sz="4350" b="1">
                <a:solidFill>
                  <a:srgbClr val="007B92"/>
                </a:solidFill>
                <a:latin typeface="Calibri"/>
                <a:ea typeface="Calibri"/>
                <a:cs typeface="Calibri"/>
              </a:defRPr>
            </a:lvl1pPr>
            <a:lvl2pPr algn="l">
              <a:defRPr sz="4350" b="1">
                <a:solidFill>
                  <a:srgbClr val="007B92"/>
                </a:solidFill>
                <a:latin typeface="Calibri"/>
                <a:ea typeface="Calibri"/>
                <a:cs typeface="Calibri"/>
              </a:defRPr>
            </a:lvl2pPr>
            <a:lvl3pPr algn="l">
              <a:defRPr sz="4350" b="1">
                <a:solidFill>
                  <a:srgbClr val="007B92"/>
                </a:solidFill>
                <a:latin typeface="Calibri"/>
                <a:ea typeface="Calibri"/>
                <a:cs typeface="Calibri"/>
              </a:defRPr>
            </a:lvl3pPr>
            <a:lvl4pPr algn="l">
              <a:defRPr sz="4350" b="1">
                <a:solidFill>
                  <a:srgbClr val="007B92"/>
                </a:solidFill>
                <a:latin typeface="Calibri"/>
                <a:ea typeface="Calibri"/>
                <a:cs typeface="Calibri"/>
              </a:defRPr>
            </a:lvl4pPr>
            <a:lvl5pPr algn="l">
              <a:defRPr sz="4350" b="1">
                <a:solidFill>
                  <a:srgbClr val="007B92"/>
                </a:solidFill>
                <a:latin typeface="Calibri"/>
                <a:ea typeface="Calibri"/>
                <a:cs typeface="Calibri"/>
              </a:defRPr>
            </a:lvl5pPr>
            <a:lvl6pPr algn="l">
              <a:defRPr sz="4350" b="1">
                <a:solidFill>
                  <a:srgbClr val="007B92"/>
                </a:solidFill>
                <a:latin typeface="Calibri"/>
                <a:ea typeface="Calibri"/>
                <a:cs typeface="Calibri"/>
              </a:defRPr>
            </a:lvl6pPr>
            <a:lvl7pPr algn="l">
              <a:defRPr sz="4350" b="1">
                <a:solidFill>
                  <a:srgbClr val="007B92"/>
                </a:solidFill>
                <a:latin typeface="Calibri"/>
                <a:ea typeface="Calibri"/>
                <a:cs typeface="Calibri"/>
              </a:defRPr>
            </a:lvl7pPr>
            <a:lvl8pPr algn="l">
              <a:defRPr sz="4350" b="1">
                <a:solidFill>
                  <a:srgbClr val="007B92"/>
                </a:solidFill>
                <a:latin typeface="Calibri"/>
                <a:ea typeface="Calibri"/>
                <a:cs typeface="Calibri"/>
              </a:defRPr>
            </a:lvl8pPr>
            <a:lvl9pPr algn="l">
              <a:defRPr sz="4350" b="1">
                <a:solidFill>
                  <a:srgbClr val="007B92"/>
                </a:solidFill>
                <a:latin typeface="Calibri"/>
                <a:ea typeface="Calibri"/>
                <a:cs typeface="Calibri"/>
              </a:defRPr>
            </a:lvl9pPr>
          </a:lstStyle>
          <a:p>
            <a:pPr algn="l">
              <a:defRPr sz="4350" b="1">
                <a:solidFill>
                  <a:srgbClr val="007B92"/>
                </a:solidFill>
                <a:latin typeface="Calibri"/>
                <a:ea typeface="Calibri"/>
                <a:cs typeface="Calibri"/>
              </a:defRPr>
            </a:pPr>
            <a:r>
              <a:rPr sz="4350" b="1">
                <a:solidFill>
                  <a:srgbClr val="007B92"/>
                </a:solidFill>
                <a:latin typeface="Calibri"/>
                <a:ea typeface="Calibri"/>
                <a:cs typeface="Calibri"/>
              </a:rPr>
              <a:t>Position information</a:t>
            </a:r>
          </a:p>
        </p:txBody>
      </p:sp>
      <p:sp>
        <p:nvSpPr>
          <p:cNvPr id="2" name="Rectangle 1">
            <a:extLst>
              <a:ext uri="{FF2B5EF4-FFF2-40B4-BE49-F238E27FC236}">
                <a16:creationId xmlns:a16="http://schemas.microsoft.com/office/drawing/2014/main" id="{9EAA7916-BD6D-42BA-A44B-1A8CF29B9326}"/>
              </a:ext>
            </a:extLst>
          </p:cNvPr>
          <p:cNvSpPr>
            <a:spLocks noGrp="1"/>
          </p:cNvSpPr>
          <p:nvPr/>
        </p:nvSpPr>
        <p:spPr>
          <a:xfrm>
            <a:off x="857250" y="4476750"/>
            <a:ext cx="10477500" cy="1095375"/>
          </a:xfrm>
          <a:prstGeom prst="rect">
            <a:avLst/>
          </a:prstGeom>
          <a:noFill/>
          <a:ln w="0">
            <a:noFill/>
          </a:ln>
        </p:spPr>
        <p:txBody>
          <a:bodyPr wrap="square" lIns="0" tIns="0" rIns="0" bIns="0" anchor="t">
            <a:noAutofit/>
          </a:bodyPr>
          <a:lstStyle>
            <a:defPPr algn="l">
              <a:defRPr sz="2550" b="0">
                <a:solidFill>
                  <a:srgbClr val="171717"/>
                </a:solidFill>
                <a:latin typeface="Calibri"/>
                <a:ea typeface="Calibri"/>
                <a:cs typeface="Calibri"/>
              </a:defRPr>
            </a:defPPr>
            <a:lvl1pPr algn="l">
              <a:defRPr sz="2550" b="0">
                <a:solidFill>
                  <a:srgbClr val="171717"/>
                </a:solidFill>
                <a:latin typeface="Calibri"/>
                <a:ea typeface="Calibri"/>
                <a:cs typeface="Calibri"/>
              </a:defRPr>
            </a:lvl1pPr>
            <a:lvl2pPr algn="l">
              <a:defRPr sz="2550" b="0">
                <a:solidFill>
                  <a:srgbClr val="171717"/>
                </a:solidFill>
                <a:latin typeface="Calibri"/>
                <a:ea typeface="Calibri"/>
                <a:cs typeface="Calibri"/>
              </a:defRPr>
            </a:lvl2pPr>
            <a:lvl3pPr algn="l">
              <a:defRPr sz="2550" b="0">
                <a:solidFill>
                  <a:srgbClr val="171717"/>
                </a:solidFill>
                <a:latin typeface="Calibri"/>
                <a:ea typeface="Calibri"/>
                <a:cs typeface="Calibri"/>
              </a:defRPr>
            </a:lvl3pPr>
            <a:lvl4pPr algn="l">
              <a:defRPr sz="2550" b="0">
                <a:solidFill>
                  <a:srgbClr val="171717"/>
                </a:solidFill>
                <a:latin typeface="Calibri"/>
                <a:ea typeface="Calibri"/>
                <a:cs typeface="Calibri"/>
              </a:defRPr>
            </a:lvl4pPr>
            <a:lvl5pPr algn="l">
              <a:defRPr sz="2550" b="0">
                <a:solidFill>
                  <a:srgbClr val="171717"/>
                </a:solidFill>
                <a:latin typeface="Calibri"/>
                <a:ea typeface="Calibri"/>
                <a:cs typeface="Calibri"/>
              </a:defRPr>
            </a:lvl5pPr>
            <a:lvl6pPr algn="l">
              <a:defRPr sz="2550" b="0">
                <a:solidFill>
                  <a:srgbClr val="171717"/>
                </a:solidFill>
                <a:latin typeface="Calibri"/>
                <a:ea typeface="Calibri"/>
                <a:cs typeface="Calibri"/>
              </a:defRPr>
            </a:lvl6pPr>
            <a:lvl7pPr algn="l">
              <a:defRPr sz="2550" b="0">
                <a:solidFill>
                  <a:srgbClr val="171717"/>
                </a:solidFill>
                <a:latin typeface="Calibri"/>
                <a:ea typeface="Calibri"/>
                <a:cs typeface="Calibri"/>
              </a:defRPr>
            </a:lvl7pPr>
            <a:lvl8pPr algn="l">
              <a:defRPr sz="2550" b="0">
                <a:solidFill>
                  <a:srgbClr val="171717"/>
                </a:solidFill>
                <a:latin typeface="Calibri"/>
                <a:ea typeface="Calibri"/>
                <a:cs typeface="Calibri"/>
              </a:defRPr>
            </a:lvl8pPr>
            <a:lvl9pPr algn="l">
              <a:defRPr sz="2550" b="0">
                <a:solidFill>
                  <a:srgbClr val="171717"/>
                </a:solidFill>
                <a:latin typeface="Calibri"/>
                <a:ea typeface="Calibri"/>
                <a:cs typeface="Calibri"/>
              </a:defRPr>
            </a:lvl9pPr>
          </a:lstStyle>
          <a:p>
            <a:pPr algn="l">
              <a:defRPr sz="2550" b="0">
                <a:solidFill>
                  <a:srgbClr val="171717"/>
                </a:solidFill>
                <a:latin typeface="Calibri"/>
                <a:ea typeface="Calibri"/>
                <a:cs typeface="Calibri"/>
              </a:defRPr>
            </a:pPr>
            <a:r>
              <a:rPr sz="2550" b="0">
                <a:solidFill>
                  <a:srgbClr val="171717"/>
                </a:solidFill>
                <a:latin typeface="Calibri"/>
                <a:ea typeface="Calibri"/>
                <a:cs typeface="Calibri"/>
              </a:rPr>
              <a:t>How does attention know where a token is?</a:t>
            </a:r>
          </a:p>
        </p:txBody>
      </p:sp>
      <p:sp>
        <p:nvSpPr>
          <p:cNvPr id="3" name="Slide number">
            <a:extLst>
              <a:ext uri="{FF2B5EF4-FFF2-40B4-BE49-F238E27FC236}">
                <a16:creationId xmlns:a16="http://schemas.microsoft.com/office/drawing/2014/main" id="{4AFC282F-6502-482A-92A1-E30B16323646}"/>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11</a:t>
            </a:r>
          </a:p>
        </p:txBody>
      </p:sp>
    </p:spTree>
    <p:extLst>
      <p:ext uri="{BB962C8B-B14F-4D97-AF65-F5344CB8AC3E}">
        <p14:creationId xmlns:p14="http://schemas.microsoft.com/office/powerpoint/2010/main" val="712146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ABE28BA1-88FA-451B-B53D-8AC31F9FDBA0}"/>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Why position information matters</a:t>
            </a:r>
          </a:p>
        </p:txBody>
      </p:sp>
      <p:pic>
        <p:nvPicPr>
          <p:cNvPr id="2" name="Picture 1">
            <a:extLst>
              <a:ext uri="{FF2B5EF4-FFF2-40B4-BE49-F238E27FC236}">
                <a16:creationId xmlns:a16="http://schemas.microsoft.com/office/drawing/2014/main" id="{4DC315A4-167A-4EDA-941F-FC0AAC16AC48}"/>
              </a:ext>
            </a:extLst>
          </p:cNvPr>
          <p:cNvPicPr>
            <a:picLocks noChangeAspect="1"/>
          </p:cNvPicPr>
          <p:nvPr/>
        </p:nvPicPr>
        <p:blipFill>
          <a:blip r:embed="rId3"/>
          <a:stretch/>
        </p:blipFill>
        <p:spPr>
          <a:xfrm>
            <a:off x="622437" y="2619375"/>
            <a:ext cx="5660751" cy="2257425"/>
          </a:xfrm>
          <a:prstGeom prst="rect">
            <a:avLst/>
          </a:prstGeom>
        </p:spPr>
      </p:pic>
      <p:sp>
        <p:nvSpPr>
          <p:cNvPr id="3" name="Rectangle 2">
            <a:extLst>
              <a:ext uri="{FF2B5EF4-FFF2-40B4-BE49-F238E27FC236}">
                <a16:creationId xmlns:a16="http://schemas.microsoft.com/office/drawing/2014/main" id="{FC17CBE3-5E8A-43AA-BF45-BC42B125553E}"/>
              </a:ext>
            </a:extLst>
          </p:cNvPr>
          <p:cNvSpPr>
            <a:spLocks noGrp="1"/>
          </p:cNvSpPr>
          <p:nvPr/>
        </p:nvSpPr>
        <p:spPr>
          <a:xfrm>
            <a:off x="666750" y="1104900"/>
            <a:ext cx="10858500" cy="666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Content-based attention alone does not identify a token’s position.</a:t>
            </a:r>
          </a:p>
        </p:txBody>
      </p:sp>
      <p:sp>
        <p:nvSpPr>
          <p:cNvPr id="4" name="Rectangle 3">
            <a:extLst>
              <a:ext uri="{FF2B5EF4-FFF2-40B4-BE49-F238E27FC236}">
                <a16:creationId xmlns:a16="http://schemas.microsoft.com/office/drawing/2014/main" id="{772FF000-EB63-4D7F-92F0-05ED217AB5C5}"/>
              </a:ext>
            </a:extLst>
          </p:cNvPr>
          <p:cNvSpPr>
            <a:spLocks noGrp="1"/>
          </p:cNvSpPr>
          <p:nvPr/>
        </p:nvSpPr>
        <p:spPr>
          <a:xfrm>
            <a:off x="6810375" y="2476500"/>
            <a:ext cx="4667250" cy="15240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For a fixed query, reordering content-only key/value pairs leaves the weighted sum unchanged.</a:t>
            </a:r>
          </a:p>
        </p:txBody>
      </p:sp>
      <p:sp>
        <p:nvSpPr>
          <p:cNvPr id="5" name="Rectangle 4">
            <a:extLst>
              <a:ext uri="{FF2B5EF4-FFF2-40B4-BE49-F238E27FC236}">
                <a16:creationId xmlns:a16="http://schemas.microsoft.com/office/drawing/2014/main" id="{6DEB4FF9-E5E5-4454-A325-8245DC4957BB}"/>
              </a:ext>
            </a:extLst>
          </p:cNvPr>
          <p:cNvSpPr>
            <a:spLocks noGrp="1"/>
          </p:cNvSpPr>
          <p:nvPr/>
        </p:nvSpPr>
        <p:spPr>
          <a:xfrm>
            <a:off x="6810375" y="4543425"/>
            <a:ext cx="4667250" cy="11430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Position signals let the model distinguish word order and distance.</a:t>
            </a:r>
          </a:p>
        </p:txBody>
      </p:sp>
      <p:sp>
        <p:nvSpPr>
          <p:cNvPr id="6" name="Source">
            <a:extLst>
              <a:ext uri="{FF2B5EF4-FFF2-40B4-BE49-F238E27FC236}">
                <a16:creationId xmlns:a16="http://schemas.microsoft.com/office/drawing/2014/main" id="{FFED5619-71D5-47C7-8B67-8BCDAAD837AE}"/>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Amidi, 2024. Super Study Guide: Transformers &amp; Large Language Models</a:t>
            </a:r>
          </a:p>
        </p:txBody>
      </p:sp>
      <p:sp>
        <p:nvSpPr>
          <p:cNvPr id="7" name="Slide number">
            <a:extLst>
              <a:ext uri="{FF2B5EF4-FFF2-40B4-BE49-F238E27FC236}">
                <a16:creationId xmlns:a16="http://schemas.microsoft.com/office/drawing/2014/main" id="{CA1681CC-C851-4F05-8813-3974A6E6CCAE}"/>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12</a:t>
            </a:r>
          </a:p>
        </p:txBody>
      </p:sp>
    </p:spTree>
    <p:extLst>
      <p:ext uri="{BB962C8B-B14F-4D97-AF65-F5344CB8AC3E}">
        <p14:creationId xmlns:p14="http://schemas.microsoft.com/office/powerpoint/2010/main" val="1737308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4088FA94-1D99-4347-B8F2-AD139B9529A3}"/>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Learned absolute positions</a:t>
            </a:r>
          </a:p>
        </p:txBody>
      </p:sp>
      <p:pic>
        <p:nvPicPr>
          <p:cNvPr id="2" name="Picture 1">
            <a:extLst>
              <a:ext uri="{FF2B5EF4-FFF2-40B4-BE49-F238E27FC236}">
                <a16:creationId xmlns:a16="http://schemas.microsoft.com/office/drawing/2014/main" id="{681C6BCF-8FCF-41B5-866C-74EFF940495A}"/>
              </a:ext>
            </a:extLst>
          </p:cNvPr>
          <p:cNvPicPr>
            <a:picLocks noChangeAspect="1"/>
          </p:cNvPicPr>
          <p:nvPr/>
        </p:nvPicPr>
        <p:blipFill>
          <a:blip r:embed="rId3"/>
          <a:stretch/>
        </p:blipFill>
        <p:spPr>
          <a:xfrm>
            <a:off x="8348923" y="3028950"/>
            <a:ext cx="2161653" cy="2971800"/>
          </a:xfrm>
          <a:prstGeom prst="rect">
            <a:avLst/>
          </a:prstGeom>
        </p:spPr>
      </p:pic>
      <p:sp>
        <p:nvSpPr>
          <p:cNvPr id="3" name="Rectangle 2">
            <a:extLst>
              <a:ext uri="{FF2B5EF4-FFF2-40B4-BE49-F238E27FC236}">
                <a16:creationId xmlns:a16="http://schemas.microsoft.com/office/drawing/2014/main" id="{E3ACFBAB-7F77-478A-9C52-EFD0A7E39A51}"/>
              </a:ext>
            </a:extLst>
          </p:cNvPr>
          <p:cNvSpPr>
            <a:spLocks noGrp="1"/>
          </p:cNvSpPr>
          <p:nvPr/>
        </p:nvSpPr>
        <p:spPr>
          <a:xfrm>
            <a:off x="666750" y="1095375"/>
            <a:ext cx="10858500" cy="666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Add a learned position vector to the token embedding.</a:t>
            </a:r>
          </a:p>
        </p:txBody>
      </p:sp>
      <p:sp>
        <p:nvSpPr>
          <p:cNvPr id="4" name="Rectangle 3">
            <a:extLst>
              <a:ext uri="{FF2B5EF4-FFF2-40B4-BE49-F238E27FC236}">
                <a16:creationId xmlns:a16="http://schemas.microsoft.com/office/drawing/2014/main" id="{E9AD042E-729C-48BB-9C94-57EE89BE2DF4}"/>
              </a:ext>
            </a:extLst>
          </p:cNvPr>
          <p:cNvSpPr>
            <a:spLocks noGrp="1"/>
          </p:cNvSpPr>
          <p:nvPr/>
        </p:nvSpPr>
        <p:spPr>
          <a:xfrm>
            <a:off x="762000" y="2352675"/>
            <a:ext cx="10572750" cy="809625"/>
          </a:xfrm>
          <a:prstGeom prst="rect">
            <a:avLst/>
          </a:prstGeom>
          <a:noFill/>
          <a:ln w="0">
            <a:noFill/>
          </a:ln>
        </p:spPr>
        <p:txBody>
          <a:bodyPr wrap="square" lIns="0" tIns="0" rIns="0" bIns="0" anchor="t">
            <a:noAutofit/>
          </a:bodyPr>
          <a:lstStyle>
            <a:defPPr algn="l">
              <a:defRPr sz="2625" b="0">
                <a:solidFill>
                  <a:srgbClr val="171717"/>
                </a:solidFill>
                <a:latin typeface="Cambria Math"/>
                <a:ea typeface="Cambria Math"/>
                <a:cs typeface="Cambria Math"/>
              </a:defRPr>
            </a:defPPr>
            <a:lvl1pPr algn="l">
              <a:defRPr sz="2625" b="0">
                <a:solidFill>
                  <a:srgbClr val="171717"/>
                </a:solidFill>
                <a:latin typeface="Cambria Math"/>
                <a:ea typeface="Cambria Math"/>
                <a:cs typeface="Cambria Math"/>
              </a:defRPr>
            </a:lvl1pPr>
            <a:lvl2pPr algn="l">
              <a:defRPr sz="2625" b="0">
                <a:solidFill>
                  <a:srgbClr val="171717"/>
                </a:solidFill>
                <a:latin typeface="Cambria Math"/>
                <a:ea typeface="Cambria Math"/>
                <a:cs typeface="Cambria Math"/>
              </a:defRPr>
            </a:lvl2pPr>
            <a:lvl3pPr algn="l">
              <a:defRPr sz="2625" b="0">
                <a:solidFill>
                  <a:srgbClr val="171717"/>
                </a:solidFill>
                <a:latin typeface="Cambria Math"/>
                <a:ea typeface="Cambria Math"/>
                <a:cs typeface="Cambria Math"/>
              </a:defRPr>
            </a:lvl3pPr>
            <a:lvl4pPr algn="l">
              <a:defRPr sz="2625" b="0">
                <a:solidFill>
                  <a:srgbClr val="171717"/>
                </a:solidFill>
                <a:latin typeface="Cambria Math"/>
                <a:ea typeface="Cambria Math"/>
                <a:cs typeface="Cambria Math"/>
              </a:defRPr>
            </a:lvl4pPr>
            <a:lvl5pPr algn="l">
              <a:defRPr sz="2625" b="0">
                <a:solidFill>
                  <a:srgbClr val="171717"/>
                </a:solidFill>
                <a:latin typeface="Cambria Math"/>
                <a:ea typeface="Cambria Math"/>
                <a:cs typeface="Cambria Math"/>
              </a:defRPr>
            </a:lvl5pPr>
            <a:lvl6pPr algn="l">
              <a:defRPr sz="2625" b="0">
                <a:solidFill>
                  <a:srgbClr val="171717"/>
                </a:solidFill>
                <a:latin typeface="Cambria Math"/>
                <a:ea typeface="Cambria Math"/>
                <a:cs typeface="Cambria Math"/>
              </a:defRPr>
            </a:lvl6pPr>
            <a:lvl7pPr algn="l">
              <a:defRPr sz="2625" b="0">
                <a:solidFill>
                  <a:srgbClr val="171717"/>
                </a:solidFill>
                <a:latin typeface="Cambria Math"/>
                <a:ea typeface="Cambria Math"/>
                <a:cs typeface="Cambria Math"/>
              </a:defRPr>
            </a:lvl7pPr>
            <a:lvl8pPr algn="l">
              <a:defRPr sz="2625" b="0">
                <a:solidFill>
                  <a:srgbClr val="171717"/>
                </a:solidFill>
                <a:latin typeface="Cambria Math"/>
                <a:ea typeface="Cambria Math"/>
                <a:cs typeface="Cambria Math"/>
              </a:defRPr>
            </a:lvl8pPr>
            <a:lvl9pPr algn="l">
              <a:defRPr sz="2625" b="0">
                <a:solidFill>
                  <a:srgbClr val="171717"/>
                </a:solidFill>
                <a:latin typeface="Cambria Math"/>
                <a:ea typeface="Cambria Math"/>
                <a:cs typeface="Cambria Math"/>
              </a:defRPr>
            </a:lvl9pPr>
          </a:lstStyle>
          <a:p>
            <a:pPr algn="l">
              <a:defRPr sz="2625" b="0">
                <a:solidFill>
                  <a:srgbClr val="171717"/>
                </a:solidFill>
                <a:latin typeface="Cambria Math"/>
                <a:ea typeface="Cambria Math"/>
                <a:cs typeface="Cambria Math"/>
              </a:defRPr>
            </a:pPr>
            <a:r>
              <a:rPr sz="2625" b="0">
                <a:solidFill>
                  <a:srgbClr val="171717"/>
                </a:solidFill>
                <a:latin typeface="Cambria Math"/>
                <a:ea typeface="Cambria Math"/>
                <a:cs typeface="Cambria Math"/>
              </a:rPr>
              <a:t>hₘ = token_embedding(xₘ) + position_embedding(m)</a:t>
            </a:r>
          </a:p>
        </p:txBody>
      </p:sp>
      <p:sp>
        <p:nvSpPr>
          <p:cNvPr id="5" name="Rectangle 4">
            <a:extLst>
              <a:ext uri="{FF2B5EF4-FFF2-40B4-BE49-F238E27FC236}">
                <a16:creationId xmlns:a16="http://schemas.microsoft.com/office/drawing/2014/main" id="{A1E66B8C-498F-4FF2-9AC2-E45D1F367283}"/>
              </a:ext>
            </a:extLst>
          </p:cNvPr>
          <p:cNvSpPr>
            <a:spLocks noGrp="1"/>
          </p:cNvSpPr>
          <p:nvPr/>
        </p:nvSpPr>
        <p:spPr>
          <a:xfrm>
            <a:off x="666750" y="3648075"/>
            <a:ext cx="6191250" cy="71437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Each position has its own trainable vector.</a:t>
            </a:r>
          </a:p>
        </p:txBody>
      </p:sp>
      <p:sp>
        <p:nvSpPr>
          <p:cNvPr id="6" name="Rectangle 5">
            <a:extLst>
              <a:ext uri="{FF2B5EF4-FFF2-40B4-BE49-F238E27FC236}">
                <a16:creationId xmlns:a16="http://schemas.microsoft.com/office/drawing/2014/main" id="{C4E329A6-6112-4ADE-B3B4-4E0ACB928323}"/>
              </a:ext>
            </a:extLst>
          </p:cNvPr>
          <p:cNvSpPr>
            <a:spLocks noGrp="1"/>
          </p:cNvSpPr>
          <p:nvPr/>
        </p:nvSpPr>
        <p:spPr>
          <a:xfrm>
            <a:off x="666750" y="4762500"/>
            <a:ext cx="6191250" cy="9525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Positions outside the learned table need an extension strategy.</a:t>
            </a:r>
          </a:p>
        </p:txBody>
      </p:sp>
      <p:sp>
        <p:nvSpPr>
          <p:cNvPr id="7" name="Source">
            <a:extLst>
              <a:ext uri="{FF2B5EF4-FFF2-40B4-BE49-F238E27FC236}">
                <a16:creationId xmlns:a16="http://schemas.microsoft.com/office/drawing/2014/main" id="{ADBDEB39-DD72-4144-8D45-1D4DCF1DC79D}"/>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Vaswani et al., 2017; Amidi and Amidi, Lecture 2</a:t>
            </a:r>
          </a:p>
        </p:txBody>
      </p:sp>
      <p:sp>
        <p:nvSpPr>
          <p:cNvPr id="8" name="Slide number">
            <a:extLst>
              <a:ext uri="{FF2B5EF4-FFF2-40B4-BE49-F238E27FC236}">
                <a16:creationId xmlns:a16="http://schemas.microsoft.com/office/drawing/2014/main" id="{8D2B2628-FFEC-43CC-A1B3-170031BB7D39}"/>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13</a:t>
            </a:r>
          </a:p>
        </p:txBody>
      </p:sp>
    </p:spTree>
    <p:extLst>
      <p:ext uri="{BB962C8B-B14F-4D97-AF65-F5344CB8AC3E}">
        <p14:creationId xmlns:p14="http://schemas.microsoft.com/office/powerpoint/2010/main" val="851758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9D7FD84F-CACE-4CFC-ABA2-3C207D429E7A}"/>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Position signals at different frequencies</a:t>
            </a:r>
          </a:p>
        </p:txBody>
      </p:sp>
      <p:pic>
        <p:nvPicPr>
          <p:cNvPr id="2" name="Picture 1">
            <a:extLst>
              <a:ext uri="{FF2B5EF4-FFF2-40B4-BE49-F238E27FC236}">
                <a16:creationId xmlns:a16="http://schemas.microsoft.com/office/drawing/2014/main" id="{A1647F52-DF6F-4E64-AD26-49243546FAFC}"/>
              </a:ext>
            </a:extLst>
          </p:cNvPr>
          <p:cNvPicPr>
            <a:picLocks noChangeAspect="1"/>
          </p:cNvPicPr>
          <p:nvPr/>
        </p:nvPicPr>
        <p:blipFill>
          <a:blip r:embed="rId3"/>
          <a:stretch/>
        </p:blipFill>
        <p:spPr>
          <a:xfrm>
            <a:off x="668154" y="2238375"/>
            <a:ext cx="5807441" cy="3952875"/>
          </a:xfrm>
          <a:prstGeom prst="rect">
            <a:avLst/>
          </a:prstGeom>
        </p:spPr>
      </p:pic>
      <p:sp>
        <p:nvSpPr>
          <p:cNvPr id="3" name="Rectangle 2">
            <a:extLst>
              <a:ext uri="{FF2B5EF4-FFF2-40B4-BE49-F238E27FC236}">
                <a16:creationId xmlns:a16="http://schemas.microsoft.com/office/drawing/2014/main" id="{F4D053AB-B8A3-4470-9117-A2E1AD5A46D3}"/>
              </a:ext>
            </a:extLst>
          </p:cNvPr>
          <p:cNvSpPr>
            <a:spLocks noGrp="1"/>
          </p:cNvSpPr>
          <p:nvPr/>
        </p:nvSpPr>
        <p:spPr>
          <a:xfrm>
            <a:off x="666750" y="1095375"/>
            <a:ext cx="10858500" cy="5715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A clock combines hands that rotate at different speeds.</a:t>
            </a:r>
          </a:p>
        </p:txBody>
      </p:sp>
      <p:sp>
        <p:nvSpPr>
          <p:cNvPr id="4" name="Rectangle 3">
            <a:extLst>
              <a:ext uri="{FF2B5EF4-FFF2-40B4-BE49-F238E27FC236}">
                <a16:creationId xmlns:a16="http://schemas.microsoft.com/office/drawing/2014/main" id="{4CE4855A-C852-4562-AE17-03C85CB21CC7}"/>
              </a:ext>
            </a:extLst>
          </p:cNvPr>
          <p:cNvSpPr>
            <a:spLocks noGrp="1"/>
          </p:cNvSpPr>
          <p:nvPr/>
        </p:nvSpPr>
        <p:spPr>
          <a:xfrm>
            <a:off x="7000875" y="2571750"/>
            <a:ext cx="4381500" cy="147637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Sinusoidal positions use the same idea: coordinate pairs vary at different frequencies.</a:t>
            </a:r>
          </a:p>
        </p:txBody>
      </p:sp>
      <p:sp>
        <p:nvSpPr>
          <p:cNvPr id="5" name="Rectangle 4">
            <a:extLst>
              <a:ext uri="{FF2B5EF4-FFF2-40B4-BE49-F238E27FC236}">
                <a16:creationId xmlns:a16="http://schemas.microsoft.com/office/drawing/2014/main" id="{20221B48-4F3E-426F-A84C-007BE5584F60}"/>
              </a:ext>
            </a:extLst>
          </p:cNvPr>
          <p:cNvSpPr>
            <a:spLocks noGrp="1"/>
          </p:cNvSpPr>
          <p:nvPr/>
        </p:nvSpPr>
        <p:spPr>
          <a:xfrm>
            <a:off x="7000875" y="4657725"/>
            <a:ext cx="4381500" cy="1047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Together, the pairs encode the token’s position.</a:t>
            </a:r>
          </a:p>
        </p:txBody>
      </p:sp>
      <p:sp>
        <p:nvSpPr>
          <p:cNvPr id="6" name="Source">
            <a:extLst>
              <a:ext uri="{FF2B5EF4-FFF2-40B4-BE49-F238E27FC236}">
                <a16:creationId xmlns:a16="http://schemas.microsoft.com/office/drawing/2014/main" id="{30FEB0A7-1647-46EC-8673-7252DFCD0AFD}"/>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Amidi and Amidi, Lecture 2</a:t>
            </a:r>
          </a:p>
        </p:txBody>
      </p:sp>
      <p:sp>
        <p:nvSpPr>
          <p:cNvPr id="7" name="Slide number">
            <a:extLst>
              <a:ext uri="{FF2B5EF4-FFF2-40B4-BE49-F238E27FC236}">
                <a16:creationId xmlns:a16="http://schemas.microsoft.com/office/drawing/2014/main" id="{CF84B88C-C765-4ABC-8C39-A0EEDA166935}"/>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14</a:t>
            </a:r>
          </a:p>
        </p:txBody>
      </p:sp>
    </p:spTree>
    <p:extLst>
      <p:ext uri="{BB962C8B-B14F-4D97-AF65-F5344CB8AC3E}">
        <p14:creationId xmlns:p14="http://schemas.microsoft.com/office/powerpoint/2010/main" val="1048210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49B5BF3F-9224-4CF8-922F-94FF64E26BEA}"/>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Sinusoidal position embeddings</a:t>
            </a:r>
          </a:p>
        </p:txBody>
      </p:sp>
      <p:pic>
        <p:nvPicPr>
          <p:cNvPr id="2" name="Picture 1">
            <a:extLst>
              <a:ext uri="{FF2B5EF4-FFF2-40B4-BE49-F238E27FC236}">
                <a16:creationId xmlns:a16="http://schemas.microsoft.com/office/drawing/2014/main" id="{4025371E-2B0F-48D5-BFEA-4500F06CD140}"/>
              </a:ext>
            </a:extLst>
          </p:cNvPr>
          <p:cNvPicPr>
            <a:picLocks noChangeAspect="1"/>
          </p:cNvPicPr>
          <p:nvPr/>
        </p:nvPicPr>
        <p:blipFill>
          <a:blip r:embed="rId3"/>
          <a:stretch/>
        </p:blipFill>
        <p:spPr>
          <a:xfrm>
            <a:off x="2673310" y="1790700"/>
            <a:ext cx="6845379" cy="3619500"/>
          </a:xfrm>
          <a:prstGeom prst="rect">
            <a:avLst/>
          </a:prstGeom>
        </p:spPr>
      </p:pic>
      <p:sp>
        <p:nvSpPr>
          <p:cNvPr id="3" name="Rectangle 2">
            <a:extLst>
              <a:ext uri="{FF2B5EF4-FFF2-40B4-BE49-F238E27FC236}">
                <a16:creationId xmlns:a16="http://schemas.microsoft.com/office/drawing/2014/main" id="{6BBF23D9-91E6-4931-BE42-1795289BA0E2}"/>
              </a:ext>
            </a:extLst>
          </p:cNvPr>
          <p:cNvSpPr>
            <a:spLocks noGrp="1"/>
          </p:cNvSpPr>
          <p:nvPr/>
        </p:nvSpPr>
        <p:spPr>
          <a:xfrm>
            <a:off x="666750" y="1095375"/>
            <a:ext cx="10858500" cy="52387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Each coordinate pair uses one frequency ωᵢ.</a:t>
            </a:r>
          </a:p>
        </p:txBody>
      </p:sp>
      <p:sp>
        <p:nvSpPr>
          <p:cNvPr id="4" name="Rectangle 3">
            <a:extLst>
              <a:ext uri="{FF2B5EF4-FFF2-40B4-BE49-F238E27FC236}">
                <a16:creationId xmlns:a16="http://schemas.microsoft.com/office/drawing/2014/main" id="{0A980CF4-A650-4636-BA28-B27530DF0620}"/>
              </a:ext>
            </a:extLst>
          </p:cNvPr>
          <p:cNvSpPr>
            <a:spLocks noGrp="1"/>
          </p:cNvSpPr>
          <p:nvPr/>
        </p:nvSpPr>
        <p:spPr>
          <a:xfrm>
            <a:off x="666750" y="5695950"/>
            <a:ext cx="10858500" cy="571500"/>
          </a:xfrm>
          <a:prstGeom prst="rect">
            <a:avLst/>
          </a:prstGeom>
          <a:noFill/>
          <a:ln w="0">
            <a:noFill/>
          </a:ln>
        </p:spPr>
        <p:txBody>
          <a:bodyPr wrap="square" lIns="0" tIns="0" rIns="0" bIns="0" anchor="t">
            <a:noAutofit/>
          </a:bodyPr>
          <a:lstStyle>
            <a:defPPr algn="l">
              <a:defRPr sz="2100" b="0">
                <a:solidFill>
                  <a:srgbClr val="171717"/>
                </a:solidFill>
                <a:latin typeface="Calibri"/>
                <a:ea typeface="Calibri"/>
                <a:cs typeface="Calibri"/>
              </a:defRPr>
            </a:defPPr>
            <a:lvl1pPr algn="l">
              <a:defRPr sz="2100" b="0">
                <a:solidFill>
                  <a:srgbClr val="171717"/>
                </a:solidFill>
                <a:latin typeface="Calibri"/>
                <a:ea typeface="Calibri"/>
                <a:cs typeface="Calibri"/>
              </a:defRPr>
            </a:lvl1pPr>
            <a:lvl2pPr algn="l">
              <a:defRPr sz="2100" b="0">
                <a:solidFill>
                  <a:srgbClr val="171717"/>
                </a:solidFill>
                <a:latin typeface="Calibri"/>
                <a:ea typeface="Calibri"/>
                <a:cs typeface="Calibri"/>
              </a:defRPr>
            </a:lvl2pPr>
            <a:lvl3pPr algn="l">
              <a:defRPr sz="2100" b="0">
                <a:solidFill>
                  <a:srgbClr val="171717"/>
                </a:solidFill>
                <a:latin typeface="Calibri"/>
                <a:ea typeface="Calibri"/>
                <a:cs typeface="Calibri"/>
              </a:defRPr>
            </a:lvl3pPr>
            <a:lvl4pPr algn="l">
              <a:defRPr sz="2100" b="0">
                <a:solidFill>
                  <a:srgbClr val="171717"/>
                </a:solidFill>
                <a:latin typeface="Calibri"/>
                <a:ea typeface="Calibri"/>
                <a:cs typeface="Calibri"/>
              </a:defRPr>
            </a:lvl4pPr>
            <a:lvl5pPr algn="l">
              <a:defRPr sz="2100" b="0">
                <a:solidFill>
                  <a:srgbClr val="171717"/>
                </a:solidFill>
                <a:latin typeface="Calibri"/>
                <a:ea typeface="Calibri"/>
                <a:cs typeface="Calibri"/>
              </a:defRPr>
            </a:lvl5pPr>
            <a:lvl6pPr algn="l">
              <a:defRPr sz="2100" b="0">
                <a:solidFill>
                  <a:srgbClr val="171717"/>
                </a:solidFill>
                <a:latin typeface="Calibri"/>
                <a:ea typeface="Calibri"/>
                <a:cs typeface="Calibri"/>
              </a:defRPr>
            </a:lvl6pPr>
            <a:lvl7pPr algn="l">
              <a:defRPr sz="2100" b="0">
                <a:solidFill>
                  <a:srgbClr val="171717"/>
                </a:solidFill>
                <a:latin typeface="Calibri"/>
                <a:ea typeface="Calibri"/>
                <a:cs typeface="Calibri"/>
              </a:defRPr>
            </a:lvl7pPr>
            <a:lvl8pPr algn="l">
              <a:defRPr sz="2100" b="0">
                <a:solidFill>
                  <a:srgbClr val="171717"/>
                </a:solidFill>
                <a:latin typeface="Calibri"/>
                <a:ea typeface="Calibri"/>
                <a:cs typeface="Calibri"/>
              </a:defRPr>
            </a:lvl8pPr>
            <a:lvl9pPr algn="l">
              <a:defRPr sz="2100" b="0">
                <a:solidFill>
                  <a:srgbClr val="171717"/>
                </a:solidFill>
                <a:latin typeface="Calibri"/>
                <a:ea typeface="Calibri"/>
                <a:cs typeface="Calibri"/>
              </a:defRPr>
            </a:lvl9pPr>
          </a:lstStyle>
          <a:p>
            <a:pPr algn="l">
              <a:defRPr sz="2100" b="0">
                <a:solidFill>
                  <a:srgbClr val="171717"/>
                </a:solidFill>
                <a:latin typeface="Calibri"/>
                <a:ea typeface="Calibri"/>
                <a:cs typeface="Calibri"/>
              </a:defRPr>
            </a:pPr>
            <a:r>
              <a:rPr sz="2100" b="0">
                <a:solidFill>
                  <a:srgbClr val="171717"/>
                </a:solidFill>
                <a:latin typeface="Calibri"/>
                <a:ea typeface="Calibri"/>
                <a:cs typeface="Calibri"/>
              </a:rPr>
              <a:t>m is the token position. d_model is the embedding width.</a:t>
            </a:r>
          </a:p>
        </p:txBody>
      </p:sp>
      <p:sp>
        <p:nvSpPr>
          <p:cNvPr id="5" name="Source">
            <a:extLst>
              <a:ext uri="{FF2B5EF4-FFF2-40B4-BE49-F238E27FC236}">
                <a16:creationId xmlns:a16="http://schemas.microsoft.com/office/drawing/2014/main" id="{BAC44CCF-2F8C-453D-B4B6-4E824F791D09}"/>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Vaswani et al., 2017. Attention Is All You Need</a:t>
            </a:r>
          </a:p>
        </p:txBody>
      </p:sp>
      <p:sp>
        <p:nvSpPr>
          <p:cNvPr id="6" name="Slide number">
            <a:extLst>
              <a:ext uri="{FF2B5EF4-FFF2-40B4-BE49-F238E27FC236}">
                <a16:creationId xmlns:a16="http://schemas.microsoft.com/office/drawing/2014/main" id="{00A72770-1D72-4156-81A0-8B5EA499DB3B}"/>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15</a:t>
            </a:r>
          </a:p>
        </p:txBody>
      </p:sp>
    </p:spTree>
    <p:extLst>
      <p:ext uri="{BB962C8B-B14F-4D97-AF65-F5344CB8AC3E}">
        <p14:creationId xmlns:p14="http://schemas.microsoft.com/office/powerpoint/2010/main" val="2096720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D42677C4-9880-4002-88A3-8C0D40C6B8B8}"/>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Relative position in attention</a:t>
            </a:r>
          </a:p>
        </p:txBody>
      </p:sp>
      <p:sp>
        <p:nvSpPr>
          <p:cNvPr id="2" name="Rectangle 1">
            <a:extLst>
              <a:ext uri="{FF2B5EF4-FFF2-40B4-BE49-F238E27FC236}">
                <a16:creationId xmlns:a16="http://schemas.microsoft.com/office/drawing/2014/main" id="{C235148C-8EFA-4B5D-B91A-BB63BBC5ED2E}"/>
              </a:ext>
            </a:extLst>
          </p:cNvPr>
          <p:cNvSpPr>
            <a:spLocks noGrp="1"/>
          </p:cNvSpPr>
          <p:nvPr/>
        </p:nvSpPr>
        <p:spPr>
          <a:xfrm>
            <a:off x="666750" y="1095375"/>
            <a:ext cx="10858500" cy="71437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An attention score should reflect both content and the distance between tokens.</a:t>
            </a:r>
          </a:p>
        </p:txBody>
      </p:sp>
      <p:sp>
        <p:nvSpPr>
          <p:cNvPr id="3" name="Rectangle 2">
            <a:extLst>
              <a:ext uri="{FF2B5EF4-FFF2-40B4-BE49-F238E27FC236}">
                <a16:creationId xmlns:a16="http://schemas.microsoft.com/office/drawing/2014/main" id="{9C0AB483-D6CD-418B-B372-4AD06D61FB3D}"/>
              </a:ext>
            </a:extLst>
          </p:cNvPr>
          <p:cNvSpPr>
            <a:spLocks noGrp="1"/>
          </p:cNvSpPr>
          <p:nvPr/>
        </p:nvSpPr>
        <p:spPr>
          <a:xfrm>
            <a:off x="857250" y="2524125"/>
            <a:ext cx="4762500" cy="476250"/>
          </a:xfrm>
          <a:prstGeom prst="rect">
            <a:avLst/>
          </a:prstGeom>
          <a:noFill/>
          <a:ln w="0">
            <a:noFill/>
          </a:ln>
        </p:spPr>
        <p:txBody>
          <a:bodyPr wrap="square" lIns="0" tIns="0" rIns="0" bIns="0" anchor="t">
            <a:noAutofit/>
          </a:bodyPr>
          <a:lstStyle>
            <a:defPPr algn="l">
              <a:defRPr sz="2325" b="1">
                <a:solidFill>
                  <a:srgbClr val="171717"/>
                </a:solidFill>
                <a:latin typeface="Calibri"/>
                <a:ea typeface="Calibri"/>
                <a:cs typeface="Calibri"/>
              </a:defRPr>
            </a:defPPr>
            <a:lvl1pPr algn="l">
              <a:defRPr sz="2325" b="1">
                <a:solidFill>
                  <a:srgbClr val="171717"/>
                </a:solidFill>
                <a:latin typeface="Calibri"/>
                <a:ea typeface="Calibri"/>
                <a:cs typeface="Calibri"/>
              </a:defRPr>
            </a:lvl1pPr>
            <a:lvl2pPr algn="l">
              <a:defRPr sz="2325" b="1">
                <a:solidFill>
                  <a:srgbClr val="171717"/>
                </a:solidFill>
                <a:latin typeface="Calibri"/>
                <a:ea typeface="Calibri"/>
                <a:cs typeface="Calibri"/>
              </a:defRPr>
            </a:lvl2pPr>
            <a:lvl3pPr algn="l">
              <a:defRPr sz="2325" b="1">
                <a:solidFill>
                  <a:srgbClr val="171717"/>
                </a:solidFill>
                <a:latin typeface="Calibri"/>
                <a:ea typeface="Calibri"/>
                <a:cs typeface="Calibri"/>
              </a:defRPr>
            </a:lvl3pPr>
            <a:lvl4pPr algn="l">
              <a:defRPr sz="2325" b="1">
                <a:solidFill>
                  <a:srgbClr val="171717"/>
                </a:solidFill>
                <a:latin typeface="Calibri"/>
                <a:ea typeface="Calibri"/>
                <a:cs typeface="Calibri"/>
              </a:defRPr>
            </a:lvl4pPr>
            <a:lvl5pPr algn="l">
              <a:defRPr sz="2325" b="1">
                <a:solidFill>
                  <a:srgbClr val="171717"/>
                </a:solidFill>
                <a:latin typeface="Calibri"/>
                <a:ea typeface="Calibri"/>
                <a:cs typeface="Calibri"/>
              </a:defRPr>
            </a:lvl5pPr>
            <a:lvl6pPr algn="l">
              <a:defRPr sz="2325" b="1">
                <a:solidFill>
                  <a:srgbClr val="171717"/>
                </a:solidFill>
                <a:latin typeface="Calibri"/>
                <a:ea typeface="Calibri"/>
                <a:cs typeface="Calibri"/>
              </a:defRPr>
            </a:lvl6pPr>
            <a:lvl7pPr algn="l">
              <a:defRPr sz="2325" b="1">
                <a:solidFill>
                  <a:srgbClr val="171717"/>
                </a:solidFill>
                <a:latin typeface="Calibri"/>
                <a:ea typeface="Calibri"/>
                <a:cs typeface="Calibri"/>
              </a:defRPr>
            </a:lvl7pPr>
            <a:lvl8pPr algn="l">
              <a:defRPr sz="2325" b="1">
                <a:solidFill>
                  <a:srgbClr val="171717"/>
                </a:solidFill>
                <a:latin typeface="Calibri"/>
                <a:ea typeface="Calibri"/>
                <a:cs typeface="Calibri"/>
              </a:defRPr>
            </a:lvl8pPr>
            <a:lvl9pPr algn="l">
              <a:defRPr sz="2325" b="1">
                <a:solidFill>
                  <a:srgbClr val="171717"/>
                </a:solidFill>
                <a:latin typeface="Calibri"/>
                <a:ea typeface="Calibri"/>
                <a:cs typeface="Calibri"/>
              </a:defRPr>
            </a:lvl9pPr>
          </a:lstStyle>
          <a:p>
            <a:pPr algn="l">
              <a:defRPr sz="2325" b="1">
                <a:solidFill>
                  <a:srgbClr val="171717"/>
                </a:solidFill>
                <a:latin typeface="Calibri"/>
                <a:ea typeface="Calibri"/>
                <a:cs typeface="Calibri"/>
              </a:defRPr>
            </a:pPr>
            <a:r>
              <a:rPr sz="2325" b="1">
                <a:solidFill>
                  <a:srgbClr val="171717"/>
                </a:solidFill>
                <a:latin typeface="Calibri"/>
                <a:ea typeface="Calibri"/>
                <a:cs typeface="Calibri"/>
              </a:rPr>
              <a:t>Absolute positions</a:t>
            </a:r>
          </a:p>
        </p:txBody>
      </p:sp>
      <p:sp>
        <p:nvSpPr>
          <p:cNvPr id="4" name="Rectangle 3">
            <a:extLst>
              <a:ext uri="{FF2B5EF4-FFF2-40B4-BE49-F238E27FC236}">
                <a16:creationId xmlns:a16="http://schemas.microsoft.com/office/drawing/2014/main" id="{5C4EEF2C-B4C4-4840-A676-03B6C6361E21}"/>
              </a:ext>
            </a:extLst>
          </p:cNvPr>
          <p:cNvSpPr>
            <a:spLocks noGrp="1"/>
          </p:cNvSpPr>
          <p:nvPr/>
        </p:nvSpPr>
        <p:spPr>
          <a:xfrm>
            <a:off x="857250" y="3333750"/>
            <a:ext cx="4762500" cy="1047750"/>
          </a:xfrm>
          <a:prstGeom prst="rect">
            <a:avLst/>
          </a:prstGeom>
          <a:noFill/>
          <a:ln w="0">
            <a:noFill/>
          </a:ln>
        </p:spPr>
        <p:txBody>
          <a:bodyPr wrap="square" lIns="0" tIns="0" rIns="0" bIns="0" anchor="t">
            <a:noAutofit/>
          </a:bodyPr>
          <a:lstStyle>
            <a:defPPr algn="l">
              <a:defRPr sz="2550" b="0">
                <a:solidFill>
                  <a:srgbClr val="171717"/>
                </a:solidFill>
                <a:latin typeface="Calibri"/>
                <a:ea typeface="Calibri"/>
                <a:cs typeface="Calibri"/>
              </a:defRPr>
            </a:defPPr>
            <a:lvl1pPr algn="l">
              <a:defRPr sz="2550" b="0">
                <a:solidFill>
                  <a:srgbClr val="171717"/>
                </a:solidFill>
                <a:latin typeface="Calibri"/>
                <a:ea typeface="Calibri"/>
                <a:cs typeface="Calibri"/>
              </a:defRPr>
            </a:lvl1pPr>
            <a:lvl2pPr algn="l">
              <a:defRPr sz="2550" b="0">
                <a:solidFill>
                  <a:srgbClr val="171717"/>
                </a:solidFill>
                <a:latin typeface="Calibri"/>
                <a:ea typeface="Calibri"/>
                <a:cs typeface="Calibri"/>
              </a:defRPr>
            </a:lvl2pPr>
            <a:lvl3pPr algn="l">
              <a:defRPr sz="2550" b="0">
                <a:solidFill>
                  <a:srgbClr val="171717"/>
                </a:solidFill>
                <a:latin typeface="Calibri"/>
                <a:ea typeface="Calibri"/>
                <a:cs typeface="Calibri"/>
              </a:defRPr>
            </a:lvl3pPr>
            <a:lvl4pPr algn="l">
              <a:defRPr sz="2550" b="0">
                <a:solidFill>
                  <a:srgbClr val="171717"/>
                </a:solidFill>
                <a:latin typeface="Calibri"/>
                <a:ea typeface="Calibri"/>
                <a:cs typeface="Calibri"/>
              </a:defRPr>
            </a:lvl4pPr>
            <a:lvl5pPr algn="l">
              <a:defRPr sz="2550" b="0">
                <a:solidFill>
                  <a:srgbClr val="171717"/>
                </a:solidFill>
                <a:latin typeface="Calibri"/>
                <a:ea typeface="Calibri"/>
                <a:cs typeface="Calibri"/>
              </a:defRPr>
            </a:lvl5pPr>
            <a:lvl6pPr algn="l">
              <a:defRPr sz="2550" b="0">
                <a:solidFill>
                  <a:srgbClr val="171717"/>
                </a:solidFill>
                <a:latin typeface="Calibri"/>
                <a:ea typeface="Calibri"/>
                <a:cs typeface="Calibri"/>
              </a:defRPr>
            </a:lvl6pPr>
            <a:lvl7pPr algn="l">
              <a:defRPr sz="2550" b="0">
                <a:solidFill>
                  <a:srgbClr val="171717"/>
                </a:solidFill>
                <a:latin typeface="Calibri"/>
                <a:ea typeface="Calibri"/>
                <a:cs typeface="Calibri"/>
              </a:defRPr>
            </a:lvl7pPr>
            <a:lvl8pPr algn="l">
              <a:defRPr sz="2550" b="0">
                <a:solidFill>
                  <a:srgbClr val="171717"/>
                </a:solidFill>
                <a:latin typeface="Calibri"/>
                <a:ea typeface="Calibri"/>
                <a:cs typeface="Calibri"/>
              </a:defRPr>
            </a:lvl8pPr>
            <a:lvl9pPr algn="l">
              <a:defRPr sz="2550" b="0">
                <a:solidFill>
                  <a:srgbClr val="171717"/>
                </a:solidFill>
                <a:latin typeface="Calibri"/>
                <a:ea typeface="Calibri"/>
                <a:cs typeface="Calibri"/>
              </a:defRPr>
            </a:lvl9pPr>
          </a:lstStyle>
          <a:p>
            <a:pPr algn="l">
              <a:defRPr sz="2550" b="0">
                <a:solidFill>
                  <a:srgbClr val="171717"/>
                </a:solidFill>
                <a:latin typeface="Calibri"/>
                <a:ea typeface="Calibri"/>
                <a:cs typeface="Calibri"/>
              </a:defRPr>
            </a:pPr>
            <a:r>
              <a:rPr sz="2550" b="0">
                <a:solidFill>
                  <a:srgbClr val="171717"/>
                </a:solidFill>
                <a:latin typeface="Calibri"/>
                <a:ea typeface="Calibri"/>
                <a:cs typeface="Calibri"/>
              </a:rPr>
              <a:t>Query at m = 12</a:t>
            </a:r>
          </a:p>
          <a:p>
            <a:pPr algn="l">
              <a:defRPr sz="2550" b="0">
                <a:solidFill>
                  <a:srgbClr val="171717"/>
                </a:solidFill>
                <a:latin typeface="Calibri"/>
                <a:ea typeface="Calibri"/>
                <a:cs typeface="Calibri"/>
              </a:defRPr>
            </a:pPr>
            <a:r>
              <a:rPr sz="2550" b="0">
                <a:solidFill>
                  <a:srgbClr val="171717"/>
                </a:solidFill>
                <a:latin typeface="Calibri"/>
                <a:ea typeface="Calibri"/>
                <a:cs typeface="Calibri"/>
              </a:rPr>
              <a:t>Key at n = 9</a:t>
            </a:r>
          </a:p>
        </p:txBody>
      </p:sp>
      <p:sp>
        <p:nvSpPr>
          <p:cNvPr id="5" name="Rectangle 4">
            <a:extLst>
              <a:ext uri="{FF2B5EF4-FFF2-40B4-BE49-F238E27FC236}">
                <a16:creationId xmlns:a16="http://schemas.microsoft.com/office/drawing/2014/main" id="{BBB13222-AA8C-4FBC-9C89-E5F64F376FDA}"/>
              </a:ext>
            </a:extLst>
          </p:cNvPr>
          <p:cNvSpPr>
            <a:spLocks noGrp="1"/>
          </p:cNvSpPr>
          <p:nvPr/>
        </p:nvSpPr>
        <p:spPr>
          <a:xfrm>
            <a:off x="6953250" y="2524125"/>
            <a:ext cx="4286250" cy="476250"/>
          </a:xfrm>
          <a:prstGeom prst="rect">
            <a:avLst/>
          </a:prstGeom>
          <a:noFill/>
          <a:ln w="0">
            <a:noFill/>
          </a:ln>
        </p:spPr>
        <p:txBody>
          <a:bodyPr wrap="square" lIns="0" tIns="0" rIns="0" bIns="0" anchor="t">
            <a:noAutofit/>
          </a:bodyPr>
          <a:lstStyle>
            <a:defPPr algn="l">
              <a:defRPr sz="2325" b="1">
                <a:solidFill>
                  <a:srgbClr val="171717"/>
                </a:solidFill>
                <a:latin typeface="Calibri"/>
                <a:ea typeface="Calibri"/>
                <a:cs typeface="Calibri"/>
              </a:defRPr>
            </a:defPPr>
            <a:lvl1pPr algn="l">
              <a:defRPr sz="2325" b="1">
                <a:solidFill>
                  <a:srgbClr val="171717"/>
                </a:solidFill>
                <a:latin typeface="Calibri"/>
                <a:ea typeface="Calibri"/>
                <a:cs typeface="Calibri"/>
              </a:defRPr>
            </a:lvl1pPr>
            <a:lvl2pPr algn="l">
              <a:defRPr sz="2325" b="1">
                <a:solidFill>
                  <a:srgbClr val="171717"/>
                </a:solidFill>
                <a:latin typeface="Calibri"/>
                <a:ea typeface="Calibri"/>
                <a:cs typeface="Calibri"/>
              </a:defRPr>
            </a:lvl2pPr>
            <a:lvl3pPr algn="l">
              <a:defRPr sz="2325" b="1">
                <a:solidFill>
                  <a:srgbClr val="171717"/>
                </a:solidFill>
                <a:latin typeface="Calibri"/>
                <a:ea typeface="Calibri"/>
                <a:cs typeface="Calibri"/>
              </a:defRPr>
            </a:lvl3pPr>
            <a:lvl4pPr algn="l">
              <a:defRPr sz="2325" b="1">
                <a:solidFill>
                  <a:srgbClr val="171717"/>
                </a:solidFill>
                <a:latin typeface="Calibri"/>
                <a:ea typeface="Calibri"/>
                <a:cs typeface="Calibri"/>
              </a:defRPr>
            </a:lvl4pPr>
            <a:lvl5pPr algn="l">
              <a:defRPr sz="2325" b="1">
                <a:solidFill>
                  <a:srgbClr val="171717"/>
                </a:solidFill>
                <a:latin typeface="Calibri"/>
                <a:ea typeface="Calibri"/>
                <a:cs typeface="Calibri"/>
              </a:defRPr>
            </a:lvl5pPr>
            <a:lvl6pPr algn="l">
              <a:defRPr sz="2325" b="1">
                <a:solidFill>
                  <a:srgbClr val="171717"/>
                </a:solidFill>
                <a:latin typeface="Calibri"/>
                <a:ea typeface="Calibri"/>
                <a:cs typeface="Calibri"/>
              </a:defRPr>
            </a:lvl6pPr>
            <a:lvl7pPr algn="l">
              <a:defRPr sz="2325" b="1">
                <a:solidFill>
                  <a:srgbClr val="171717"/>
                </a:solidFill>
                <a:latin typeface="Calibri"/>
                <a:ea typeface="Calibri"/>
                <a:cs typeface="Calibri"/>
              </a:defRPr>
            </a:lvl7pPr>
            <a:lvl8pPr algn="l">
              <a:defRPr sz="2325" b="1">
                <a:solidFill>
                  <a:srgbClr val="171717"/>
                </a:solidFill>
                <a:latin typeface="Calibri"/>
                <a:ea typeface="Calibri"/>
                <a:cs typeface="Calibri"/>
              </a:defRPr>
            </a:lvl8pPr>
            <a:lvl9pPr algn="l">
              <a:defRPr sz="2325" b="1">
                <a:solidFill>
                  <a:srgbClr val="171717"/>
                </a:solidFill>
                <a:latin typeface="Calibri"/>
                <a:ea typeface="Calibri"/>
                <a:cs typeface="Calibri"/>
              </a:defRPr>
            </a:lvl9pPr>
          </a:lstStyle>
          <a:p>
            <a:pPr algn="l">
              <a:defRPr sz="2325" b="1">
                <a:solidFill>
                  <a:srgbClr val="171717"/>
                </a:solidFill>
                <a:latin typeface="Calibri"/>
                <a:ea typeface="Calibri"/>
                <a:cs typeface="Calibri"/>
              </a:defRPr>
            </a:pPr>
            <a:r>
              <a:rPr sz="2325" b="1">
                <a:solidFill>
                  <a:srgbClr val="171717"/>
                </a:solidFill>
                <a:latin typeface="Calibri"/>
                <a:ea typeface="Calibri"/>
                <a:cs typeface="Calibri"/>
              </a:rPr>
              <a:t>Relative offset</a:t>
            </a:r>
          </a:p>
        </p:txBody>
      </p:sp>
      <p:sp>
        <p:nvSpPr>
          <p:cNvPr id="6" name="Rectangle 5">
            <a:extLst>
              <a:ext uri="{FF2B5EF4-FFF2-40B4-BE49-F238E27FC236}">
                <a16:creationId xmlns:a16="http://schemas.microsoft.com/office/drawing/2014/main" id="{B25E683F-E382-4F4D-904C-F4B5DD40DE3A}"/>
              </a:ext>
            </a:extLst>
          </p:cNvPr>
          <p:cNvSpPr>
            <a:spLocks noGrp="1"/>
          </p:cNvSpPr>
          <p:nvPr/>
        </p:nvSpPr>
        <p:spPr>
          <a:xfrm>
            <a:off x="6953250" y="3333750"/>
            <a:ext cx="4286250" cy="809625"/>
          </a:xfrm>
          <a:prstGeom prst="rect">
            <a:avLst/>
          </a:prstGeom>
          <a:noFill/>
          <a:ln w="0">
            <a:noFill/>
          </a:ln>
        </p:spPr>
        <p:txBody>
          <a:bodyPr wrap="square" lIns="0" tIns="0" rIns="0" bIns="0" anchor="t">
            <a:noAutofit/>
          </a:bodyPr>
          <a:lstStyle>
            <a:defPPr algn="l">
              <a:defRPr sz="3450" b="0">
                <a:solidFill>
                  <a:srgbClr val="171717"/>
                </a:solidFill>
                <a:latin typeface="Cambria Math"/>
                <a:ea typeface="Cambria Math"/>
                <a:cs typeface="Cambria Math"/>
              </a:defRPr>
            </a:defPPr>
            <a:lvl1pPr algn="l">
              <a:defRPr sz="3450" b="0">
                <a:solidFill>
                  <a:srgbClr val="171717"/>
                </a:solidFill>
                <a:latin typeface="Cambria Math"/>
                <a:ea typeface="Cambria Math"/>
                <a:cs typeface="Cambria Math"/>
              </a:defRPr>
            </a:lvl1pPr>
            <a:lvl2pPr algn="l">
              <a:defRPr sz="3450" b="0">
                <a:solidFill>
                  <a:srgbClr val="171717"/>
                </a:solidFill>
                <a:latin typeface="Cambria Math"/>
                <a:ea typeface="Cambria Math"/>
                <a:cs typeface="Cambria Math"/>
              </a:defRPr>
            </a:lvl2pPr>
            <a:lvl3pPr algn="l">
              <a:defRPr sz="3450" b="0">
                <a:solidFill>
                  <a:srgbClr val="171717"/>
                </a:solidFill>
                <a:latin typeface="Cambria Math"/>
                <a:ea typeface="Cambria Math"/>
                <a:cs typeface="Cambria Math"/>
              </a:defRPr>
            </a:lvl3pPr>
            <a:lvl4pPr algn="l">
              <a:defRPr sz="3450" b="0">
                <a:solidFill>
                  <a:srgbClr val="171717"/>
                </a:solidFill>
                <a:latin typeface="Cambria Math"/>
                <a:ea typeface="Cambria Math"/>
                <a:cs typeface="Cambria Math"/>
              </a:defRPr>
            </a:lvl4pPr>
            <a:lvl5pPr algn="l">
              <a:defRPr sz="3450" b="0">
                <a:solidFill>
                  <a:srgbClr val="171717"/>
                </a:solidFill>
                <a:latin typeface="Cambria Math"/>
                <a:ea typeface="Cambria Math"/>
                <a:cs typeface="Cambria Math"/>
              </a:defRPr>
            </a:lvl5pPr>
            <a:lvl6pPr algn="l">
              <a:defRPr sz="3450" b="0">
                <a:solidFill>
                  <a:srgbClr val="171717"/>
                </a:solidFill>
                <a:latin typeface="Cambria Math"/>
                <a:ea typeface="Cambria Math"/>
                <a:cs typeface="Cambria Math"/>
              </a:defRPr>
            </a:lvl6pPr>
            <a:lvl7pPr algn="l">
              <a:defRPr sz="3450" b="0">
                <a:solidFill>
                  <a:srgbClr val="171717"/>
                </a:solidFill>
                <a:latin typeface="Cambria Math"/>
                <a:ea typeface="Cambria Math"/>
                <a:cs typeface="Cambria Math"/>
              </a:defRPr>
            </a:lvl7pPr>
            <a:lvl8pPr algn="l">
              <a:defRPr sz="3450" b="0">
                <a:solidFill>
                  <a:srgbClr val="171717"/>
                </a:solidFill>
                <a:latin typeface="Cambria Math"/>
                <a:ea typeface="Cambria Math"/>
                <a:cs typeface="Cambria Math"/>
              </a:defRPr>
            </a:lvl8pPr>
            <a:lvl9pPr algn="l">
              <a:defRPr sz="3450" b="0">
                <a:solidFill>
                  <a:srgbClr val="171717"/>
                </a:solidFill>
                <a:latin typeface="Cambria Math"/>
                <a:ea typeface="Cambria Math"/>
                <a:cs typeface="Cambria Math"/>
              </a:defRPr>
            </a:lvl9pPr>
          </a:lstStyle>
          <a:p>
            <a:pPr algn="l">
              <a:defRPr sz="3450" b="0">
                <a:solidFill>
                  <a:srgbClr val="171717"/>
                </a:solidFill>
                <a:latin typeface="Cambria Math"/>
                <a:ea typeface="Cambria Math"/>
                <a:cs typeface="Cambria Math"/>
              </a:defRPr>
            </a:pPr>
            <a:r>
              <a:rPr sz="3450" b="0">
                <a:solidFill>
                  <a:srgbClr val="171717"/>
                </a:solidFill>
                <a:latin typeface="Cambria Math"/>
                <a:ea typeface="Cambria Math"/>
                <a:cs typeface="Cambria Math"/>
              </a:rPr>
              <a:t>n − m = −3</a:t>
            </a:r>
          </a:p>
        </p:txBody>
      </p:sp>
      <p:sp>
        <p:nvSpPr>
          <p:cNvPr id="7" name="Rectangle 6">
            <a:extLst>
              <a:ext uri="{FF2B5EF4-FFF2-40B4-BE49-F238E27FC236}">
                <a16:creationId xmlns:a16="http://schemas.microsoft.com/office/drawing/2014/main" id="{F6415B78-3FCD-4366-9C1B-81C939D4BC1C}"/>
              </a:ext>
            </a:extLst>
          </p:cNvPr>
          <p:cNvSpPr>
            <a:spLocks noGrp="1"/>
          </p:cNvSpPr>
          <p:nvPr/>
        </p:nvSpPr>
        <p:spPr>
          <a:xfrm>
            <a:off x="857250" y="5086350"/>
            <a:ext cx="10477500" cy="904875"/>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Shift both positions by the same amount and the relative offset stays unchanged.</a:t>
            </a:r>
          </a:p>
        </p:txBody>
      </p:sp>
      <p:sp>
        <p:nvSpPr>
          <p:cNvPr id="8" name="Source">
            <a:extLst>
              <a:ext uri="{FF2B5EF4-FFF2-40B4-BE49-F238E27FC236}">
                <a16:creationId xmlns:a16="http://schemas.microsoft.com/office/drawing/2014/main" id="{AB8A57FB-44D8-497B-9B33-839D7D7B5877}"/>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Su et al., 2021. RoFormer</a:t>
            </a:r>
          </a:p>
        </p:txBody>
      </p:sp>
      <p:sp>
        <p:nvSpPr>
          <p:cNvPr id="9" name="Slide number">
            <a:extLst>
              <a:ext uri="{FF2B5EF4-FFF2-40B4-BE49-F238E27FC236}">
                <a16:creationId xmlns:a16="http://schemas.microsoft.com/office/drawing/2014/main" id="{CA53B0B5-C63F-46B4-866E-630CC0549FAE}"/>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16</a:t>
            </a:r>
          </a:p>
        </p:txBody>
      </p:sp>
    </p:spTree>
    <p:extLst>
      <p:ext uri="{BB962C8B-B14F-4D97-AF65-F5344CB8AC3E}">
        <p14:creationId xmlns:p14="http://schemas.microsoft.com/office/powerpoint/2010/main" val="1675514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9646AB08-404C-447C-A3B5-6283D469BC7A}"/>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RoPE: rotating queries and keys</a:t>
            </a:r>
          </a:p>
        </p:txBody>
      </p:sp>
      <p:pic>
        <p:nvPicPr>
          <p:cNvPr id="2" name="Picture 1">
            <a:extLst>
              <a:ext uri="{FF2B5EF4-FFF2-40B4-BE49-F238E27FC236}">
                <a16:creationId xmlns:a16="http://schemas.microsoft.com/office/drawing/2014/main" id="{9472F1A3-894E-4430-99A7-038B08053817}"/>
              </a:ext>
            </a:extLst>
          </p:cNvPr>
          <p:cNvPicPr>
            <a:picLocks noChangeAspect="1"/>
          </p:cNvPicPr>
          <p:nvPr/>
        </p:nvPicPr>
        <p:blipFill>
          <a:blip r:embed="rId3"/>
          <a:stretch/>
        </p:blipFill>
        <p:spPr>
          <a:xfrm>
            <a:off x="1476375" y="1981220"/>
            <a:ext cx="9239250" cy="2609809"/>
          </a:xfrm>
          <a:prstGeom prst="rect">
            <a:avLst/>
          </a:prstGeom>
        </p:spPr>
      </p:pic>
      <p:pic>
        <p:nvPicPr>
          <p:cNvPr id="3" name="Picture 2">
            <a:extLst>
              <a:ext uri="{FF2B5EF4-FFF2-40B4-BE49-F238E27FC236}">
                <a16:creationId xmlns:a16="http://schemas.microsoft.com/office/drawing/2014/main" id="{781B15A9-A13B-4767-9448-000523ECDBB8}"/>
              </a:ext>
            </a:extLst>
          </p:cNvPr>
          <p:cNvPicPr>
            <a:picLocks noChangeAspect="1"/>
          </p:cNvPicPr>
          <p:nvPr/>
        </p:nvPicPr>
        <p:blipFill>
          <a:blip r:embed="rId4"/>
          <a:stretch/>
        </p:blipFill>
        <p:spPr>
          <a:xfrm>
            <a:off x="4003902" y="5295900"/>
            <a:ext cx="5136696" cy="1047750"/>
          </a:xfrm>
          <a:prstGeom prst="rect">
            <a:avLst/>
          </a:prstGeom>
        </p:spPr>
      </p:pic>
      <p:sp>
        <p:nvSpPr>
          <p:cNvPr id="4" name="Rectangle 3">
            <a:extLst>
              <a:ext uri="{FF2B5EF4-FFF2-40B4-BE49-F238E27FC236}">
                <a16:creationId xmlns:a16="http://schemas.microsoft.com/office/drawing/2014/main" id="{523794CC-4F14-488A-B8A2-D206642A2115}"/>
              </a:ext>
            </a:extLst>
          </p:cNvPr>
          <p:cNvSpPr>
            <a:spLocks noGrp="1"/>
          </p:cNvSpPr>
          <p:nvPr/>
        </p:nvSpPr>
        <p:spPr>
          <a:xfrm>
            <a:off x="666750" y="1047750"/>
            <a:ext cx="10858500" cy="5715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Rotate each query and key according to its token position.</a:t>
            </a:r>
          </a:p>
        </p:txBody>
      </p:sp>
      <p:sp>
        <p:nvSpPr>
          <p:cNvPr id="5" name="Rectangle 4">
            <a:extLst>
              <a:ext uri="{FF2B5EF4-FFF2-40B4-BE49-F238E27FC236}">
                <a16:creationId xmlns:a16="http://schemas.microsoft.com/office/drawing/2014/main" id="{0D60CCDE-5C1F-4693-A1AE-2D22E7498C45}"/>
              </a:ext>
            </a:extLst>
          </p:cNvPr>
          <p:cNvSpPr>
            <a:spLocks noGrp="1"/>
          </p:cNvSpPr>
          <p:nvPr/>
        </p:nvSpPr>
        <p:spPr>
          <a:xfrm>
            <a:off x="666750" y="4810125"/>
            <a:ext cx="10858500" cy="523875"/>
          </a:xfrm>
          <a:prstGeom prst="rect">
            <a:avLst/>
          </a:prstGeom>
          <a:noFill/>
          <a:ln w="0">
            <a:noFill/>
          </a:ln>
        </p:spPr>
        <p:txBody>
          <a:bodyPr wrap="square" lIns="0" tIns="0" rIns="0" bIns="0" anchor="t">
            <a:noAutofit/>
          </a:bodyPr>
          <a:lstStyle>
            <a:defPPr algn="l">
              <a:defRPr sz="2100" b="0">
                <a:solidFill>
                  <a:srgbClr val="171717"/>
                </a:solidFill>
                <a:latin typeface="Calibri"/>
                <a:ea typeface="Calibri"/>
                <a:cs typeface="Calibri"/>
              </a:defRPr>
            </a:defPPr>
            <a:lvl1pPr algn="l">
              <a:defRPr sz="2100" b="0">
                <a:solidFill>
                  <a:srgbClr val="171717"/>
                </a:solidFill>
                <a:latin typeface="Calibri"/>
                <a:ea typeface="Calibri"/>
                <a:cs typeface="Calibri"/>
              </a:defRPr>
            </a:lvl1pPr>
            <a:lvl2pPr algn="l">
              <a:defRPr sz="2100" b="0">
                <a:solidFill>
                  <a:srgbClr val="171717"/>
                </a:solidFill>
                <a:latin typeface="Calibri"/>
                <a:ea typeface="Calibri"/>
                <a:cs typeface="Calibri"/>
              </a:defRPr>
            </a:lvl2pPr>
            <a:lvl3pPr algn="l">
              <a:defRPr sz="2100" b="0">
                <a:solidFill>
                  <a:srgbClr val="171717"/>
                </a:solidFill>
                <a:latin typeface="Calibri"/>
                <a:ea typeface="Calibri"/>
                <a:cs typeface="Calibri"/>
              </a:defRPr>
            </a:lvl3pPr>
            <a:lvl4pPr algn="l">
              <a:defRPr sz="2100" b="0">
                <a:solidFill>
                  <a:srgbClr val="171717"/>
                </a:solidFill>
                <a:latin typeface="Calibri"/>
                <a:ea typeface="Calibri"/>
                <a:cs typeface="Calibri"/>
              </a:defRPr>
            </a:lvl4pPr>
            <a:lvl5pPr algn="l">
              <a:defRPr sz="2100" b="0">
                <a:solidFill>
                  <a:srgbClr val="171717"/>
                </a:solidFill>
                <a:latin typeface="Calibri"/>
                <a:ea typeface="Calibri"/>
                <a:cs typeface="Calibri"/>
              </a:defRPr>
            </a:lvl5pPr>
            <a:lvl6pPr algn="l">
              <a:defRPr sz="2100" b="0">
                <a:solidFill>
                  <a:srgbClr val="171717"/>
                </a:solidFill>
                <a:latin typeface="Calibri"/>
                <a:ea typeface="Calibri"/>
                <a:cs typeface="Calibri"/>
              </a:defRPr>
            </a:lvl6pPr>
            <a:lvl7pPr algn="l">
              <a:defRPr sz="2100" b="0">
                <a:solidFill>
                  <a:srgbClr val="171717"/>
                </a:solidFill>
                <a:latin typeface="Calibri"/>
                <a:ea typeface="Calibri"/>
                <a:cs typeface="Calibri"/>
              </a:defRPr>
            </a:lvl7pPr>
            <a:lvl8pPr algn="l">
              <a:defRPr sz="2100" b="0">
                <a:solidFill>
                  <a:srgbClr val="171717"/>
                </a:solidFill>
                <a:latin typeface="Calibri"/>
                <a:ea typeface="Calibri"/>
                <a:cs typeface="Calibri"/>
              </a:defRPr>
            </a:lvl8pPr>
            <a:lvl9pPr algn="l">
              <a:defRPr sz="2100" b="0">
                <a:solidFill>
                  <a:srgbClr val="171717"/>
                </a:solidFill>
                <a:latin typeface="Calibri"/>
                <a:ea typeface="Calibri"/>
                <a:cs typeface="Calibri"/>
              </a:defRPr>
            </a:lvl9pPr>
          </a:lstStyle>
          <a:p>
            <a:pPr algn="l">
              <a:defRPr sz="2100" b="0">
                <a:solidFill>
                  <a:srgbClr val="171717"/>
                </a:solidFill>
                <a:latin typeface="Calibri"/>
                <a:ea typeface="Calibri"/>
                <a:cs typeface="Calibri"/>
              </a:defRPr>
            </a:pPr>
            <a:r>
              <a:rPr sz="2100" b="0">
                <a:solidFill>
                  <a:srgbClr val="171717"/>
                </a:solidFill>
                <a:latin typeface="Calibri"/>
                <a:ea typeface="Calibri"/>
                <a:cs typeface="Calibri"/>
              </a:rPr>
              <a:t>One coordinate pair uses a 2 × 2 rotation matrix:</a:t>
            </a:r>
          </a:p>
        </p:txBody>
      </p:sp>
      <p:sp>
        <p:nvSpPr>
          <p:cNvPr id="6" name="Source">
            <a:extLst>
              <a:ext uri="{FF2B5EF4-FFF2-40B4-BE49-F238E27FC236}">
                <a16:creationId xmlns:a16="http://schemas.microsoft.com/office/drawing/2014/main" id="{C789B17E-87B8-4901-B229-B998E1222EF2}"/>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Su et al., 2021. RoFormer; Amidi, 2024</a:t>
            </a:r>
          </a:p>
        </p:txBody>
      </p:sp>
      <p:sp>
        <p:nvSpPr>
          <p:cNvPr id="7" name="Slide number">
            <a:extLst>
              <a:ext uri="{FF2B5EF4-FFF2-40B4-BE49-F238E27FC236}">
                <a16:creationId xmlns:a16="http://schemas.microsoft.com/office/drawing/2014/main" id="{5869CC99-D876-4BEE-9F2B-A66FE42DE231}"/>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17</a:t>
            </a:r>
          </a:p>
        </p:txBody>
      </p:sp>
    </p:spTree>
    <p:extLst>
      <p:ext uri="{BB962C8B-B14F-4D97-AF65-F5344CB8AC3E}">
        <p14:creationId xmlns:p14="http://schemas.microsoft.com/office/powerpoint/2010/main" val="1678774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45279F7-EA2D-4574-8FDE-369BE493E1E8}"/>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RoPE: coordinate pairs and relative offsets</a:t>
            </a:r>
          </a:p>
        </p:txBody>
      </p:sp>
      <p:pic>
        <p:nvPicPr>
          <p:cNvPr id="2" name="Picture 1">
            <a:extLst>
              <a:ext uri="{FF2B5EF4-FFF2-40B4-BE49-F238E27FC236}">
                <a16:creationId xmlns:a16="http://schemas.microsoft.com/office/drawing/2014/main" id="{35A2B7B4-0DEB-4418-882E-1ED2C6B823B9}"/>
              </a:ext>
            </a:extLst>
          </p:cNvPr>
          <p:cNvPicPr>
            <a:picLocks noChangeAspect="1"/>
          </p:cNvPicPr>
          <p:nvPr/>
        </p:nvPicPr>
        <p:blipFill>
          <a:blip r:embed="rId3"/>
          <a:stretch/>
        </p:blipFill>
        <p:spPr>
          <a:xfrm>
            <a:off x="571500" y="2890543"/>
            <a:ext cx="6286500" cy="2029415"/>
          </a:xfrm>
          <a:prstGeom prst="rect">
            <a:avLst/>
          </a:prstGeom>
        </p:spPr>
      </p:pic>
      <p:sp>
        <p:nvSpPr>
          <p:cNvPr id="3" name="Rectangle 2">
            <a:extLst>
              <a:ext uri="{FF2B5EF4-FFF2-40B4-BE49-F238E27FC236}">
                <a16:creationId xmlns:a16="http://schemas.microsoft.com/office/drawing/2014/main" id="{33BF9806-B544-4606-8734-D9ED2639B2BB}"/>
              </a:ext>
            </a:extLst>
          </p:cNvPr>
          <p:cNvSpPr>
            <a:spLocks noGrp="1"/>
          </p:cNvSpPr>
          <p:nvPr/>
        </p:nvSpPr>
        <p:spPr>
          <a:xfrm>
            <a:off x="666750" y="1047750"/>
            <a:ext cx="10858500" cy="666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Rotate every pair of coordinates, with a different frequency for each pair.</a:t>
            </a:r>
          </a:p>
        </p:txBody>
      </p:sp>
      <p:sp>
        <p:nvSpPr>
          <p:cNvPr id="4" name="Rectangle 3">
            <a:extLst>
              <a:ext uri="{FF2B5EF4-FFF2-40B4-BE49-F238E27FC236}">
                <a16:creationId xmlns:a16="http://schemas.microsoft.com/office/drawing/2014/main" id="{A14F992E-2049-47BE-B407-735653F69592}"/>
              </a:ext>
            </a:extLst>
          </p:cNvPr>
          <p:cNvSpPr>
            <a:spLocks noGrp="1"/>
          </p:cNvSpPr>
          <p:nvPr/>
        </p:nvSpPr>
        <p:spPr>
          <a:xfrm>
            <a:off x="7286625" y="2266950"/>
            <a:ext cx="4191000" cy="428625"/>
          </a:xfrm>
          <a:prstGeom prst="rect">
            <a:avLst/>
          </a:prstGeom>
          <a:noFill/>
          <a:ln w="0">
            <a:noFill/>
          </a:ln>
        </p:spPr>
        <p:txBody>
          <a:bodyPr wrap="square" lIns="0" tIns="0" rIns="0" bIns="0" anchor="t">
            <a:noAutofit/>
          </a:bodyPr>
          <a:lstStyle>
            <a:defPPr algn="l">
              <a:defRPr sz="2025" b="0">
                <a:solidFill>
                  <a:srgbClr val="171717"/>
                </a:solidFill>
                <a:latin typeface="Calibri"/>
                <a:ea typeface="Calibri"/>
                <a:cs typeface="Calibri"/>
              </a:defRPr>
            </a:defPPr>
            <a:lvl1pPr algn="l">
              <a:defRPr sz="2025" b="0">
                <a:solidFill>
                  <a:srgbClr val="171717"/>
                </a:solidFill>
                <a:latin typeface="Calibri"/>
                <a:ea typeface="Calibri"/>
                <a:cs typeface="Calibri"/>
              </a:defRPr>
            </a:lvl1pPr>
            <a:lvl2pPr algn="l">
              <a:defRPr sz="2025" b="0">
                <a:solidFill>
                  <a:srgbClr val="171717"/>
                </a:solidFill>
                <a:latin typeface="Calibri"/>
                <a:ea typeface="Calibri"/>
                <a:cs typeface="Calibri"/>
              </a:defRPr>
            </a:lvl2pPr>
            <a:lvl3pPr algn="l">
              <a:defRPr sz="2025" b="0">
                <a:solidFill>
                  <a:srgbClr val="171717"/>
                </a:solidFill>
                <a:latin typeface="Calibri"/>
                <a:ea typeface="Calibri"/>
                <a:cs typeface="Calibri"/>
              </a:defRPr>
            </a:lvl3pPr>
            <a:lvl4pPr algn="l">
              <a:defRPr sz="2025" b="0">
                <a:solidFill>
                  <a:srgbClr val="171717"/>
                </a:solidFill>
                <a:latin typeface="Calibri"/>
                <a:ea typeface="Calibri"/>
                <a:cs typeface="Calibri"/>
              </a:defRPr>
            </a:lvl4pPr>
            <a:lvl5pPr algn="l">
              <a:defRPr sz="2025" b="0">
                <a:solidFill>
                  <a:srgbClr val="171717"/>
                </a:solidFill>
                <a:latin typeface="Calibri"/>
                <a:ea typeface="Calibri"/>
                <a:cs typeface="Calibri"/>
              </a:defRPr>
            </a:lvl5pPr>
            <a:lvl6pPr algn="l">
              <a:defRPr sz="2025" b="0">
                <a:solidFill>
                  <a:srgbClr val="171717"/>
                </a:solidFill>
                <a:latin typeface="Calibri"/>
                <a:ea typeface="Calibri"/>
                <a:cs typeface="Calibri"/>
              </a:defRPr>
            </a:lvl6pPr>
            <a:lvl7pPr algn="l">
              <a:defRPr sz="2025" b="0">
                <a:solidFill>
                  <a:srgbClr val="171717"/>
                </a:solidFill>
                <a:latin typeface="Calibri"/>
                <a:ea typeface="Calibri"/>
                <a:cs typeface="Calibri"/>
              </a:defRPr>
            </a:lvl7pPr>
            <a:lvl8pPr algn="l">
              <a:defRPr sz="2025" b="0">
                <a:solidFill>
                  <a:srgbClr val="171717"/>
                </a:solidFill>
                <a:latin typeface="Calibri"/>
                <a:ea typeface="Calibri"/>
                <a:cs typeface="Calibri"/>
              </a:defRPr>
            </a:lvl8pPr>
            <a:lvl9pPr algn="l">
              <a:defRPr sz="2025" b="0">
                <a:solidFill>
                  <a:srgbClr val="171717"/>
                </a:solidFill>
                <a:latin typeface="Calibri"/>
                <a:ea typeface="Calibri"/>
                <a:cs typeface="Calibri"/>
              </a:defRPr>
            </a:lvl9pPr>
          </a:lstStyle>
          <a:p>
            <a:pPr algn="l">
              <a:defRPr sz="2025" b="0">
                <a:solidFill>
                  <a:srgbClr val="171717"/>
                </a:solidFill>
                <a:latin typeface="Calibri"/>
                <a:ea typeface="Calibri"/>
                <a:cs typeface="Calibri"/>
              </a:defRPr>
            </a:pPr>
            <a:r>
              <a:rPr sz="2025" b="0">
                <a:solidFill>
                  <a:srgbClr val="171717"/>
                </a:solidFill>
                <a:latin typeface="Calibri"/>
                <a:ea typeface="Calibri"/>
                <a:cs typeface="Calibri"/>
              </a:rPr>
              <a:t>For column vectors:</a:t>
            </a:r>
          </a:p>
        </p:txBody>
      </p:sp>
      <p:sp>
        <p:nvSpPr>
          <p:cNvPr id="5" name="Rectangle 4">
            <a:extLst>
              <a:ext uri="{FF2B5EF4-FFF2-40B4-BE49-F238E27FC236}">
                <a16:creationId xmlns:a16="http://schemas.microsoft.com/office/drawing/2014/main" id="{F984FAB7-CC78-4AB9-A3C7-5C017AA4CE5B}"/>
              </a:ext>
            </a:extLst>
          </p:cNvPr>
          <p:cNvSpPr>
            <a:spLocks noGrp="1"/>
          </p:cNvSpPr>
          <p:nvPr/>
        </p:nvSpPr>
        <p:spPr>
          <a:xfrm>
            <a:off x="7286625" y="2905125"/>
            <a:ext cx="4191000" cy="1333500"/>
          </a:xfrm>
          <a:prstGeom prst="rect">
            <a:avLst/>
          </a:prstGeom>
          <a:noFill/>
          <a:ln w="0">
            <a:noFill/>
          </a:ln>
        </p:spPr>
        <p:txBody>
          <a:bodyPr wrap="square" lIns="0" tIns="0" rIns="0" bIns="0" anchor="t">
            <a:noAutofit/>
          </a:bodyPr>
          <a:lstStyle>
            <a:defPPr algn="l">
              <a:defRPr sz="2850" b="0">
                <a:solidFill>
                  <a:srgbClr val="171717"/>
                </a:solidFill>
                <a:latin typeface="Cambria Math"/>
                <a:ea typeface="Cambria Math"/>
                <a:cs typeface="Cambria Math"/>
              </a:defRPr>
            </a:defPPr>
            <a:lvl1pPr algn="l">
              <a:defRPr sz="2850" b="0">
                <a:solidFill>
                  <a:srgbClr val="171717"/>
                </a:solidFill>
                <a:latin typeface="Cambria Math"/>
                <a:ea typeface="Cambria Math"/>
                <a:cs typeface="Cambria Math"/>
              </a:defRPr>
            </a:lvl1pPr>
            <a:lvl2pPr algn="l">
              <a:defRPr sz="2850" b="0">
                <a:solidFill>
                  <a:srgbClr val="171717"/>
                </a:solidFill>
                <a:latin typeface="Cambria Math"/>
                <a:ea typeface="Cambria Math"/>
                <a:cs typeface="Cambria Math"/>
              </a:defRPr>
            </a:lvl2pPr>
            <a:lvl3pPr algn="l">
              <a:defRPr sz="2850" b="0">
                <a:solidFill>
                  <a:srgbClr val="171717"/>
                </a:solidFill>
                <a:latin typeface="Cambria Math"/>
                <a:ea typeface="Cambria Math"/>
                <a:cs typeface="Cambria Math"/>
              </a:defRPr>
            </a:lvl3pPr>
            <a:lvl4pPr algn="l">
              <a:defRPr sz="2850" b="0">
                <a:solidFill>
                  <a:srgbClr val="171717"/>
                </a:solidFill>
                <a:latin typeface="Cambria Math"/>
                <a:ea typeface="Cambria Math"/>
                <a:cs typeface="Cambria Math"/>
              </a:defRPr>
            </a:lvl4pPr>
            <a:lvl5pPr algn="l">
              <a:defRPr sz="2850" b="0">
                <a:solidFill>
                  <a:srgbClr val="171717"/>
                </a:solidFill>
                <a:latin typeface="Cambria Math"/>
                <a:ea typeface="Cambria Math"/>
                <a:cs typeface="Cambria Math"/>
              </a:defRPr>
            </a:lvl5pPr>
            <a:lvl6pPr algn="l">
              <a:defRPr sz="2850" b="0">
                <a:solidFill>
                  <a:srgbClr val="171717"/>
                </a:solidFill>
                <a:latin typeface="Cambria Math"/>
                <a:ea typeface="Cambria Math"/>
                <a:cs typeface="Cambria Math"/>
              </a:defRPr>
            </a:lvl6pPr>
            <a:lvl7pPr algn="l">
              <a:defRPr sz="2850" b="0">
                <a:solidFill>
                  <a:srgbClr val="171717"/>
                </a:solidFill>
                <a:latin typeface="Cambria Math"/>
                <a:ea typeface="Cambria Math"/>
                <a:cs typeface="Cambria Math"/>
              </a:defRPr>
            </a:lvl7pPr>
            <a:lvl8pPr algn="l">
              <a:defRPr sz="2850" b="0">
                <a:solidFill>
                  <a:srgbClr val="171717"/>
                </a:solidFill>
                <a:latin typeface="Cambria Math"/>
                <a:ea typeface="Cambria Math"/>
                <a:cs typeface="Cambria Math"/>
              </a:defRPr>
            </a:lvl8pPr>
            <a:lvl9pPr algn="l">
              <a:defRPr sz="2850" b="0">
                <a:solidFill>
                  <a:srgbClr val="171717"/>
                </a:solidFill>
                <a:latin typeface="Cambria Math"/>
                <a:ea typeface="Cambria Math"/>
                <a:cs typeface="Cambria Math"/>
              </a:defRPr>
            </a:lvl9pPr>
          </a:lstStyle>
          <a:p>
            <a:pPr algn="l">
              <a:defRPr sz="2850" b="0">
                <a:solidFill>
                  <a:srgbClr val="171717"/>
                </a:solidFill>
                <a:latin typeface="Cambria Math"/>
                <a:ea typeface="Cambria Math"/>
                <a:cs typeface="Cambria Math"/>
              </a:defRPr>
            </a:pPr>
            <a:r>
              <a:rPr sz="2850" b="0">
                <a:solidFill>
                  <a:srgbClr val="171717"/>
                </a:solidFill>
                <a:latin typeface="Cambria Math"/>
                <a:ea typeface="Cambria Math"/>
                <a:cs typeface="Cambria Math"/>
              </a:rPr>
              <a:t>(Rₘq)ᵀ(Rₙk)</a:t>
            </a:r>
          </a:p>
          <a:p>
            <a:pPr algn="l">
              <a:defRPr sz="2850" b="0">
                <a:solidFill>
                  <a:srgbClr val="171717"/>
                </a:solidFill>
                <a:latin typeface="Cambria Math"/>
                <a:ea typeface="Cambria Math"/>
                <a:cs typeface="Cambria Math"/>
              </a:defRPr>
            </a:pPr>
            <a:r>
              <a:rPr sz="2850" b="0">
                <a:solidFill>
                  <a:srgbClr val="171717"/>
                </a:solidFill>
                <a:latin typeface="Cambria Math"/>
                <a:ea typeface="Cambria Math"/>
                <a:cs typeface="Cambria Math"/>
              </a:rPr>
              <a:t>= qᵀRₙ₋ₘk</a:t>
            </a:r>
          </a:p>
        </p:txBody>
      </p:sp>
      <p:sp>
        <p:nvSpPr>
          <p:cNvPr id="6" name="Rectangle 5">
            <a:extLst>
              <a:ext uri="{FF2B5EF4-FFF2-40B4-BE49-F238E27FC236}">
                <a16:creationId xmlns:a16="http://schemas.microsoft.com/office/drawing/2014/main" id="{F7205711-07D2-469D-BBBC-665797D413DC}"/>
              </a:ext>
            </a:extLst>
          </p:cNvPr>
          <p:cNvSpPr>
            <a:spLocks noGrp="1"/>
          </p:cNvSpPr>
          <p:nvPr/>
        </p:nvSpPr>
        <p:spPr>
          <a:xfrm>
            <a:off x="7286625" y="4733925"/>
            <a:ext cx="4191000" cy="1047750"/>
          </a:xfrm>
          <a:prstGeom prst="rect">
            <a:avLst/>
          </a:prstGeom>
          <a:noFill/>
          <a:ln w="0">
            <a:noFill/>
          </a:ln>
        </p:spPr>
        <p:txBody>
          <a:bodyPr wrap="square" lIns="0" tIns="0" rIns="0" bIns="0" anchor="t">
            <a:noAutofit/>
          </a:bodyPr>
          <a:lstStyle>
            <a:defPPr algn="l">
              <a:defRPr sz="2100" b="0">
                <a:solidFill>
                  <a:srgbClr val="171717"/>
                </a:solidFill>
                <a:latin typeface="Calibri"/>
                <a:ea typeface="Calibri"/>
                <a:cs typeface="Calibri"/>
              </a:defRPr>
            </a:defPPr>
            <a:lvl1pPr algn="l">
              <a:defRPr sz="2100" b="0">
                <a:solidFill>
                  <a:srgbClr val="171717"/>
                </a:solidFill>
                <a:latin typeface="Calibri"/>
                <a:ea typeface="Calibri"/>
                <a:cs typeface="Calibri"/>
              </a:defRPr>
            </a:lvl1pPr>
            <a:lvl2pPr algn="l">
              <a:defRPr sz="2100" b="0">
                <a:solidFill>
                  <a:srgbClr val="171717"/>
                </a:solidFill>
                <a:latin typeface="Calibri"/>
                <a:ea typeface="Calibri"/>
                <a:cs typeface="Calibri"/>
              </a:defRPr>
            </a:lvl2pPr>
            <a:lvl3pPr algn="l">
              <a:defRPr sz="2100" b="0">
                <a:solidFill>
                  <a:srgbClr val="171717"/>
                </a:solidFill>
                <a:latin typeface="Calibri"/>
                <a:ea typeface="Calibri"/>
                <a:cs typeface="Calibri"/>
              </a:defRPr>
            </a:lvl3pPr>
            <a:lvl4pPr algn="l">
              <a:defRPr sz="2100" b="0">
                <a:solidFill>
                  <a:srgbClr val="171717"/>
                </a:solidFill>
                <a:latin typeface="Calibri"/>
                <a:ea typeface="Calibri"/>
                <a:cs typeface="Calibri"/>
              </a:defRPr>
            </a:lvl4pPr>
            <a:lvl5pPr algn="l">
              <a:defRPr sz="2100" b="0">
                <a:solidFill>
                  <a:srgbClr val="171717"/>
                </a:solidFill>
                <a:latin typeface="Calibri"/>
                <a:ea typeface="Calibri"/>
                <a:cs typeface="Calibri"/>
              </a:defRPr>
            </a:lvl5pPr>
            <a:lvl6pPr algn="l">
              <a:defRPr sz="2100" b="0">
                <a:solidFill>
                  <a:srgbClr val="171717"/>
                </a:solidFill>
                <a:latin typeface="Calibri"/>
                <a:ea typeface="Calibri"/>
                <a:cs typeface="Calibri"/>
              </a:defRPr>
            </a:lvl6pPr>
            <a:lvl7pPr algn="l">
              <a:defRPr sz="2100" b="0">
                <a:solidFill>
                  <a:srgbClr val="171717"/>
                </a:solidFill>
                <a:latin typeface="Calibri"/>
                <a:ea typeface="Calibri"/>
                <a:cs typeface="Calibri"/>
              </a:defRPr>
            </a:lvl7pPr>
            <a:lvl8pPr algn="l">
              <a:defRPr sz="2100" b="0">
                <a:solidFill>
                  <a:srgbClr val="171717"/>
                </a:solidFill>
                <a:latin typeface="Calibri"/>
                <a:ea typeface="Calibri"/>
                <a:cs typeface="Calibri"/>
              </a:defRPr>
            </a:lvl8pPr>
            <a:lvl9pPr algn="l">
              <a:defRPr sz="2100" b="0">
                <a:solidFill>
                  <a:srgbClr val="171717"/>
                </a:solidFill>
                <a:latin typeface="Calibri"/>
                <a:ea typeface="Calibri"/>
                <a:cs typeface="Calibri"/>
              </a:defRPr>
            </a:lvl9pPr>
          </a:lstStyle>
          <a:p>
            <a:pPr algn="l">
              <a:defRPr sz="2100" b="0">
                <a:solidFill>
                  <a:srgbClr val="171717"/>
                </a:solidFill>
                <a:latin typeface="Calibri"/>
                <a:ea typeface="Calibri"/>
                <a:cs typeface="Calibri"/>
              </a:defRPr>
            </a:pPr>
            <a:r>
              <a:rPr sz="2100" b="0">
                <a:solidFill>
                  <a:srgbClr val="171717"/>
                </a:solidFill>
                <a:latin typeface="Calibri"/>
                <a:ea typeface="Calibri"/>
                <a:cs typeface="Calibri"/>
              </a:rPr>
              <a:t>The positional dependence is the relative offset n − m.</a:t>
            </a:r>
          </a:p>
        </p:txBody>
      </p:sp>
      <p:sp>
        <p:nvSpPr>
          <p:cNvPr id="7" name="Source">
            <a:extLst>
              <a:ext uri="{FF2B5EF4-FFF2-40B4-BE49-F238E27FC236}">
                <a16:creationId xmlns:a16="http://schemas.microsoft.com/office/drawing/2014/main" id="{99209BA0-1329-4F89-B41E-377990CB0F68}"/>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Su et al., 2021. RoFormer</a:t>
            </a:r>
          </a:p>
        </p:txBody>
      </p:sp>
      <p:sp>
        <p:nvSpPr>
          <p:cNvPr id="8" name="Slide number">
            <a:extLst>
              <a:ext uri="{FF2B5EF4-FFF2-40B4-BE49-F238E27FC236}">
                <a16:creationId xmlns:a16="http://schemas.microsoft.com/office/drawing/2014/main" id="{9C1FC852-BCF6-40B5-B19E-22319E024846}"/>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18</a:t>
            </a:r>
          </a:p>
        </p:txBody>
      </p:sp>
    </p:spTree>
    <p:extLst>
      <p:ext uri="{BB962C8B-B14F-4D97-AF65-F5344CB8AC3E}">
        <p14:creationId xmlns:p14="http://schemas.microsoft.com/office/powerpoint/2010/main" val="1282588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1B5234A-6FE4-4ADB-AEED-CBDCA3496137}"/>
              </a:ext>
            </a:extLst>
          </p:cNvPr>
          <p:cNvPicPr>
            <a:picLocks noChangeAspect="1"/>
          </p:cNvPicPr>
          <p:nvPr/>
        </p:nvPicPr>
        <p:blipFill>
          <a:blip r:embed="rId3"/>
          <a:stretch/>
        </p:blipFill>
        <p:spPr>
          <a:xfrm>
            <a:off x="0" y="0"/>
            <a:ext cx="12192000" cy="6858000"/>
          </a:xfrm>
          <a:prstGeom prst="rect">
            <a:avLst/>
          </a:prstGeom>
        </p:spPr>
      </p:pic>
      <p:sp>
        <p:nvSpPr>
          <p:cNvPr id="3" name="Rectangle 2">
            <a:extLst>
              <a:ext uri="{FF2B5EF4-FFF2-40B4-BE49-F238E27FC236}">
                <a16:creationId xmlns:a16="http://schemas.microsoft.com/office/drawing/2014/main" id="{416C7A38-46DF-419C-BCF2-3CD8FF175A5D}"/>
              </a:ext>
            </a:extLst>
          </p:cNvPr>
          <p:cNvSpPr>
            <a:spLocks noGrp="1"/>
          </p:cNvSpPr>
          <p:nvPr/>
        </p:nvSpPr>
        <p:spPr>
          <a:xfrm>
            <a:off x="1275537" y="1285185"/>
            <a:ext cx="3900983" cy="382493"/>
          </a:xfrm>
          <a:prstGeom prst="rect">
            <a:avLst/>
          </a:prstGeom>
          <a:noFill/>
          <a:ln w="0">
            <a:noFill/>
          </a:ln>
        </p:spPr>
        <p:txBody>
          <a:bodyPr wrap="square" lIns="0" tIns="0" rIns="0" bIns="0" anchor="t">
            <a:noAutofit/>
          </a:bodyPr>
          <a:lstStyle>
            <a:defPPr algn="l">
              <a:defRPr sz="2119" b="0">
                <a:solidFill>
                  <a:srgbClr val="111111"/>
                </a:solidFill>
                <a:latin typeface="Calibri"/>
                <a:ea typeface="Calibri"/>
                <a:cs typeface="Calibri"/>
              </a:defRPr>
            </a:defPPr>
          </a:lstStyle>
          <a:p>
            <a:pPr algn="l">
              <a:defRPr sz="2119" b="0">
                <a:solidFill>
                  <a:srgbClr val="111111"/>
                </a:solidFill>
                <a:latin typeface="Calibri"/>
                <a:ea typeface="Calibri"/>
                <a:cs typeface="Calibri"/>
              </a:defRPr>
            </a:pPr>
            <a:r>
              <a:rPr lang="en-GB" sz="2119" b="0">
                <a:solidFill>
                  <a:srgbClr val="111111"/>
                </a:solidFill>
                <a:latin typeface="Calibri"/>
                <a:ea typeface="Calibri"/>
                <a:cs typeface="Calibri"/>
              </a:rPr>
              <a:t>Each diagonal block rotates one coordinate pair.</a:t>
            </a:r>
            <a:endParaRPr sz="2119" b="0">
              <a:solidFill>
                <a:srgbClr val="111111"/>
              </a:solidFill>
              <a:latin typeface="Calibri"/>
              <a:ea typeface="Calibri"/>
              <a:cs typeface="Calibri"/>
            </a:endParaRPr>
          </a:p>
        </p:txBody>
      </p:sp>
      <p:sp>
        <p:nvSpPr>
          <p:cNvPr id="4" name="Rectangle 3">
            <a:extLst>
              <a:ext uri="{FF2B5EF4-FFF2-40B4-BE49-F238E27FC236}">
                <a16:creationId xmlns:a16="http://schemas.microsoft.com/office/drawing/2014/main" id="{934EF571-EC68-48C4-A28A-C6CA49084AD6}"/>
              </a:ext>
            </a:extLst>
          </p:cNvPr>
          <p:cNvSpPr>
            <a:spLocks noGrp="1"/>
          </p:cNvSpPr>
          <p:nvPr/>
        </p:nvSpPr>
        <p:spPr>
          <a:xfrm>
            <a:off x="1270000" y="5786057"/>
            <a:ext cx="10583333" cy="710568"/>
          </a:xfrm>
          <a:prstGeom prst="rect">
            <a:avLst/>
          </a:prstGeom>
          <a:noFill/>
          <a:ln w="0">
            <a:noFill/>
          </a:ln>
        </p:spPr>
        <p:txBody>
          <a:bodyPr wrap="square" lIns="0" tIns="0" rIns="0" bIns="0" anchor="t">
            <a:noAutofit/>
          </a:bodyPr>
          <a:lstStyle>
            <a:defPPr algn="l">
              <a:defRPr sz="2067" b="0">
                <a:solidFill>
                  <a:srgbClr val="111111"/>
                </a:solidFill>
                <a:latin typeface="Calibri"/>
                <a:ea typeface="Calibri"/>
                <a:cs typeface="Calibri"/>
              </a:defRPr>
            </a:defPPr>
          </a:lstStyle>
          <a:p>
            <a:pPr algn="l">
              <a:defRPr sz="2067" b="0">
                <a:solidFill>
                  <a:srgbClr val="111111"/>
                </a:solidFill>
                <a:latin typeface="Calibri"/>
                <a:ea typeface="Calibri"/>
                <a:cs typeface="Calibri"/>
              </a:defRPr>
            </a:pPr>
            <a:r>
              <a:rPr sz="2067" b="0">
                <a:solidFill>
                  <a:srgbClr val="111111"/>
                </a:solidFill>
                <a:latin typeface="Calibri"/>
                <a:ea typeface="Calibri"/>
                <a:cs typeface="Calibri"/>
              </a:rPr>
              <a:t>m is the token position; θᵢ is the rotation frequency for coordinate pair i.</a:t>
            </a:r>
          </a:p>
        </p:txBody>
      </p:sp>
      <p:sp>
        <p:nvSpPr>
          <p:cNvPr id="7" name="TextBox 6">
            <a:extLst>
              <a:ext uri="{FF2B5EF4-FFF2-40B4-BE49-F238E27FC236}">
                <a16:creationId xmlns:a16="http://schemas.microsoft.com/office/drawing/2014/main" id="{3880DD65-ED4F-AFE9-6E8A-875896598083}"/>
              </a:ext>
            </a:extLst>
          </p:cNvPr>
          <p:cNvSpPr txBox="1"/>
          <p:nvPr/>
        </p:nvSpPr>
        <p:spPr>
          <a:xfrm>
            <a:off x="485775" y="266700"/>
            <a:ext cx="11239500" cy="484748"/>
          </a:xfrm>
          <a:prstGeom prst="rect">
            <a:avLst/>
          </a:prstGeom>
          <a:noFill/>
        </p:spPr>
        <p:txBody>
          <a:bodyPr vert="horz" lIns="0" tIns="0" rIns="0" bIns="0" rtlCol="0">
            <a:spAutoFit/>
          </a:bodyPr>
          <a:lstStyle/>
          <a:p>
            <a:r>
              <a:rPr lang="en-GB" sz="3150" b="1">
                <a:solidFill>
                  <a:srgbClr val="007B92"/>
                </a:solidFill>
                <a:latin typeface="Calibri" panose="020F0502020204030204" pitchFamily="34" charset="0"/>
              </a:rPr>
              <a:t>RoPE: the full rotation matrix</a:t>
            </a:r>
            <a:endParaRPr lang="en-US" sz="3150" b="1">
              <a:solidFill>
                <a:srgbClr val="007B92"/>
              </a:solidFill>
              <a:latin typeface="Calibri" panose="020F0502020204030204" pitchFamily="34" charset="0"/>
            </a:endParaRPr>
          </a:p>
        </p:txBody>
      </p:sp>
      <p:sp>
        <p:nvSpPr>
          <p:cNvPr id="8" name="TextBox 7">
            <a:extLst>
              <a:ext uri="{FF2B5EF4-FFF2-40B4-BE49-F238E27FC236}">
                <a16:creationId xmlns:a16="http://schemas.microsoft.com/office/drawing/2014/main" id="{78FD23A5-62BC-7282-EEE6-E4D39DACE64A}"/>
              </a:ext>
            </a:extLst>
          </p:cNvPr>
          <p:cNvSpPr txBox="1"/>
          <p:nvPr/>
        </p:nvSpPr>
        <p:spPr>
          <a:xfrm>
            <a:off x="485775" y="6477000"/>
            <a:ext cx="619125" cy="207749"/>
          </a:xfrm>
          <a:prstGeom prst="rect">
            <a:avLst/>
          </a:prstGeom>
          <a:noFill/>
        </p:spPr>
        <p:txBody>
          <a:bodyPr vert="horz" lIns="0" tIns="0" rIns="0" bIns="0" rtlCol="0">
            <a:spAutoFit/>
          </a:bodyPr>
          <a:lstStyle/>
          <a:p>
            <a:r>
              <a:rPr lang="en-US" sz="1350">
                <a:solidFill>
                  <a:srgbClr val="171717"/>
                </a:solidFill>
                <a:latin typeface="Calibri" panose="020F0502020204030204" pitchFamily="34" charset="0"/>
              </a:rPr>
              <a:t>19</a:t>
            </a:r>
          </a:p>
        </p:txBody>
      </p:sp>
    </p:spTree>
    <p:extLst>
      <p:ext uri="{BB962C8B-B14F-4D97-AF65-F5344CB8AC3E}">
        <p14:creationId xmlns:p14="http://schemas.microsoft.com/office/powerpoint/2010/main" val="978921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CE9E129-5071-445A-9F0E-C55FE251A7ED}"/>
              </a:ext>
            </a:extLst>
          </p:cNvPr>
          <p:cNvSpPr>
            <a:spLocks noGrp="1"/>
          </p:cNvSpPr>
          <p:nvPr/>
        </p:nvSpPr>
        <p:spPr>
          <a:xfrm>
            <a:off x="857250" y="2000250"/>
            <a:ext cx="10668000" cy="1762125"/>
          </a:xfrm>
          <a:prstGeom prst="rect">
            <a:avLst/>
          </a:prstGeom>
          <a:noFill/>
          <a:ln w="0">
            <a:noFill/>
          </a:ln>
        </p:spPr>
        <p:txBody>
          <a:bodyPr wrap="square" lIns="0" tIns="0" rIns="0" bIns="0" anchor="t">
            <a:noAutofit/>
          </a:bodyPr>
          <a:lstStyle>
            <a:defPPr algn="l">
              <a:defRPr sz="4350" b="1">
                <a:solidFill>
                  <a:srgbClr val="007B92"/>
                </a:solidFill>
                <a:latin typeface="Calibri"/>
                <a:ea typeface="Calibri"/>
                <a:cs typeface="Calibri"/>
              </a:defRPr>
            </a:defPPr>
            <a:lvl1pPr algn="l">
              <a:defRPr sz="4350" b="1">
                <a:solidFill>
                  <a:srgbClr val="007B92"/>
                </a:solidFill>
                <a:latin typeface="Calibri"/>
                <a:ea typeface="Calibri"/>
                <a:cs typeface="Calibri"/>
              </a:defRPr>
            </a:lvl1pPr>
            <a:lvl2pPr algn="l">
              <a:defRPr sz="4350" b="1">
                <a:solidFill>
                  <a:srgbClr val="007B92"/>
                </a:solidFill>
                <a:latin typeface="Calibri"/>
                <a:ea typeface="Calibri"/>
                <a:cs typeface="Calibri"/>
              </a:defRPr>
            </a:lvl2pPr>
            <a:lvl3pPr algn="l">
              <a:defRPr sz="4350" b="1">
                <a:solidFill>
                  <a:srgbClr val="007B92"/>
                </a:solidFill>
                <a:latin typeface="Calibri"/>
                <a:ea typeface="Calibri"/>
                <a:cs typeface="Calibri"/>
              </a:defRPr>
            </a:lvl3pPr>
            <a:lvl4pPr algn="l">
              <a:defRPr sz="4350" b="1">
                <a:solidFill>
                  <a:srgbClr val="007B92"/>
                </a:solidFill>
                <a:latin typeface="Calibri"/>
                <a:ea typeface="Calibri"/>
                <a:cs typeface="Calibri"/>
              </a:defRPr>
            </a:lvl4pPr>
            <a:lvl5pPr algn="l">
              <a:defRPr sz="4350" b="1">
                <a:solidFill>
                  <a:srgbClr val="007B92"/>
                </a:solidFill>
                <a:latin typeface="Calibri"/>
                <a:ea typeface="Calibri"/>
                <a:cs typeface="Calibri"/>
              </a:defRPr>
            </a:lvl5pPr>
            <a:lvl6pPr algn="l">
              <a:defRPr sz="4350" b="1">
                <a:solidFill>
                  <a:srgbClr val="007B92"/>
                </a:solidFill>
                <a:latin typeface="Calibri"/>
                <a:ea typeface="Calibri"/>
                <a:cs typeface="Calibri"/>
              </a:defRPr>
            </a:lvl6pPr>
            <a:lvl7pPr algn="l">
              <a:defRPr sz="4350" b="1">
                <a:solidFill>
                  <a:srgbClr val="007B92"/>
                </a:solidFill>
                <a:latin typeface="Calibri"/>
                <a:ea typeface="Calibri"/>
                <a:cs typeface="Calibri"/>
              </a:defRPr>
            </a:lvl7pPr>
            <a:lvl8pPr algn="l">
              <a:defRPr sz="4350" b="1">
                <a:solidFill>
                  <a:srgbClr val="007B92"/>
                </a:solidFill>
                <a:latin typeface="Calibri"/>
                <a:ea typeface="Calibri"/>
                <a:cs typeface="Calibri"/>
              </a:defRPr>
            </a:lvl8pPr>
            <a:lvl9pPr algn="l">
              <a:defRPr sz="4350" b="1">
                <a:solidFill>
                  <a:srgbClr val="007B92"/>
                </a:solidFill>
                <a:latin typeface="Calibri"/>
                <a:ea typeface="Calibri"/>
                <a:cs typeface="Calibri"/>
              </a:defRPr>
            </a:lvl9pPr>
          </a:lstStyle>
          <a:p>
            <a:pPr algn="l">
              <a:defRPr sz="4350" b="1">
                <a:solidFill>
                  <a:srgbClr val="007B92"/>
                </a:solidFill>
                <a:latin typeface="Calibri"/>
                <a:ea typeface="Calibri"/>
                <a:cs typeface="Calibri"/>
              </a:defRPr>
            </a:pPr>
            <a:r>
              <a:rPr sz="4350" b="1">
                <a:solidFill>
                  <a:srgbClr val="007B92"/>
                </a:solidFill>
                <a:latin typeface="Calibri"/>
                <a:ea typeface="Calibri"/>
                <a:cs typeface="Calibri"/>
              </a:rPr>
              <a:t>Attention efficiency</a:t>
            </a:r>
          </a:p>
        </p:txBody>
      </p:sp>
      <p:sp>
        <p:nvSpPr>
          <p:cNvPr id="2" name="Rectangle 1">
            <a:extLst>
              <a:ext uri="{FF2B5EF4-FFF2-40B4-BE49-F238E27FC236}">
                <a16:creationId xmlns:a16="http://schemas.microsoft.com/office/drawing/2014/main" id="{FF0D71DC-3B6D-4806-875E-2E831AA6748E}"/>
              </a:ext>
            </a:extLst>
          </p:cNvPr>
          <p:cNvSpPr>
            <a:spLocks noGrp="1"/>
          </p:cNvSpPr>
          <p:nvPr/>
        </p:nvSpPr>
        <p:spPr>
          <a:xfrm>
            <a:off x="857250" y="4476750"/>
            <a:ext cx="10477500" cy="1095375"/>
          </a:xfrm>
          <a:prstGeom prst="rect">
            <a:avLst/>
          </a:prstGeom>
          <a:noFill/>
          <a:ln w="0">
            <a:noFill/>
          </a:ln>
        </p:spPr>
        <p:txBody>
          <a:bodyPr wrap="square" lIns="0" tIns="0" rIns="0" bIns="0" anchor="t">
            <a:noAutofit/>
          </a:bodyPr>
          <a:lstStyle>
            <a:defPPr algn="l">
              <a:defRPr sz="2550" b="0">
                <a:solidFill>
                  <a:srgbClr val="171717"/>
                </a:solidFill>
                <a:latin typeface="Calibri"/>
                <a:ea typeface="Calibri"/>
                <a:cs typeface="Calibri"/>
              </a:defRPr>
            </a:defPPr>
            <a:lvl1pPr algn="l">
              <a:defRPr sz="2550" b="0">
                <a:solidFill>
                  <a:srgbClr val="171717"/>
                </a:solidFill>
                <a:latin typeface="Calibri"/>
                <a:ea typeface="Calibri"/>
                <a:cs typeface="Calibri"/>
              </a:defRPr>
            </a:lvl1pPr>
            <a:lvl2pPr algn="l">
              <a:defRPr sz="2550" b="0">
                <a:solidFill>
                  <a:srgbClr val="171717"/>
                </a:solidFill>
                <a:latin typeface="Calibri"/>
                <a:ea typeface="Calibri"/>
                <a:cs typeface="Calibri"/>
              </a:defRPr>
            </a:lvl2pPr>
            <a:lvl3pPr algn="l">
              <a:defRPr sz="2550" b="0">
                <a:solidFill>
                  <a:srgbClr val="171717"/>
                </a:solidFill>
                <a:latin typeface="Calibri"/>
                <a:ea typeface="Calibri"/>
                <a:cs typeface="Calibri"/>
              </a:defRPr>
            </a:lvl3pPr>
            <a:lvl4pPr algn="l">
              <a:defRPr sz="2550" b="0">
                <a:solidFill>
                  <a:srgbClr val="171717"/>
                </a:solidFill>
                <a:latin typeface="Calibri"/>
                <a:ea typeface="Calibri"/>
                <a:cs typeface="Calibri"/>
              </a:defRPr>
            </a:lvl4pPr>
            <a:lvl5pPr algn="l">
              <a:defRPr sz="2550" b="0">
                <a:solidFill>
                  <a:srgbClr val="171717"/>
                </a:solidFill>
                <a:latin typeface="Calibri"/>
                <a:ea typeface="Calibri"/>
                <a:cs typeface="Calibri"/>
              </a:defRPr>
            </a:lvl5pPr>
            <a:lvl6pPr algn="l">
              <a:defRPr sz="2550" b="0">
                <a:solidFill>
                  <a:srgbClr val="171717"/>
                </a:solidFill>
                <a:latin typeface="Calibri"/>
                <a:ea typeface="Calibri"/>
                <a:cs typeface="Calibri"/>
              </a:defRPr>
            </a:lvl6pPr>
            <a:lvl7pPr algn="l">
              <a:defRPr sz="2550" b="0">
                <a:solidFill>
                  <a:srgbClr val="171717"/>
                </a:solidFill>
                <a:latin typeface="Calibri"/>
                <a:ea typeface="Calibri"/>
                <a:cs typeface="Calibri"/>
              </a:defRPr>
            </a:lvl7pPr>
            <a:lvl8pPr algn="l">
              <a:defRPr sz="2550" b="0">
                <a:solidFill>
                  <a:srgbClr val="171717"/>
                </a:solidFill>
                <a:latin typeface="Calibri"/>
                <a:ea typeface="Calibri"/>
                <a:cs typeface="Calibri"/>
              </a:defRPr>
            </a:lvl8pPr>
            <a:lvl9pPr algn="l">
              <a:defRPr sz="2550" b="0">
                <a:solidFill>
                  <a:srgbClr val="171717"/>
                </a:solidFill>
                <a:latin typeface="Calibri"/>
                <a:ea typeface="Calibri"/>
                <a:cs typeface="Calibri"/>
              </a:defRPr>
            </a:lvl9pPr>
          </a:lstStyle>
          <a:p>
            <a:pPr algn="l">
              <a:defRPr sz="2550" b="0">
                <a:solidFill>
                  <a:srgbClr val="171717"/>
                </a:solidFill>
                <a:latin typeface="Calibri"/>
                <a:ea typeface="Calibri"/>
                <a:cs typeface="Calibri"/>
              </a:defRPr>
            </a:pPr>
            <a:r>
              <a:rPr sz="2550" b="0">
                <a:solidFill>
                  <a:srgbClr val="171717"/>
                </a:solidFill>
                <a:latin typeface="Calibri"/>
                <a:ea typeface="Calibri"/>
                <a:cs typeface="Calibri"/>
              </a:rPr>
              <a:t>What grows when the context gets longer?</a:t>
            </a:r>
          </a:p>
        </p:txBody>
      </p:sp>
      <p:sp>
        <p:nvSpPr>
          <p:cNvPr id="3" name="Slide number">
            <a:extLst>
              <a:ext uri="{FF2B5EF4-FFF2-40B4-BE49-F238E27FC236}">
                <a16:creationId xmlns:a16="http://schemas.microsoft.com/office/drawing/2014/main" id="{20A89579-96C5-4F2C-A8FE-BDC388182994}"/>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20</a:t>
            </a:r>
          </a:p>
        </p:txBody>
      </p:sp>
    </p:spTree>
    <p:extLst>
      <p:ext uri="{BB962C8B-B14F-4D97-AF65-F5344CB8AC3E}">
        <p14:creationId xmlns:p14="http://schemas.microsoft.com/office/powerpoint/2010/main" val="1988559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C779D54C-71F7-4FA8-B534-6374E3EF0D41}"/>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Autoregressive decoding and the KV cache</a:t>
            </a:r>
          </a:p>
        </p:txBody>
      </p:sp>
      <p:pic>
        <p:nvPicPr>
          <p:cNvPr id="2" name="Picture 1">
            <a:extLst>
              <a:ext uri="{FF2B5EF4-FFF2-40B4-BE49-F238E27FC236}">
                <a16:creationId xmlns:a16="http://schemas.microsoft.com/office/drawing/2014/main" id="{F4439F5B-2DD5-40E9-832A-CC10F7A5B0DE}"/>
              </a:ext>
            </a:extLst>
          </p:cNvPr>
          <p:cNvPicPr>
            <a:picLocks noChangeAspect="1"/>
          </p:cNvPicPr>
          <p:nvPr/>
        </p:nvPicPr>
        <p:blipFill>
          <a:blip r:embed="rId3"/>
          <a:stretch/>
        </p:blipFill>
        <p:spPr>
          <a:xfrm>
            <a:off x="1786749" y="1962150"/>
            <a:ext cx="8618501" cy="4333875"/>
          </a:xfrm>
          <a:prstGeom prst="rect">
            <a:avLst/>
          </a:prstGeom>
        </p:spPr>
      </p:pic>
      <p:sp>
        <p:nvSpPr>
          <p:cNvPr id="3" name="Rectangle 2">
            <a:extLst>
              <a:ext uri="{FF2B5EF4-FFF2-40B4-BE49-F238E27FC236}">
                <a16:creationId xmlns:a16="http://schemas.microsoft.com/office/drawing/2014/main" id="{50FF5F7D-4AD4-463F-B15C-A21CD73E2FD1}"/>
              </a:ext>
            </a:extLst>
          </p:cNvPr>
          <p:cNvSpPr>
            <a:spLocks noGrp="1"/>
          </p:cNvSpPr>
          <p:nvPr/>
        </p:nvSpPr>
        <p:spPr>
          <a:xfrm>
            <a:off x="666750" y="1085850"/>
            <a:ext cx="10858500" cy="8096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Prefill initializes the cache. Each decoding step reuses past K/V and appends the new token’s K/V.</a:t>
            </a:r>
          </a:p>
        </p:txBody>
      </p:sp>
      <p:sp>
        <p:nvSpPr>
          <p:cNvPr id="4" name="Source">
            <a:extLst>
              <a:ext uri="{FF2B5EF4-FFF2-40B4-BE49-F238E27FC236}">
                <a16:creationId xmlns:a16="http://schemas.microsoft.com/office/drawing/2014/main" id="{94B18F50-0007-4556-AE5E-2829880F6E98}"/>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How to Scale Your Model: inference, JAX scaling book</a:t>
            </a:r>
          </a:p>
        </p:txBody>
      </p:sp>
      <p:sp>
        <p:nvSpPr>
          <p:cNvPr id="5" name="Slide number">
            <a:extLst>
              <a:ext uri="{FF2B5EF4-FFF2-40B4-BE49-F238E27FC236}">
                <a16:creationId xmlns:a16="http://schemas.microsoft.com/office/drawing/2014/main" id="{0B17A38E-09FE-4F2A-B0B8-82E0B73C906B}"/>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21</a:t>
            </a:r>
          </a:p>
        </p:txBody>
      </p:sp>
    </p:spTree>
    <p:extLst>
      <p:ext uri="{BB962C8B-B14F-4D97-AF65-F5344CB8AC3E}">
        <p14:creationId xmlns:p14="http://schemas.microsoft.com/office/powerpoint/2010/main" val="1929933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1A0F1F48-1C7C-4079-A0C5-A7904164908B}"/>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KV-cache memory</a:t>
            </a:r>
          </a:p>
        </p:txBody>
      </p:sp>
      <p:sp>
        <p:nvSpPr>
          <p:cNvPr id="2" name="Rectangle 1">
            <a:extLst>
              <a:ext uri="{FF2B5EF4-FFF2-40B4-BE49-F238E27FC236}">
                <a16:creationId xmlns:a16="http://schemas.microsoft.com/office/drawing/2014/main" id="{719AA4AF-317E-4C9D-876C-BCE8B7593416}"/>
              </a:ext>
            </a:extLst>
          </p:cNvPr>
          <p:cNvSpPr>
            <a:spLocks noGrp="1"/>
          </p:cNvSpPr>
          <p:nvPr/>
        </p:nvSpPr>
        <p:spPr>
          <a:xfrm>
            <a:off x="666750" y="1104900"/>
            <a:ext cx="10858500" cy="52387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For a standard attention cache:</a:t>
            </a:r>
          </a:p>
        </p:txBody>
      </p:sp>
      <p:sp>
        <p:nvSpPr>
          <p:cNvPr id="3" name="Rectangle 2">
            <a:extLst>
              <a:ext uri="{FF2B5EF4-FFF2-40B4-BE49-F238E27FC236}">
                <a16:creationId xmlns:a16="http://schemas.microsoft.com/office/drawing/2014/main" id="{2511E8A4-A205-4C3F-8DEC-F2944D29A522}"/>
              </a:ext>
            </a:extLst>
          </p:cNvPr>
          <p:cNvSpPr>
            <a:spLocks noGrp="1"/>
          </p:cNvSpPr>
          <p:nvPr/>
        </p:nvSpPr>
        <p:spPr>
          <a:xfrm>
            <a:off x="1143000" y="2105025"/>
            <a:ext cx="9906000" cy="904875"/>
          </a:xfrm>
          <a:prstGeom prst="rect">
            <a:avLst/>
          </a:prstGeom>
          <a:noFill/>
          <a:ln w="0">
            <a:noFill/>
          </a:ln>
        </p:spPr>
        <p:txBody>
          <a:bodyPr wrap="square" lIns="0" tIns="0" rIns="0" bIns="0" anchor="t">
            <a:noAutofit/>
          </a:bodyPr>
          <a:lstStyle>
            <a:defPPr algn="l">
              <a:defRPr sz="3300" b="0">
                <a:solidFill>
                  <a:srgbClr val="171717"/>
                </a:solidFill>
                <a:latin typeface="Cambria Math"/>
                <a:ea typeface="Cambria Math"/>
                <a:cs typeface="Cambria Math"/>
              </a:defRPr>
            </a:defPPr>
            <a:lvl1pPr algn="l">
              <a:defRPr sz="3300" b="0">
                <a:solidFill>
                  <a:srgbClr val="171717"/>
                </a:solidFill>
                <a:latin typeface="Cambria Math"/>
                <a:ea typeface="Cambria Math"/>
                <a:cs typeface="Cambria Math"/>
              </a:defRPr>
            </a:lvl1pPr>
            <a:lvl2pPr algn="l">
              <a:defRPr sz="3300" b="0">
                <a:solidFill>
                  <a:srgbClr val="171717"/>
                </a:solidFill>
                <a:latin typeface="Cambria Math"/>
                <a:ea typeface="Cambria Math"/>
                <a:cs typeface="Cambria Math"/>
              </a:defRPr>
            </a:lvl2pPr>
            <a:lvl3pPr algn="l">
              <a:defRPr sz="3300" b="0">
                <a:solidFill>
                  <a:srgbClr val="171717"/>
                </a:solidFill>
                <a:latin typeface="Cambria Math"/>
                <a:ea typeface="Cambria Math"/>
                <a:cs typeface="Cambria Math"/>
              </a:defRPr>
            </a:lvl3pPr>
            <a:lvl4pPr algn="l">
              <a:defRPr sz="3300" b="0">
                <a:solidFill>
                  <a:srgbClr val="171717"/>
                </a:solidFill>
                <a:latin typeface="Cambria Math"/>
                <a:ea typeface="Cambria Math"/>
                <a:cs typeface="Cambria Math"/>
              </a:defRPr>
            </a:lvl4pPr>
            <a:lvl5pPr algn="l">
              <a:defRPr sz="3300" b="0">
                <a:solidFill>
                  <a:srgbClr val="171717"/>
                </a:solidFill>
                <a:latin typeface="Cambria Math"/>
                <a:ea typeface="Cambria Math"/>
                <a:cs typeface="Cambria Math"/>
              </a:defRPr>
            </a:lvl5pPr>
            <a:lvl6pPr algn="l">
              <a:defRPr sz="3300" b="0">
                <a:solidFill>
                  <a:srgbClr val="171717"/>
                </a:solidFill>
                <a:latin typeface="Cambria Math"/>
                <a:ea typeface="Cambria Math"/>
                <a:cs typeface="Cambria Math"/>
              </a:defRPr>
            </a:lvl6pPr>
            <a:lvl7pPr algn="l">
              <a:defRPr sz="3300" b="0">
                <a:solidFill>
                  <a:srgbClr val="171717"/>
                </a:solidFill>
                <a:latin typeface="Cambria Math"/>
                <a:ea typeface="Cambria Math"/>
                <a:cs typeface="Cambria Math"/>
              </a:defRPr>
            </a:lvl7pPr>
            <a:lvl8pPr algn="l">
              <a:defRPr sz="3300" b="0">
                <a:solidFill>
                  <a:srgbClr val="171717"/>
                </a:solidFill>
                <a:latin typeface="Cambria Math"/>
                <a:ea typeface="Cambria Math"/>
                <a:cs typeface="Cambria Math"/>
              </a:defRPr>
            </a:lvl8pPr>
            <a:lvl9pPr algn="l">
              <a:defRPr sz="3300" b="0">
                <a:solidFill>
                  <a:srgbClr val="171717"/>
                </a:solidFill>
                <a:latin typeface="Cambria Math"/>
                <a:ea typeface="Cambria Math"/>
                <a:cs typeface="Cambria Math"/>
              </a:defRPr>
            </a:lvl9pPr>
          </a:lstStyle>
          <a:p>
            <a:pPr algn="l">
              <a:defRPr sz="3300" b="0">
                <a:solidFill>
                  <a:srgbClr val="171717"/>
                </a:solidFill>
                <a:latin typeface="Cambria Math"/>
                <a:ea typeface="Cambria Math"/>
                <a:cs typeface="Cambria Math"/>
              </a:defRPr>
            </a:pPr>
            <a:r>
              <a:rPr sz="3300" b="0">
                <a:solidFill>
                  <a:srgbClr val="171717"/>
                </a:solidFill>
                <a:latin typeface="Cambria Math"/>
                <a:ea typeface="Cambria Math"/>
                <a:cs typeface="Cambria Math"/>
              </a:rPr>
              <a:t>bytes ≈ 2 · B · T · L · G · dₕ · b</a:t>
            </a:r>
          </a:p>
        </p:txBody>
      </p:sp>
      <p:sp>
        <p:nvSpPr>
          <p:cNvPr id="4" name="Rectangle 3">
            <a:extLst>
              <a:ext uri="{FF2B5EF4-FFF2-40B4-BE49-F238E27FC236}">
                <a16:creationId xmlns:a16="http://schemas.microsoft.com/office/drawing/2014/main" id="{D06B9AFE-E20B-4093-9579-67C1989FFB90}"/>
              </a:ext>
            </a:extLst>
          </p:cNvPr>
          <p:cNvSpPr>
            <a:spLocks noGrp="1"/>
          </p:cNvSpPr>
          <p:nvPr/>
        </p:nvSpPr>
        <p:spPr>
          <a:xfrm>
            <a:off x="857250" y="3381375"/>
            <a:ext cx="10477500" cy="5715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B: batch size        T: cached tokens        L: layers</a:t>
            </a:r>
          </a:p>
        </p:txBody>
      </p:sp>
      <p:sp>
        <p:nvSpPr>
          <p:cNvPr id="5" name="Rectangle 4">
            <a:extLst>
              <a:ext uri="{FF2B5EF4-FFF2-40B4-BE49-F238E27FC236}">
                <a16:creationId xmlns:a16="http://schemas.microsoft.com/office/drawing/2014/main" id="{06412CBD-517E-417D-B414-C358C3FCE77C}"/>
              </a:ext>
            </a:extLst>
          </p:cNvPr>
          <p:cNvSpPr>
            <a:spLocks noGrp="1"/>
          </p:cNvSpPr>
          <p:nvPr/>
        </p:nvSpPr>
        <p:spPr>
          <a:xfrm>
            <a:off x="857250" y="4095750"/>
            <a:ext cx="10477500" cy="5715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G: KV heads         dₕ: head dimension       b: bytes per element</a:t>
            </a:r>
          </a:p>
        </p:txBody>
      </p:sp>
      <p:sp>
        <p:nvSpPr>
          <p:cNvPr id="6" name="Rectangle 5">
            <a:extLst>
              <a:ext uri="{FF2B5EF4-FFF2-40B4-BE49-F238E27FC236}">
                <a16:creationId xmlns:a16="http://schemas.microsoft.com/office/drawing/2014/main" id="{34A28EC8-4EA7-417B-935E-84A0F8280A98}"/>
              </a:ext>
            </a:extLst>
          </p:cNvPr>
          <p:cNvSpPr>
            <a:spLocks noGrp="1"/>
          </p:cNvSpPr>
          <p:nvPr/>
        </p:nvSpPr>
        <p:spPr>
          <a:xfrm>
            <a:off x="857250" y="5210175"/>
            <a:ext cx="10477500" cy="95250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The factor 2 stores both keys and values. Fewer KV heads reduce cache memory and reads.</a:t>
            </a:r>
          </a:p>
        </p:txBody>
      </p:sp>
      <p:sp>
        <p:nvSpPr>
          <p:cNvPr id="7" name="Source">
            <a:extLst>
              <a:ext uri="{FF2B5EF4-FFF2-40B4-BE49-F238E27FC236}">
                <a16:creationId xmlns:a16="http://schemas.microsoft.com/office/drawing/2014/main" id="{B32B2EA6-C42D-435E-8EE7-5A2FB349A313}"/>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Course lecture 10, KV-cache size calculation</a:t>
            </a:r>
          </a:p>
        </p:txBody>
      </p:sp>
      <p:sp>
        <p:nvSpPr>
          <p:cNvPr id="8" name="Slide number">
            <a:extLst>
              <a:ext uri="{FF2B5EF4-FFF2-40B4-BE49-F238E27FC236}">
                <a16:creationId xmlns:a16="http://schemas.microsoft.com/office/drawing/2014/main" id="{C698A99B-2351-489C-8177-7C9C6F2D9C2C}"/>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22</a:t>
            </a:r>
          </a:p>
        </p:txBody>
      </p:sp>
    </p:spTree>
    <p:extLst>
      <p:ext uri="{BB962C8B-B14F-4D97-AF65-F5344CB8AC3E}">
        <p14:creationId xmlns:p14="http://schemas.microsoft.com/office/powerpoint/2010/main" val="1673370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2C566A65-9CA9-47BF-BDB6-B54FFDE223AC}"/>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Multi-head attention: separate K/V heads</a:t>
            </a:r>
          </a:p>
        </p:txBody>
      </p:sp>
      <p:pic>
        <p:nvPicPr>
          <p:cNvPr id="2" name="Picture 1">
            <a:extLst>
              <a:ext uri="{FF2B5EF4-FFF2-40B4-BE49-F238E27FC236}">
                <a16:creationId xmlns:a16="http://schemas.microsoft.com/office/drawing/2014/main" id="{35A3FC91-467C-418A-A21F-198906B7AFC0}"/>
              </a:ext>
            </a:extLst>
          </p:cNvPr>
          <p:cNvPicPr>
            <a:picLocks noChangeAspect="1"/>
          </p:cNvPicPr>
          <p:nvPr/>
        </p:nvPicPr>
        <p:blipFill>
          <a:blip r:embed="rId3"/>
          <a:stretch/>
        </p:blipFill>
        <p:spPr>
          <a:xfrm>
            <a:off x="7143750" y="2288682"/>
            <a:ext cx="3905250" cy="2899760"/>
          </a:xfrm>
          <a:prstGeom prst="rect">
            <a:avLst/>
          </a:prstGeom>
        </p:spPr>
      </p:pic>
      <p:sp>
        <p:nvSpPr>
          <p:cNvPr id="3" name="Rectangle 2">
            <a:extLst>
              <a:ext uri="{FF2B5EF4-FFF2-40B4-BE49-F238E27FC236}">
                <a16:creationId xmlns:a16="http://schemas.microsoft.com/office/drawing/2014/main" id="{F48B4BB4-F497-466F-9EB4-976D2465715A}"/>
              </a:ext>
            </a:extLst>
          </p:cNvPr>
          <p:cNvSpPr>
            <a:spLocks noGrp="1"/>
          </p:cNvSpPr>
          <p:nvPr/>
        </p:nvSpPr>
        <p:spPr>
          <a:xfrm>
            <a:off x="666750" y="10953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Each query head has its own key and value projections.</a:t>
            </a:r>
          </a:p>
        </p:txBody>
      </p:sp>
      <p:sp>
        <p:nvSpPr>
          <p:cNvPr id="4" name="Rectangle 3">
            <a:extLst>
              <a:ext uri="{FF2B5EF4-FFF2-40B4-BE49-F238E27FC236}">
                <a16:creationId xmlns:a16="http://schemas.microsoft.com/office/drawing/2014/main" id="{22F18076-4CCD-4C82-ABF3-2A7A685E6692}"/>
              </a:ext>
            </a:extLst>
          </p:cNvPr>
          <p:cNvSpPr>
            <a:spLocks noGrp="1"/>
          </p:cNvSpPr>
          <p:nvPr/>
        </p:nvSpPr>
        <p:spPr>
          <a:xfrm>
            <a:off x="904875" y="2524125"/>
            <a:ext cx="4286250" cy="666750"/>
          </a:xfrm>
          <a:prstGeom prst="rect">
            <a:avLst/>
          </a:prstGeom>
          <a:noFill/>
          <a:ln w="0">
            <a:noFill/>
          </a:ln>
        </p:spPr>
        <p:txBody>
          <a:bodyPr wrap="square" lIns="0" tIns="0" rIns="0" bIns="0" anchor="t">
            <a:noAutofit/>
          </a:bodyPr>
          <a:lstStyle>
            <a:defPPr algn="l">
              <a:defRPr sz="3600" b="0">
                <a:solidFill>
                  <a:srgbClr val="171717"/>
                </a:solidFill>
                <a:latin typeface="Cambria Math"/>
                <a:ea typeface="Cambria Math"/>
                <a:cs typeface="Cambria Math"/>
              </a:defRPr>
            </a:defPPr>
            <a:lvl1pPr algn="l">
              <a:defRPr sz="3600" b="0">
                <a:solidFill>
                  <a:srgbClr val="171717"/>
                </a:solidFill>
                <a:latin typeface="Cambria Math"/>
                <a:ea typeface="Cambria Math"/>
                <a:cs typeface="Cambria Math"/>
              </a:defRPr>
            </a:lvl1pPr>
            <a:lvl2pPr algn="l">
              <a:defRPr sz="3600" b="0">
                <a:solidFill>
                  <a:srgbClr val="171717"/>
                </a:solidFill>
                <a:latin typeface="Cambria Math"/>
                <a:ea typeface="Cambria Math"/>
                <a:cs typeface="Cambria Math"/>
              </a:defRPr>
            </a:lvl2pPr>
            <a:lvl3pPr algn="l">
              <a:defRPr sz="3600" b="0">
                <a:solidFill>
                  <a:srgbClr val="171717"/>
                </a:solidFill>
                <a:latin typeface="Cambria Math"/>
                <a:ea typeface="Cambria Math"/>
                <a:cs typeface="Cambria Math"/>
              </a:defRPr>
            </a:lvl3pPr>
            <a:lvl4pPr algn="l">
              <a:defRPr sz="3600" b="0">
                <a:solidFill>
                  <a:srgbClr val="171717"/>
                </a:solidFill>
                <a:latin typeface="Cambria Math"/>
                <a:ea typeface="Cambria Math"/>
                <a:cs typeface="Cambria Math"/>
              </a:defRPr>
            </a:lvl4pPr>
            <a:lvl5pPr algn="l">
              <a:defRPr sz="3600" b="0">
                <a:solidFill>
                  <a:srgbClr val="171717"/>
                </a:solidFill>
                <a:latin typeface="Cambria Math"/>
                <a:ea typeface="Cambria Math"/>
                <a:cs typeface="Cambria Math"/>
              </a:defRPr>
            </a:lvl5pPr>
            <a:lvl6pPr algn="l">
              <a:defRPr sz="3600" b="0">
                <a:solidFill>
                  <a:srgbClr val="171717"/>
                </a:solidFill>
                <a:latin typeface="Cambria Math"/>
                <a:ea typeface="Cambria Math"/>
                <a:cs typeface="Cambria Math"/>
              </a:defRPr>
            </a:lvl6pPr>
            <a:lvl7pPr algn="l">
              <a:defRPr sz="3600" b="0">
                <a:solidFill>
                  <a:srgbClr val="171717"/>
                </a:solidFill>
                <a:latin typeface="Cambria Math"/>
                <a:ea typeface="Cambria Math"/>
                <a:cs typeface="Cambria Math"/>
              </a:defRPr>
            </a:lvl7pPr>
            <a:lvl8pPr algn="l">
              <a:defRPr sz="3600" b="0">
                <a:solidFill>
                  <a:srgbClr val="171717"/>
                </a:solidFill>
                <a:latin typeface="Cambria Math"/>
                <a:ea typeface="Cambria Math"/>
                <a:cs typeface="Cambria Math"/>
              </a:defRPr>
            </a:lvl8pPr>
            <a:lvl9pPr algn="l">
              <a:defRPr sz="3600" b="0">
                <a:solidFill>
                  <a:srgbClr val="171717"/>
                </a:solidFill>
                <a:latin typeface="Cambria Math"/>
                <a:ea typeface="Cambria Math"/>
                <a:cs typeface="Cambria Math"/>
              </a:defRPr>
            </a:lvl9pPr>
          </a:lstStyle>
          <a:p>
            <a:pPr algn="l">
              <a:defRPr sz="3600" b="0">
                <a:solidFill>
                  <a:srgbClr val="171717"/>
                </a:solidFill>
                <a:latin typeface="Cambria Math"/>
                <a:ea typeface="Cambria Math"/>
                <a:cs typeface="Cambria Math"/>
              </a:defRPr>
            </a:pPr>
            <a:r>
              <a:rPr sz="3600" b="0">
                <a:solidFill>
                  <a:srgbClr val="171717"/>
                </a:solidFill>
                <a:latin typeface="Cambria Math"/>
                <a:ea typeface="Cambria Math"/>
                <a:cs typeface="Cambria Math"/>
              </a:rPr>
              <a:t>G = h</a:t>
            </a:r>
          </a:p>
        </p:txBody>
      </p:sp>
      <p:sp>
        <p:nvSpPr>
          <p:cNvPr id="5" name="Rectangle 4">
            <a:extLst>
              <a:ext uri="{FF2B5EF4-FFF2-40B4-BE49-F238E27FC236}">
                <a16:creationId xmlns:a16="http://schemas.microsoft.com/office/drawing/2014/main" id="{42A9A49D-5F2F-4845-94F0-79EFF18EB94F}"/>
              </a:ext>
            </a:extLst>
          </p:cNvPr>
          <p:cNvSpPr>
            <a:spLocks noGrp="1"/>
          </p:cNvSpPr>
          <p:nvPr/>
        </p:nvSpPr>
        <p:spPr>
          <a:xfrm>
            <a:off x="904875" y="3571875"/>
            <a:ext cx="4286250" cy="1714500"/>
          </a:xfrm>
          <a:prstGeom prst="rect">
            <a:avLst/>
          </a:prstGeom>
          <a:noFill/>
          <a:ln w="0">
            <a:noFill/>
          </a:ln>
        </p:spPr>
        <p:txBody>
          <a:bodyPr wrap="square" lIns="0" tIns="0" rIns="0" bIns="0" anchor="t">
            <a:noAutofit/>
          </a:bodyPr>
          <a:lstStyle>
            <a:defPPr algn="l">
              <a:defRPr sz="2400" b="0">
                <a:solidFill>
                  <a:srgbClr val="171717"/>
                </a:solidFill>
                <a:latin typeface="Calibri"/>
                <a:ea typeface="Calibri"/>
                <a:cs typeface="Calibri"/>
              </a:defRPr>
            </a:defPPr>
            <a:lvl1pPr algn="l">
              <a:defRPr sz="2400" b="0">
                <a:solidFill>
                  <a:srgbClr val="171717"/>
                </a:solidFill>
                <a:latin typeface="Calibri"/>
                <a:ea typeface="Calibri"/>
                <a:cs typeface="Calibri"/>
              </a:defRPr>
            </a:lvl1pPr>
            <a:lvl2pPr algn="l">
              <a:defRPr sz="2400" b="0">
                <a:solidFill>
                  <a:srgbClr val="171717"/>
                </a:solidFill>
                <a:latin typeface="Calibri"/>
                <a:ea typeface="Calibri"/>
                <a:cs typeface="Calibri"/>
              </a:defRPr>
            </a:lvl2pPr>
            <a:lvl3pPr algn="l">
              <a:defRPr sz="2400" b="0">
                <a:solidFill>
                  <a:srgbClr val="171717"/>
                </a:solidFill>
                <a:latin typeface="Calibri"/>
                <a:ea typeface="Calibri"/>
                <a:cs typeface="Calibri"/>
              </a:defRPr>
            </a:lvl3pPr>
            <a:lvl4pPr algn="l">
              <a:defRPr sz="2400" b="0">
                <a:solidFill>
                  <a:srgbClr val="171717"/>
                </a:solidFill>
                <a:latin typeface="Calibri"/>
                <a:ea typeface="Calibri"/>
                <a:cs typeface="Calibri"/>
              </a:defRPr>
            </a:lvl4pPr>
            <a:lvl5pPr algn="l">
              <a:defRPr sz="2400" b="0">
                <a:solidFill>
                  <a:srgbClr val="171717"/>
                </a:solidFill>
                <a:latin typeface="Calibri"/>
                <a:ea typeface="Calibri"/>
                <a:cs typeface="Calibri"/>
              </a:defRPr>
            </a:lvl5pPr>
            <a:lvl6pPr algn="l">
              <a:defRPr sz="2400" b="0">
                <a:solidFill>
                  <a:srgbClr val="171717"/>
                </a:solidFill>
                <a:latin typeface="Calibri"/>
                <a:ea typeface="Calibri"/>
                <a:cs typeface="Calibri"/>
              </a:defRPr>
            </a:lvl6pPr>
            <a:lvl7pPr algn="l">
              <a:defRPr sz="2400" b="0">
                <a:solidFill>
                  <a:srgbClr val="171717"/>
                </a:solidFill>
                <a:latin typeface="Calibri"/>
                <a:ea typeface="Calibri"/>
                <a:cs typeface="Calibri"/>
              </a:defRPr>
            </a:lvl7pPr>
            <a:lvl8pPr algn="l">
              <a:defRPr sz="2400" b="0">
                <a:solidFill>
                  <a:srgbClr val="171717"/>
                </a:solidFill>
                <a:latin typeface="Calibri"/>
                <a:ea typeface="Calibri"/>
                <a:cs typeface="Calibri"/>
              </a:defRPr>
            </a:lvl8pPr>
            <a:lvl9pPr algn="l">
              <a:defRPr sz="2400" b="0">
                <a:solidFill>
                  <a:srgbClr val="171717"/>
                </a:solidFill>
                <a:latin typeface="Calibri"/>
                <a:ea typeface="Calibri"/>
                <a:cs typeface="Calibri"/>
              </a:defRPr>
            </a:lvl9pPr>
          </a:lstStyle>
          <a:p>
            <a:pPr algn="l">
              <a:defRPr sz="2400" b="0">
                <a:solidFill>
                  <a:srgbClr val="171717"/>
                </a:solidFill>
                <a:latin typeface="Calibri"/>
                <a:ea typeface="Calibri"/>
                <a:cs typeface="Calibri"/>
              </a:defRPr>
            </a:pPr>
            <a:r>
              <a:rPr sz="2400" b="0">
                <a:solidFill>
                  <a:srgbClr val="171717"/>
                </a:solidFill>
                <a:latin typeface="Calibri"/>
                <a:ea typeface="Calibri"/>
                <a:cs typeface="Calibri"/>
              </a:rPr>
              <a:t>h query heads</a:t>
            </a:r>
          </a:p>
          <a:p>
            <a:pPr algn="l">
              <a:defRPr sz="2400" b="0">
                <a:solidFill>
                  <a:srgbClr val="171717"/>
                </a:solidFill>
                <a:latin typeface="Calibri"/>
                <a:ea typeface="Calibri"/>
                <a:cs typeface="Calibri"/>
              </a:defRPr>
            </a:pPr>
            <a:r>
              <a:rPr sz="2400" b="0">
                <a:solidFill>
                  <a:srgbClr val="171717"/>
                </a:solidFill>
                <a:latin typeface="Calibri"/>
                <a:ea typeface="Calibri"/>
                <a:cs typeface="Calibri"/>
              </a:rPr>
              <a:t>h key heads</a:t>
            </a:r>
          </a:p>
          <a:p>
            <a:pPr algn="l">
              <a:defRPr sz="2400" b="0">
                <a:solidFill>
                  <a:srgbClr val="171717"/>
                </a:solidFill>
                <a:latin typeface="Calibri"/>
                <a:ea typeface="Calibri"/>
                <a:cs typeface="Calibri"/>
              </a:defRPr>
            </a:pPr>
            <a:r>
              <a:rPr sz="2400" b="0">
                <a:solidFill>
                  <a:srgbClr val="171717"/>
                </a:solidFill>
                <a:latin typeface="Calibri"/>
                <a:ea typeface="Calibri"/>
                <a:cs typeface="Calibri"/>
              </a:rPr>
              <a:t>h value heads</a:t>
            </a:r>
          </a:p>
        </p:txBody>
      </p:sp>
      <p:sp>
        <p:nvSpPr>
          <p:cNvPr id="6" name="Rectangle 5">
            <a:extLst>
              <a:ext uri="{FF2B5EF4-FFF2-40B4-BE49-F238E27FC236}">
                <a16:creationId xmlns:a16="http://schemas.microsoft.com/office/drawing/2014/main" id="{01D2AA68-2BAE-4A72-907F-2A2B1C3CF6F9}"/>
              </a:ext>
            </a:extLst>
          </p:cNvPr>
          <p:cNvSpPr>
            <a:spLocks noGrp="1"/>
          </p:cNvSpPr>
          <p:nvPr/>
        </p:nvSpPr>
        <p:spPr>
          <a:xfrm>
            <a:off x="666750" y="5695950"/>
            <a:ext cx="10858500" cy="57150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The cache stores K/V for every head.</a:t>
            </a:r>
          </a:p>
        </p:txBody>
      </p:sp>
      <p:sp>
        <p:nvSpPr>
          <p:cNvPr id="7" name="Source">
            <a:extLst>
              <a:ext uri="{FF2B5EF4-FFF2-40B4-BE49-F238E27FC236}">
                <a16:creationId xmlns:a16="http://schemas.microsoft.com/office/drawing/2014/main" id="{AB315F6B-C986-4114-9B1B-8685718CFC60}"/>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Amidi, 2024. Super Study Guide: Transformers &amp; Large Language Models</a:t>
            </a:r>
          </a:p>
        </p:txBody>
      </p:sp>
      <p:sp>
        <p:nvSpPr>
          <p:cNvPr id="8" name="Slide number">
            <a:extLst>
              <a:ext uri="{FF2B5EF4-FFF2-40B4-BE49-F238E27FC236}">
                <a16:creationId xmlns:a16="http://schemas.microsoft.com/office/drawing/2014/main" id="{8F7034A6-0201-4A8F-8944-FFAA6BAACDED}"/>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23</a:t>
            </a:r>
          </a:p>
        </p:txBody>
      </p:sp>
    </p:spTree>
    <p:extLst>
      <p:ext uri="{BB962C8B-B14F-4D97-AF65-F5344CB8AC3E}">
        <p14:creationId xmlns:p14="http://schemas.microsoft.com/office/powerpoint/2010/main" val="1588059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81CC6B8D-232A-43E4-91A1-B8D729B75BDB}"/>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Multi-query attention: one shared K/V head</a:t>
            </a:r>
          </a:p>
        </p:txBody>
      </p:sp>
      <p:pic>
        <p:nvPicPr>
          <p:cNvPr id="2" name="Picture 1">
            <a:extLst>
              <a:ext uri="{FF2B5EF4-FFF2-40B4-BE49-F238E27FC236}">
                <a16:creationId xmlns:a16="http://schemas.microsoft.com/office/drawing/2014/main" id="{5990C824-4FDF-437F-8942-E50974E4FE91}"/>
              </a:ext>
            </a:extLst>
          </p:cNvPr>
          <p:cNvPicPr>
            <a:picLocks noChangeAspect="1"/>
          </p:cNvPicPr>
          <p:nvPr/>
        </p:nvPicPr>
        <p:blipFill>
          <a:blip r:embed="rId3"/>
          <a:stretch/>
        </p:blipFill>
        <p:spPr>
          <a:xfrm>
            <a:off x="7143750" y="2382497"/>
            <a:ext cx="3905250" cy="2835955"/>
          </a:xfrm>
          <a:prstGeom prst="rect">
            <a:avLst/>
          </a:prstGeom>
        </p:spPr>
      </p:pic>
      <p:sp>
        <p:nvSpPr>
          <p:cNvPr id="3" name="Rectangle 2">
            <a:extLst>
              <a:ext uri="{FF2B5EF4-FFF2-40B4-BE49-F238E27FC236}">
                <a16:creationId xmlns:a16="http://schemas.microsoft.com/office/drawing/2014/main" id="{0FD248FA-3794-4B9D-8670-29B9979D802E}"/>
              </a:ext>
            </a:extLst>
          </p:cNvPr>
          <p:cNvSpPr>
            <a:spLocks noGrp="1"/>
          </p:cNvSpPr>
          <p:nvPr/>
        </p:nvSpPr>
        <p:spPr>
          <a:xfrm>
            <a:off x="666750" y="10953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Keep multiple query heads, but share one key and one value head.</a:t>
            </a:r>
          </a:p>
        </p:txBody>
      </p:sp>
      <p:sp>
        <p:nvSpPr>
          <p:cNvPr id="4" name="Rectangle 3">
            <a:extLst>
              <a:ext uri="{FF2B5EF4-FFF2-40B4-BE49-F238E27FC236}">
                <a16:creationId xmlns:a16="http://schemas.microsoft.com/office/drawing/2014/main" id="{50E7AD3E-0C40-4061-B72B-85169A943476}"/>
              </a:ext>
            </a:extLst>
          </p:cNvPr>
          <p:cNvSpPr>
            <a:spLocks noGrp="1"/>
          </p:cNvSpPr>
          <p:nvPr/>
        </p:nvSpPr>
        <p:spPr>
          <a:xfrm>
            <a:off x="904875" y="2524125"/>
            <a:ext cx="4286250" cy="666750"/>
          </a:xfrm>
          <a:prstGeom prst="rect">
            <a:avLst/>
          </a:prstGeom>
          <a:noFill/>
          <a:ln w="0">
            <a:noFill/>
          </a:ln>
        </p:spPr>
        <p:txBody>
          <a:bodyPr wrap="square" lIns="0" tIns="0" rIns="0" bIns="0" anchor="t">
            <a:noAutofit/>
          </a:bodyPr>
          <a:lstStyle>
            <a:defPPr algn="l">
              <a:defRPr sz="3600" b="0">
                <a:solidFill>
                  <a:srgbClr val="171717"/>
                </a:solidFill>
                <a:latin typeface="Cambria Math"/>
                <a:ea typeface="Cambria Math"/>
                <a:cs typeface="Cambria Math"/>
              </a:defRPr>
            </a:defPPr>
            <a:lvl1pPr algn="l">
              <a:defRPr sz="3600" b="0">
                <a:solidFill>
                  <a:srgbClr val="171717"/>
                </a:solidFill>
                <a:latin typeface="Cambria Math"/>
                <a:ea typeface="Cambria Math"/>
                <a:cs typeface="Cambria Math"/>
              </a:defRPr>
            </a:lvl1pPr>
            <a:lvl2pPr algn="l">
              <a:defRPr sz="3600" b="0">
                <a:solidFill>
                  <a:srgbClr val="171717"/>
                </a:solidFill>
                <a:latin typeface="Cambria Math"/>
                <a:ea typeface="Cambria Math"/>
                <a:cs typeface="Cambria Math"/>
              </a:defRPr>
            </a:lvl2pPr>
            <a:lvl3pPr algn="l">
              <a:defRPr sz="3600" b="0">
                <a:solidFill>
                  <a:srgbClr val="171717"/>
                </a:solidFill>
                <a:latin typeface="Cambria Math"/>
                <a:ea typeface="Cambria Math"/>
                <a:cs typeface="Cambria Math"/>
              </a:defRPr>
            </a:lvl3pPr>
            <a:lvl4pPr algn="l">
              <a:defRPr sz="3600" b="0">
                <a:solidFill>
                  <a:srgbClr val="171717"/>
                </a:solidFill>
                <a:latin typeface="Cambria Math"/>
                <a:ea typeface="Cambria Math"/>
                <a:cs typeface="Cambria Math"/>
              </a:defRPr>
            </a:lvl4pPr>
            <a:lvl5pPr algn="l">
              <a:defRPr sz="3600" b="0">
                <a:solidFill>
                  <a:srgbClr val="171717"/>
                </a:solidFill>
                <a:latin typeface="Cambria Math"/>
                <a:ea typeface="Cambria Math"/>
                <a:cs typeface="Cambria Math"/>
              </a:defRPr>
            </a:lvl5pPr>
            <a:lvl6pPr algn="l">
              <a:defRPr sz="3600" b="0">
                <a:solidFill>
                  <a:srgbClr val="171717"/>
                </a:solidFill>
                <a:latin typeface="Cambria Math"/>
                <a:ea typeface="Cambria Math"/>
                <a:cs typeface="Cambria Math"/>
              </a:defRPr>
            </a:lvl6pPr>
            <a:lvl7pPr algn="l">
              <a:defRPr sz="3600" b="0">
                <a:solidFill>
                  <a:srgbClr val="171717"/>
                </a:solidFill>
                <a:latin typeface="Cambria Math"/>
                <a:ea typeface="Cambria Math"/>
                <a:cs typeface="Cambria Math"/>
              </a:defRPr>
            </a:lvl7pPr>
            <a:lvl8pPr algn="l">
              <a:defRPr sz="3600" b="0">
                <a:solidFill>
                  <a:srgbClr val="171717"/>
                </a:solidFill>
                <a:latin typeface="Cambria Math"/>
                <a:ea typeface="Cambria Math"/>
                <a:cs typeface="Cambria Math"/>
              </a:defRPr>
            </a:lvl8pPr>
            <a:lvl9pPr algn="l">
              <a:defRPr sz="3600" b="0">
                <a:solidFill>
                  <a:srgbClr val="171717"/>
                </a:solidFill>
                <a:latin typeface="Cambria Math"/>
                <a:ea typeface="Cambria Math"/>
                <a:cs typeface="Cambria Math"/>
              </a:defRPr>
            </a:lvl9pPr>
          </a:lstStyle>
          <a:p>
            <a:pPr algn="l">
              <a:defRPr sz="3600" b="0">
                <a:solidFill>
                  <a:srgbClr val="171717"/>
                </a:solidFill>
                <a:latin typeface="Cambria Math"/>
                <a:ea typeface="Cambria Math"/>
                <a:cs typeface="Cambria Math"/>
              </a:defRPr>
            </a:pPr>
            <a:r>
              <a:rPr sz="3600" b="0">
                <a:solidFill>
                  <a:srgbClr val="171717"/>
                </a:solidFill>
                <a:latin typeface="Cambria Math"/>
                <a:ea typeface="Cambria Math"/>
                <a:cs typeface="Cambria Math"/>
              </a:rPr>
              <a:t>G = 1</a:t>
            </a:r>
          </a:p>
        </p:txBody>
      </p:sp>
      <p:sp>
        <p:nvSpPr>
          <p:cNvPr id="5" name="Rectangle 4">
            <a:extLst>
              <a:ext uri="{FF2B5EF4-FFF2-40B4-BE49-F238E27FC236}">
                <a16:creationId xmlns:a16="http://schemas.microsoft.com/office/drawing/2014/main" id="{29729CDF-ABCD-4208-9749-09DD0F42270C}"/>
              </a:ext>
            </a:extLst>
          </p:cNvPr>
          <p:cNvSpPr>
            <a:spLocks noGrp="1"/>
          </p:cNvSpPr>
          <p:nvPr/>
        </p:nvSpPr>
        <p:spPr>
          <a:xfrm>
            <a:off x="904875" y="3667125"/>
            <a:ext cx="4857750" cy="1428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For fixed head dimension, the cache uses about 1/h of the MHA K/V storage.</a:t>
            </a:r>
          </a:p>
        </p:txBody>
      </p:sp>
      <p:sp>
        <p:nvSpPr>
          <p:cNvPr id="6" name="Rectangle 5">
            <a:extLst>
              <a:ext uri="{FF2B5EF4-FFF2-40B4-BE49-F238E27FC236}">
                <a16:creationId xmlns:a16="http://schemas.microsoft.com/office/drawing/2014/main" id="{9DF77A83-FB2F-422E-8EEF-4F70C15115E6}"/>
              </a:ext>
            </a:extLst>
          </p:cNvPr>
          <p:cNvSpPr>
            <a:spLocks noGrp="1"/>
          </p:cNvSpPr>
          <p:nvPr/>
        </p:nvSpPr>
        <p:spPr>
          <a:xfrm>
            <a:off x="666750" y="5695950"/>
            <a:ext cx="10858500" cy="57150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Sharing reduces memory traffic, with a possible quality trade-off.</a:t>
            </a:r>
          </a:p>
        </p:txBody>
      </p:sp>
      <p:sp>
        <p:nvSpPr>
          <p:cNvPr id="7" name="Source">
            <a:extLst>
              <a:ext uri="{FF2B5EF4-FFF2-40B4-BE49-F238E27FC236}">
                <a16:creationId xmlns:a16="http://schemas.microsoft.com/office/drawing/2014/main" id="{837162E6-F191-4E15-B414-0080C07A310A}"/>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Shazeer, 2019. Fast Transformer Decoding; Amidi, 2024</a:t>
            </a:r>
          </a:p>
        </p:txBody>
      </p:sp>
      <p:sp>
        <p:nvSpPr>
          <p:cNvPr id="8" name="Slide number">
            <a:extLst>
              <a:ext uri="{FF2B5EF4-FFF2-40B4-BE49-F238E27FC236}">
                <a16:creationId xmlns:a16="http://schemas.microsoft.com/office/drawing/2014/main" id="{9B3AFA21-AB01-4D45-B902-00751C97F0EE}"/>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24</a:t>
            </a:r>
          </a:p>
        </p:txBody>
      </p:sp>
    </p:spTree>
    <p:extLst>
      <p:ext uri="{BB962C8B-B14F-4D97-AF65-F5344CB8AC3E}">
        <p14:creationId xmlns:p14="http://schemas.microsoft.com/office/powerpoint/2010/main" val="1226466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20BC1B94-55F4-479C-82AE-2FDA3413A794}"/>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Grouped-query attention</a:t>
            </a:r>
          </a:p>
        </p:txBody>
      </p:sp>
      <p:pic>
        <p:nvPicPr>
          <p:cNvPr id="2" name="Picture 1">
            <a:extLst>
              <a:ext uri="{FF2B5EF4-FFF2-40B4-BE49-F238E27FC236}">
                <a16:creationId xmlns:a16="http://schemas.microsoft.com/office/drawing/2014/main" id="{FC936CF9-B7FA-47C0-8FB2-BD77D9951F34}"/>
              </a:ext>
            </a:extLst>
          </p:cNvPr>
          <p:cNvPicPr>
            <a:picLocks noChangeAspect="1"/>
          </p:cNvPicPr>
          <p:nvPr/>
        </p:nvPicPr>
        <p:blipFill>
          <a:blip r:embed="rId3"/>
          <a:stretch/>
        </p:blipFill>
        <p:spPr>
          <a:xfrm>
            <a:off x="7143765" y="2333625"/>
            <a:ext cx="3905220" cy="2886075"/>
          </a:xfrm>
          <a:prstGeom prst="rect">
            <a:avLst/>
          </a:prstGeom>
        </p:spPr>
      </p:pic>
      <p:sp>
        <p:nvSpPr>
          <p:cNvPr id="3" name="Rectangle 2">
            <a:extLst>
              <a:ext uri="{FF2B5EF4-FFF2-40B4-BE49-F238E27FC236}">
                <a16:creationId xmlns:a16="http://schemas.microsoft.com/office/drawing/2014/main" id="{0D65FCF4-F2CD-4130-BDC2-90C0CD6DE006}"/>
              </a:ext>
            </a:extLst>
          </p:cNvPr>
          <p:cNvSpPr>
            <a:spLocks noGrp="1"/>
          </p:cNvSpPr>
          <p:nvPr/>
        </p:nvSpPr>
        <p:spPr>
          <a:xfrm>
            <a:off x="666750" y="10953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Each group of query heads shares a key and value head.</a:t>
            </a:r>
          </a:p>
        </p:txBody>
      </p:sp>
      <p:sp>
        <p:nvSpPr>
          <p:cNvPr id="4" name="Rectangle 3">
            <a:extLst>
              <a:ext uri="{FF2B5EF4-FFF2-40B4-BE49-F238E27FC236}">
                <a16:creationId xmlns:a16="http://schemas.microsoft.com/office/drawing/2014/main" id="{499AA5D9-C3D9-47B6-A722-DE5B79C861E1}"/>
              </a:ext>
            </a:extLst>
          </p:cNvPr>
          <p:cNvSpPr>
            <a:spLocks noGrp="1"/>
          </p:cNvSpPr>
          <p:nvPr/>
        </p:nvSpPr>
        <p:spPr>
          <a:xfrm>
            <a:off x="904875" y="2524125"/>
            <a:ext cx="4476750" cy="666750"/>
          </a:xfrm>
          <a:prstGeom prst="rect">
            <a:avLst/>
          </a:prstGeom>
          <a:noFill/>
          <a:ln w="0">
            <a:noFill/>
          </a:ln>
        </p:spPr>
        <p:txBody>
          <a:bodyPr wrap="square" lIns="0" tIns="0" rIns="0" bIns="0" anchor="t">
            <a:noAutofit/>
          </a:bodyPr>
          <a:lstStyle>
            <a:defPPr algn="l">
              <a:defRPr sz="3600" b="0">
                <a:solidFill>
                  <a:srgbClr val="171717"/>
                </a:solidFill>
                <a:latin typeface="Cambria Math"/>
                <a:ea typeface="Cambria Math"/>
                <a:cs typeface="Cambria Math"/>
              </a:defRPr>
            </a:defPPr>
            <a:lvl1pPr algn="l">
              <a:defRPr sz="3600" b="0">
                <a:solidFill>
                  <a:srgbClr val="171717"/>
                </a:solidFill>
                <a:latin typeface="Cambria Math"/>
                <a:ea typeface="Cambria Math"/>
                <a:cs typeface="Cambria Math"/>
              </a:defRPr>
            </a:lvl1pPr>
            <a:lvl2pPr algn="l">
              <a:defRPr sz="3600" b="0">
                <a:solidFill>
                  <a:srgbClr val="171717"/>
                </a:solidFill>
                <a:latin typeface="Cambria Math"/>
                <a:ea typeface="Cambria Math"/>
                <a:cs typeface="Cambria Math"/>
              </a:defRPr>
            </a:lvl2pPr>
            <a:lvl3pPr algn="l">
              <a:defRPr sz="3600" b="0">
                <a:solidFill>
                  <a:srgbClr val="171717"/>
                </a:solidFill>
                <a:latin typeface="Cambria Math"/>
                <a:ea typeface="Cambria Math"/>
                <a:cs typeface="Cambria Math"/>
              </a:defRPr>
            </a:lvl3pPr>
            <a:lvl4pPr algn="l">
              <a:defRPr sz="3600" b="0">
                <a:solidFill>
                  <a:srgbClr val="171717"/>
                </a:solidFill>
                <a:latin typeface="Cambria Math"/>
                <a:ea typeface="Cambria Math"/>
                <a:cs typeface="Cambria Math"/>
              </a:defRPr>
            </a:lvl4pPr>
            <a:lvl5pPr algn="l">
              <a:defRPr sz="3600" b="0">
                <a:solidFill>
                  <a:srgbClr val="171717"/>
                </a:solidFill>
                <a:latin typeface="Cambria Math"/>
                <a:ea typeface="Cambria Math"/>
                <a:cs typeface="Cambria Math"/>
              </a:defRPr>
            </a:lvl5pPr>
            <a:lvl6pPr algn="l">
              <a:defRPr sz="3600" b="0">
                <a:solidFill>
                  <a:srgbClr val="171717"/>
                </a:solidFill>
                <a:latin typeface="Cambria Math"/>
                <a:ea typeface="Cambria Math"/>
                <a:cs typeface="Cambria Math"/>
              </a:defRPr>
            </a:lvl6pPr>
            <a:lvl7pPr algn="l">
              <a:defRPr sz="3600" b="0">
                <a:solidFill>
                  <a:srgbClr val="171717"/>
                </a:solidFill>
                <a:latin typeface="Cambria Math"/>
                <a:ea typeface="Cambria Math"/>
                <a:cs typeface="Cambria Math"/>
              </a:defRPr>
            </a:lvl7pPr>
            <a:lvl8pPr algn="l">
              <a:defRPr sz="3600" b="0">
                <a:solidFill>
                  <a:srgbClr val="171717"/>
                </a:solidFill>
                <a:latin typeface="Cambria Math"/>
                <a:ea typeface="Cambria Math"/>
                <a:cs typeface="Cambria Math"/>
              </a:defRPr>
            </a:lvl8pPr>
            <a:lvl9pPr algn="l">
              <a:defRPr sz="3600" b="0">
                <a:solidFill>
                  <a:srgbClr val="171717"/>
                </a:solidFill>
                <a:latin typeface="Cambria Math"/>
                <a:ea typeface="Cambria Math"/>
                <a:cs typeface="Cambria Math"/>
              </a:defRPr>
            </a:lvl9pPr>
          </a:lstStyle>
          <a:p>
            <a:pPr algn="l">
              <a:defRPr sz="3600" b="0">
                <a:solidFill>
                  <a:srgbClr val="171717"/>
                </a:solidFill>
                <a:latin typeface="Cambria Math"/>
                <a:ea typeface="Cambria Math"/>
                <a:cs typeface="Cambria Math"/>
              </a:defRPr>
            </a:pPr>
            <a:r>
              <a:rPr sz="3600" b="0">
                <a:solidFill>
                  <a:srgbClr val="171717"/>
                </a:solidFill>
                <a:latin typeface="Cambria Math"/>
                <a:ea typeface="Cambria Math"/>
                <a:cs typeface="Cambria Math"/>
              </a:rPr>
              <a:t>1 &lt; G &lt; h</a:t>
            </a:r>
          </a:p>
        </p:txBody>
      </p:sp>
      <p:sp>
        <p:nvSpPr>
          <p:cNvPr id="5" name="Rectangle 4">
            <a:extLst>
              <a:ext uri="{FF2B5EF4-FFF2-40B4-BE49-F238E27FC236}">
                <a16:creationId xmlns:a16="http://schemas.microsoft.com/office/drawing/2014/main" id="{65B7D615-53B0-4DE0-B078-CC439A7B7F9A}"/>
              </a:ext>
            </a:extLst>
          </p:cNvPr>
          <p:cNvSpPr>
            <a:spLocks noGrp="1"/>
          </p:cNvSpPr>
          <p:nvPr/>
        </p:nvSpPr>
        <p:spPr>
          <a:xfrm>
            <a:off x="904875" y="3667125"/>
            <a:ext cx="5143500" cy="147637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Each K/V head serves h/G query heads.</a:t>
            </a:r>
          </a:p>
          <a:p>
            <a:pPr algn="l">
              <a:defRPr sz="2250" b="0">
                <a:solidFill>
                  <a:srgbClr val="171717"/>
                </a:solidFill>
                <a:latin typeface="Calibri"/>
                <a:ea typeface="Calibri"/>
                <a:cs typeface="Calibri"/>
              </a:defRPr>
            </a:pPr>
            <a:r>
              <a:rPr sz="2250" b="0">
                <a:solidFill>
                  <a:srgbClr val="171717"/>
                </a:solidFill>
                <a:latin typeface="Calibri"/>
                <a:ea typeface="Calibri"/>
                <a:cs typeface="Calibri"/>
              </a:rPr>
              <a:t>Cache storage is G/h of MHA.</a:t>
            </a:r>
          </a:p>
        </p:txBody>
      </p:sp>
      <p:sp>
        <p:nvSpPr>
          <p:cNvPr id="6" name="Rectangle 5">
            <a:extLst>
              <a:ext uri="{FF2B5EF4-FFF2-40B4-BE49-F238E27FC236}">
                <a16:creationId xmlns:a16="http://schemas.microsoft.com/office/drawing/2014/main" id="{95E9A43E-51F2-42F3-914E-698881375C29}"/>
              </a:ext>
            </a:extLst>
          </p:cNvPr>
          <p:cNvSpPr>
            <a:spLocks noGrp="1"/>
          </p:cNvSpPr>
          <p:nvPr/>
        </p:nvSpPr>
        <p:spPr>
          <a:xfrm>
            <a:off x="666750" y="5695950"/>
            <a:ext cx="10858500" cy="57150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GQA offers an intermediate choice between MHA and MQA.</a:t>
            </a:r>
          </a:p>
        </p:txBody>
      </p:sp>
      <p:sp>
        <p:nvSpPr>
          <p:cNvPr id="7" name="Source">
            <a:extLst>
              <a:ext uri="{FF2B5EF4-FFF2-40B4-BE49-F238E27FC236}">
                <a16:creationId xmlns:a16="http://schemas.microsoft.com/office/drawing/2014/main" id="{DB19AAA3-FC58-405A-BA87-B432A991104E}"/>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Ainslie et al., 2023. GQA; Amidi, 2024</a:t>
            </a:r>
          </a:p>
        </p:txBody>
      </p:sp>
      <p:sp>
        <p:nvSpPr>
          <p:cNvPr id="8" name="Slide number">
            <a:extLst>
              <a:ext uri="{FF2B5EF4-FFF2-40B4-BE49-F238E27FC236}">
                <a16:creationId xmlns:a16="http://schemas.microsoft.com/office/drawing/2014/main" id="{A25AF6BE-0C31-47B8-B9E9-B730202C1A85}"/>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25</a:t>
            </a:r>
          </a:p>
        </p:txBody>
      </p:sp>
    </p:spTree>
    <p:extLst>
      <p:ext uri="{BB962C8B-B14F-4D97-AF65-F5344CB8AC3E}">
        <p14:creationId xmlns:p14="http://schemas.microsoft.com/office/powerpoint/2010/main" val="1470658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1527B4A8-30E2-4DD7-B978-444BBE2E9DAC}"/>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A KV-cache example</a:t>
            </a:r>
          </a:p>
        </p:txBody>
      </p:sp>
      <p:sp>
        <p:nvSpPr>
          <p:cNvPr id="2" name="Rectangle 1">
            <a:extLst>
              <a:ext uri="{FF2B5EF4-FFF2-40B4-BE49-F238E27FC236}">
                <a16:creationId xmlns:a16="http://schemas.microsoft.com/office/drawing/2014/main" id="{BBB2ACE2-7F40-4B45-AA47-7FA62F3449AD}"/>
              </a:ext>
            </a:extLst>
          </p:cNvPr>
          <p:cNvSpPr>
            <a:spLocks noGrp="1"/>
          </p:cNvSpPr>
          <p:nvPr/>
        </p:nvSpPr>
        <p:spPr>
          <a:xfrm>
            <a:off x="666750" y="1095375"/>
            <a:ext cx="10858500" cy="5715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One sequence, 4,096 tokens, 32 layers, 32 query heads.</a:t>
            </a:r>
          </a:p>
        </p:txBody>
      </p:sp>
      <p:sp>
        <p:nvSpPr>
          <p:cNvPr id="3" name="Rectangle 2">
            <a:extLst>
              <a:ext uri="{FF2B5EF4-FFF2-40B4-BE49-F238E27FC236}">
                <a16:creationId xmlns:a16="http://schemas.microsoft.com/office/drawing/2014/main" id="{8E1C753F-8582-4F86-AA83-23C153408685}"/>
              </a:ext>
            </a:extLst>
          </p:cNvPr>
          <p:cNvSpPr>
            <a:spLocks noGrp="1"/>
          </p:cNvSpPr>
          <p:nvPr/>
        </p:nvSpPr>
        <p:spPr>
          <a:xfrm>
            <a:off x="666750" y="1762125"/>
            <a:ext cx="10858500" cy="5715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Each head has 128 features. Each cached value uses 2 bytes.</a:t>
            </a:r>
          </a:p>
        </p:txBody>
      </p:sp>
      <p:sp>
        <p:nvSpPr>
          <p:cNvPr id="4" name="Rectangle 3">
            <a:extLst>
              <a:ext uri="{FF2B5EF4-FFF2-40B4-BE49-F238E27FC236}">
                <a16:creationId xmlns:a16="http://schemas.microsoft.com/office/drawing/2014/main" id="{F4DDE8A7-CBEA-47B3-838A-A705FAB69CE9}"/>
              </a:ext>
            </a:extLst>
          </p:cNvPr>
          <p:cNvSpPr>
            <a:spLocks noGrp="1"/>
          </p:cNvSpPr>
          <p:nvPr/>
        </p:nvSpPr>
        <p:spPr>
          <a:xfrm>
            <a:off x="666750" y="5676900"/>
            <a:ext cx="10858500" cy="619125"/>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Changing only the number of K/V heads changes the cache size.</a:t>
            </a:r>
          </a:p>
        </p:txBody>
      </p:sp>
      <p:graphicFrame>
        <p:nvGraphicFramePr>
          <p:cNvPr id="5" name="Table 4">
            <a:extLst>
              <a:ext uri="{FF2B5EF4-FFF2-40B4-BE49-F238E27FC236}">
                <a16:creationId xmlns:a16="http://schemas.microsoft.com/office/drawing/2014/main" id="{45781496-F38A-4FB4-9626-0E97C3DE1908}"/>
              </a:ext>
            </a:extLst>
          </p:cNvPr>
          <p:cNvGraphicFramePr/>
          <p:nvPr/>
        </p:nvGraphicFramePr>
        <p:xfrm>
          <a:off x="857250" y="2762250"/>
          <a:ext cx="10477500" cy="2381250"/>
        </p:xfrm>
        <a:graphic>
          <a:graphicData uri="http://schemas.openxmlformats.org/drawingml/2006/table">
            <a:tbl>
              <a:tblPr/>
              <a:tblGrid>
                <a:gridCol w="41910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595313">
                <a:tc>
                  <a:txBody>
                    <a:bodyPr/>
                    <a:lstStyle/>
                    <a:p>
                      <a:r>
                        <a:rPr sz="2100" b="1">
                          <a:solidFill>
                            <a:srgbClr val="007B92"/>
                          </a:solidFill>
                          <a:latin typeface="Calibri"/>
                          <a:ea typeface="Calibri"/>
                          <a:cs typeface="Calibri"/>
                        </a:rPr>
                        <a:t>Attention</a:t>
                      </a:r>
                    </a:p>
                  </a:txBody>
                  <a:tcPr>
                    <a:lnL w="9525">
                      <a:solidFill>
                        <a:srgbClr val="CFD5D6"/>
                      </a:solidFill>
                    </a:lnL>
                    <a:lnR w="9525">
                      <a:solidFill>
                        <a:srgbClr val="CFD5D6"/>
                      </a:solidFill>
                    </a:lnR>
                    <a:lnT w="9525">
                      <a:solidFill>
                        <a:srgbClr val="CFD5D6"/>
                      </a:solidFill>
                    </a:lnT>
                    <a:lnB w="9525">
                      <a:solidFill>
                        <a:srgbClr val="CFD5D6"/>
                      </a:solidFill>
                    </a:lnB>
                    <a:solidFill>
                      <a:srgbClr val="FFFFFF"/>
                    </a:solidFill>
                  </a:tcPr>
                </a:tc>
                <a:tc>
                  <a:txBody>
                    <a:bodyPr/>
                    <a:lstStyle/>
                    <a:p>
                      <a:r>
                        <a:rPr sz="2100" b="1">
                          <a:solidFill>
                            <a:srgbClr val="007B92"/>
                          </a:solidFill>
                          <a:latin typeface="Calibri"/>
                          <a:ea typeface="Calibri"/>
                          <a:cs typeface="Calibri"/>
                        </a:rPr>
                        <a:t>K/V heads G</a:t>
                      </a:r>
                    </a:p>
                  </a:txBody>
                  <a:tcPr>
                    <a:lnL w="9525" cap="flat" cmpd="sng" algn="ctr">
                      <a:solidFill>
                        <a:srgbClr val="CFD5D6"/>
                      </a:solidFill>
                      <a:prstDash val="solid"/>
                      <a:round/>
                      <a:headEnd type="none" w="med" len="med"/>
                      <a:tailEnd type="none" w="med" len="med"/>
                    </a:lnL>
                    <a:lnR w="9525">
                      <a:solidFill>
                        <a:srgbClr val="CFD5D6"/>
                      </a:solidFill>
                    </a:lnR>
                    <a:lnT w="9525">
                      <a:solidFill>
                        <a:srgbClr val="CFD5D6"/>
                      </a:solidFill>
                    </a:lnT>
                    <a:lnB w="9525">
                      <a:solidFill>
                        <a:srgbClr val="CFD5D6"/>
                      </a:solidFill>
                    </a:lnB>
                    <a:solidFill>
                      <a:srgbClr val="FFFFFF"/>
                    </a:solidFill>
                  </a:tcPr>
                </a:tc>
                <a:tc>
                  <a:txBody>
                    <a:bodyPr/>
                    <a:lstStyle/>
                    <a:p>
                      <a:r>
                        <a:rPr sz="2100" b="1">
                          <a:solidFill>
                            <a:srgbClr val="007B92"/>
                          </a:solidFill>
                          <a:latin typeface="Calibri"/>
                          <a:ea typeface="Calibri"/>
                          <a:cs typeface="Calibri"/>
                        </a:rPr>
                        <a:t>Cache memory</a:t>
                      </a:r>
                    </a:p>
                  </a:txBody>
                  <a:tcPr>
                    <a:lnL w="9525" cap="flat" cmpd="sng" algn="ctr">
                      <a:solidFill>
                        <a:srgbClr val="CFD5D6"/>
                      </a:solidFill>
                      <a:prstDash val="solid"/>
                      <a:round/>
                      <a:headEnd type="none" w="med" len="med"/>
                      <a:tailEnd type="none" w="med" len="med"/>
                    </a:lnL>
                    <a:lnR w="9525">
                      <a:solidFill>
                        <a:srgbClr val="CFD5D6"/>
                      </a:solidFill>
                    </a:lnR>
                    <a:lnT w="9525">
                      <a:solidFill>
                        <a:srgbClr val="CFD5D6"/>
                      </a:solidFill>
                    </a:lnT>
                    <a:lnB w="9525">
                      <a:solidFill>
                        <a:srgbClr val="CFD5D6"/>
                      </a:solidFill>
                    </a:lnB>
                    <a:solidFill>
                      <a:srgbClr val="FFFFFF"/>
                    </a:solidFill>
                  </a:tcPr>
                </a:tc>
                <a:extLst>
                  <a:ext uri="{0D108BD9-81ED-4DB2-BD59-A6C34878D82A}">
                    <a16:rowId xmlns:a16="http://schemas.microsoft.com/office/drawing/2014/main" val="10000"/>
                  </a:ext>
                </a:extLst>
              </a:tr>
              <a:tr h="595313">
                <a:tc>
                  <a:txBody>
                    <a:bodyPr/>
                    <a:lstStyle/>
                    <a:p>
                      <a:r>
                        <a:rPr sz="2100" b="0">
                          <a:solidFill>
                            <a:srgbClr val="171717"/>
                          </a:solidFill>
                          <a:latin typeface="Calibri"/>
                          <a:ea typeface="Calibri"/>
                          <a:cs typeface="Calibri"/>
                        </a:rPr>
                        <a:t>MHA</a:t>
                      </a:r>
                    </a:p>
                  </a:txBody>
                  <a:tcPr>
                    <a:lnL w="9525">
                      <a:solidFill>
                        <a:srgbClr val="CFD5D6"/>
                      </a:solidFill>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32</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2 GiB</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extLst>
                  <a:ext uri="{0D108BD9-81ED-4DB2-BD59-A6C34878D82A}">
                    <a16:rowId xmlns:a16="http://schemas.microsoft.com/office/drawing/2014/main" val="10001"/>
                  </a:ext>
                </a:extLst>
              </a:tr>
              <a:tr h="595313">
                <a:tc>
                  <a:txBody>
                    <a:bodyPr/>
                    <a:lstStyle/>
                    <a:p>
                      <a:r>
                        <a:rPr sz="2100" b="0">
                          <a:solidFill>
                            <a:srgbClr val="171717"/>
                          </a:solidFill>
                          <a:latin typeface="Calibri"/>
                          <a:ea typeface="Calibri"/>
                          <a:cs typeface="Calibri"/>
                        </a:rPr>
                        <a:t>GQA</a:t>
                      </a:r>
                    </a:p>
                  </a:txBody>
                  <a:tcPr>
                    <a:lnL w="9525">
                      <a:solidFill>
                        <a:srgbClr val="CFD5D6"/>
                      </a:solidFill>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8</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512 MiB</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extLst>
                  <a:ext uri="{0D108BD9-81ED-4DB2-BD59-A6C34878D82A}">
                    <a16:rowId xmlns:a16="http://schemas.microsoft.com/office/drawing/2014/main" val="10002"/>
                  </a:ext>
                </a:extLst>
              </a:tr>
              <a:tr h="595313">
                <a:tc>
                  <a:txBody>
                    <a:bodyPr/>
                    <a:lstStyle/>
                    <a:p>
                      <a:r>
                        <a:rPr sz="2100" b="0">
                          <a:solidFill>
                            <a:srgbClr val="171717"/>
                          </a:solidFill>
                          <a:latin typeface="Calibri"/>
                          <a:ea typeface="Calibri"/>
                          <a:cs typeface="Calibri"/>
                        </a:rPr>
                        <a:t>MQA</a:t>
                      </a:r>
                    </a:p>
                  </a:txBody>
                  <a:tcPr>
                    <a:lnL w="9525">
                      <a:solidFill>
                        <a:srgbClr val="CFD5D6"/>
                      </a:solidFill>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1</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64 MiB</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extLst>
                  <a:ext uri="{0D108BD9-81ED-4DB2-BD59-A6C34878D82A}">
                    <a16:rowId xmlns:a16="http://schemas.microsoft.com/office/drawing/2014/main" val="10003"/>
                  </a:ext>
                </a:extLst>
              </a:tr>
            </a:tbl>
          </a:graphicData>
        </a:graphic>
      </p:graphicFrame>
      <p:sp>
        <p:nvSpPr>
          <p:cNvPr id="6" name="Slide number">
            <a:extLst>
              <a:ext uri="{FF2B5EF4-FFF2-40B4-BE49-F238E27FC236}">
                <a16:creationId xmlns:a16="http://schemas.microsoft.com/office/drawing/2014/main" id="{892406AC-76D5-4BAE-94D5-D939A0DB6F3B}"/>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26</a:t>
            </a:r>
          </a:p>
        </p:txBody>
      </p:sp>
    </p:spTree>
    <p:extLst>
      <p:ext uri="{BB962C8B-B14F-4D97-AF65-F5344CB8AC3E}">
        <p14:creationId xmlns:p14="http://schemas.microsoft.com/office/powerpoint/2010/main" val="16118504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8" name="Title">
            <a:extLst>
              <a:ext uri="{FF2B5EF4-FFF2-40B4-BE49-F238E27FC236}">
                <a16:creationId xmlns:a16="http://schemas.microsoft.com/office/drawing/2014/main" id="{A21EC677-ED12-4590-B705-3432AA33B101}"/>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Sliding-window attention</a:t>
            </a:r>
          </a:p>
        </p:txBody>
      </p:sp>
      <p:sp>
        <p:nvSpPr>
          <p:cNvPr id="2" name="Rectangle 1">
            <a:extLst>
              <a:ext uri="{FF2B5EF4-FFF2-40B4-BE49-F238E27FC236}">
                <a16:creationId xmlns:a16="http://schemas.microsoft.com/office/drawing/2014/main" id="{B4CA9F58-1708-48DA-94BC-A77C8AE08814}"/>
              </a:ext>
            </a:extLst>
          </p:cNvPr>
          <p:cNvSpPr>
            <a:spLocks noGrp="1"/>
          </p:cNvSpPr>
          <p:nvPr/>
        </p:nvSpPr>
        <p:spPr>
          <a:xfrm>
            <a:off x="666750" y="10953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A causal window keeps only the most recent w keys for each query.</a:t>
            </a:r>
          </a:p>
        </p:txBody>
      </p:sp>
      <p:sp>
        <p:nvSpPr>
          <p:cNvPr id="3" name="Rectangle 2">
            <a:extLst>
              <a:ext uri="{FF2B5EF4-FFF2-40B4-BE49-F238E27FC236}">
                <a16:creationId xmlns:a16="http://schemas.microsoft.com/office/drawing/2014/main" id="{E2F2CE43-7BAE-4766-A8C9-DD34A173255D}"/>
              </a:ext>
            </a:extLst>
          </p:cNvPr>
          <p:cNvSpPr>
            <a:spLocks noGrp="1"/>
          </p:cNvSpPr>
          <p:nvPr/>
        </p:nvSpPr>
        <p:spPr>
          <a:xfrm>
            <a:off x="1047750" y="2095500"/>
            <a:ext cx="4667250" cy="476250"/>
          </a:xfrm>
          <a:prstGeom prst="rect">
            <a:avLst/>
          </a:prstGeom>
          <a:noFill/>
          <a:ln w="0">
            <a:noFill/>
          </a:ln>
        </p:spPr>
        <p:txBody>
          <a:bodyPr wrap="square" lIns="0" tIns="0" rIns="0" bIns="0" anchor="t">
            <a:noAutofit/>
          </a:bodyPr>
          <a:lstStyle>
            <a:defPPr algn="l">
              <a:defRPr sz="2325" b="1">
                <a:solidFill>
                  <a:srgbClr val="171717"/>
                </a:solidFill>
                <a:latin typeface="Calibri"/>
                <a:ea typeface="Calibri"/>
                <a:cs typeface="Calibri"/>
              </a:defRPr>
            </a:defPPr>
            <a:lvl1pPr algn="l">
              <a:defRPr sz="2325" b="1">
                <a:solidFill>
                  <a:srgbClr val="171717"/>
                </a:solidFill>
                <a:latin typeface="Calibri"/>
                <a:ea typeface="Calibri"/>
                <a:cs typeface="Calibri"/>
              </a:defRPr>
            </a:lvl1pPr>
            <a:lvl2pPr algn="l">
              <a:defRPr sz="2325" b="1">
                <a:solidFill>
                  <a:srgbClr val="171717"/>
                </a:solidFill>
                <a:latin typeface="Calibri"/>
                <a:ea typeface="Calibri"/>
                <a:cs typeface="Calibri"/>
              </a:defRPr>
            </a:lvl2pPr>
            <a:lvl3pPr algn="l">
              <a:defRPr sz="2325" b="1">
                <a:solidFill>
                  <a:srgbClr val="171717"/>
                </a:solidFill>
                <a:latin typeface="Calibri"/>
                <a:ea typeface="Calibri"/>
                <a:cs typeface="Calibri"/>
              </a:defRPr>
            </a:lvl3pPr>
            <a:lvl4pPr algn="l">
              <a:defRPr sz="2325" b="1">
                <a:solidFill>
                  <a:srgbClr val="171717"/>
                </a:solidFill>
                <a:latin typeface="Calibri"/>
                <a:ea typeface="Calibri"/>
                <a:cs typeface="Calibri"/>
              </a:defRPr>
            </a:lvl4pPr>
            <a:lvl5pPr algn="l">
              <a:defRPr sz="2325" b="1">
                <a:solidFill>
                  <a:srgbClr val="171717"/>
                </a:solidFill>
                <a:latin typeface="Calibri"/>
                <a:ea typeface="Calibri"/>
                <a:cs typeface="Calibri"/>
              </a:defRPr>
            </a:lvl5pPr>
            <a:lvl6pPr algn="l">
              <a:defRPr sz="2325" b="1">
                <a:solidFill>
                  <a:srgbClr val="171717"/>
                </a:solidFill>
                <a:latin typeface="Calibri"/>
                <a:ea typeface="Calibri"/>
                <a:cs typeface="Calibri"/>
              </a:defRPr>
            </a:lvl6pPr>
            <a:lvl7pPr algn="l">
              <a:defRPr sz="2325" b="1">
                <a:solidFill>
                  <a:srgbClr val="171717"/>
                </a:solidFill>
                <a:latin typeface="Calibri"/>
                <a:ea typeface="Calibri"/>
                <a:cs typeface="Calibri"/>
              </a:defRPr>
            </a:lvl7pPr>
            <a:lvl8pPr algn="l">
              <a:defRPr sz="2325" b="1">
                <a:solidFill>
                  <a:srgbClr val="171717"/>
                </a:solidFill>
                <a:latin typeface="Calibri"/>
                <a:ea typeface="Calibri"/>
                <a:cs typeface="Calibri"/>
              </a:defRPr>
            </a:lvl8pPr>
            <a:lvl9pPr algn="l">
              <a:defRPr sz="2325" b="1">
                <a:solidFill>
                  <a:srgbClr val="171717"/>
                </a:solidFill>
                <a:latin typeface="Calibri"/>
                <a:ea typeface="Calibri"/>
                <a:cs typeface="Calibri"/>
              </a:defRPr>
            </a:lvl9pPr>
          </a:lstStyle>
          <a:p>
            <a:pPr algn="l">
              <a:defRPr sz="2325" b="1">
                <a:solidFill>
                  <a:srgbClr val="171717"/>
                </a:solidFill>
                <a:latin typeface="Calibri"/>
                <a:ea typeface="Calibri"/>
                <a:cs typeface="Calibri"/>
              </a:defRPr>
            </a:pPr>
            <a:r>
              <a:rPr sz="2325" b="1">
                <a:solidFill>
                  <a:srgbClr val="171717"/>
                </a:solidFill>
                <a:latin typeface="Calibri"/>
                <a:ea typeface="Calibri"/>
                <a:cs typeface="Calibri"/>
              </a:rPr>
              <a:t>Full causal attention</a:t>
            </a:r>
          </a:p>
        </p:txBody>
      </p:sp>
      <p:sp>
        <p:nvSpPr>
          <p:cNvPr id="4" name="Rectangle 3">
            <a:extLst>
              <a:ext uri="{FF2B5EF4-FFF2-40B4-BE49-F238E27FC236}">
                <a16:creationId xmlns:a16="http://schemas.microsoft.com/office/drawing/2014/main" id="{F8566A34-05C0-461B-A731-E871D48A6517}"/>
              </a:ext>
            </a:extLst>
          </p:cNvPr>
          <p:cNvSpPr>
            <a:spLocks noGrp="1"/>
          </p:cNvSpPr>
          <p:nvPr/>
        </p:nvSpPr>
        <p:spPr>
          <a:xfrm>
            <a:off x="6905625" y="2095500"/>
            <a:ext cx="4476750" cy="476250"/>
          </a:xfrm>
          <a:prstGeom prst="rect">
            <a:avLst/>
          </a:prstGeom>
          <a:noFill/>
          <a:ln w="0">
            <a:noFill/>
          </a:ln>
        </p:spPr>
        <p:txBody>
          <a:bodyPr wrap="square" lIns="0" tIns="0" rIns="0" bIns="0" anchor="t">
            <a:noAutofit/>
          </a:bodyPr>
          <a:lstStyle>
            <a:defPPr algn="l">
              <a:defRPr sz="2325" b="1">
                <a:solidFill>
                  <a:srgbClr val="171717"/>
                </a:solidFill>
                <a:latin typeface="Calibri"/>
                <a:ea typeface="Calibri"/>
                <a:cs typeface="Calibri"/>
              </a:defRPr>
            </a:defPPr>
            <a:lvl1pPr algn="l">
              <a:defRPr sz="2325" b="1">
                <a:solidFill>
                  <a:srgbClr val="171717"/>
                </a:solidFill>
                <a:latin typeface="Calibri"/>
                <a:ea typeface="Calibri"/>
                <a:cs typeface="Calibri"/>
              </a:defRPr>
            </a:lvl1pPr>
            <a:lvl2pPr algn="l">
              <a:defRPr sz="2325" b="1">
                <a:solidFill>
                  <a:srgbClr val="171717"/>
                </a:solidFill>
                <a:latin typeface="Calibri"/>
                <a:ea typeface="Calibri"/>
                <a:cs typeface="Calibri"/>
              </a:defRPr>
            </a:lvl2pPr>
            <a:lvl3pPr algn="l">
              <a:defRPr sz="2325" b="1">
                <a:solidFill>
                  <a:srgbClr val="171717"/>
                </a:solidFill>
                <a:latin typeface="Calibri"/>
                <a:ea typeface="Calibri"/>
                <a:cs typeface="Calibri"/>
              </a:defRPr>
            </a:lvl3pPr>
            <a:lvl4pPr algn="l">
              <a:defRPr sz="2325" b="1">
                <a:solidFill>
                  <a:srgbClr val="171717"/>
                </a:solidFill>
                <a:latin typeface="Calibri"/>
                <a:ea typeface="Calibri"/>
                <a:cs typeface="Calibri"/>
              </a:defRPr>
            </a:lvl4pPr>
            <a:lvl5pPr algn="l">
              <a:defRPr sz="2325" b="1">
                <a:solidFill>
                  <a:srgbClr val="171717"/>
                </a:solidFill>
                <a:latin typeface="Calibri"/>
                <a:ea typeface="Calibri"/>
                <a:cs typeface="Calibri"/>
              </a:defRPr>
            </a:lvl5pPr>
            <a:lvl6pPr algn="l">
              <a:defRPr sz="2325" b="1">
                <a:solidFill>
                  <a:srgbClr val="171717"/>
                </a:solidFill>
                <a:latin typeface="Calibri"/>
                <a:ea typeface="Calibri"/>
                <a:cs typeface="Calibri"/>
              </a:defRPr>
            </a:lvl6pPr>
            <a:lvl7pPr algn="l">
              <a:defRPr sz="2325" b="1">
                <a:solidFill>
                  <a:srgbClr val="171717"/>
                </a:solidFill>
                <a:latin typeface="Calibri"/>
                <a:ea typeface="Calibri"/>
                <a:cs typeface="Calibri"/>
              </a:defRPr>
            </a:lvl7pPr>
            <a:lvl8pPr algn="l">
              <a:defRPr sz="2325" b="1">
                <a:solidFill>
                  <a:srgbClr val="171717"/>
                </a:solidFill>
                <a:latin typeface="Calibri"/>
                <a:ea typeface="Calibri"/>
                <a:cs typeface="Calibri"/>
              </a:defRPr>
            </a:lvl8pPr>
            <a:lvl9pPr algn="l">
              <a:defRPr sz="2325" b="1">
                <a:solidFill>
                  <a:srgbClr val="171717"/>
                </a:solidFill>
                <a:latin typeface="Calibri"/>
                <a:ea typeface="Calibri"/>
                <a:cs typeface="Calibri"/>
              </a:defRPr>
            </a:lvl9pPr>
          </a:lstStyle>
          <a:p>
            <a:pPr algn="l">
              <a:defRPr sz="2325" b="1">
                <a:solidFill>
                  <a:srgbClr val="171717"/>
                </a:solidFill>
                <a:latin typeface="Calibri"/>
                <a:ea typeface="Calibri"/>
                <a:cs typeface="Calibri"/>
              </a:defRPr>
            </a:pPr>
            <a:r>
              <a:rPr sz="2325" b="1">
                <a:solidFill>
                  <a:srgbClr val="171717"/>
                </a:solidFill>
                <a:latin typeface="Calibri"/>
                <a:ea typeface="Calibri"/>
                <a:cs typeface="Calibri"/>
              </a:rPr>
              <a:t>Window w = 3</a:t>
            </a:r>
          </a:p>
        </p:txBody>
      </p:sp>
      <p:sp>
        <p:nvSpPr>
          <p:cNvPr id="5" name="Rectangle 4">
            <a:extLst>
              <a:ext uri="{FF2B5EF4-FFF2-40B4-BE49-F238E27FC236}">
                <a16:creationId xmlns:a16="http://schemas.microsoft.com/office/drawing/2014/main" id="{0E106451-D97F-48B0-9029-C40003AEC26C}"/>
              </a:ext>
            </a:extLst>
          </p:cNvPr>
          <p:cNvSpPr>
            <a:spLocks noGrp="1"/>
          </p:cNvSpPr>
          <p:nvPr/>
        </p:nvSpPr>
        <p:spPr>
          <a:xfrm>
            <a:off x="857250" y="5391150"/>
            <a:ext cx="4762500" cy="762000"/>
          </a:xfrm>
          <a:prstGeom prst="rect">
            <a:avLst/>
          </a:prstGeom>
          <a:noFill/>
          <a:ln w="0">
            <a:noFill/>
          </a:ln>
        </p:spPr>
        <p:txBody>
          <a:bodyPr wrap="square" lIns="0" tIns="0" rIns="0" bIns="0" anchor="t">
            <a:noAutofit/>
          </a:bodyPr>
          <a:lstStyle>
            <a:defPPr algn="l">
              <a:defRPr sz="2025" b="0">
                <a:solidFill>
                  <a:srgbClr val="171717"/>
                </a:solidFill>
                <a:latin typeface="Calibri"/>
                <a:ea typeface="Calibri"/>
                <a:cs typeface="Calibri"/>
              </a:defRPr>
            </a:defPPr>
            <a:lvl1pPr algn="l">
              <a:defRPr sz="2025" b="0">
                <a:solidFill>
                  <a:srgbClr val="171717"/>
                </a:solidFill>
                <a:latin typeface="Calibri"/>
                <a:ea typeface="Calibri"/>
                <a:cs typeface="Calibri"/>
              </a:defRPr>
            </a:lvl1pPr>
            <a:lvl2pPr algn="l">
              <a:defRPr sz="2025" b="0">
                <a:solidFill>
                  <a:srgbClr val="171717"/>
                </a:solidFill>
                <a:latin typeface="Calibri"/>
                <a:ea typeface="Calibri"/>
                <a:cs typeface="Calibri"/>
              </a:defRPr>
            </a:lvl2pPr>
            <a:lvl3pPr algn="l">
              <a:defRPr sz="2025" b="0">
                <a:solidFill>
                  <a:srgbClr val="171717"/>
                </a:solidFill>
                <a:latin typeface="Calibri"/>
                <a:ea typeface="Calibri"/>
                <a:cs typeface="Calibri"/>
              </a:defRPr>
            </a:lvl3pPr>
            <a:lvl4pPr algn="l">
              <a:defRPr sz="2025" b="0">
                <a:solidFill>
                  <a:srgbClr val="171717"/>
                </a:solidFill>
                <a:latin typeface="Calibri"/>
                <a:ea typeface="Calibri"/>
                <a:cs typeface="Calibri"/>
              </a:defRPr>
            </a:lvl4pPr>
            <a:lvl5pPr algn="l">
              <a:defRPr sz="2025" b="0">
                <a:solidFill>
                  <a:srgbClr val="171717"/>
                </a:solidFill>
                <a:latin typeface="Calibri"/>
                <a:ea typeface="Calibri"/>
                <a:cs typeface="Calibri"/>
              </a:defRPr>
            </a:lvl5pPr>
            <a:lvl6pPr algn="l">
              <a:defRPr sz="2025" b="0">
                <a:solidFill>
                  <a:srgbClr val="171717"/>
                </a:solidFill>
                <a:latin typeface="Calibri"/>
                <a:ea typeface="Calibri"/>
                <a:cs typeface="Calibri"/>
              </a:defRPr>
            </a:lvl6pPr>
            <a:lvl7pPr algn="l">
              <a:defRPr sz="2025" b="0">
                <a:solidFill>
                  <a:srgbClr val="171717"/>
                </a:solidFill>
                <a:latin typeface="Calibri"/>
                <a:ea typeface="Calibri"/>
                <a:cs typeface="Calibri"/>
              </a:defRPr>
            </a:lvl7pPr>
            <a:lvl8pPr algn="l">
              <a:defRPr sz="2025" b="0">
                <a:solidFill>
                  <a:srgbClr val="171717"/>
                </a:solidFill>
                <a:latin typeface="Calibri"/>
                <a:ea typeface="Calibri"/>
                <a:cs typeface="Calibri"/>
              </a:defRPr>
            </a:lvl8pPr>
            <a:lvl9pPr algn="l">
              <a:defRPr sz="2025" b="0">
                <a:solidFill>
                  <a:srgbClr val="171717"/>
                </a:solidFill>
                <a:latin typeface="Calibri"/>
                <a:ea typeface="Calibri"/>
                <a:cs typeface="Calibri"/>
              </a:defRPr>
            </a:lvl9pPr>
          </a:lstStyle>
          <a:p>
            <a:pPr algn="l">
              <a:defRPr sz="2025" b="0">
                <a:solidFill>
                  <a:srgbClr val="171717"/>
                </a:solidFill>
                <a:latin typeface="Calibri"/>
                <a:ea typeface="Calibri"/>
                <a:cs typeface="Calibri"/>
              </a:defRPr>
            </a:pPr>
            <a:r>
              <a:rPr sz="2025" b="0">
                <a:solidFill>
                  <a:srgbClr val="171717"/>
                </a:solidFill>
                <a:latin typeface="Calibri"/>
                <a:ea typeface="Calibri"/>
                <a:cs typeface="Calibri"/>
              </a:rPr>
              <a:t>Every earlier token is directly available.</a:t>
            </a:r>
          </a:p>
        </p:txBody>
      </p:sp>
      <p:sp>
        <p:nvSpPr>
          <p:cNvPr id="6" name="Rectangle 5">
            <a:extLst>
              <a:ext uri="{FF2B5EF4-FFF2-40B4-BE49-F238E27FC236}">
                <a16:creationId xmlns:a16="http://schemas.microsoft.com/office/drawing/2014/main" id="{AB1B34A4-07B3-47EF-BF1A-18553640968C}"/>
              </a:ext>
            </a:extLst>
          </p:cNvPr>
          <p:cNvSpPr>
            <a:spLocks noGrp="1"/>
          </p:cNvSpPr>
          <p:nvPr/>
        </p:nvSpPr>
        <p:spPr>
          <a:xfrm>
            <a:off x="6667500" y="5391150"/>
            <a:ext cx="4762500" cy="762000"/>
          </a:xfrm>
          <a:prstGeom prst="rect">
            <a:avLst/>
          </a:prstGeom>
          <a:noFill/>
          <a:ln w="0">
            <a:noFill/>
          </a:ln>
        </p:spPr>
        <p:txBody>
          <a:bodyPr wrap="square" lIns="0" tIns="0" rIns="0" bIns="0" anchor="t">
            <a:noAutofit/>
          </a:bodyPr>
          <a:lstStyle>
            <a:defPPr algn="l">
              <a:defRPr sz="2025" b="0">
                <a:solidFill>
                  <a:srgbClr val="171717"/>
                </a:solidFill>
                <a:latin typeface="Calibri"/>
                <a:ea typeface="Calibri"/>
                <a:cs typeface="Calibri"/>
              </a:defRPr>
            </a:defPPr>
            <a:lvl1pPr algn="l">
              <a:defRPr sz="2025" b="0">
                <a:solidFill>
                  <a:srgbClr val="171717"/>
                </a:solidFill>
                <a:latin typeface="Calibri"/>
                <a:ea typeface="Calibri"/>
                <a:cs typeface="Calibri"/>
              </a:defRPr>
            </a:lvl1pPr>
            <a:lvl2pPr algn="l">
              <a:defRPr sz="2025" b="0">
                <a:solidFill>
                  <a:srgbClr val="171717"/>
                </a:solidFill>
                <a:latin typeface="Calibri"/>
                <a:ea typeface="Calibri"/>
                <a:cs typeface="Calibri"/>
              </a:defRPr>
            </a:lvl2pPr>
            <a:lvl3pPr algn="l">
              <a:defRPr sz="2025" b="0">
                <a:solidFill>
                  <a:srgbClr val="171717"/>
                </a:solidFill>
                <a:latin typeface="Calibri"/>
                <a:ea typeface="Calibri"/>
                <a:cs typeface="Calibri"/>
              </a:defRPr>
            </a:lvl3pPr>
            <a:lvl4pPr algn="l">
              <a:defRPr sz="2025" b="0">
                <a:solidFill>
                  <a:srgbClr val="171717"/>
                </a:solidFill>
                <a:latin typeface="Calibri"/>
                <a:ea typeface="Calibri"/>
                <a:cs typeface="Calibri"/>
              </a:defRPr>
            </a:lvl4pPr>
            <a:lvl5pPr algn="l">
              <a:defRPr sz="2025" b="0">
                <a:solidFill>
                  <a:srgbClr val="171717"/>
                </a:solidFill>
                <a:latin typeface="Calibri"/>
                <a:ea typeface="Calibri"/>
                <a:cs typeface="Calibri"/>
              </a:defRPr>
            </a:lvl5pPr>
            <a:lvl6pPr algn="l">
              <a:defRPr sz="2025" b="0">
                <a:solidFill>
                  <a:srgbClr val="171717"/>
                </a:solidFill>
                <a:latin typeface="Calibri"/>
                <a:ea typeface="Calibri"/>
                <a:cs typeface="Calibri"/>
              </a:defRPr>
            </a:lvl6pPr>
            <a:lvl7pPr algn="l">
              <a:defRPr sz="2025" b="0">
                <a:solidFill>
                  <a:srgbClr val="171717"/>
                </a:solidFill>
                <a:latin typeface="Calibri"/>
                <a:ea typeface="Calibri"/>
                <a:cs typeface="Calibri"/>
              </a:defRPr>
            </a:lvl7pPr>
            <a:lvl8pPr algn="l">
              <a:defRPr sz="2025" b="0">
                <a:solidFill>
                  <a:srgbClr val="171717"/>
                </a:solidFill>
                <a:latin typeface="Calibri"/>
                <a:ea typeface="Calibri"/>
                <a:cs typeface="Calibri"/>
              </a:defRPr>
            </a:lvl8pPr>
            <a:lvl9pPr algn="l">
              <a:defRPr sz="2025" b="0">
                <a:solidFill>
                  <a:srgbClr val="171717"/>
                </a:solidFill>
                <a:latin typeface="Calibri"/>
                <a:ea typeface="Calibri"/>
                <a:cs typeface="Calibri"/>
              </a:defRPr>
            </a:lvl9pPr>
          </a:lstStyle>
          <a:p>
            <a:pPr algn="l">
              <a:defRPr sz="2025" b="0">
                <a:solidFill>
                  <a:srgbClr val="171717"/>
                </a:solidFill>
                <a:latin typeface="Calibri"/>
                <a:ea typeface="Calibri"/>
                <a:cs typeface="Calibri"/>
              </a:defRPr>
            </a:pPr>
            <a:r>
              <a:rPr sz="2025" b="0">
                <a:solidFill>
                  <a:srgbClr val="171717"/>
                </a:solidFill>
                <a:latin typeface="Calibri"/>
                <a:ea typeface="Calibri"/>
                <a:cs typeface="Calibri"/>
              </a:rPr>
              <a:t>Each token reads at most 3 positions.</a:t>
            </a:r>
          </a:p>
        </p:txBody>
      </p:sp>
      <p:sp>
        <p:nvSpPr>
          <p:cNvPr id="7" name="Rectangle 6">
            <a:extLst>
              <a:ext uri="{FF2B5EF4-FFF2-40B4-BE49-F238E27FC236}">
                <a16:creationId xmlns:a16="http://schemas.microsoft.com/office/drawing/2014/main" id="{11C5171D-D738-42AB-B67F-44BC28AD7983}"/>
              </a:ext>
            </a:extLst>
          </p:cNvPr>
          <p:cNvSpPr>
            <a:spLocks noGrp="1"/>
          </p:cNvSpPr>
          <p:nvPr/>
        </p:nvSpPr>
        <p:spPr>
          <a:xfrm>
            <a:off x="2000250" y="6115050"/>
            <a:ext cx="9525000" cy="381000"/>
          </a:xfrm>
          <a:prstGeom prst="rect">
            <a:avLst/>
          </a:prstGeom>
          <a:noFill/>
          <a:ln w="0">
            <a:noFill/>
          </a:ln>
        </p:spPr>
        <p:txBody>
          <a:bodyPr wrap="square" lIns="0" tIns="0" rIns="0" bIns="0" anchor="t">
            <a:noAutofit/>
          </a:bodyPr>
          <a:lstStyle>
            <a:defPPr algn="l">
              <a:defRPr sz="2025" b="0">
                <a:solidFill>
                  <a:srgbClr val="171717"/>
                </a:solidFill>
                <a:latin typeface="Calibri"/>
                <a:ea typeface="Calibri"/>
                <a:cs typeface="Calibri"/>
              </a:defRPr>
            </a:defPPr>
            <a:lvl1pPr algn="l">
              <a:defRPr sz="2025" b="0">
                <a:solidFill>
                  <a:srgbClr val="171717"/>
                </a:solidFill>
                <a:latin typeface="Calibri"/>
                <a:ea typeface="Calibri"/>
                <a:cs typeface="Calibri"/>
              </a:defRPr>
            </a:lvl1pPr>
            <a:lvl2pPr algn="l">
              <a:defRPr sz="2025" b="0">
                <a:solidFill>
                  <a:srgbClr val="171717"/>
                </a:solidFill>
                <a:latin typeface="Calibri"/>
                <a:ea typeface="Calibri"/>
                <a:cs typeface="Calibri"/>
              </a:defRPr>
            </a:lvl2pPr>
            <a:lvl3pPr algn="l">
              <a:defRPr sz="2025" b="0">
                <a:solidFill>
                  <a:srgbClr val="171717"/>
                </a:solidFill>
                <a:latin typeface="Calibri"/>
                <a:ea typeface="Calibri"/>
                <a:cs typeface="Calibri"/>
              </a:defRPr>
            </a:lvl3pPr>
            <a:lvl4pPr algn="l">
              <a:defRPr sz="2025" b="0">
                <a:solidFill>
                  <a:srgbClr val="171717"/>
                </a:solidFill>
                <a:latin typeface="Calibri"/>
                <a:ea typeface="Calibri"/>
                <a:cs typeface="Calibri"/>
              </a:defRPr>
            </a:lvl4pPr>
            <a:lvl5pPr algn="l">
              <a:defRPr sz="2025" b="0">
                <a:solidFill>
                  <a:srgbClr val="171717"/>
                </a:solidFill>
                <a:latin typeface="Calibri"/>
                <a:ea typeface="Calibri"/>
                <a:cs typeface="Calibri"/>
              </a:defRPr>
            </a:lvl5pPr>
            <a:lvl6pPr algn="l">
              <a:defRPr sz="2025" b="0">
                <a:solidFill>
                  <a:srgbClr val="171717"/>
                </a:solidFill>
                <a:latin typeface="Calibri"/>
                <a:ea typeface="Calibri"/>
                <a:cs typeface="Calibri"/>
              </a:defRPr>
            </a:lvl6pPr>
            <a:lvl7pPr algn="l">
              <a:defRPr sz="2025" b="0">
                <a:solidFill>
                  <a:srgbClr val="171717"/>
                </a:solidFill>
                <a:latin typeface="Calibri"/>
                <a:ea typeface="Calibri"/>
                <a:cs typeface="Calibri"/>
              </a:defRPr>
            </a:lvl7pPr>
            <a:lvl8pPr algn="l">
              <a:defRPr sz="2025" b="0">
                <a:solidFill>
                  <a:srgbClr val="171717"/>
                </a:solidFill>
                <a:latin typeface="Calibri"/>
                <a:ea typeface="Calibri"/>
                <a:cs typeface="Calibri"/>
              </a:defRPr>
            </a:lvl8pPr>
            <a:lvl9pPr algn="l">
              <a:defRPr sz="2025" b="0">
                <a:solidFill>
                  <a:srgbClr val="171717"/>
                </a:solidFill>
                <a:latin typeface="Calibri"/>
                <a:ea typeface="Calibri"/>
                <a:cs typeface="Calibri"/>
              </a:defRPr>
            </a:lvl9pPr>
          </a:lstStyle>
          <a:p>
            <a:pPr algn="l">
              <a:defRPr sz="2025" b="0">
                <a:solidFill>
                  <a:srgbClr val="171717"/>
                </a:solidFill>
                <a:latin typeface="Calibri"/>
                <a:ea typeface="Calibri"/>
                <a:cs typeface="Calibri"/>
              </a:defRPr>
            </a:pPr>
            <a:r>
              <a:rPr sz="2025" b="0">
                <a:solidFill>
                  <a:srgbClr val="171717"/>
                </a:solidFill>
                <a:latin typeface="Calibri"/>
                <a:ea typeface="Calibri"/>
                <a:cs typeface="Calibri"/>
              </a:rPr>
              <a:t>Attention-score work changes from O(T²) to O(Tw).</a:t>
            </a:r>
          </a:p>
        </p:txBody>
      </p:sp>
      <p:sp>
        <p:nvSpPr>
          <p:cNvPr id="8" name="Rectangle 7">
            <a:extLst>
              <a:ext uri="{FF2B5EF4-FFF2-40B4-BE49-F238E27FC236}">
                <a16:creationId xmlns:a16="http://schemas.microsoft.com/office/drawing/2014/main" id="{5CB0539D-1A3B-4706-9F1C-EA8AECF355E3}"/>
              </a:ext>
            </a:extLst>
          </p:cNvPr>
          <p:cNvSpPr>
            <a:spLocks noGrp="1"/>
          </p:cNvSpPr>
          <p:nvPr/>
        </p:nvSpPr>
        <p:spPr>
          <a:xfrm>
            <a:off x="1666875" y="2447925"/>
            <a:ext cx="2952750" cy="285750"/>
          </a:xfrm>
          <a:prstGeom prst="rect">
            <a:avLst/>
          </a:prstGeom>
          <a:noFill/>
          <a:ln w="0">
            <a:noFill/>
          </a:ln>
        </p:spPr>
        <p:txBody>
          <a:bodyPr wrap="square" lIns="0" tIns="0" rIns="0" bIns="0" anchor="t">
            <a:noAutofit/>
          </a:bodyPr>
          <a:lstStyle>
            <a:defPPr algn="l">
              <a:defRPr sz="1650" b="0">
                <a:solidFill>
                  <a:srgbClr val="171717"/>
                </a:solidFill>
                <a:latin typeface="Calibri"/>
                <a:ea typeface="Calibri"/>
                <a:cs typeface="Calibri"/>
              </a:defRPr>
            </a:defPPr>
            <a:lvl1pPr algn="l">
              <a:defRPr sz="1650" b="0">
                <a:solidFill>
                  <a:srgbClr val="171717"/>
                </a:solidFill>
                <a:latin typeface="Calibri"/>
                <a:ea typeface="Calibri"/>
                <a:cs typeface="Calibri"/>
              </a:defRPr>
            </a:lvl1pPr>
            <a:lvl2pPr algn="l">
              <a:defRPr sz="1650" b="0">
                <a:solidFill>
                  <a:srgbClr val="171717"/>
                </a:solidFill>
                <a:latin typeface="Calibri"/>
                <a:ea typeface="Calibri"/>
                <a:cs typeface="Calibri"/>
              </a:defRPr>
            </a:lvl2pPr>
            <a:lvl3pPr algn="l">
              <a:defRPr sz="1650" b="0">
                <a:solidFill>
                  <a:srgbClr val="171717"/>
                </a:solidFill>
                <a:latin typeface="Calibri"/>
                <a:ea typeface="Calibri"/>
                <a:cs typeface="Calibri"/>
              </a:defRPr>
            </a:lvl3pPr>
            <a:lvl4pPr algn="l">
              <a:defRPr sz="1650" b="0">
                <a:solidFill>
                  <a:srgbClr val="171717"/>
                </a:solidFill>
                <a:latin typeface="Calibri"/>
                <a:ea typeface="Calibri"/>
                <a:cs typeface="Calibri"/>
              </a:defRPr>
            </a:lvl4pPr>
            <a:lvl5pPr algn="l">
              <a:defRPr sz="1650" b="0">
                <a:solidFill>
                  <a:srgbClr val="171717"/>
                </a:solidFill>
                <a:latin typeface="Calibri"/>
                <a:ea typeface="Calibri"/>
                <a:cs typeface="Calibri"/>
              </a:defRPr>
            </a:lvl5pPr>
            <a:lvl6pPr algn="l">
              <a:defRPr sz="1650" b="0">
                <a:solidFill>
                  <a:srgbClr val="171717"/>
                </a:solidFill>
                <a:latin typeface="Calibri"/>
                <a:ea typeface="Calibri"/>
                <a:cs typeface="Calibri"/>
              </a:defRPr>
            </a:lvl6pPr>
            <a:lvl7pPr algn="l">
              <a:defRPr sz="1650" b="0">
                <a:solidFill>
                  <a:srgbClr val="171717"/>
                </a:solidFill>
                <a:latin typeface="Calibri"/>
                <a:ea typeface="Calibri"/>
                <a:cs typeface="Calibri"/>
              </a:defRPr>
            </a:lvl7pPr>
            <a:lvl8pPr algn="l">
              <a:defRPr sz="1650" b="0">
                <a:solidFill>
                  <a:srgbClr val="171717"/>
                </a:solidFill>
                <a:latin typeface="Calibri"/>
                <a:ea typeface="Calibri"/>
                <a:cs typeface="Calibri"/>
              </a:defRPr>
            </a:lvl8pPr>
            <a:lvl9pPr algn="l">
              <a:defRPr sz="1650" b="0">
                <a:solidFill>
                  <a:srgbClr val="171717"/>
                </a:solidFill>
                <a:latin typeface="Calibri"/>
                <a:ea typeface="Calibri"/>
                <a:cs typeface="Calibri"/>
              </a:defRPr>
            </a:lvl9pPr>
          </a:lstStyle>
          <a:p>
            <a:pPr algn="l">
              <a:defRPr sz="1650" b="0">
                <a:solidFill>
                  <a:srgbClr val="171717"/>
                </a:solidFill>
                <a:latin typeface="Calibri"/>
                <a:ea typeface="Calibri"/>
                <a:cs typeface="Calibri"/>
              </a:defRPr>
            </a:pPr>
            <a:r>
              <a:rPr sz="1650" b="0">
                <a:solidFill>
                  <a:srgbClr val="171717"/>
                </a:solidFill>
                <a:latin typeface="Calibri"/>
                <a:ea typeface="Calibri"/>
                <a:cs typeface="Calibri"/>
              </a:rPr>
              <a:t>Keys 1–8</a:t>
            </a:r>
          </a:p>
        </p:txBody>
      </p:sp>
      <p:sp>
        <p:nvSpPr>
          <p:cNvPr id="9" name="Rectangle 8">
            <a:extLst>
              <a:ext uri="{FF2B5EF4-FFF2-40B4-BE49-F238E27FC236}">
                <a16:creationId xmlns:a16="http://schemas.microsoft.com/office/drawing/2014/main" id="{89E3B6F5-B303-4926-9919-E867AF58DFE3}"/>
              </a:ext>
            </a:extLst>
          </p:cNvPr>
          <p:cNvSpPr>
            <a:spLocks noGrp="1"/>
          </p:cNvSpPr>
          <p:nvPr/>
        </p:nvSpPr>
        <p:spPr>
          <a:xfrm>
            <a:off x="476250" y="3667125"/>
            <a:ext cx="857250" cy="333375"/>
          </a:xfrm>
          <a:prstGeom prst="rect">
            <a:avLst/>
          </a:prstGeom>
          <a:noFill/>
          <a:ln w="0">
            <a:noFill/>
          </a:ln>
        </p:spPr>
        <p:txBody>
          <a:bodyPr wrap="square" lIns="0" tIns="0" rIns="0" bIns="0" anchor="t">
            <a:noAutofit/>
          </a:bodyPr>
          <a:lstStyle>
            <a:defPPr algn="l">
              <a:defRPr sz="1650" b="0">
                <a:solidFill>
                  <a:srgbClr val="171717"/>
                </a:solidFill>
                <a:latin typeface="Calibri"/>
                <a:ea typeface="Calibri"/>
                <a:cs typeface="Calibri"/>
              </a:defRPr>
            </a:defPPr>
            <a:lvl1pPr algn="l">
              <a:defRPr sz="1650" b="0">
                <a:solidFill>
                  <a:srgbClr val="171717"/>
                </a:solidFill>
                <a:latin typeface="Calibri"/>
                <a:ea typeface="Calibri"/>
                <a:cs typeface="Calibri"/>
              </a:defRPr>
            </a:lvl1pPr>
            <a:lvl2pPr algn="l">
              <a:defRPr sz="1650" b="0">
                <a:solidFill>
                  <a:srgbClr val="171717"/>
                </a:solidFill>
                <a:latin typeface="Calibri"/>
                <a:ea typeface="Calibri"/>
                <a:cs typeface="Calibri"/>
              </a:defRPr>
            </a:lvl2pPr>
            <a:lvl3pPr algn="l">
              <a:defRPr sz="1650" b="0">
                <a:solidFill>
                  <a:srgbClr val="171717"/>
                </a:solidFill>
                <a:latin typeface="Calibri"/>
                <a:ea typeface="Calibri"/>
                <a:cs typeface="Calibri"/>
              </a:defRPr>
            </a:lvl3pPr>
            <a:lvl4pPr algn="l">
              <a:defRPr sz="1650" b="0">
                <a:solidFill>
                  <a:srgbClr val="171717"/>
                </a:solidFill>
                <a:latin typeface="Calibri"/>
                <a:ea typeface="Calibri"/>
                <a:cs typeface="Calibri"/>
              </a:defRPr>
            </a:lvl4pPr>
            <a:lvl5pPr algn="l">
              <a:defRPr sz="1650" b="0">
                <a:solidFill>
                  <a:srgbClr val="171717"/>
                </a:solidFill>
                <a:latin typeface="Calibri"/>
                <a:ea typeface="Calibri"/>
                <a:cs typeface="Calibri"/>
              </a:defRPr>
            </a:lvl5pPr>
            <a:lvl6pPr algn="l">
              <a:defRPr sz="1650" b="0">
                <a:solidFill>
                  <a:srgbClr val="171717"/>
                </a:solidFill>
                <a:latin typeface="Calibri"/>
                <a:ea typeface="Calibri"/>
                <a:cs typeface="Calibri"/>
              </a:defRPr>
            </a:lvl6pPr>
            <a:lvl7pPr algn="l">
              <a:defRPr sz="1650" b="0">
                <a:solidFill>
                  <a:srgbClr val="171717"/>
                </a:solidFill>
                <a:latin typeface="Calibri"/>
                <a:ea typeface="Calibri"/>
                <a:cs typeface="Calibri"/>
              </a:defRPr>
            </a:lvl7pPr>
            <a:lvl8pPr algn="l">
              <a:defRPr sz="1650" b="0">
                <a:solidFill>
                  <a:srgbClr val="171717"/>
                </a:solidFill>
                <a:latin typeface="Calibri"/>
                <a:ea typeface="Calibri"/>
                <a:cs typeface="Calibri"/>
              </a:defRPr>
            </a:lvl8pPr>
            <a:lvl9pPr algn="l">
              <a:defRPr sz="1650" b="0">
                <a:solidFill>
                  <a:srgbClr val="171717"/>
                </a:solidFill>
                <a:latin typeface="Calibri"/>
                <a:ea typeface="Calibri"/>
                <a:cs typeface="Calibri"/>
              </a:defRPr>
            </a:lvl9pPr>
          </a:lstStyle>
          <a:p>
            <a:pPr algn="l">
              <a:defRPr sz="1650" b="0">
                <a:solidFill>
                  <a:srgbClr val="171717"/>
                </a:solidFill>
                <a:latin typeface="Calibri"/>
                <a:ea typeface="Calibri"/>
                <a:cs typeface="Calibri"/>
              </a:defRPr>
            </a:pPr>
            <a:r>
              <a:rPr sz="1650" b="0">
                <a:solidFill>
                  <a:srgbClr val="171717"/>
                </a:solidFill>
                <a:latin typeface="Calibri"/>
                <a:ea typeface="Calibri"/>
                <a:cs typeface="Calibri"/>
              </a:rPr>
              <a:t>Query</a:t>
            </a:r>
          </a:p>
        </p:txBody>
      </p:sp>
      <p:sp>
        <p:nvSpPr>
          <p:cNvPr id="10" name="Rectangle 9">
            <a:extLst>
              <a:ext uri="{FF2B5EF4-FFF2-40B4-BE49-F238E27FC236}">
                <a16:creationId xmlns:a16="http://schemas.microsoft.com/office/drawing/2014/main" id="{DA4FFF1B-663C-46B7-83F4-28D403101CD7}"/>
              </a:ext>
            </a:extLst>
          </p:cNvPr>
          <p:cNvSpPr>
            <a:spLocks noGrp="1"/>
          </p:cNvSpPr>
          <p:nvPr/>
        </p:nvSpPr>
        <p:spPr>
          <a:xfrm>
            <a:off x="1447800" y="2819400"/>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1</a:t>
            </a:r>
          </a:p>
        </p:txBody>
      </p:sp>
      <p:sp>
        <p:nvSpPr>
          <p:cNvPr id="11" name="Rectangle 10">
            <a:extLst>
              <a:ext uri="{FF2B5EF4-FFF2-40B4-BE49-F238E27FC236}">
                <a16:creationId xmlns:a16="http://schemas.microsoft.com/office/drawing/2014/main" id="{8D7D103E-ADFC-4ACB-9E39-59A0FD509882}"/>
              </a:ext>
            </a:extLst>
          </p:cNvPr>
          <p:cNvSpPr>
            <a:spLocks noGrp="1"/>
          </p:cNvSpPr>
          <p:nvPr/>
        </p:nvSpPr>
        <p:spPr>
          <a:xfrm>
            <a:off x="1714500" y="2781300"/>
            <a:ext cx="295275" cy="295275"/>
          </a:xfrm>
          <a:prstGeom prst="rect">
            <a:avLst/>
          </a:prstGeom>
          <a:solidFill>
            <a:srgbClr val="3CA5AF"/>
          </a:solidFill>
          <a:ln w="9525">
            <a:solidFill>
              <a:srgbClr val="C4CACC"/>
            </a:solidFill>
          </a:ln>
        </p:spPr>
      </p:sp>
      <p:sp>
        <p:nvSpPr>
          <p:cNvPr id="12" name="Rectangle 11">
            <a:extLst>
              <a:ext uri="{FF2B5EF4-FFF2-40B4-BE49-F238E27FC236}">
                <a16:creationId xmlns:a16="http://schemas.microsoft.com/office/drawing/2014/main" id="{BC40CA99-BDFD-4421-9972-66A2AAF11C3F}"/>
              </a:ext>
            </a:extLst>
          </p:cNvPr>
          <p:cNvSpPr>
            <a:spLocks noGrp="1"/>
          </p:cNvSpPr>
          <p:nvPr/>
        </p:nvSpPr>
        <p:spPr>
          <a:xfrm>
            <a:off x="2009775" y="2781300"/>
            <a:ext cx="295275" cy="295275"/>
          </a:xfrm>
          <a:prstGeom prst="rect">
            <a:avLst/>
          </a:prstGeom>
          <a:solidFill>
            <a:srgbClr val="FFFFFF"/>
          </a:solidFill>
          <a:ln w="9525">
            <a:solidFill>
              <a:srgbClr val="C4CACC"/>
            </a:solidFill>
          </a:ln>
        </p:spPr>
      </p:sp>
      <p:sp>
        <p:nvSpPr>
          <p:cNvPr id="13" name="Rectangle 12">
            <a:extLst>
              <a:ext uri="{FF2B5EF4-FFF2-40B4-BE49-F238E27FC236}">
                <a16:creationId xmlns:a16="http://schemas.microsoft.com/office/drawing/2014/main" id="{C3E42185-01C8-4898-91E6-F83E127963F3}"/>
              </a:ext>
            </a:extLst>
          </p:cNvPr>
          <p:cNvSpPr>
            <a:spLocks noGrp="1"/>
          </p:cNvSpPr>
          <p:nvPr/>
        </p:nvSpPr>
        <p:spPr>
          <a:xfrm>
            <a:off x="2305050" y="2781300"/>
            <a:ext cx="295275" cy="295275"/>
          </a:xfrm>
          <a:prstGeom prst="rect">
            <a:avLst/>
          </a:prstGeom>
          <a:solidFill>
            <a:srgbClr val="FFFFFF"/>
          </a:solidFill>
          <a:ln w="9525">
            <a:solidFill>
              <a:srgbClr val="C4CACC"/>
            </a:solidFill>
          </a:ln>
        </p:spPr>
      </p:sp>
      <p:sp>
        <p:nvSpPr>
          <p:cNvPr id="14" name="Rectangle 13">
            <a:extLst>
              <a:ext uri="{FF2B5EF4-FFF2-40B4-BE49-F238E27FC236}">
                <a16:creationId xmlns:a16="http://schemas.microsoft.com/office/drawing/2014/main" id="{AEFBBA50-5DE4-4A65-8EBD-461FF117E593}"/>
              </a:ext>
            </a:extLst>
          </p:cNvPr>
          <p:cNvSpPr>
            <a:spLocks noGrp="1"/>
          </p:cNvSpPr>
          <p:nvPr/>
        </p:nvSpPr>
        <p:spPr>
          <a:xfrm>
            <a:off x="2600325" y="2781300"/>
            <a:ext cx="295275" cy="295275"/>
          </a:xfrm>
          <a:prstGeom prst="rect">
            <a:avLst/>
          </a:prstGeom>
          <a:solidFill>
            <a:srgbClr val="FFFFFF"/>
          </a:solidFill>
          <a:ln w="9525">
            <a:solidFill>
              <a:srgbClr val="C4CACC"/>
            </a:solidFill>
          </a:ln>
        </p:spPr>
      </p:sp>
      <p:sp>
        <p:nvSpPr>
          <p:cNvPr id="15" name="Rectangle 14">
            <a:extLst>
              <a:ext uri="{FF2B5EF4-FFF2-40B4-BE49-F238E27FC236}">
                <a16:creationId xmlns:a16="http://schemas.microsoft.com/office/drawing/2014/main" id="{FF7C2795-AC5F-4EF8-8D83-B2AA29A7FE7B}"/>
              </a:ext>
            </a:extLst>
          </p:cNvPr>
          <p:cNvSpPr>
            <a:spLocks noGrp="1"/>
          </p:cNvSpPr>
          <p:nvPr/>
        </p:nvSpPr>
        <p:spPr>
          <a:xfrm>
            <a:off x="2895600" y="2781300"/>
            <a:ext cx="295275" cy="295275"/>
          </a:xfrm>
          <a:prstGeom prst="rect">
            <a:avLst/>
          </a:prstGeom>
          <a:solidFill>
            <a:srgbClr val="FFFFFF"/>
          </a:solidFill>
          <a:ln w="9525">
            <a:solidFill>
              <a:srgbClr val="C4CACC"/>
            </a:solidFill>
          </a:ln>
        </p:spPr>
      </p:sp>
      <p:sp>
        <p:nvSpPr>
          <p:cNvPr id="16" name="Rectangle 15">
            <a:extLst>
              <a:ext uri="{FF2B5EF4-FFF2-40B4-BE49-F238E27FC236}">
                <a16:creationId xmlns:a16="http://schemas.microsoft.com/office/drawing/2014/main" id="{36310140-D8FA-4134-A3C4-490098DF6DC3}"/>
              </a:ext>
            </a:extLst>
          </p:cNvPr>
          <p:cNvSpPr>
            <a:spLocks noGrp="1"/>
          </p:cNvSpPr>
          <p:nvPr/>
        </p:nvSpPr>
        <p:spPr>
          <a:xfrm>
            <a:off x="3190875" y="2781300"/>
            <a:ext cx="295275" cy="295275"/>
          </a:xfrm>
          <a:prstGeom prst="rect">
            <a:avLst/>
          </a:prstGeom>
          <a:solidFill>
            <a:srgbClr val="FFFFFF"/>
          </a:solidFill>
          <a:ln w="9525">
            <a:solidFill>
              <a:srgbClr val="C4CACC"/>
            </a:solidFill>
          </a:ln>
        </p:spPr>
      </p:sp>
      <p:sp>
        <p:nvSpPr>
          <p:cNvPr id="17" name="Rectangle 16">
            <a:extLst>
              <a:ext uri="{FF2B5EF4-FFF2-40B4-BE49-F238E27FC236}">
                <a16:creationId xmlns:a16="http://schemas.microsoft.com/office/drawing/2014/main" id="{D60D70D3-B03E-4B90-9AF1-BFE7E4B8E423}"/>
              </a:ext>
            </a:extLst>
          </p:cNvPr>
          <p:cNvSpPr>
            <a:spLocks noGrp="1"/>
          </p:cNvSpPr>
          <p:nvPr/>
        </p:nvSpPr>
        <p:spPr>
          <a:xfrm>
            <a:off x="3486150" y="2781300"/>
            <a:ext cx="295275" cy="295275"/>
          </a:xfrm>
          <a:prstGeom prst="rect">
            <a:avLst/>
          </a:prstGeom>
          <a:solidFill>
            <a:srgbClr val="FFFFFF"/>
          </a:solidFill>
          <a:ln w="9525">
            <a:solidFill>
              <a:srgbClr val="C4CACC"/>
            </a:solidFill>
          </a:ln>
        </p:spPr>
      </p:sp>
      <p:sp>
        <p:nvSpPr>
          <p:cNvPr id="18" name="Rectangle 17">
            <a:extLst>
              <a:ext uri="{FF2B5EF4-FFF2-40B4-BE49-F238E27FC236}">
                <a16:creationId xmlns:a16="http://schemas.microsoft.com/office/drawing/2014/main" id="{A4A32E2A-A65B-4153-A350-6477D7299EFD}"/>
              </a:ext>
            </a:extLst>
          </p:cNvPr>
          <p:cNvSpPr>
            <a:spLocks noGrp="1"/>
          </p:cNvSpPr>
          <p:nvPr/>
        </p:nvSpPr>
        <p:spPr>
          <a:xfrm>
            <a:off x="3781425" y="2781300"/>
            <a:ext cx="295275" cy="295275"/>
          </a:xfrm>
          <a:prstGeom prst="rect">
            <a:avLst/>
          </a:prstGeom>
          <a:solidFill>
            <a:srgbClr val="FFFFFF"/>
          </a:solidFill>
          <a:ln w="9525">
            <a:solidFill>
              <a:srgbClr val="C4CACC"/>
            </a:solidFill>
          </a:ln>
        </p:spPr>
      </p:sp>
      <p:sp>
        <p:nvSpPr>
          <p:cNvPr id="19" name="Rectangle 18">
            <a:extLst>
              <a:ext uri="{FF2B5EF4-FFF2-40B4-BE49-F238E27FC236}">
                <a16:creationId xmlns:a16="http://schemas.microsoft.com/office/drawing/2014/main" id="{40A5929B-C55E-4BA6-B86B-5D63BBDE67D0}"/>
              </a:ext>
            </a:extLst>
          </p:cNvPr>
          <p:cNvSpPr>
            <a:spLocks noGrp="1"/>
          </p:cNvSpPr>
          <p:nvPr/>
        </p:nvSpPr>
        <p:spPr>
          <a:xfrm>
            <a:off x="1447800" y="3114675"/>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2</a:t>
            </a:r>
          </a:p>
        </p:txBody>
      </p:sp>
      <p:sp>
        <p:nvSpPr>
          <p:cNvPr id="20" name="Rectangle 19">
            <a:extLst>
              <a:ext uri="{FF2B5EF4-FFF2-40B4-BE49-F238E27FC236}">
                <a16:creationId xmlns:a16="http://schemas.microsoft.com/office/drawing/2014/main" id="{FC15C774-90F5-4FA3-A261-430E212FA69B}"/>
              </a:ext>
            </a:extLst>
          </p:cNvPr>
          <p:cNvSpPr>
            <a:spLocks noGrp="1"/>
          </p:cNvSpPr>
          <p:nvPr/>
        </p:nvSpPr>
        <p:spPr>
          <a:xfrm>
            <a:off x="1714500" y="3076575"/>
            <a:ext cx="295275" cy="295275"/>
          </a:xfrm>
          <a:prstGeom prst="rect">
            <a:avLst/>
          </a:prstGeom>
          <a:solidFill>
            <a:srgbClr val="3CA5AF"/>
          </a:solidFill>
          <a:ln w="9525">
            <a:solidFill>
              <a:srgbClr val="C4CACC"/>
            </a:solidFill>
          </a:ln>
        </p:spPr>
      </p:sp>
      <p:sp>
        <p:nvSpPr>
          <p:cNvPr id="21" name="Rectangle 20">
            <a:extLst>
              <a:ext uri="{FF2B5EF4-FFF2-40B4-BE49-F238E27FC236}">
                <a16:creationId xmlns:a16="http://schemas.microsoft.com/office/drawing/2014/main" id="{38C7C63A-212E-4FD5-A5C6-26020D7FC3A0}"/>
              </a:ext>
            </a:extLst>
          </p:cNvPr>
          <p:cNvSpPr>
            <a:spLocks noGrp="1"/>
          </p:cNvSpPr>
          <p:nvPr/>
        </p:nvSpPr>
        <p:spPr>
          <a:xfrm>
            <a:off x="2009775" y="3076575"/>
            <a:ext cx="295275" cy="295275"/>
          </a:xfrm>
          <a:prstGeom prst="rect">
            <a:avLst/>
          </a:prstGeom>
          <a:solidFill>
            <a:srgbClr val="3CA5AF"/>
          </a:solidFill>
          <a:ln w="9525">
            <a:solidFill>
              <a:srgbClr val="C4CACC"/>
            </a:solidFill>
          </a:ln>
        </p:spPr>
      </p:sp>
      <p:sp>
        <p:nvSpPr>
          <p:cNvPr id="22" name="Rectangle 21">
            <a:extLst>
              <a:ext uri="{FF2B5EF4-FFF2-40B4-BE49-F238E27FC236}">
                <a16:creationId xmlns:a16="http://schemas.microsoft.com/office/drawing/2014/main" id="{E1B24760-D158-4BA4-B5BE-85CBB6846AD7}"/>
              </a:ext>
            </a:extLst>
          </p:cNvPr>
          <p:cNvSpPr>
            <a:spLocks noGrp="1"/>
          </p:cNvSpPr>
          <p:nvPr/>
        </p:nvSpPr>
        <p:spPr>
          <a:xfrm>
            <a:off x="2305050" y="3076575"/>
            <a:ext cx="295275" cy="295275"/>
          </a:xfrm>
          <a:prstGeom prst="rect">
            <a:avLst/>
          </a:prstGeom>
          <a:solidFill>
            <a:srgbClr val="FFFFFF"/>
          </a:solidFill>
          <a:ln w="9525">
            <a:solidFill>
              <a:srgbClr val="C4CACC"/>
            </a:solidFill>
          </a:ln>
        </p:spPr>
      </p:sp>
      <p:sp>
        <p:nvSpPr>
          <p:cNvPr id="23" name="Rectangle 22">
            <a:extLst>
              <a:ext uri="{FF2B5EF4-FFF2-40B4-BE49-F238E27FC236}">
                <a16:creationId xmlns:a16="http://schemas.microsoft.com/office/drawing/2014/main" id="{56C88919-E482-4914-A1C5-17581AD923E3}"/>
              </a:ext>
            </a:extLst>
          </p:cNvPr>
          <p:cNvSpPr>
            <a:spLocks noGrp="1"/>
          </p:cNvSpPr>
          <p:nvPr/>
        </p:nvSpPr>
        <p:spPr>
          <a:xfrm>
            <a:off x="2600325" y="3076575"/>
            <a:ext cx="295275" cy="295275"/>
          </a:xfrm>
          <a:prstGeom prst="rect">
            <a:avLst/>
          </a:prstGeom>
          <a:solidFill>
            <a:srgbClr val="FFFFFF"/>
          </a:solidFill>
          <a:ln w="9525">
            <a:solidFill>
              <a:srgbClr val="C4CACC"/>
            </a:solidFill>
          </a:ln>
        </p:spPr>
      </p:sp>
      <p:sp>
        <p:nvSpPr>
          <p:cNvPr id="24" name="Rectangle 23">
            <a:extLst>
              <a:ext uri="{FF2B5EF4-FFF2-40B4-BE49-F238E27FC236}">
                <a16:creationId xmlns:a16="http://schemas.microsoft.com/office/drawing/2014/main" id="{9F29FE7C-6BA2-484B-83BC-01DCC83311D1}"/>
              </a:ext>
            </a:extLst>
          </p:cNvPr>
          <p:cNvSpPr>
            <a:spLocks noGrp="1"/>
          </p:cNvSpPr>
          <p:nvPr/>
        </p:nvSpPr>
        <p:spPr>
          <a:xfrm>
            <a:off x="2895600" y="3076575"/>
            <a:ext cx="295275" cy="295275"/>
          </a:xfrm>
          <a:prstGeom prst="rect">
            <a:avLst/>
          </a:prstGeom>
          <a:solidFill>
            <a:srgbClr val="FFFFFF"/>
          </a:solidFill>
          <a:ln w="9525">
            <a:solidFill>
              <a:srgbClr val="C4CACC"/>
            </a:solidFill>
          </a:ln>
        </p:spPr>
      </p:sp>
      <p:sp>
        <p:nvSpPr>
          <p:cNvPr id="25" name="Rectangle 24">
            <a:extLst>
              <a:ext uri="{FF2B5EF4-FFF2-40B4-BE49-F238E27FC236}">
                <a16:creationId xmlns:a16="http://schemas.microsoft.com/office/drawing/2014/main" id="{F1F385E8-6F13-4349-9C19-FE0EEDB6E24D}"/>
              </a:ext>
            </a:extLst>
          </p:cNvPr>
          <p:cNvSpPr>
            <a:spLocks noGrp="1"/>
          </p:cNvSpPr>
          <p:nvPr/>
        </p:nvSpPr>
        <p:spPr>
          <a:xfrm>
            <a:off x="3190875" y="3076575"/>
            <a:ext cx="295275" cy="295275"/>
          </a:xfrm>
          <a:prstGeom prst="rect">
            <a:avLst/>
          </a:prstGeom>
          <a:solidFill>
            <a:srgbClr val="FFFFFF"/>
          </a:solidFill>
          <a:ln w="9525">
            <a:solidFill>
              <a:srgbClr val="C4CACC"/>
            </a:solidFill>
          </a:ln>
        </p:spPr>
      </p:sp>
      <p:sp>
        <p:nvSpPr>
          <p:cNvPr id="26" name="Rectangle 25">
            <a:extLst>
              <a:ext uri="{FF2B5EF4-FFF2-40B4-BE49-F238E27FC236}">
                <a16:creationId xmlns:a16="http://schemas.microsoft.com/office/drawing/2014/main" id="{1D7698BC-A321-42DA-9B69-AF6CE28B1BB6}"/>
              </a:ext>
            </a:extLst>
          </p:cNvPr>
          <p:cNvSpPr>
            <a:spLocks noGrp="1"/>
          </p:cNvSpPr>
          <p:nvPr/>
        </p:nvSpPr>
        <p:spPr>
          <a:xfrm>
            <a:off x="3486150" y="3076575"/>
            <a:ext cx="295275" cy="295275"/>
          </a:xfrm>
          <a:prstGeom prst="rect">
            <a:avLst/>
          </a:prstGeom>
          <a:solidFill>
            <a:srgbClr val="FFFFFF"/>
          </a:solidFill>
          <a:ln w="9525">
            <a:solidFill>
              <a:srgbClr val="C4CACC"/>
            </a:solidFill>
          </a:ln>
        </p:spPr>
      </p:sp>
      <p:sp>
        <p:nvSpPr>
          <p:cNvPr id="27" name="Rectangle 26">
            <a:extLst>
              <a:ext uri="{FF2B5EF4-FFF2-40B4-BE49-F238E27FC236}">
                <a16:creationId xmlns:a16="http://schemas.microsoft.com/office/drawing/2014/main" id="{89C45011-2133-4ADE-B437-1CDBFF1AD0CA}"/>
              </a:ext>
            </a:extLst>
          </p:cNvPr>
          <p:cNvSpPr>
            <a:spLocks noGrp="1"/>
          </p:cNvSpPr>
          <p:nvPr/>
        </p:nvSpPr>
        <p:spPr>
          <a:xfrm>
            <a:off x="3781425" y="3076575"/>
            <a:ext cx="295275" cy="295275"/>
          </a:xfrm>
          <a:prstGeom prst="rect">
            <a:avLst/>
          </a:prstGeom>
          <a:solidFill>
            <a:srgbClr val="FFFFFF"/>
          </a:solidFill>
          <a:ln w="9525">
            <a:solidFill>
              <a:srgbClr val="C4CACC"/>
            </a:solidFill>
          </a:ln>
        </p:spPr>
      </p:sp>
      <p:sp>
        <p:nvSpPr>
          <p:cNvPr id="28" name="Rectangle 27">
            <a:extLst>
              <a:ext uri="{FF2B5EF4-FFF2-40B4-BE49-F238E27FC236}">
                <a16:creationId xmlns:a16="http://schemas.microsoft.com/office/drawing/2014/main" id="{E7471602-945D-4A43-A74A-3CE09FC09569}"/>
              </a:ext>
            </a:extLst>
          </p:cNvPr>
          <p:cNvSpPr>
            <a:spLocks noGrp="1"/>
          </p:cNvSpPr>
          <p:nvPr/>
        </p:nvSpPr>
        <p:spPr>
          <a:xfrm>
            <a:off x="1447800" y="3409950"/>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3</a:t>
            </a:r>
          </a:p>
        </p:txBody>
      </p:sp>
      <p:sp>
        <p:nvSpPr>
          <p:cNvPr id="29" name="Rectangle 28">
            <a:extLst>
              <a:ext uri="{FF2B5EF4-FFF2-40B4-BE49-F238E27FC236}">
                <a16:creationId xmlns:a16="http://schemas.microsoft.com/office/drawing/2014/main" id="{866011C1-4F64-47C0-9B84-3A6C954D81FF}"/>
              </a:ext>
            </a:extLst>
          </p:cNvPr>
          <p:cNvSpPr>
            <a:spLocks noGrp="1"/>
          </p:cNvSpPr>
          <p:nvPr/>
        </p:nvSpPr>
        <p:spPr>
          <a:xfrm>
            <a:off x="1714500" y="3371850"/>
            <a:ext cx="295275" cy="295275"/>
          </a:xfrm>
          <a:prstGeom prst="rect">
            <a:avLst/>
          </a:prstGeom>
          <a:solidFill>
            <a:srgbClr val="3CA5AF"/>
          </a:solidFill>
          <a:ln w="9525">
            <a:solidFill>
              <a:srgbClr val="C4CACC"/>
            </a:solidFill>
          </a:ln>
        </p:spPr>
      </p:sp>
      <p:sp>
        <p:nvSpPr>
          <p:cNvPr id="30" name="Rectangle 29">
            <a:extLst>
              <a:ext uri="{FF2B5EF4-FFF2-40B4-BE49-F238E27FC236}">
                <a16:creationId xmlns:a16="http://schemas.microsoft.com/office/drawing/2014/main" id="{E16CF7C3-2682-4E91-8147-DC69C17275D8}"/>
              </a:ext>
            </a:extLst>
          </p:cNvPr>
          <p:cNvSpPr>
            <a:spLocks noGrp="1"/>
          </p:cNvSpPr>
          <p:nvPr/>
        </p:nvSpPr>
        <p:spPr>
          <a:xfrm>
            <a:off x="2009775" y="3371850"/>
            <a:ext cx="295275" cy="295275"/>
          </a:xfrm>
          <a:prstGeom prst="rect">
            <a:avLst/>
          </a:prstGeom>
          <a:solidFill>
            <a:srgbClr val="3CA5AF"/>
          </a:solidFill>
          <a:ln w="9525">
            <a:solidFill>
              <a:srgbClr val="C4CACC"/>
            </a:solidFill>
          </a:ln>
        </p:spPr>
      </p:sp>
      <p:sp>
        <p:nvSpPr>
          <p:cNvPr id="31" name="Rectangle 30">
            <a:extLst>
              <a:ext uri="{FF2B5EF4-FFF2-40B4-BE49-F238E27FC236}">
                <a16:creationId xmlns:a16="http://schemas.microsoft.com/office/drawing/2014/main" id="{7121C5CB-7B58-4F1B-A8C2-09D1D125B1F9}"/>
              </a:ext>
            </a:extLst>
          </p:cNvPr>
          <p:cNvSpPr>
            <a:spLocks noGrp="1"/>
          </p:cNvSpPr>
          <p:nvPr/>
        </p:nvSpPr>
        <p:spPr>
          <a:xfrm>
            <a:off x="2305050" y="3371850"/>
            <a:ext cx="295275" cy="295275"/>
          </a:xfrm>
          <a:prstGeom prst="rect">
            <a:avLst/>
          </a:prstGeom>
          <a:solidFill>
            <a:srgbClr val="3CA5AF"/>
          </a:solidFill>
          <a:ln w="9525">
            <a:solidFill>
              <a:srgbClr val="C4CACC"/>
            </a:solidFill>
          </a:ln>
        </p:spPr>
      </p:sp>
      <p:sp>
        <p:nvSpPr>
          <p:cNvPr id="32" name="Rectangle 31">
            <a:extLst>
              <a:ext uri="{FF2B5EF4-FFF2-40B4-BE49-F238E27FC236}">
                <a16:creationId xmlns:a16="http://schemas.microsoft.com/office/drawing/2014/main" id="{5E2ED916-4148-45CA-B542-A30EC3D07CCE}"/>
              </a:ext>
            </a:extLst>
          </p:cNvPr>
          <p:cNvSpPr>
            <a:spLocks noGrp="1"/>
          </p:cNvSpPr>
          <p:nvPr/>
        </p:nvSpPr>
        <p:spPr>
          <a:xfrm>
            <a:off x="2600325" y="3371850"/>
            <a:ext cx="295275" cy="295275"/>
          </a:xfrm>
          <a:prstGeom prst="rect">
            <a:avLst/>
          </a:prstGeom>
          <a:solidFill>
            <a:srgbClr val="FFFFFF"/>
          </a:solidFill>
          <a:ln w="9525">
            <a:solidFill>
              <a:srgbClr val="C4CACC"/>
            </a:solidFill>
          </a:ln>
        </p:spPr>
      </p:sp>
      <p:sp>
        <p:nvSpPr>
          <p:cNvPr id="33" name="Rectangle 32">
            <a:extLst>
              <a:ext uri="{FF2B5EF4-FFF2-40B4-BE49-F238E27FC236}">
                <a16:creationId xmlns:a16="http://schemas.microsoft.com/office/drawing/2014/main" id="{9161EB52-67D3-495B-925A-C1A570905F9B}"/>
              </a:ext>
            </a:extLst>
          </p:cNvPr>
          <p:cNvSpPr>
            <a:spLocks noGrp="1"/>
          </p:cNvSpPr>
          <p:nvPr/>
        </p:nvSpPr>
        <p:spPr>
          <a:xfrm>
            <a:off x="2895600" y="3371850"/>
            <a:ext cx="295275" cy="295275"/>
          </a:xfrm>
          <a:prstGeom prst="rect">
            <a:avLst/>
          </a:prstGeom>
          <a:solidFill>
            <a:srgbClr val="FFFFFF"/>
          </a:solidFill>
          <a:ln w="9525">
            <a:solidFill>
              <a:srgbClr val="C4CACC"/>
            </a:solidFill>
          </a:ln>
        </p:spPr>
      </p:sp>
      <p:sp>
        <p:nvSpPr>
          <p:cNvPr id="34" name="Rectangle 33">
            <a:extLst>
              <a:ext uri="{FF2B5EF4-FFF2-40B4-BE49-F238E27FC236}">
                <a16:creationId xmlns:a16="http://schemas.microsoft.com/office/drawing/2014/main" id="{06BDFE23-9D30-4018-8812-57759FD75584}"/>
              </a:ext>
            </a:extLst>
          </p:cNvPr>
          <p:cNvSpPr>
            <a:spLocks noGrp="1"/>
          </p:cNvSpPr>
          <p:nvPr/>
        </p:nvSpPr>
        <p:spPr>
          <a:xfrm>
            <a:off x="3190875" y="3371850"/>
            <a:ext cx="295275" cy="295275"/>
          </a:xfrm>
          <a:prstGeom prst="rect">
            <a:avLst/>
          </a:prstGeom>
          <a:solidFill>
            <a:srgbClr val="FFFFFF"/>
          </a:solidFill>
          <a:ln w="9525">
            <a:solidFill>
              <a:srgbClr val="C4CACC"/>
            </a:solidFill>
          </a:ln>
        </p:spPr>
      </p:sp>
      <p:sp>
        <p:nvSpPr>
          <p:cNvPr id="35" name="Rectangle 34">
            <a:extLst>
              <a:ext uri="{FF2B5EF4-FFF2-40B4-BE49-F238E27FC236}">
                <a16:creationId xmlns:a16="http://schemas.microsoft.com/office/drawing/2014/main" id="{2ADFD4F1-058F-49EC-B793-6808F820ECB8}"/>
              </a:ext>
            </a:extLst>
          </p:cNvPr>
          <p:cNvSpPr>
            <a:spLocks noGrp="1"/>
          </p:cNvSpPr>
          <p:nvPr/>
        </p:nvSpPr>
        <p:spPr>
          <a:xfrm>
            <a:off x="3486150" y="3371850"/>
            <a:ext cx="295275" cy="295275"/>
          </a:xfrm>
          <a:prstGeom prst="rect">
            <a:avLst/>
          </a:prstGeom>
          <a:solidFill>
            <a:srgbClr val="FFFFFF"/>
          </a:solidFill>
          <a:ln w="9525">
            <a:solidFill>
              <a:srgbClr val="C4CACC"/>
            </a:solidFill>
          </a:ln>
        </p:spPr>
      </p:sp>
      <p:sp>
        <p:nvSpPr>
          <p:cNvPr id="36" name="Rectangle 35">
            <a:extLst>
              <a:ext uri="{FF2B5EF4-FFF2-40B4-BE49-F238E27FC236}">
                <a16:creationId xmlns:a16="http://schemas.microsoft.com/office/drawing/2014/main" id="{A762453C-CD0D-4B91-857B-91E5B3E157DB}"/>
              </a:ext>
            </a:extLst>
          </p:cNvPr>
          <p:cNvSpPr>
            <a:spLocks noGrp="1"/>
          </p:cNvSpPr>
          <p:nvPr/>
        </p:nvSpPr>
        <p:spPr>
          <a:xfrm>
            <a:off x="3781425" y="3371850"/>
            <a:ext cx="295275" cy="295275"/>
          </a:xfrm>
          <a:prstGeom prst="rect">
            <a:avLst/>
          </a:prstGeom>
          <a:solidFill>
            <a:srgbClr val="FFFFFF"/>
          </a:solidFill>
          <a:ln w="9525">
            <a:solidFill>
              <a:srgbClr val="C4CACC"/>
            </a:solidFill>
          </a:ln>
        </p:spPr>
      </p:sp>
      <p:sp>
        <p:nvSpPr>
          <p:cNvPr id="37" name="Rectangle 36">
            <a:extLst>
              <a:ext uri="{FF2B5EF4-FFF2-40B4-BE49-F238E27FC236}">
                <a16:creationId xmlns:a16="http://schemas.microsoft.com/office/drawing/2014/main" id="{C1CEA149-4F51-42A5-BF1F-CDA8CB49F9A4}"/>
              </a:ext>
            </a:extLst>
          </p:cNvPr>
          <p:cNvSpPr>
            <a:spLocks noGrp="1"/>
          </p:cNvSpPr>
          <p:nvPr/>
        </p:nvSpPr>
        <p:spPr>
          <a:xfrm>
            <a:off x="1447800" y="3705225"/>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4</a:t>
            </a:r>
          </a:p>
        </p:txBody>
      </p:sp>
      <p:sp>
        <p:nvSpPr>
          <p:cNvPr id="38" name="Rectangle 37">
            <a:extLst>
              <a:ext uri="{FF2B5EF4-FFF2-40B4-BE49-F238E27FC236}">
                <a16:creationId xmlns:a16="http://schemas.microsoft.com/office/drawing/2014/main" id="{AE28A19E-206B-433B-88C7-FF3877F8351E}"/>
              </a:ext>
            </a:extLst>
          </p:cNvPr>
          <p:cNvSpPr>
            <a:spLocks noGrp="1"/>
          </p:cNvSpPr>
          <p:nvPr/>
        </p:nvSpPr>
        <p:spPr>
          <a:xfrm>
            <a:off x="1714500" y="3667125"/>
            <a:ext cx="295275" cy="295275"/>
          </a:xfrm>
          <a:prstGeom prst="rect">
            <a:avLst/>
          </a:prstGeom>
          <a:solidFill>
            <a:srgbClr val="3CA5AF"/>
          </a:solidFill>
          <a:ln w="9525">
            <a:solidFill>
              <a:srgbClr val="C4CACC"/>
            </a:solidFill>
          </a:ln>
        </p:spPr>
      </p:sp>
      <p:sp>
        <p:nvSpPr>
          <p:cNvPr id="39" name="Rectangle 38">
            <a:extLst>
              <a:ext uri="{FF2B5EF4-FFF2-40B4-BE49-F238E27FC236}">
                <a16:creationId xmlns:a16="http://schemas.microsoft.com/office/drawing/2014/main" id="{1D3CFB11-D276-420D-AD34-F9239CE15959}"/>
              </a:ext>
            </a:extLst>
          </p:cNvPr>
          <p:cNvSpPr>
            <a:spLocks noGrp="1"/>
          </p:cNvSpPr>
          <p:nvPr/>
        </p:nvSpPr>
        <p:spPr>
          <a:xfrm>
            <a:off x="2009775" y="3667125"/>
            <a:ext cx="295275" cy="295275"/>
          </a:xfrm>
          <a:prstGeom prst="rect">
            <a:avLst/>
          </a:prstGeom>
          <a:solidFill>
            <a:srgbClr val="3CA5AF"/>
          </a:solidFill>
          <a:ln w="9525">
            <a:solidFill>
              <a:srgbClr val="C4CACC"/>
            </a:solidFill>
          </a:ln>
        </p:spPr>
      </p:sp>
      <p:sp>
        <p:nvSpPr>
          <p:cNvPr id="40" name="Rectangle 39">
            <a:extLst>
              <a:ext uri="{FF2B5EF4-FFF2-40B4-BE49-F238E27FC236}">
                <a16:creationId xmlns:a16="http://schemas.microsoft.com/office/drawing/2014/main" id="{B0A005C3-CFC0-4F4A-9196-E95BC329DFF9}"/>
              </a:ext>
            </a:extLst>
          </p:cNvPr>
          <p:cNvSpPr>
            <a:spLocks noGrp="1"/>
          </p:cNvSpPr>
          <p:nvPr/>
        </p:nvSpPr>
        <p:spPr>
          <a:xfrm>
            <a:off x="2305050" y="3667125"/>
            <a:ext cx="295275" cy="295275"/>
          </a:xfrm>
          <a:prstGeom prst="rect">
            <a:avLst/>
          </a:prstGeom>
          <a:solidFill>
            <a:srgbClr val="3CA5AF"/>
          </a:solidFill>
          <a:ln w="9525">
            <a:solidFill>
              <a:srgbClr val="C4CACC"/>
            </a:solidFill>
          </a:ln>
        </p:spPr>
      </p:sp>
      <p:sp>
        <p:nvSpPr>
          <p:cNvPr id="41" name="Rectangle 40">
            <a:extLst>
              <a:ext uri="{FF2B5EF4-FFF2-40B4-BE49-F238E27FC236}">
                <a16:creationId xmlns:a16="http://schemas.microsoft.com/office/drawing/2014/main" id="{9C22D35F-06F4-492C-B53A-7F72C584D746}"/>
              </a:ext>
            </a:extLst>
          </p:cNvPr>
          <p:cNvSpPr>
            <a:spLocks noGrp="1"/>
          </p:cNvSpPr>
          <p:nvPr/>
        </p:nvSpPr>
        <p:spPr>
          <a:xfrm>
            <a:off x="2600325" y="3667125"/>
            <a:ext cx="295275" cy="295275"/>
          </a:xfrm>
          <a:prstGeom prst="rect">
            <a:avLst/>
          </a:prstGeom>
          <a:solidFill>
            <a:srgbClr val="3CA5AF"/>
          </a:solidFill>
          <a:ln w="9525">
            <a:solidFill>
              <a:srgbClr val="C4CACC"/>
            </a:solidFill>
          </a:ln>
        </p:spPr>
      </p:sp>
      <p:sp>
        <p:nvSpPr>
          <p:cNvPr id="42" name="Rectangle 41">
            <a:extLst>
              <a:ext uri="{FF2B5EF4-FFF2-40B4-BE49-F238E27FC236}">
                <a16:creationId xmlns:a16="http://schemas.microsoft.com/office/drawing/2014/main" id="{C7E04D93-2F80-403D-BFEF-7535E57218D8}"/>
              </a:ext>
            </a:extLst>
          </p:cNvPr>
          <p:cNvSpPr>
            <a:spLocks noGrp="1"/>
          </p:cNvSpPr>
          <p:nvPr/>
        </p:nvSpPr>
        <p:spPr>
          <a:xfrm>
            <a:off x="2895600" y="3667125"/>
            <a:ext cx="295275" cy="295275"/>
          </a:xfrm>
          <a:prstGeom prst="rect">
            <a:avLst/>
          </a:prstGeom>
          <a:solidFill>
            <a:srgbClr val="FFFFFF"/>
          </a:solidFill>
          <a:ln w="9525">
            <a:solidFill>
              <a:srgbClr val="C4CACC"/>
            </a:solidFill>
          </a:ln>
        </p:spPr>
      </p:sp>
      <p:sp>
        <p:nvSpPr>
          <p:cNvPr id="43" name="Rectangle 42">
            <a:extLst>
              <a:ext uri="{FF2B5EF4-FFF2-40B4-BE49-F238E27FC236}">
                <a16:creationId xmlns:a16="http://schemas.microsoft.com/office/drawing/2014/main" id="{CDB842C8-A7E2-4E99-BCEF-D371BCCF4FBA}"/>
              </a:ext>
            </a:extLst>
          </p:cNvPr>
          <p:cNvSpPr>
            <a:spLocks noGrp="1"/>
          </p:cNvSpPr>
          <p:nvPr/>
        </p:nvSpPr>
        <p:spPr>
          <a:xfrm>
            <a:off x="3190875" y="3667125"/>
            <a:ext cx="295275" cy="295275"/>
          </a:xfrm>
          <a:prstGeom prst="rect">
            <a:avLst/>
          </a:prstGeom>
          <a:solidFill>
            <a:srgbClr val="FFFFFF"/>
          </a:solidFill>
          <a:ln w="9525">
            <a:solidFill>
              <a:srgbClr val="C4CACC"/>
            </a:solidFill>
          </a:ln>
        </p:spPr>
      </p:sp>
      <p:sp>
        <p:nvSpPr>
          <p:cNvPr id="44" name="Rectangle 43">
            <a:extLst>
              <a:ext uri="{FF2B5EF4-FFF2-40B4-BE49-F238E27FC236}">
                <a16:creationId xmlns:a16="http://schemas.microsoft.com/office/drawing/2014/main" id="{13D2C254-5204-49C5-9219-19BAE97D386F}"/>
              </a:ext>
            </a:extLst>
          </p:cNvPr>
          <p:cNvSpPr>
            <a:spLocks noGrp="1"/>
          </p:cNvSpPr>
          <p:nvPr/>
        </p:nvSpPr>
        <p:spPr>
          <a:xfrm>
            <a:off x="3486150" y="3667125"/>
            <a:ext cx="295275" cy="295275"/>
          </a:xfrm>
          <a:prstGeom prst="rect">
            <a:avLst/>
          </a:prstGeom>
          <a:solidFill>
            <a:srgbClr val="FFFFFF"/>
          </a:solidFill>
          <a:ln w="9525">
            <a:solidFill>
              <a:srgbClr val="C4CACC"/>
            </a:solidFill>
          </a:ln>
        </p:spPr>
      </p:sp>
      <p:sp>
        <p:nvSpPr>
          <p:cNvPr id="45" name="Rectangle 44">
            <a:extLst>
              <a:ext uri="{FF2B5EF4-FFF2-40B4-BE49-F238E27FC236}">
                <a16:creationId xmlns:a16="http://schemas.microsoft.com/office/drawing/2014/main" id="{007299C8-BED9-423D-976A-A0E8147A745D}"/>
              </a:ext>
            </a:extLst>
          </p:cNvPr>
          <p:cNvSpPr>
            <a:spLocks noGrp="1"/>
          </p:cNvSpPr>
          <p:nvPr/>
        </p:nvSpPr>
        <p:spPr>
          <a:xfrm>
            <a:off x="3781425" y="3667125"/>
            <a:ext cx="295275" cy="295275"/>
          </a:xfrm>
          <a:prstGeom prst="rect">
            <a:avLst/>
          </a:prstGeom>
          <a:solidFill>
            <a:srgbClr val="FFFFFF"/>
          </a:solidFill>
          <a:ln w="9525">
            <a:solidFill>
              <a:srgbClr val="C4CACC"/>
            </a:solidFill>
          </a:ln>
        </p:spPr>
      </p:sp>
      <p:sp>
        <p:nvSpPr>
          <p:cNvPr id="46" name="Rectangle 45">
            <a:extLst>
              <a:ext uri="{FF2B5EF4-FFF2-40B4-BE49-F238E27FC236}">
                <a16:creationId xmlns:a16="http://schemas.microsoft.com/office/drawing/2014/main" id="{219443AB-F474-487B-9C39-00D095D4C44A}"/>
              </a:ext>
            </a:extLst>
          </p:cNvPr>
          <p:cNvSpPr>
            <a:spLocks noGrp="1"/>
          </p:cNvSpPr>
          <p:nvPr/>
        </p:nvSpPr>
        <p:spPr>
          <a:xfrm>
            <a:off x="1447800" y="4000500"/>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5</a:t>
            </a:r>
          </a:p>
        </p:txBody>
      </p:sp>
      <p:sp>
        <p:nvSpPr>
          <p:cNvPr id="47" name="Rectangle 46">
            <a:extLst>
              <a:ext uri="{FF2B5EF4-FFF2-40B4-BE49-F238E27FC236}">
                <a16:creationId xmlns:a16="http://schemas.microsoft.com/office/drawing/2014/main" id="{14B1485C-651A-4818-80F8-904DBD6CA7EA}"/>
              </a:ext>
            </a:extLst>
          </p:cNvPr>
          <p:cNvSpPr>
            <a:spLocks noGrp="1"/>
          </p:cNvSpPr>
          <p:nvPr/>
        </p:nvSpPr>
        <p:spPr>
          <a:xfrm>
            <a:off x="1714500" y="3962400"/>
            <a:ext cx="295275" cy="295275"/>
          </a:xfrm>
          <a:prstGeom prst="rect">
            <a:avLst/>
          </a:prstGeom>
          <a:solidFill>
            <a:srgbClr val="3CA5AF"/>
          </a:solidFill>
          <a:ln w="9525">
            <a:solidFill>
              <a:srgbClr val="C4CACC"/>
            </a:solidFill>
          </a:ln>
        </p:spPr>
      </p:sp>
      <p:sp>
        <p:nvSpPr>
          <p:cNvPr id="48" name="Rectangle 47">
            <a:extLst>
              <a:ext uri="{FF2B5EF4-FFF2-40B4-BE49-F238E27FC236}">
                <a16:creationId xmlns:a16="http://schemas.microsoft.com/office/drawing/2014/main" id="{53FEB118-9668-4C3C-92EB-D673503E932E}"/>
              </a:ext>
            </a:extLst>
          </p:cNvPr>
          <p:cNvSpPr>
            <a:spLocks noGrp="1"/>
          </p:cNvSpPr>
          <p:nvPr/>
        </p:nvSpPr>
        <p:spPr>
          <a:xfrm>
            <a:off x="2009775" y="3962400"/>
            <a:ext cx="295275" cy="295275"/>
          </a:xfrm>
          <a:prstGeom prst="rect">
            <a:avLst/>
          </a:prstGeom>
          <a:solidFill>
            <a:srgbClr val="3CA5AF"/>
          </a:solidFill>
          <a:ln w="9525">
            <a:solidFill>
              <a:srgbClr val="C4CACC"/>
            </a:solidFill>
          </a:ln>
        </p:spPr>
      </p:sp>
      <p:sp>
        <p:nvSpPr>
          <p:cNvPr id="49" name="Rectangle 48">
            <a:extLst>
              <a:ext uri="{FF2B5EF4-FFF2-40B4-BE49-F238E27FC236}">
                <a16:creationId xmlns:a16="http://schemas.microsoft.com/office/drawing/2014/main" id="{76A40A50-EFCC-426F-87D1-879311F6D03F}"/>
              </a:ext>
            </a:extLst>
          </p:cNvPr>
          <p:cNvSpPr>
            <a:spLocks noGrp="1"/>
          </p:cNvSpPr>
          <p:nvPr/>
        </p:nvSpPr>
        <p:spPr>
          <a:xfrm>
            <a:off x="2305050" y="3962400"/>
            <a:ext cx="295275" cy="295275"/>
          </a:xfrm>
          <a:prstGeom prst="rect">
            <a:avLst/>
          </a:prstGeom>
          <a:solidFill>
            <a:srgbClr val="3CA5AF"/>
          </a:solidFill>
          <a:ln w="9525">
            <a:solidFill>
              <a:srgbClr val="C4CACC"/>
            </a:solidFill>
          </a:ln>
        </p:spPr>
      </p:sp>
      <p:sp>
        <p:nvSpPr>
          <p:cNvPr id="50" name="Rectangle 49">
            <a:extLst>
              <a:ext uri="{FF2B5EF4-FFF2-40B4-BE49-F238E27FC236}">
                <a16:creationId xmlns:a16="http://schemas.microsoft.com/office/drawing/2014/main" id="{59F00740-A452-4914-9372-06FC591DC14B}"/>
              </a:ext>
            </a:extLst>
          </p:cNvPr>
          <p:cNvSpPr>
            <a:spLocks noGrp="1"/>
          </p:cNvSpPr>
          <p:nvPr/>
        </p:nvSpPr>
        <p:spPr>
          <a:xfrm>
            <a:off x="2600325" y="3962400"/>
            <a:ext cx="295275" cy="295275"/>
          </a:xfrm>
          <a:prstGeom prst="rect">
            <a:avLst/>
          </a:prstGeom>
          <a:solidFill>
            <a:srgbClr val="3CA5AF"/>
          </a:solidFill>
          <a:ln w="9525">
            <a:solidFill>
              <a:srgbClr val="C4CACC"/>
            </a:solidFill>
          </a:ln>
        </p:spPr>
      </p:sp>
      <p:sp>
        <p:nvSpPr>
          <p:cNvPr id="51" name="Rectangle 50">
            <a:extLst>
              <a:ext uri="{FF2B5EF4-FFF2-40B4-BE49-F238E27FC236}">
                <a16:creationId xmlns:a16="http://schemas.microsoft.com/office/drawing/2014/main" id="{0EE843CE-76DA-42C5-92E7-4C7EFB57A440}"/>
              </a:ext>
            </a:extLst>
          </p:cNvPr>
          <p:cNvSpPr>
            <a:spLocks noGrp="1"/>
          </p:cNvSpPr>
          <p:nvPr/>
        </p:nvSpPr>
        <p:spPr>
          <a:xfrm>
            <a:off x="2895600" y="3962400"/>
            <a:ext cx="295275" cy="295275"/>
          </a:xfrm>
          <a:prstGeom prst="rect">
            <a:avLst/>
          </a:prstGeom>
          <a:solidFill>
            <a:srgbClr val="3CA5AF"/>
          </a:solidFill>
          <a:ln w="9525">
            <a:solidFill>
              <a:srgbClr val="C4CACC"/>
            </a:solidFill>
          </a:ln>
        </p:spPr>
      </p:sp>
      <p:sp>
        <p:nvSpPr>
          <p:cNvPr id="52" name="Rectangle 51">
            <a:extLst>
              <a:ext uri="{FF2B5EF4-FFF2-40B4-BE49-F238E27FC236}">
                <a16:creationId xmlns:a16="http://schemas.microsoft.com/office/drawing/2014/main" id="{E3E06FA4-9999-4ED1-B09A-D2A58F7A3E2B}"/>
              </a:ext>
            </a:extLst>
          </p:cNvPr>
          <p:cNvSpPr>
            <a:spLocks noGrp="1"/>
          </p:cNvSpPr>
          <p:nvPr/>
        </p:nvSpPr>
        <p:spPr>
          <a:xfrm>
            <a:off x="3190875" y="3962400"/>
            <a:ext cx="295275" cy="295275"/>
          </a:xfrm>
          <a:prstGeom prst="rect">
            <a:avLst/>
          </a:prstGeom>
          <a:solidFill>
            <a:srgbClr val="FFFFFF"/>
          </a:solidFill>
          <a:ln w="9525">
            <a:solidFill>
              <a:srgbClr val="C4CACC"/>
            </a:solidFill>
          </a:ln>
        </p:spPr>
      </p:sp>
      <p:sp>
        <p:nvSpPr>
          <p:cNvPr id="53" name="Rectangle 52">
            <a:extLst>
              <a:ext uri="{FF2B5EF4-FFF2-40B4-BE49-F238E27FC236}">
                <a16:creationId xmlns:a16="http://schemas.microsoft.com/office/drawing/2014/main" id="{F8A87A11-2D45-4835-A22D-B1153E0DC8AE}"/>
              </a:ext>
            </a:extLst>
          </p:cNvPr>
          <p:cNvSpPr>
            <a:spLocks noGrp="1"/>
          </p:cNvSpPr>
          <p:nvPr/>
        </p:nvSpPr>
        <p:spPr>
          <a:xfrm>
            <a:off x="3486150" y="3962400"/>
            <a:ext cx="295275" cy="295275"/>
          </a:xfrm>
          <a:prstGeom prst="rect">
            <a:avLst/>
          </a:prstGeom>
          <a:solidFill>
            <a:srgbClr val="FFFFFF"/>
          </a:solidFill>
          <a:ln w="9525">
            <a:solidFill>
              <a:srgbClr val="C4CACC"/>
            </a:solidFill>
          </a:ln>
        </p:spPr>
      </p:sp>
      <p:sp>
        <p:nvSpPr>
          <p:cNvPr id="54" name="Rectangle 53">
            <a:extLst>
              <a:ext uri="{FF2B5EF4-FFF2-40B4-BE49-F238E27FC236}">
                <a16:creationId xmlns:a16="http://schemas.microsoft.com/office/drawing/2014/main" id="{BACC090F-451E-499C-99BB-65849BBF5CDF}"/>
              </a:ext>
            </a:extLst>
          </p:cNvPr>
          <p:cNvSpPr>
            <a:spLocks noGrp="1"/>
          </p:cNvSpPr>
          <p:nvPr/>
        </p:nvSpPr>
        <p:spPr>
          <a:xfrm>
            <a:off x="3781425" y="3962400"/>
            <a:ext cx="295275" cy="295275"/>
          </a:xfrm>
          <a:prstGeom prst="rect">
            <a:avLst/>
          </a:prstGeom>
          <a:solidFill>
            <a:srgbClr val="FFFFFF"/>
          </a:solidFill>
          <a:ln w="9525">
            <a:solidFill>
              <a:srgbClr val="C4CACC"/>
            </a:solidFill>
          </a:ln>
        </p:spPr>
      </p:sp>
      <p:sp>
        <p:nvSpPr>
          <p:cNvPr id="55" name="Rectangle 54">
            <a:extLst>
              <a:ext uri="{FF2B5EF4-FFF2-40B4-BE49-F238E27FC236}">
                <a16:creationId xmlns:a16="http://schemas.microsoft.com/office/drawing/2014/main" id="{C7A0337E-20D5-458F-A75A-E887D9E16CB0}"/>
              </a:ext>
            </a:extLst>
          </p:cNvPr>
          <p:cNvSpPr>
            <a:spLocks noGrp="1"/>
          </p:cNvSpPr>
          <p:nvPr/>
        </p:nvSpPr>
        <p:spPr>
          <a:xfrm>
            <a:off x="1447800" y="4295775"/>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6</a:t>
            </a:r>
          </a:p>
        </p:txBody>
      </p:sp>
      <p:sp>
        <p:nvSpPr>
          <p:cNvPr id="56" name="Rectangle 55">
            <a:extLst>
              <a:ext uri="{FF2B5EF4-FFF2-40B4-BE49-F238E27FC236}">
                <a16:creationId xmlns:a16="http://schemas.microsoft.com/office/drawing/2014/main" id="{2D67C9E0-CE3A-4E06-B309-0AB1209979F5}"/>
              </a:ext>
            </a:extLst>
          </p:cNvPr>
          <p:cNvSpPr>
            <a:spLocks noGrp="1"/>
          </p:cNvSpPr>
          <p:nvPr/>
        </p:nvSpPr>
        <p:spPr>
          <a:xfrm>
            <a:off x="1714500" y="4257675"/>
            <a:ext cx="295275" cy="295275"/>
          </a:xfrm>
          <a:prstGeom prst="rect">
            <a:avLst/>
          </a:prstGeom>
          <a:solidFill>
            <a:srgbClr val="3CA5AF"/>
          </a:solidFill>
          <a:ln w="9525">
            <a:solidFill>
              <a:srgbClr val="C4CACC"/>
            </a:solidFill>
          </a:ln>
        </p:spPr>
      </p:sp>
      <p:sp>
        <p:nvSpPr>
          <p:cNvPr id="57" name="Rectangle 56">
            <a:extLst>
              <a:ext uri="{FF2B5EF4-FFF2-40B4-BE49-F238E27FC236}">
                <a16:creationId xmlns:a16="http://schemas.microsoft.com/office/drawing/2014/main" id="{B242E870-0FB0-47FB-BDE4-CF44D04D1974}"/>
              </a:ext>
            </a:extLst>
          </p:cNvPr>
          <p:cNvSpPr>
            <a:spLocks noGrp="1"/>
          </p:cNvSpPr>
          <p:nvPr/>
        </p:nvSpPr>
        <p:spPr>
          <a:xfrm>
            <a:off x="2009775" y="4257675"/>
            <a:ext cx="295275" cy="295275"/>
          </a:xfrm>
          <a:prstGeom prst="rect">
            <a:avLst/>
          </a:prstGeom>
          <a:solidFill>
            <a:srgbClr val="3CA5AF"/>
          </a:solidFill>
          <a:ln w="9525">
            <a:solidFill>
              <a:srgbClr val="C4CACC"/>
            </a:solidFill>
          </a:ln>
        </p:spPr>
      </p:sp>
      <p:sp>
        <p:nvSpPr>
          <p:cNvPr id="58" name="Rectangle 57">
            <a:extLst>
              <a:ext uri="{FF2B5EF4-FFF2-40B4-BE49-F238E27FC236}">
                <a16:creationId xmlns:a16="http://schemas.microsoft.com/office/drawing/2014/main" id="{5CD51EAD-F424-4CE7-AAD5-01018DBD7185}"/>
              </a:ext>
            </a:extLst>
          </p:cNvPr>
          <p:cNvSpPr>
            <a:spLocks noGrp="1"/>
          </p:cNvSpPr>
          <p:nvPr/>
        </p:nvSpPr>
        <p:spPr>
          <a:xfrm>
            <a:off x="2305050" y="4257675"/>
            <a:ext cx="295275" cy="295275"/>
          </a:xfrm>
          <a:prstGeom prst="rect">
            <a:avLst/>
          </a:prstGeom>
          <a:solidFill>
            <a:srgbClr val="3CA5AF"/>
          </a:solidFill>
          <a:ln w="9525">
            <a:solidFill>
              <a:srgbClr val="C4CACC"/>
            </a:solidFill>
          </a:ln>
        </p:spPr>
      </p:sp>
      <p:sp>
        <p:nvSpPr>
          <p:cNvPr id="59" name="Rectangle 58">
            <a:extLst>
              <a:ext uri="{FF2B5EF4-FFF2-40B4-BE49-F238E27FC236}">
                <a16:creationId xmlns:a16="http://schemas.microsoft.com/office/drawing/2014/main" id="{8749702C-E59F-4989-9BE7-80C0F7CDFBEC}"/>
              </a:ext>
            </a:extLst>
          </p:cNvPr>
          <p:cNvSpPr>
            <a:spLocks noGrp="1"/>
          </p:cNvSpPr>
          <p:nvPr/>
        </p:nvSpPr>
        <p:spPr>
          <a:xfrm>
            <a:off x="2600325" y="4257675"/>
            <a:ext cx="295275" cy="295275"/>
          </a:xfrm>
          <a:prstGeom prst="rect">
            <a:avLst/>
          </a:prstGeom>
          <a:solidFill>
            <a:srgbClr val="3CA5AF"/>
          </a:solidFill>
          <a:ln w="9525">
            <a:solidFill>
              <a:srgbClr val="C4CACC"/>
            </a:solidFill>
          </a:ln>
        </p:spPr>
      </p:sp>
      <p:sp>
        <p:nvSpPr>
          <p:cNvPr id="60" name="Rectangle 59">
            <a:extLst>
              <a:ext uri="{FF2B5EF4-FFF2-40B4-BE49-F238E27FC236}">
                <a16:creationId xmlns:a16="http://schemas.microsoft.com/office/drawing/2014/main" id="{F77BDF40-DDC2-46A9-8960-D867231A5146}"/>
              </a:ext>
            </a:extLst>
          </p:cNvPr>
          <p:cNvSpPr>
            <a:spLocks noGrp="1"/>
          </p:cNvSpPr>
          <p:nvPr/>
        </p:nvSpPr>
        <p:spPr>
          <a:xfrm>
            <a:off x="2895600" y="4257675"/>
            <a:ext cx="295275" cy="295275"/>
          </a:xfrm>
          <a:prstGeom prst="rect">
            <a:avLst/>
          </a:prstGeom>
          <a:solidFill>
            <a:srgbClr val="3CA5AF"/>
          </a:solidFill>
          <a:ln w="9525">
            <a:solidFill>
              <a:srgbClr val="C4CACC"/>
            </a:solidFill>
          </a:ln>
        </p:spPr>
      </p:sp>
      <p:sp>
        <p:nvSpPr>
          <p:cNvPr id="61" name="Rectangle 60">
            <a:extLst>
              <a:ext uri="{FF2B5EF4-FFF2-40B4-BE49-F238E27FC236}">
                <a16:creationId xmlns:a16="http://schemas.microsoft.com/office/drawing/2014/main" id="{E5599091-D8D5-4332-8A85-37C35FFF3DFA}"/>
              </a:ext>
            </a:extLst>
          </p:cNvPr>
          <p:cNvSpPr>
            <a:spLocks noGrp="1"/>
          </p:cNvSpPr>
          <p:nvPr/>
        </p:nvSpPr>
        <p:spPr>
          <a:xfrm>
            <a:off x="3190875" y="4257675"/>
            <a:ext cx="295275" cy="295275"/>
          </a:xfrm>
          <a:prstGeom prst="rect">
            <a:avLst/>
          </a:prstGeom>
          <a:solidFill>
            <a:srgbClr val="3CA5AF"/>
          </a:solidFill>
          <a:ln w="9525">
            <a:solidFill>
              <a:srgbClr val="C4CACC"/>
            </a:solidFill>
          </a:ln>
        </p:spPr>
      </p:sp>
      <p:sp>
        <p:nvSpPr>
          <p:cNvPr id="62" name="Rectangle 61">
            <a:extLst>
              <a:ext uri="{FF2B5EF4-FFF2-40B4-BE49-F238E27FC236}">
                <a16:creationId xmlns:a16="http://schemas.microsoft.com/office/drawing/2014/main" id="{BCAD406F-7A8F-417A-A5C4-A08C3B8C672C}"/>
              </a:ext>
            </a:extLst>
          </p:cNvPr>
          <p:cNvSpPr>
            <a:spLocks noGrp="1"/>
          </p:cNvSpPr>
          <p:nvPr/>
        </p:nvSpPr>
        <p:spPr>
          <a:xfrm>
            <a:off x="3486150" y="4257675"/>
            <a:ext cx="295275" cy="295275"/>
          </a:xfrm>
          <a:prstGeom prst="rect">
            <a:avLst/>
          </a:prstGeom>
          <a:solidFill>
            <a:srgbClr val="FFFFFF"/>
          </a:solidFill>
          <a:ln w="9525">
            <a:solidFill>
              <a:srgbClr val="C4CACC"/>
            </a:solidFill>
          </a:ln>
        </p:spPr>
      </p:sp>
      <p:sp>
        <p:nvSpPr>
          <p:cNvPr id="63" name="Rectangle 62">
            <a:extLst>
              <a:ext uri="{FF2B5EF4-FFF2-40B4-BE49-F238E27FC236}">
                <a16:creationId xmlns:a16="http://schemas.microsoft.com/office/drawing/2014/main" id="{77008F13-E5FE-4257-884C-047AE68E5944}"/>
              </a:ext>
            </a:extLst>
          </p:cNvPr>
          <p:cNvSpPr>
            <a:spLocks noGrp="1"/>
          </p:cNvSpPr>
          <p:nvPr/>
        </p:nvSpPr>
        <p:spPr>
          <a:xfrm>
            <a:off x="3781425" y="4257675"/>
            <a:ext cx="295275" cy="295275"/>
          </a:xfrm>
          <a:prstGeom prst="rect">
            <a:avLst/>
          </a:prstGeom>
          <a:solidFill>
            <a:srgbClr val="FFFFFF"/>
          </a:solidFill>
          <a:ln w="9525">
            <a:solidFill>
              <a:srgbClr val="C4CACC"/>
            </a:solidFill>
          </a:ln>
        </p:spPr>
      </p:sp>
      <p:sp>
        <p:nvSpPr>
          <p:cNvPr id="64" name="Rectangle 63">
            <a:extLst>
              <a:ext uri="{FF2B5EF4-FFF2-40B4-BE49-F238E27FC236}">
                <a16:creationId xmlns:a16="http://schemas.microsoft.com/office/drawing/2014/main" id="{1EC137B3-548B-4C54-9323-E7FEB6D4EE60}"/>
              </a:ext>
            </a:extLst>
          </p:cNvPr>
          <p:cNvSpPr>
            <a:spLocks noGrp="1"/>
          </p:cNvSpPr>
          <p:nvPr/>
        </p:nvSpPr>
        <p:spPr>
          <a:xfrm>
            <a:off x="1447800" y="4591050"/>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7</a:t>
            </a:r>
          </a:p>
        </p:txBody>
      </p:sp>
      <p:sp>
        <p:nvSpPr>
          <p:cNvPr id="65" name="Rectangle 64">
            <a:extLst>
              <a:ext uri="{FF2B5EF4-FFF2-40B4-BE49-F238E27FC236}">
                <a16:creationId xmlns:a16="http://schemas.microsoft.com/office/drawing/2014/main" id="{10DF3569-942B-492C-BC86-42656534A3E9}"/>
              </a:ext>
            </a:extLst>
          </p:cNvPr>
          <p:cNvSpPr>
            <a:spLocks noGrp="1"/>
          </p:cNvSpPr>
          <p:nvPr/>
        </p:nvSpPr>
        <p:spPr>
          <a:xfrm>
            <a:off x="1714500" y="4552950"/>
            <a:ext cx="295275" cy="295275"/>
          </a:xfrm>
          <a:prstGeom prst="rect">
            <a:avLst/>
          </a:prstGeom>
          <a:solidFill>
            <a:srgbClr val="3CA5AF"/>
          </a:solidFill>
          <a:ln w="9525">
            <a:solidFill>
              <a:srgbClr val="C4CACC"/>
            </a:solidFill>
          </a:ln>
        </p:spPr>
      </p:sp>
      <p:sp>
        <p:nvSpPr>
          <p:cNvPr id="66" name="Rectangle 65">
            <a:extLst>
              <a:ext uri="{FF2B5EF4-FFF2-40B4-BE49-F238E27FC236}">
                <a16:creationId xmlns:a16="http://schemas.microsoft.com/office/drawing/2014/main" id="{D0E88860-FFEB-4B9F-BE68-C350264A6023}"/>
              </a:ext>
            </a:extLst>
          </p:cNvPr>
          <p:cNvSpPr>
            <a:spLocks noGrp="1"/>
          </p:cNvSpPr>
          <p:nvPr/>
        </p:nvSpPr>
        <p:spPr>
          <a:xfrm>
            <a:off x="2009775" y="4552950"/>
            <a:ext cx="295275" cy="295275"/>
          </a:xfrm>
          <a:prstGeom prst="rect">
            <a:avLst/>
          </a:prstGeom>
          <a:solidFill>
            <a:srgbClr val="3CA5AF"/>
          </a:solidFill>
          <a:ln w="9525">
            <a:solidFill>
              <a:srgbClr val="C4CACC"/>
            </a:solidFill>
          </a:ln>
        </p:spPr>
      </p:sp>
      <p:sp>
        <p:nvSpPr>
          <p:cNvPr id="67" name="Rectangle 66">
            <a:extLst>
              <a:ext uri="{FF2B5EF4-FFF2-40B4-BE49-F238E27FC236}">
                <a16:creationId xmlns:a16="http://schemas.microsoft.com/office/drawing/2014/main" id="{D9C65110-67B3-4E6E-BB95-0D8EFC7DC916}"/>
              </a:ext>
            </a:extLst>
          </p:cNvPr>
          <p:cNvSpPr>
            <a:spLocks noGrp="1"/>
          </p:cNvSpPr>
          <p:nvPr/>
        </p:nvSpPr>
        <p:spPr>
          <a:xfrm>
            <a:off x="2305050" y="4552950"/>
            <a:ext cx="295275" cy="295275"/>
          </a:xfrm>
          <a:prstGeom prst="rect">
            <a:avLst/>
          </a:prstGeom>
          <a:solidFill>
            <a:srgbClr val="3CA5AF"/>
          </a:solidFill>
          <a:ln w="9525">
            <a:solidFill>
              <a:srgbClr val="C4CACC"/>
            </a:solidFill>
          </a:ln>
        </p:spPr>
      </p:sp>
      <p:sp>
        <p:nvSpPr>
          <p:cNvPr id="68" name="Rectangle 67">
            <a:extLst>
              <a:ext uri="{FF2B5EF4-FFF2-40B4-BE49-F238E27FC236}">
                <a16:creationId xmlns:a16="http://schemas.microsoft.com/office/drawing/2014/main" id="{ED5F31CE-DE78-489D-A77D-A6DBAEBE6E8E}"/>
              </a:ext>
            </a:extLst>
          </p:cNvPr>
          <p:cNvSpPr>
            <a:spLocks noGrp="1"/>
          </p:cNvSpPr>
          <p:nvPr/>
        </p:nvSpPr>
        <p:spPr>
          <a:xfrm>
            <a:off x="2600325" y="4552950"/>
            <a:ext cx="295275" cy="295275"/>
          </a:xfrm>
          <a:prstGeom prst="rect">
            <a:avLst/>
          </a:prstGeom>
          <a:solidFill>
            <a:srgbClr val="3CA5AF"/>
          </a:solidFill>
          <a:ln w="9525">
            <a:solidFill>
              <a:srgbClr val="C4CACC"/>
            </a:solidFill>
          </a:ln>
        </p:spPr>
      </p:sp>
      <p:sp>
        <p:nvSpPr>
          <p:cNvPr id="69" name="Rectangle 68">
            <a:extLst>
              <a:ext uri="{FF2B5EF4-FFF2-40B4-BE49-F238E27FC236}">
                <a16:creationId xmlns:a16="http://schemas.microsoft.com/office/drawing/2014/main" id="{9CDD9BD8-A1B6-4436-9005-602E61C92DA1}"/>
              </a:ext>
            </a:extLst>
          </p:cNvPr>
          <p:cNvSpPr>
            <a:spLocks noGrp="1"/>
          </p:cNvSpPr>
          <p:nvPr/>
        </p:nvSpPr>
        <p:spPr>
          <a:xfrm>
            <a:off x="2895600" y="4552950"/>
            <a:ext cx="295275" cy="295275"/>
          </a:xfrm>
          <a:prstGeom prst="rect">
            <a:avLst/>
          </a:prstGeom>
          <a:solidFill>
            <a:srgbClr val="3CA5AF"/>
          </a:solidFill>
          <a:ln w="9525">
            <a:solidFill>
              <a:srgbClr val="C4CACC"/>
            </a:solidFill>
          </a:ln>
        </p:spPr>
      </p:sp>
      <p:sp>
        <p:nvSpPr>
          <p:cNvPr id="70" name="Rectangle 69">
            <a:extLst>
              <a:ext uri="{FF2B5EF4-FFF2-40B4-BE49-F238E27FC236}">
                <a16:creationId xmlns:a16="http://schemas.microsoft.com/office/drawing/2014/main" id="{2B5EFCFB-5F59-41C4-8152-4B30826187D3}"/>
              </a:ext>
            </a:extLst>
          </p:cNvPr>
          <p:cNvSpPr>
            <a:spLocks noGrp="1"/>
          </p:cNvSpPr>
          <p:nvPr/>
        </p:nvSpPr>
        <p:spPr>
          <a:xfrm>
            <a:off x="3190875" y="4552950"/>
            <a:ext cx="295275" cy="295275"/>
          </a:xfrm>
          <a:prstGeom prst="rect">
            <a:avLst/>
          </a:prstGeom>
          <a:solidFill>
            <a:srgbClr val="3CA5AF"/>
          </a:solidFill>
          <a:ln w="9525">
            <a:solidFill>
              <a:srgbClr val="C4CACC"/>
            </a:solidFill>
          </a:ln>
        </p:spPr>
      </p:sp>
      <p:sp>
        <p:nvSpPr>
          <p:cNvPr id="71" name="Rectangle 70">
            <a:extLst>
              <a:ext uri="{FF2B5EF4-FFF2-40B4-BE49-F238E27FC236}">
                <a16:creationId xmlns:a16="http://schemas.microsoft.com/office/drawing/2014/main" id="{04F9655B-7C60-4FD0-AF09-277C5D1BCA02}"/>
              </a:ext>
            </a:extLst>
          </p:cNvPr>
          <p:cNvSpPr>
            <a:spLocks noGrp="1"/>
          </p:cNvSpPr>
          <p:nvPr/>
        </p:nvSpPr>
        <p:spPr>
          <a:xfrm>
            <a:off x="3486150" y="4552950"/>
            <a:ext cx="295275" cy="295275"/>
          </a:xfrm>
          <a:prstGeom prst="rect">
            <a:avLst/>
          </a:prstGeom>
          <a:solidFill>
            <a:srgbClr val="3CA5AF"/>
          </a:solidFill>
          <a:ln w="9525">
            <a:solidFill>
              <a:srgbClr val="C4CACC"/>
            </a:solidFill>
          </a:ln>
        </p:spPr>
      </p:sp>
      <p:sp>
        <p:nvSpPr>
          <p:cNvPr id="72" name="Rectangle 71">
            <a:extLst>
              <a:ext uri="{FF2B5EF4-FFF2-40B4-BE49-F238E27FC236}">
                <a16:creationId xmlns:a16="http://schemas.microsoft.com/office/drawing/2014/main" id="{A633D6FD-E92A-4343-90C6-026CA9ED8D68}"/>
              </a:ext>
            </a:extLst>
          </p:cNvPr>
          <p:cNvSpPr>
            <a:spLocks noGrp="1"/>
          </p:cNvSpPr>
          <p:nvPr/>
        </p:nvSpPr>
        <p:spPr>
          <a:xfrm>
            <a:off x="3781425" y="4552950"/>
            <a:ext cx="295275" cy="295275"/>
          </a:xfrm>
          <a:prstGeom prst="rect">
            <a:avLst/>
          </a:prstGeom>
          <a:solidFill>
            <a:srgbClr val="FFFFFF"/>
          </a:solidFill>
          <a:ln w="9525">
            <a:solidFill>
              <a:srgbClr val="C4CACC"/>
            </a:solidFill>
          </a:ln>
        </p:spPr>
      </p:sp>
      <p:sp>
        <p:nvSpPr>
          <p:cNvPr id="73" name="Rectangle 72">
            <a:extLst>
              <a:ext uri="{FF2B5EF4-FFF2-40B4-BE49-F238E27FC236}">
                <a16:creationId xmlns:a16="http://schemas.microsoft.com/office/drawing/2014/main" id="{6FE85418-F40D-47E6-BBD6-2FA704E5F026}"/>
              </a:ext>
            </a:extLst>
          </p:cNvPr>
          <p:cNvSpPr>
            <a:spLocks noGrp="1"/>
          </p:cNvSpPr>
          <p:nvPr/>
        </p:nvSpPr>
        <p:spPr>
          <a:xfrm>
            <a:off x="1447800" y="4886325"/>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8</a:t>
            </a:r>
          </a:p>
        </p:txBody>
      </p:sp>
      <p:sp>
        <p:nvSpPr>
          <p:cNvPr id="74" name="Rectangle 73">
            <a:extLst>
              <a:ext uri="{FF2B5EF4-FFF2-40B4-BE49-F238E27FC236}">
                <a16:creationId xmlns:a16="http://schemas.microsoft.com/office/drawing/2014/main" id="{31450D1C-44DE-4FA8-9AB4-78643D71D85E}"/>
              </a:ext>
            </a:extLst>
          </p:cNvPr>
          <p:cNvSpPr>
            <a:spLocks noGrp="1"/>
          </p:cNvSpPr>
          <p:nvPr/>
        </p:nvSpPr>
        <p:spPr>
          <a:xfrm>
            <a:off x="1714500" y="4848225"/>
            <a:ext cx="295275" cy="295275"/>
          </a:xfrm>
          <a:prstGeom prst="rect">
            <a:avLst/>
          </a:prstGeom>
          <a:solidFill>
            <a:srgbClr val="3CA5AF"/>
          </a:solidFill>
          <a:ln w="9525">
            <a:solidFill>
              <a:srgbClr val="C4CACC"/>
            </a:solidFill>
          </a:ln>
        </p:spPr>
      </p:sp>
      <p:sp>
        <p:nvSpPr>
          <p:cNvPr id="75" name="Rectangle 74">
            <a:extLst>
              <a:ext uri="{FF2B5EF4-FFF2-40B4-BE49-F238E27FC236}">
                <a16:creationId xmlns:a16="http://schemas.microsoft.com/office/drawing/2014/main" id="{362EC100-F841-4223-8F57-900447C8A367}"/>
              </a:ext>
            </a:extLst>
          </p:cNvPr>
          <p:cNvSpPr>
            <a:spLocks noGrp="1"/>
          </p:cNvSpPr>
          <p:nvPr/>
        </p:nvSpPr>
        <p:spPr>
          <a:xfrm>
            <a:off x="2009775" y="4848225"/>
            <a:ext cx="295275" cy="295275"/>
          </a:xfrm>
          <a:prstGeom prst="rect">
            <a:avLst/>
          </a:prstGeom>
          <a:solidFill>
            <a:srgbClr val="3CA5AF"/>
          </a:solidFill>
          <a:ln w="9525">
            <a:solidFill>
              <a:srgbClr val="C4CACC"/>
            </a:solidFill>
          </a:ln>
        </p:spPr>
      </p:sp>
      <p:sp>
        <p:nvSpPr>
          <p:cNvPr id="76" name="Rectangle 75">
            <a:extLst>
              <a:ext uri="{FF2B5EF4-FFF2-40B4-BE49-F238E27FC236}">
                <a16:creationId xmlns:a16="http://schemas.microsoft.com/office/drawing/2014/main" id="{1991DC66-D7A2-4D4F-8B6A-6415A0BF4399}"/>
              </a:ext>
            </a:extLst>
          </p:cNvPr>
          <p:cNvSpPr>
            <a:spLocks noGrp="1"/>
          </p:cNvSpPr>
          <p:nvPr/>
        </p:nvSpPr>
        <p:spPr>
          <a:xfrm>
            <a:off x="2305050" y="4848225"/>
            <a:ext cx="295275" cy="295275"/>
          </a:xfrm>
          <a:prstGeom prst="rect">
            <a:avLst/>
          </a:prstGeom>
          <a:solidFill>
            <a:srgbClr val="3CA5AF"/>
          </a:solidFill>
          <a:ln w="9525">
            <a:solidFill>
              <a:srgbClr val="C4CACC"/>
            </a:solidFill>
          </a:ln>
        </p:spPr>
      </p:sp>
      <p:sp>
        <p:nvSpPr>
          <p:cNvPr id="77" name="Rectangle 76">
            <a:extLst>
              <a:ext uri="{FF2B5EF4-FFF2-40B4-BE49-F238E27FC236}">
                <a16:creationId xmlns:a16="http://schemas.microsoft.com/office/drawing/2014/main" id="{3DFA61DC-AFDB-4356-BD17-65E536E2976C}"/>
              </a:ext>
            </a:extLst>
          </p:cNvPr>
          <p:cNvSpPr>
            <a:spLocks noGrp="1"/>
          </p:cNvSpPr>
          <p:nvPr/>
        </p:nvSpPr>
        <p:spPr>
          <a:xfrm>
            <a:off x="2600325" y="4848225"/>
            <a:ext cx="295275" cy="295275"/>
          </a:xfrm>
          <a:prstGeom prst="rect">
            <a:avLst/>
          </a:prstGeom>
          <a:solidFill>
            <a:srgbClr val="3CA5AF"/>
          </a:solidFill>
          <a:ln w="9525">
            <a:solidFill>
              <a:srgbClr val="C4CACC"/>
            </a:solidFill>
          </a:ln>
        </p:spPr>
      </p:sp>
      <p:sp>
        <p:nvSpPr>
          <p:cNvPr id="78" name="Rectangle 77">
            <a:extLst>
              <a:ext uri="{FF2B5EF4-FFF2-40B4-BE49-F238E27FC236}">
                <a16:creationId xmlns:a16="http://schemas.microsoft.com/office/drawing/2014/main" id="{E55371AE-7335-4B88-8F56-65380555D96E}"/>
              </a:ext>
            </a:extLst>
          </p:cNvPr>
          <p:cNvSpPr>
            <a:spLocks noGrp="1"/>
          </p:cNvSpPr>
          <p:nvPr/>
        </p:nvSpPr>
        <p:spPr>
          <a:xfrm>
            <a:off x="2895600" y="4848225"/>
            <a:ext cx="295275" cy="295275"/>
          </a:xfrm>
          <a:prstGeom prst="rect">
            <a:avLst/>
          </a:prstGeom>
          <a:solidFill>
            <a:srgbClr val="3CA5AF"/>
          </a:solidFill>
          <a:ln w="9525">
            <a:solidFill>
              <a:srgbClr val="C4CACC"/>
            </a:solidFill>
          </a:ln>
        </p:spPr>
      </p:sp>
      <p:sp>
        <p:nvSpPr>
          <p:cNvPr id="79" name="Rectangle 78">
            <a:extLst>
              <a:ext uri="{FF2B5EF4-FFF2-40B4-BE49-F238E27FC236}">
                <a16:creationId xmlns:a16="http://schemas.microsoft.com/office/drawing/2014/main" id="{2B9EEB70-D60C-489C-9D54-65661B5F6F93}"/>
              </a:ext>
            </a:extLst>
          </p:cNvPr>
          <p:cNvSpPr>
            <a:spLocks noGrp="1"/>
          </p:cNvSpPr>
          <p:nvPr/>
        </p:nvSpPr>
        <p:spPr>
          <a:xfrm>
            <a:off x="3190875" y="4848225"/>
            <a:ext cx="295275" cy="295275"/>
          </a:xfrm>
          <a:prstGeom prst="rect">
            <a:avLst/>
          </a:prstGeom>
          <a:solidFill>
            <a:srgbClr val="3CA5AF"/>
          </a:solidFill>
          <a:ln w="9525">
            <a:solidFill>
              <a:srgbClr val="C4CACC"/>
            </a:solidFill>
          </a:ln>
        </p:spPr>
      </p:sp>
      <p:sp>
        <p:nvSpPr>
          <p:cNvPr id="80" name="Rectangle 79">
            <a:extLst>
              <a:ext uri="{FF2B5EF4-FFF2-40B4-BE49-F238E27FC236}">
                <a16:creationId xmlns:a16="http://schemas.microsoft.com/office/drawing/2014/main" id="{0743BAD3-5A01-480C-8C75-F045493BFE07}"/>
              </a:ext>
            </a:extLst>
          </p:cNvPr>
          <p:cNvSpPr>
            <a:spLocks noGrp="1"/>
          </p:cNvSpPr>
          <p:nvPr/>
        </p:nvSpPr>
        <p:spPr>
          <a:xfrm>
            <a:off x="3486150" y="4848225"/>
            <a:ext cx="295275" cy="295275"/>
          </a:xfrm>
          <a:prstGeom prst="rect">
            <a:avLst/>
          </a:prstGeom>
          <a:solidFill>
            <a:srgbClr val="3CA5AF"/>
          </a:solidFill>
          <a:ln w="9525">
            <a:solidFill>
              <a:srgbClr val="C4CACC"/>
            </a:solidFill>
          </a:ln>
        </p:spPr>
      </p:sp>
      <p:sp>
        <p:nvSpPr>
          <p:cNvPr id="81" name="Rectangle 80">
            <a:extLst>
              <a:ext uri="{FF2B5EF4-FFF2-40B4-BE49-F238E27FC236}">
                <a16:creationId xmlns:a16="http://schemas.microsoft.com/office/drawing/2014/main" id="{F7C17F00-5224-468C-AE04-E455505E2D06}"/>
              </a:ext>
            </a:extLst>
          </p:cNvPr>
          <p:cNvSpPr>
            <a:spLocks noGrp="1"/>
          </p:cNvSpPr>
          <p:nvPr/>
        </p:nvSpPr>
        <p:spPr>
          <a:xfrm>
            <a:off x="3781425" y="4848225"/>
            <a:ext cx="295275" cy="295275"/>
          </a:xfrm>
          <a:prstGeom prst="rect">
            <a:avLst/>
          </a:prstGeom>
          <a:solidFill>
            <a:srgbClr val="3CA5AF"/>
          </a:solidFill>
          <a:ln w="9525">
            <a:solidFill>
              <a:srgbClr val="C4CACC"/>
            </a:solidFill>
          </a:ln>
        </p:spPr>
      </p:sp>
      <p:sp>
        <p:nvSpPr>
          <p:cNvPr id="82" name="Rectangle 81">
            <a:extLst>
              <a:ext uri="{FF2B5EF4-FFF2-40B4-BE49-F238E27FC236}">
                <a16:creationId xmlns:a16="http://schemas.microsoft.com/office/drawing/2014/main" id="{C5245CBD-6C1D-4CAE-AD48-56B0AE7C9C1D}"/>
              </a:ext>
            </a:extLst>
          </p:cNvPr>
          <p:cNvSpPr>
            <a:spLocks noGrp="1"/>
          </p:cNvSpPr>
          <p:nvPr/>
        </p:nvSpPr>
        <p:spPr>
          <a:xfrm>
            <a:off x="7477125" y="2447925"/>
            <a:ext cx="2952750" cy="285750"/>
          </a:xfrm>
          <a:prstGeom prst="rect">
            <a:avLst/>
          </a:prstGeom>
          <a:noFill/>
          <a:ln w="0">
            <a:noFill/>
          </a:ln>
        </p:spPr>
        <p:txBody>
          <a:bodyPr wrap="square" lIns="0" tIns="0" rIns="0" bIns="0" anchor="t">
            <a:noAutofit/>
          </a:bodyPr>
          <a:lstStyle>
            <a:defPPr algn="l">
              <a:defRPr sz="1650" b="0">
                <a:solidFill>
                  <a:srgbClr val="171717"/>
                </a:solidFill>
                <a:latin typeface="Calibri"/>
                <a:ea typeface="Calibri"/>
                <a:cs typeface="Calibri"/>
              </a:defRPr>
            </a:defPPr>
            <a:lvl1pPr algn="l">
              <a:defRPr sz="1650" b="0">
                <a:solidFill>
                  <a:srgbClr val="171717"/>
                </a:solidFill>
                <a:latin typeface="Calibri"/>
                <a:ea typeface="Calibri"/>
                <a:cs typeface="Calibri"/>
              </a:defRPr>
            </a:lvl1pPr>
            <a:lvl2pPr algn="l">
              <a:defRPr sz="1650" b="0">
                <a:solidFill>
                  <a:srgbClr val="171717"/>
                </a:solidFill>
                <a:latin typeface="Calibri"/>
                <a:ea typeface="Calibri"/>
                <a:cs typeface="Calibri"/>
              </a:defRPr>
            </a:lvl2pPr>
            <a:lvl3pPr algn="l">
              <a:defRPr sz="1650" b="0">
                <a:solidFill>
                  <a:srgbClr val="171717"/>
                </a:solidFill>
                <a:latin typeface="Calibri"/>
                <a:ea typeface="Calibri"/>
                <a:cs typeface="Calibri"/>
              </a:defRPr>
            </a:lvl3pPr>
            <a:lvl4pPr algn="l">
              <a:defRPr sz="1650" b="0">
                <a:solidFill>
                  <a:srgbClr val="171717"/>
                </a:solidFill>
                <a:latin typeface="Calibri"/>
                <a:ea typeface="Calibri"/>
                <a:cs typeface="Calibri"/>
              </a:defRPr>
            </a:lvl4pPr>
            <a:lvl5pPr algn="l">
              <a:defRPr sz="1650" b="0">
                <a:solidFill>
                  <a:srgbClr val="171717"/>
                </a:solidFill>
                <a:latin typeface="Calibri"/>
                <a:ea typeface="Calibri"/>
                <a:cs typeface="Calibri"/>
              </a:defRPr>
            </a:lvl5pPr>
            <a:lvl6pPr algn="l">
              <a:defRPr sz="1650" b="0">
                <a:solidFill>
                  <a:srgbClr val="171717"/>
                </a:solidFill>
                <a:latin typeface="Calibri"/>
                <a:ea typeface="Calibri"/>
                <a:cs typeface="Calibri"/>
              </a:defRPr>
            </a:lvl6pPr>
            <a:lvl7pPr algn="l">
              <a:defRPr sz="1650" b="0">
                <a:solidFill>
                  <a:srgbClr val="171717"/>
                </a:solidFill>
                <a:latin typeface="Calibri"/>
                <a:ea typeface="Calibri"/>
                <a:cs typeface="Calibri"/>
              </a:defRPr>
            </a:lvl7pPr>
            <a:lvl8pPr algn="l">
              <a:defRPr sz="1650" b="0">
                <a:solidFill>
                  <a:srgbClr val="171717"/>
                </a:solidFill>
                <a:latin typeface="Calibri"/>
                <a:ea typeface="Calibri"/>
                <a:cs typeface="Calibri"/>
              </a:defRPr>
            </a:lvl8pPr>
            <a:lvl9pPr algn="l">
              <a:defRPr sz="1650" b="0">
                <a:solidFill>
                  <a:srgbClr val="171717"/>
                </a:solidFill>
                <a:latin typeface="Calibri"/>
                <a:ea typeface="Calibri"/>
                <a:cs typeface="Calibri"/>
              </a:defRPr>
            </a:lvl9pPr>
          </a:lstStyle>
          <a:p>
            <a:pPr algn="l">
              <a:defRPr sz="1650" b="0">
                <a:solidFill>
                  <a:srgbClr val="171717"/>
                </a:solidFill>
                <a:latin typeface="Calibri"/>
                <a:ea typeface="Calibri"/>
                <a:cs typeface="Calibri"/>
              </a:defRPr>
            </a:pPr>
            <a:r>
              <a:rPr sz="1650" b="0">
                <a:solidFill>
                  <a:srgbClr val="171717"/>
                </a:solidFill>
                <a:latin typeface="Calibri"/>
                <a:ea typeface="Calibri"/>
                <a:cs typeface="Calibri"/>
              </a:rPr>
              <a:t>Keys 1–8</a:t>
            </a:r>
          </a:p>
        </p:txBody>
      </p:sp>
      <p:sp>
        <p:nvSpPr>
          <p:cNvPr id="83" name="Rectangle 82">
            <a:extLst>
              <a:ext uri="{FF2B5EF4-FFF2-40B4-BE49-F238E27FC236}">
                <a16:creationId xmlns:a16="http://schemas.microsoft.com/office/drawing/2014/main" id="{1303D62B-1DFA-49B0-831C-3595CFCFB821}"/>
              </a:ext>
            </a:extLst>
          </p:cNvPr>
          <p:cNvSpPr>
            <a:spLocks noGrp="1"/>
          </p:cNvSpPr>
          <p:nvPr/>
        </p:nvSpPr>
        <p:spPr>
          <a:xfrm>
            <a:off x="6286500" y="3667125"/>
            <a:ext cx="857250" cy="333375"/>
          </a:xfrm>
          <a:prstGeom prst="rect">
            <a:avLst/>
          </a:prstGeom>
          <a:noFill/>
          <a:ln w="0">
            <a:noFill/>
          </a:ln>
        </p:spPr>
        <p:txBody>
          <a:bodyPr wrap="square" lIns="0" tIns="0" rIns="0" bIns="0" anchor="t">
            <a:noAutofit/>
          </a:bodyPr>
          <a:lstStyle>
            <a:defPPr algn="l">
              <a:defRPr sz="1650" b="0">
                <a:solidFill>
                  <a:srgbClr val="171717"/>
                </a:solidFill>
                <a:latin typeface="Calibri"/>
                <a:ea typeface="Calibri"/>
                <a:cs typeface="Calibri"/>
              </a:defRPr>
            </a:defPPr>
            <a:lvl1pPr algn="l">
              <a:defRPr sz="1650" b="0">
                <a:solidFill>
                  <a:srgbClr val="171717"/>
                </a:solidFill>
                <a:latin typeface="Calibri"/>
                <a:ea typeface="Calibri"/>
                <a:cs typeface="Calibri"/>
              </a:defRPr>
            </a:lvl1pPr>
            <a:lvl2pPr algn="l">
              <a:defRPr sz="1650" b="0">
                <a:solidFill>
                  <a:srgbClr val="171717"/>
                </a:solidFill>
                <a:latin typeface="Calibri"/>
                <a:ea typeface="Calibri"/>
                <a:cs typeface="Calibri"/>
              </a:defRPr>
            </a:lvl2pPr>
            <a:lvl3pPr algn="l">
              <a:defRPr sz="1650" b="0">
                <a:solidFill>
                  <a:srgbClr val="171717"/>
                </a:solidFill>
                <a:latin typeface="Calibri"/>
                <a:ea typeface="Calibri"/>
                <a:cs typeface="Calibri"/>
              </a:defRPr>
            </a:lvl3pPr>
            <a:lvl4pPr algn="l">
              <a:defRPr sz="1650" b="0">
                <a:solidFill>
                  <a:srgbClr val="171717"/>
                </a:solidFill>
                <a:latin typeface="Calibri"/>
                <a:ea typeface="Calibri"/>
                <a:cs typeface="Calibri"/>
              </a:defRPr>
            </a:lvl4pPr>
            <a:lvl5pPr algn="l">
              <a:defRPr sz="1650" b="0">
                <a:solidFill>
                  <a:srgbClr val="171717"/>
                </a:solidFill>
                <a:latin typeface="Calibri"/>
                <a:ea typeface="Calibri"/>
                <a:cs typeface="Calibri"/>
              </a:defRPr>
            </a:lvl5pPr>
            <a:lvl6pPr algn="l">
              <a:defRPr sz="1650" b="0">
                <a:solidFill>
                  <a:srgbClr val="171717"/>
                </a:solidFill>
                <a:latin typeface="Calibri"/>
                <a:ea typeface="Calibri"/>
                <a:cs typeface="Calibri"/>
              </a:defRPr>
            </a:lvl6pPr>
            <a:lvl7pPr algn="l">
              <a:defRPr sz="1650" b="0">
                <a:solidFill>
                  <a:srgbClr val="171717"/>
                </a:solidFill>
                <a:latin typeface="Calibri"/>
                <a:ea typeface="Calibri"/>
                <a:cs typeface="Calibri"/>
              </a:defRPr>
            </a:lvl7pPr>
            <a:lvl8pPr algn="l">
              <a:defRPr sz="1650" b="0">
                <a:solidFill>
                  <a:srgbClr val="171717"/>
                </a:solidFill>
                <a:latin typeface="Calibri"/>
                <a:ea typeface="Calibri"/>
                <a:cs typeface="Calibri"/>
              </a:defRPr>
            </a:lvl8pPr>
            <a:lvl9pPr algn="l">
              <a:defRPr sz="1650" b="0">
                <a:solidFill>
                  <a:srgbClr val="171717"/>
                </a:solidFill>
                <a:latin typeface="Calibri"/>
                <a:ea typeface="Calibri"/>
                <a:cs typeface="Calibri"/>
              </a:defRPr>
            </a:lvl9pPr>
          </a:lstStyle>
          <a:p>
            <a:pPr algn="l">
              <a:defRPr sz="1650" b="0">
                <a:solidFill>
                  <a:srgbClr val="171717"/>
                </a:solidFill>
                <a:latin typeface="Calibri"/>
                <a:ea typeface="Calibri"/>
                <a:cs typeface="Calibri"/>
              </a:defRPr>
            </a:pPr>
            <a:r>
              <a:rPr sz="1650" b="0">
                <a:solidFill>
                  <a:srgbClr val="171717"/>
                </a:solidFill>
                <a:latin typeface="Calibri"/>
                <a:ea typeface="Calibri"/>
                <a:cs typeface="Calibri"/>
              </a:rPr>
              <a:t>Query</a:t>
            </a:r>
          </a:p>
        </p:txBody>
      </p:sp>
      <p:sp>
        <p:nvSpPr>
          <p:cNvPr id="84" name="Rectangle 83">
            <a:extLst>
              <a:ext uri="{FF2B5EF4-FFF2-40B4-BE49-F238E27FC236}">
                <a16:creationId xmlns:a16="http://schemas.microsoft.com/office/drawing/2014/main" id="{3BA01439-1F4D-42FB-8F08-7EC3C8D80B02}"/>
              </a:ext>
            </a:extLst>
          </p:cNvPr>
          <p:cNvSpPr>
            <a:spLocks noGrp="1"/>
          </p:cNvSpPr>
          <p:nvPr/>
        </p:nvSpPr>
        <p:spPr>
          <a:xfrm>
            <a:off x="7258050" y="2819400"/>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1</a:t>
            </a:r>
          </a:p>
        </p:txBody>
      </p:sp>
      <p:sp>
        <p:nvSpPr>
          <p:cNvPr id="85" name="Rectangle 84">
            <a:extLst>
              <a:ext uri="{FF2B5EF4-FFF2-40B4-BE49-F238E27FC236}">
                <a16:creationId xmlns:a16="http://schemas.microsoft.com/office/drawing/2014/main" id="{4F475E8C-15F3-404A-B3D6-E4FC830393D4}"/>
              </a:ext>
            </a:extLst>
          </p:cNvPr>
          <p:cNvSpPr>
            <a:spLocks noGrp="1"/>
          </p:cNvSpPr>
          <p:nvPr/>
        </p:nvSpPr>
        <p:spPr>
          <a:xfrm>
            <a:off x="7524750" y="2781300"/>
            <a:ext cx="295275" cy="295275"/>
          </a:xfrm>
          <a:prstGeom prst="rect">
            <a:avLst/>
          </a:prstGeom>
          <a:solidFill>
            <a:srgbClr val="3CA5AF"/>
          </a:solidFill>
          <a:ln w="9525">
            <a:solidFill>
              <a:srgbClr val="C4CACC"/>
            </a:solidFill>
          </a:ln>
        </p:spPr>
      </p:sp>
      <p:sp>
        <p:nvSpPr>
          <p:cNvPr id="86" name="Rectangle 85">
            <a:extLst>
              <a:ext uri="{FF2B5EF4-FFF2-40B4-BE49-F238E27FC236}">
                <a16:creationId xmlns:a16="http://schemas.microsoft.com/office/drawing/2014/main" id="{9A9514B4-4EF2-4E5F-BDA7-18B05CD107F0}"/>
              </a:ext>
            </a:extLst>
          </p:cNvPr>
          <p:cNvSpPr>
            <a:spLocks noGrp="1"/>
          </p:cNvSpPr>
          <p:nvPr/>
        </p:nvSpPr>
        <p:spPr>
          <a:xfrm>
            <a:off x="7820025" y="2781300"/>
            <a:ext cx="295275" cy="295275"/>
          </a:xfrm>
          <a:prstGeom prst="rect">
            <a:avLst/>
          </a:prstGeom>
          <a:solidFill>
            <a:srgbClr val="FFFFFF"/>
          </a:solidFill>
          <a:ln w="9525">
            <a:solidFill>
              <a:srgbClr val="C4CACC"/>
            </a:solidFill>
          </a:ln>
        </p:spPr>
      </p:sp>
      <p:sp>
        <p:nvSpPr>
          <p:cNvPr id="87" name="Rectangle 86">
            <a:extLst>
              <a:ext uri="{FF2B5EF4-FFF2-40B4-BE49-F238E27FC236}">
                <a16:creationId xmlns:a16="http://schemas.microsoft.com/office/drawing/2014/main" id="{313841AF-9CCC-458C-B4C4-AC4F1DC1DB69}"/>
              </a:ext>
            </a:extLst>
          </p:cNvPr>
          <p:cNvSpPr>
            <a:spLocks noGrp="1"/>
          </p:cNvSpPr>
          <p:nvPr/>
        </p:nvSpPr>
        <p:spPr>
          <a:xfrm>
            <a:off x="8115300" y="2781300"/>
            <a:ext cx="295275" cy="295275"/>
          </a:xfrm>
          <a:prstGeom prst="rect">
            <a:avLst/>
          </a:prstGeom>
          <a:solidFill>
            <a:srgbClr val="FFFFFF"/>
          </a:solidFill>
          <a:ln w="9525">
            <a:solidFill>
              <a:srgbClr val="C4CACC"/>
            </a:solidFill>
          </a:ln>
        </p:spPr>
      </p:sp>
      <p:sp>
        <p:nvSpPr>
          <p:cNvPr id="88" name="Rectangle 87">
            <a:extLst>
              <a:ext uri="{FF2B5EF4-FFF2-40B4-BE49-F238E27FC236}">
                <a16:creationId xmlns:a16="http://schemas.microsoft.com/office/drawing/2014/main" id="{7839F346-13BE-4C6A-A43C-499BCA3E57E7}"/>
              </a:ext>
            </a:extLst>
          </p:cNvPr>
          <p:cNvSpPr>
            <a:spLocks noGrp="1"/>
          </p:cNvSpPr>
          <p:nvPr/>
        </p:nvSpPr>
        <p:spPr>
          <a:xfrm>
            <a:off x="8410575" y="2781300"/>
            <a:ext cx="295275" cy="295275"/>
          </a:xfrm>
          <a:prstGeom prst="rect">
            <a:avLst/>
          </a:prstGeom>
          <a:solidFill>
            <a:srgbClr val="FFFFFF"/>
          </a:solidFill>
          <a:ln w="9525">
            <a:solidFill>
              <a:srgbClr val="C4CACC"/>
            </a:solidFill>
          </a:ln>
        </p:spPr>
      </p:sp>
      <p:sp>
        <p:nvSpPr>
          <p:cNvPr id="89" name="Rectangle 88">
            <a:extLst>
              <a:ext uri="{FF2B5EF4-FFF2-40B4-BE49-F238E27FC236}">
                <a16:creationId xmlns:a16="http://schemas.microsoft.com/office/drawing/2014/main" id="{BAC93CBC-E6E6-4FF0-88A1-CE5052CC736F}"/>
              </a:ext>
            </a:extLst>
          </p:cNvPr>
          <p:cNvSpPr>
            <a:spLocks noGrp="1"/>
          </p:cNvSpPr>
          <p:nvPr/>
        </p:nvSpPr>
        <p:spPr>
          <a:xfrm>
            <a:off x="8705850" y="2781300"/>
            <a:ext cx="295275" cy="295275"/>
          </a:xfrm>
          <a:prstGeom prst="rect">
            <a:avLst/>
          </a:prstGeom>
          <a:solidFill>
            <a:srgbClr val="FFFFFF"/>
          </a:solidFill>
          <a:ln w="9525">
            <a:solidFill>
              <a:srgbClr val="C4CACC"/>
            </a:solidFill>
          </a:ln>
        </p:spPr>
      </p:sp>
      <p:sp>
        <p:nvSpPr>
          <p:cNvPr id="90" name="Rectangle 89">
            <a:extLst>
              <a:ext uri="{FF2B5EF4-FFF2-40B4-BE49-F238E27FC236}">
                <a16:creationId xmlns:a16="http://schemas.microsoft.com/office/drawing/2014/main" id="{71FED4CD-E948-4108-9D91-1847D7AEDA2E}"/>
              </a:ext>
            </a:extLst>
          </p:cNvPr>
          <p:cNvSpPr>
            <a:spLocks noGrp="1"/>
          </p:cNvSpPr>
          <p:nvPr/>
        </p:nvSpPr>
        <p:spPr>
          <a:xfrm>
            <a:off x="9001125" y="2781300"/>
            <a:ext cx="295275" cy="295275"/>
          </a:xfrm>
          <a:prstGeom prst="rect">
            <a:avLst/>
          </a:prstGeom>
          <a:solidFill>
            <a:srgbClr val="FFFFFF"/>
          </a:solidFill>
          <a:ln w="9525">
            <a:solidFill>
              <a:srgbClr val="C4CACC"/>
            </a:solidFill>
          </a:ln>
        </p:spPr>
      </p:sp>
      <p:sp>
        <p:nvSpPr>
          <p:cNvPr id="91" name="Rectangle 90">
            <a:extLst>
              <a:ext uri="{FF2B5EF4-FFF2-40B4-BE49-F238E27FC236}">
                <a16:creationId xmlns:a16="http://schemas.microsoft.com/office/drawing/2014/main" id="{8F342148-0D54-445A-9102-649B2E2E7537}"/>
              </a:ext>
            </a:extLst>
          </p:cNvPr>
          <p:cNvSpPr>
            <a:spLocks noGrp="1"/>
          </p:cNvSpPr>
          <p:nvPr/>
        </p:nvSpPr>
        <p:spPr>
          <a:xfrm>
            <a:off x="9296400" y="2781300"/>
            <a:ext cx="295275" cy="295275"/>
          </a:xfrm>
          <a:prstGeom prst="rect">
            <a:avLst/>
          </a:prstGeom>
          <a:solidFill>
            <a:srgbClr val="FFFFFF"/>
          </a:solidFill>
          <a:ln w="9525">
            <a:solidFill>
              <a:srgbClr val="C4CACC"/>
            </a:solidFill>
          </a:ln>
        </p:spPr>
      </p:sp>
      <p:sp>
        <p:nvSpPr>
          <p:cNvPr id="92" name="Rectangle 91">
            <a:extLst>
              <a:ext uri="{FF2B5EF4-FFF2-40B4-BE49-F238E27FC236}">
                <a16:creationId xmlns:a16="http://schemas.microsoft.com/office/drawing/2014/main" id="{184D863A-85F7-41CA-A59B-F5676B7DA4DC}"/>
              </a:ext>
            </a:extLst>
          </p:cNvPr>
          <p:cNvSpPr>
            <a:spLocks noGrp="1"/>
          </p:cNvSpPr>
          <p:nvPr/>
        </p:nvSpPr>
        <p:spPr>
          <a:xfrm>
            <a:off x="9591675" y="2781300"/>
            <a:ext cx="295275" cy="295275"/>
          </a:xfrm>
          <a:prstGeom prst="rect">
            <a:avLst/>
          </a:prstGeom>
          <a:solidFill>
            <a:srgbClr val="FFFFFF"/>
          </a:solidFill>
          <a:ln w="9525">
            <a:solidFill>
              <a:srgbClr val="C4CACC"/>
            </a:solidFill>
          </a:ln>
        </p:spPr>
      </p:sp>
      <p:sp>
        <p:nvSpPr>
          <p:cNvPr id="93" name="Rectangle 92">
            <a:extLst>
              <a:ext uri="{FF2B5EF4-FFF2-40B4-BE49-F238E27FC236}">
                <a16:creationId xmlns:a16="http://schemas.microsoft.com/office/drawing/2014/main" id="{E92248ED-C191-43A7-BD72-72207602F5B3}"/>
              </a:ext>
            </a:extLst>
          </p:cNvPr>
          <p:cNvSpPr>
            <a:spLocks noGrp="1"/>
          </p:cNvSpPr>
          <p:nvPr/>
        </p:nvSpPr>
        <p:spPr>
          <a:xfrm>
            <a:off x="7258050" y="3114675"/>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2</a:t>
            </a:r>
          </a:p>
        </p:txBody>
      </p:sp>
      <p:sp>
        <p:nvSpPr>
          <p:cNvPr id="94" name="Rectangle 93">
            <a:extLst>
              <a:ext uri="{FF2B5EF4-FFF2-40B4-BE49-F238E27FC236}">
                <a16:creationId xmlns:a16="http://schemas.microsoft.com/office/drawing/2014/main" id="{8A284C68-5251-4016-A21B-4FEF206509DF}"/>
              </a:ext>
            </a:extLst>
          </p:cNvPr>
          <p:cNvSpPr>
            <a:spLocks noGrp="1"/>
          </p:cNvSpPr>
          <p:nvPr/>
        </p:nvSpPr>
        <p:spPr>
          <a:xfrm>
            <a:off x="7524750" y="3076575"/>
            <a:ext cx="295275" cy="295275"/>
          </a:xfrm>
          <a:prstGeom prst="rect">
            <a:avLst/>
          </a:prstGeom>
          <a:solidFill>
            <a:srgbClr val="3CA5AF"/>
          </a:solidFill>
          <a:ln w="9525">
            <a:solidFill>
              <a:srgbClr val="C4CACC"/>
            </a:solidFill>
          </a:ln>
        </p:spPr>
      </p:sp>
      <p:sp>
        <p:nvSpPr>
          <p:cNvPr id="95" name="Rectangle 94">
            <a:extLst>
              <a:ext uri="{FF2B5EF4-FFF2-40B4-BE49-F238E27FC236}">
                <a16:creationId xmlns:a16="http://schemas.microsoft.com/office/drawing/2014/main" id="{4FEBA334-CD42-4F06-AD6C-7A766F02A726}"/>
              </a:ext>
            </a:extLst>
          </p:cNvPr>
          <p:cNvSpPr>
            <a:spLocks noGrp="1"/>
          </p:cNvSpPr>
          <p:nvPr/>
        </p:nvSpPr>
        <p:spPr>
          <a:xfrm>
            <a:off x="7820025" y="3076575"/>
            <a:ext cx="295275" cy="295275"/>
          </a:xfrm>
          <a:prstGeom prst="rect">
            <a:avLst/>
          </a:prstGeom>
          <a:solidFill>
            <a:srgbClr val="3CA5AF"/>
          </a:solidFill>
          <a:ln w="9525">
            <a:solidFill>
              <a:srgbClr val="C4CACC"/>
            </a:solidFill>
          </a:ln>
        </p:spPr>
      </p:sp>
      <p:sp>
        <p:nvSpPr>
          <p:cNvPr id="96" name="Rectangle 95">
            <a:extLst>
              <a:ext uri="{FF2B5EF4-FFF2-40B4-BE49-F238E27FC236}">
                <a16:creationId xmlns:a16="http://schemas.microsoft.com/office/drawing/2014/main" id="{1624892F-9724-436B-9BF4-7FFDE45969FB}"/>
              </a:ext>
            </a:extLst>
          </p:cNvPr>
          <p:cNvSpPr>
            <a:spLocks noGrp="1"/>
          </p:cNvSpPr>
          <p:nvPr/>
        </p:nvSpPr>
        <p:spPr>
          <a:xfrm>
            <a:off x="8115300" y="3076575"/>
            <a:ext cx="295275" cy="295275"/>
          </a:xfrm>
          <a:prstGeom prst="rect">
            <a:avLst/>
          </a:prstGeom>
          <a:solidFill>
            <a:srgbClr val="FFFFFF"/>
          </a:solidFill>
          <a:ln w="9525">
            <a:solidFill>
              <a:srgbClr val="C4CACC"/>
            </a:solidFill>
          </a:ln>
        </p:spPr>
      </p:sp>
      <p:sp>
        <p:nvSpPr>
          <p:cNvPr id="97" name="Rectangle 96">
            <a:extLst>
              <a:ext uri="{FF2B5EF4-FFF2-40B4-BE49-F238E27FC236}">
                <a16:creationId xmlns:a16="http://schemas.microsoft.com/office/drawing/2014/main" id="{7500F639-D6F3-4960-A089-B74E4FAEDA7F}"/>
              </a:ext>
            </a:extLst>
          </p:cNvPr>
          <p:cNvSpPr>
            <a:spLocks noGrp="1"/>
          </p:cNvSpPr>
          <p:nvPr/>
        </p:nvSpPr>
        <p:spPr>
          <a:xfrm>
            <a:off x="8410575" y="3076575"/>
            <a:ext cx="295275" cy="295275"/>
          </a:xfrm>
          <a:prstGeom prst="rect">
            <a:avLst/>
          </a:prstGeom>
          <a:solidFill>
            <a:srgbClr val="FFFFFF"/>
          </a:solidFill>
          <a:ln w="9525">
            <a:solidFill>
              <a:srgbClr val="C4CACC"/>
            </a:solidFill>
          </a:ln>
        </p:spPr>
      </p:sp>
      <p:sp>
        <p:nvSpPr>
          <p:cNvPr id="98" name="Rectangle 97">
            <a:extLst>
              <a:ext uri="{FF2B5EF4-FFF2-40B4-BE49-F238E27FC236}">
                <a16:creationId xmlns:a16="http://schemas.microsoft.com/office/drawing/2014/main" id="{31D78EF8-3FF5-4145-B022-DAEA7D97D393}"/>
              </a:ext>
            </a:extLst>
          </p:cNvPr>
          <p:cNvSpPr>
            <a:spLocks noGrp="1"/>
          </p:cNvSpPr>
          <p:nvPr/>
        </p:nvSpPr>
        <p:spPr>
          <a:xfrm>
            <a:off x="8705850" y="3076575"/>
            <a:ext cx="295275" cy="295275"/>
          </a:xfrm>
          <a:prstGeom prst="rect">
            <a:avLst/>
          </a:prstGeom>
          <a:solidFill>
            <a:srgbClr val="FFFFFF"/>
          </a:solidFill>
          <a:ln w="9525">
            <a:solidFill>
              <a:srgbClr val="C4CACC"/>
            </a:solidFill>
          </a:ln>
        </p:spPr>
      </p:sp>
      <p:sp>
        <p:nvSpPr>
          <p:cNvPr id="99" name="Rectangle 98">
            <a:extLst>
              <a:ext uri="{FF2B5EF4-FFF2-40B4-BE49-F238E27FC236}">
                <a16:creationId xmlns:a16="http://schemas.microsoft.com/office/drawing/2014/main" id="{92D582A1-7388-4AE4-8DE9-D0C1CAB3F5DB}"/>
              </a:ext>
            </a:extLst>
          </p:cNvPr>
          <p:cNvSpPr>
            <a:spLocks noGrp="1"/>
          </p:cNvSpPr>
          <p:nvPr/>
        </p:nvSpPr>
        <p:spPr>
          <a:xfrm>
            <a:off x="9001125" y="3076575"/>
            <a:ext cx="295275" cy="295275"/>
          </a:xfrm>
          <a:prstGeom prst="rect">
            <a:avLst/>
          </a:prstGeom>
          <a:solidFill>
            <a:srgbClr val="FFFFFF"/>
          </a:solidFill>
          <a:ln w="9525">
            <a:solidFill>
              <a:srgbClr val="C4CACC"/>
            </a:solidFill>
          </a:ln>
        </p:spPr>
      </p:sp>
      <p:sp>
        <p:nvSpPr>
          <p:cNvPr id="100" name="Rectangle 99">
            <a:extLst>
              <a:ext uri="{FF2B5EF4-FFF2-40B4-BE49-F238E27FC236}">
                <a16:creationId xmlns:a16="http://schemas.microsoft.com/office/drawing/2014/main" id="{4F5EE3FC-F712-442D-A49B-4E577A1D7457}"/>
              </a:ext>
            </a:extLst>
          </p:cNvPr>
          <p:cNvSpPr>
            <a:spLocks noGrp="1"/>
          </p:cNvSpPr>
          <p:nvPr/>
        </p:nvSpPr>
        <p:spPr>
          <a:xfrm>
            <a:off x="9296400" y="3076575"/>
            <a:ext cx="295275" cy="295275"/>
          </a:xfrm>
          <a:prstGeom prst="rect">
            <a:avLst/>
          </a:prstGeom>
          <a:solidFill>
            <a:srgbClr val="FFFFFF"/>
          </a:solidFill>
          <a:ln w="9525">
            <a:solidFill>
              <a:srgbClr val="C4CACC"/>
            </a:solidFill>
          </a:ln>
        </p:spPr>
      </p:sp>
      <p:sp>
        <p:nvSpPr>
          <p:cNvPr id="101" name="Rectangle 100">
            <a:extLst>
              <a:ext uri="{FF2B5EF4-FFF2-40B4-BE49-F238E27FC236}">
                <a16:creationId xmlns:a16="http://schemas.microsoft.com/office/drawing/2014/main" id="{588E113F-A665-4A40-B253-8D951F30513D}"/>
              </a:ext>
            </a:extLst>
          </p:cNvPr>
          <p:cNvSpPr>
            <a:spLocks noGrp="1"/>
          </p:cNvSpPr>
          <p:nvPr/>
        </p:nvSpPr>
        <p:spPr>
          <a:xfrm>
            <a:off x="9591675" y="3076575"/>
            <a:ext cx="295275" cy="295275"/>
          </a:xfrm>
          <a:prstGeom prst="rect">
            <a:avLst/>
          </a:prstGeom>
          <a:solidFill>
            <a:srgbClr val="FFFFFF"/>
          </a:solidFill>
          <a:ln w="9525">
            <a:solidFill>
              <a:srgbClr val="C4CACC"/>
            </a:solidFill>
          </a:ln>
        </p:spPr>
      </p:sp>
      <p:sp>
        <p:nvSpPr>
          <p:cNvPr id="102" name="Rectangle 101">
            <a:extLst>
              <a:ext uri="{FF2B5EF4-FFF2-40B4-BE49-F238E27FC236}">
                <a16:creationId xmlns:a16="http://schemas.microsoft.com/office/drawing/2014/main" id="{60944ABE-3080-4F95-A353-73C61EE80D10}"/>
              </a:ext>
            </a:extLst>
          </p:cNvPr>
          <p:cNvSpPr>
            <a:spLocks noGrp="1"/>
          </p:cNvSpPr>
          <p:nvPr/>
        </p:nvSpPr>
        <p:spPr>
          <a:xfrm>
            <a:off x="7258050" y="3409950"/>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3</a:t>
            </a:r>
          </a:p>
        </p:txBody>
      </p:sp>
      <p:sp>
        <p:nvSpPr>
          <p:cNvPr id="103" name="Rectangle 102">
            <a:extLst>
              <a:ext uri="{FF2B5EF4-FFF2-40B4-BE49-F238E27FC236}">
                <a16:creationId xmlns:a16="http://schemas.microsoft.com/office/drawing/2014/main" id="{3E9E30A1-0B20-474C-8385-BA3551C81D98}"/>
              </a:ext>
            </a:extLst>
          </p:cNvPr>
          <p:cNvSpPr>
            <a:spLocks noGrp="1"/>
          </p:cNvSpPr>
          <p:nvPr/>
        </p:nvSpPr>
        <p:spPr>
          <a:xfrm>
            <a:off x="7524750" y="3371850"/>
            <a:ext cx="295275" cy="295275"/>
          </a:xfrm>
          <a:prstGeom prst="rect">
            <a:avLst/>
          </a:prstGeom>
          <a:solidFill>
            <a:srgbClr val="3CA5AF"/>
          </a:solidFill>
          <a:ln w="9525">
            <a:solidFill>
              <a:srgbClr val="C4CACC"/>
            </a:solidFill>
          </a:ln>
        </p:spPr>
      </p:sp>
      <p:sp>
        <p:nvSpPr>
          <p:cNvPr id="104" name="Rectangle 103">
            <a:extLst>
              <a:ext uri="{FF2B5EF4-FFF2-40B4-BE49-F238E27FC236}">
                <a16:creationId xmlns:a16="http://schemas.microsoft.com/office/drawing/2014/main" id="{8C53D503-10FB-41B5-9277-AE05A891862C}"/>
              </a:ext>
            </a:extLst>
          </p:cNvPr>
          <p:cNvSpPr>
            <a:spLocks noGrp="1"/>
          </p:cNvSpPr>
          <p:nvPr/>
        </p:nvSpPr>
        <p:spPr>
          <a:xfrm>
            <a:off x="7820025" y="3371850"/>
            <a:ext cx="295275" cy="295275"/>
          </a:xfrm>
          <a:prstGeom prst="rect">
            <a:avLst/>
          </a:prstGeom>
          <a:solidFill>
            <a:srgbClr val="3CA5AF"/>
          </a:solidFill>
          <a:ln w="9525">
            <a:solidFill>
              <a:srgbClr val="C4CACC"/>
            </a:solidFill>
          </a:ln>
        </p:spPr>
      </p:sp>
      <p:sp>
        <p:nvSpPr>
          <p:cNvPr id="105" name="Rectangle 104">
            <a:extLst>
              <a:ext uri="{FF2B5EF4-FFF2-40B4-BE49-F238E27FC236}">
                <a16:creationId xmlns:a16="http://schemas.microsoft.com/office/drawing/2014/main" id="{FAA64278-D4C6-4B32-B3B1-5B76357BB586}"/>
              </a:ext>
            </a:extLst>
          </p:cNvPr>
          <p:cNvSpPr>
            <a:spLocks noGrp="1"/>
          </p:cNvSpPr>
          <p:nvPr/>
        </p:nvSpPr>
        <p:spPr>
          <a:xfrm>
            <a:off x="8115300" y="3371850"/>
            <a:ext cx="295275" cy="295275"/>
          </a:xfrm>
          <a:prstGeom prst="rect">
            <a:avLst/>
          </a:prstGeom>
          <a:solidFill>
            <a:srgbClr val="3CA5AF"/>
          </a:solidFill>
          <a:ln w="9525">
            <a:solidFill>
              <a:srgbClr val="C4CACC"/>
            </a:solidFill>
          </a:ln>
        </p:spPr>
      </p:sp>
      <p:sp>
        <p:nvSpPr>
          <p:cNvPr id="106" name="Rectangle 105">
            <a:extLst>
              <a:ext uri="{FF2B5EF4-FFF2-40B4-BE49-F238E27FC236}">
                <a16:creationId xmlns:a16="http://schemas.microsoft.com/office/drawing/2014/main" id="{F5E8BCBB-7D30-49F1-9444-9F7E86A09091}"/>
              </a:ext>
            </a:extLst>
          </p:cNvPr>
          <p:cNvSpPr>
            <a:spLocks noGrp="1"/>
          </p:cNvSpPr>
          <p:nvPr/>
        </p:nvSpPr>
        <p:spPr>
          <a:xfrm>
            <a:off x="8410575" y="3371850"/>
            <a:ext cx="295275" cy="295275"/>
          </a:xfrm>
          <a:prstGeom prst="rect">
            <a:avLst/>
          </a:prstGeom>
          <a:solidFill>
            <a:srgbClr val="FFFFFF"/>
          </a:solidFill>
          <a:ln w="9525">
            <a:solidFill>
              <a:srgbClr val="C4CACC"/>
            </a:solidFill>
          </a:ln>
        </p:spPr>
      </p:sp>
      <p:sp>
        <p:nvSpPr>
          <p:cNvPr id="107" name="Rectangle 106">
            <a:extLst>
              <a:ext uri="{FF2B5EF4-FFF2-40B4-BE49-F238E27FC236}">
                <a16:creationId xmlns:a16="http://schemas.microsoft.com/office/drawing/2014/main" id="{CD976D86-C985-4640-9C6E-93ADD34E5822}"/>
              </a:ext>
            </a:extLst>
          </p:cNvPr>
          <p:cNvSpPr>
            <a:spLocks noGrp="1"/>
          </p:cNvSpPr>
          <p:nvPr/>
        </p:nvSpPr>
        <p:spPr>
          <a:xfrm>
            <a:off x="8705850" y="3371850"/>
            <a:ext cx="295275" cy="295275"/>
          </a:xfrm>
          <a:prstGeom prst="rect">
            <a:avLst/>
          </a:prstGeom>
          <a:solidFill>
            <a:srgbClr val="FFFFFF"/>
          </a:solidFill>
          <a:ln w="9525">
            <a:solidFill>
              <a:srgbClr val="C4CACC"/>
            </a:solidFill>
          </a:ln>
        </p:spPr>
      </p:sp>
      <p:sp>
        <p:nvSpPr>
          <p:cNvPr id="108" name="Rectangle 107">
            <a:extLst>
              <a:ext uri="{FF2B5EF4-FFF2-40B4-BE49-F238E27FC236}">
                <a16:creationId xmlns:a16="http://schemas.microsoft.com/office/drawing/2014/main" id="{3345EF54-F8DE-44F0-BF63-2F031DAE5ABF}"/>
              </a:ext>
            </a:extLst>
          </p:cNvPr>
          <p:cNvSpPr>
            <a:spLocks noGrp="1"/>
          </p:cNvSpPr>
          <p:nvPr/>
        </p:nvSpPr>
        <p:spPr>
          <a:xfrm>
            <a:off x="9001125" y="3371850"/>
            <a:ext cx="295275" cy="295275"/>
          </a:xfrm>
          <a:prstGeom prst="rect">
            <a:avLst/>
          </a:prstGeom>
          <a:solidFill>
            <a:srgbClr val="FFFFFF"/>
          </a:solidFill>
          <a:ln w="9525">
            <a:solidFill>
              <a:srgbClr val="C4CACC"/>
            </a:solidFill>
          </a:ln>
        </p:spPr>
      </p:sp>
      <p:sp>
        <p:nvSpPr>
          <p:cNvPr id="109" name="Rectangle 108">
            <a:extLst>
              <a:ext uri="{FF2B5EF4-FFF2-40B4-BE49-F238E27FC236}">
                <a16:creationId xmlns:a16="http://schemas.microsoft.com/office/drawing/2014/main" id="{17F1D93C-5DCD-4E65-8C4B-1D9AF9185CAF}"/>
              </a:ext>
            </a:extLst>
          </p:cNvPr>
          <p:cNvSpPr>
            <a:spLocks noGrp="1"/>
          </p:cNvSpPr>
          <p:nvPr/>
        </p:nvSpPr>
        <p:spPr>
          <a:xfrm>
            <a:off x="9296400" y="3371850"/>
            <a:ext cx="295275" cy="295275"/>
          </a:xfrm>
          <a:prstGeom prst="rect">
            <a:avLst/>
          </a:prstGeom>
          <a:solidFill>
            <a:srgbClr val="FFFFFF"/>
          </a:solidFill>
          <a:ln w="9525">
            <a:solidFill>
              <a:srgbClr val="C4CACC"/>
            </a:solidFill>
          </a:ln>
        </p:spPr>
      </p:sp>
      <p:sp>
        <p:nvSpPr>
          <p:cNvPr id="110" name="Rectangle 109">
            <a:extLst>
              <a:ext uri="{FF2B5EF4-FFF2-40B4-BE49-F238E27FC236}">
                <a16:creationId xmlns:a16="http://schemas.microsoft.com/office/drawing/2014/main" id="{EAF4D4BE-6A2F-43B6-AEA2-298B09AF2619}"/>
              </a:ext>
            </a:extLst>
          </p:cNvPr>
          <p:cNvSpPr>
            <a:spLocks noGrp="1"/>
          </p:cNvSpPr>
          <p:nvPr/>
        </p:nvSpPr>
        <p:spPr>
          <a:xfrm>
            <a:off x="9591675" y="3371850"/>
            <a:ext cx="295275" cy="295275"/>
          </a:xfrm>
          <a:prstGeom prst="rect">
            <a:avLst/>
          </a:prstGeom>
          <a:solidFill>
            <a:srgbClr val="FFFFFF"/>
          </a:solidFill>
          <a:ln w="9525">
            <a:solidFill>
              <a:srgbClr val="C4CACC"/>
            </a:solidFill>
          </a:ln>
        </p:spPr>
      </p:sp>
      <p:sp>
        <p:nvSpPr>
          <p:cNvPr id="111" name="Rectangle 110">
            <a:extLst>
              <a:ext uri="{FF2B5EF4-FFF2-40B4-BE49-F238E27FC236}">
                <a16:creationId xmlns:a16="http://schemas.microsoft.com/office/drawing/2014/main" id="{846FA52F-CBFF-40F7-AF93-1160089279A5}"/>
              </a:ext>
            </a:extLst>
          </p:cNvPr>
          <p:cNvSpPr>
            <a:spLocks noGrp="1"/>
          </p:cNvSpPr>
          <p:nvPr/>
        </p:nvSpPr>
        <p:spPr>
          <a:xfrm>
            <a:off x="7258050" y="3705225"/>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4</a:t>
            </a:r>
          </a:p>
        </p:txBody>
      </p:sp>
      <p:sp>
        <p:nvSpPr>
          <p:cNvPr id="112" name="Rectangle 111">
            <a:extLst>
              <a:ext uri="{FF2B5EF4-FFF2-40B4-BE49-F238E27FC236}">
                <a16:creationId xmlns:a16="http://schemas.microsoft.com/office/drawing/2014/main" id="{F405518A-F64A-46AA-8E48-03D8A5119EDF}"/>
              </a:ext>
            </a:extLst>
          </p:cNvPr>
          <p:cNvSpPr>
            <a:spLocks noGrp="1"/>
          </p:cNvSpPr>
          <p:nvPr/>
        </p:nvSpPr>
        <p:spPr>
          <a:xfrm>
            <a:off x="7524750" y="3667125"/>
            <a:ext cx="295275" cy="295275"/>
          </a:xfrm>
          <a:prstGeom prst="rect">
            <a:avLst/>
          </a:prstGeom>
          <a:solidFill>
            <a:srgbClr val="FFFFFF"/>
          </a:solidFill>
          <a:ln w="9525">
            <a:solidFill>
              <a:srgbClr val="C4CACC"/>
            </a:solidFill>
          </a:ln>
        </p:spPr>
      </p:sp>
      <p:sp>
        <p:nvSpPr>
          <p:cNvPr id="113" name="Rectangle 112">
            <a:extLst>
              <a:ext uri="{FF2B5EF4-FFF2-40B4-BE49-F238E27FC236}">
                <a16:creationId xmlns:a16="http://schemas.microsoft.com/office/drawing/2014/main" id="{C21C1A78-D1F7-47FB-ADB3-0BCC4E32AEC7}"/>
              </a:ext>
            </a:extLst>
          </p:cNvPr>
          <p:cNvSpPr>
            <a:spLocks noGrp="1"/>
          </p:cNvSpPr>
          <p:nvPr/>
        </p:nvSpPr>
        <p:spPr>
          <a:xfrm>
            <a:off x="7820025" y="3667125"/>
            <a:ext cx="295275" cy="295275"/>
          </a:xfrm>
          <a:prstGeom prst="rect">
            <a:avLst/>
          </a:prstGeom>
          <a:solidFill>
            <a:srgbClr val="3CA5AF"/>
          </a:solidFill>
          <a:ln w="9525">
            <a:solidFill>
              <a:srgbClr val="C4CACC"/>
            </a:solidFill>
          </a:ln>
        </p:spPr>
      </p:sp>
      <p:sp>
        <p:nvSpPr>
          <p:cNvPr id="114" name="Rectangle 113">
            <a:extLst>
              <a:ext uri="{FF2B5EF4-FFF2-40B4-BE49-F238E27FC236}">
                <a16:creationId xmlns:a16="http://schemas.microsoft.com/office/drawing/2014/main" id="{91CEAED6-15CE-42F0-BF18-A27252D8320C}"/>
              </a:ext>
            </a:extLst>
          </p:cNvPr>
          <p:cNvSpPr>
            <a:spLocks noGrp="1"/>
          </p:cNvSpPr>
          <p:nvPr/>
        </p:nvSpPr>
        <p:spPr>
          <a:xfrm>
            <a:off x="8115300" y="3667125"/>
            <a:ext cx="295275" cy="295275"/>
          </a:xfrm>
          <a:prstGeom prst="rect">
            <a:avLst/>
          </a:prstGeom>
          <a:solidFill>
            <a:srgbClr val="3CA5AF"/>
          </a:solidFill>
          <a:ln w="9525">
            <a:solidFill>
              <a:srgbClr val="C4CACC"/>
            </a:solidFill>
          </a:ln>
        </p:spPr>
      </p:sp>
      <p:sp>
        <p:nvSpPr>
          <p:cNvPr id="115" name="Rectangle 114">
            <a:extLst>
              <a:ext uri="{FF2B5EF4-FFF2-40B4-BE49-F238E27FC236}">
                <a16:creationId xmlns:a16="http://schemas.microsoft.com/office/drawing/2014/main" id="{6223D500-C1A0-44C5-9F9F-B6DDDEFCFDEA}"/>
              </a:ext>
            </a:extLst>
          </p:cNvPr>
          <p:cNvSpPr>
            <a:spLocks noGrp="1"/>
          </p:cNvSpPr>
          <p:nvPr/>
        </p:nvSpPr>
        <p:spPr>
          <a:xfrm>
            <a:off x="8410575" y="3667125"/>
            <a:ext cx="295275" cy="295275"/>
          </a:xfrm>
          <a:prstGeom prst="rect">
            <a:avLst/>
          </a:prstGeom>
          <a:solidFill>
            <a:srgbClr val="3CA5AF"/>
          </a:solidFill>
          <a:ln w="9525">
            <a:solidFill>
              <a:srgbClr val="C4CACC"/>
            </a:solidFill>
          </a:ln>
        </p:spPr>
      </p:sp>
      <p:sp>
        <p:nvSpPr>
          <p:cNvPr id="116" name="Rectangle 115">
            <a:extLst>
              <a:ext uri="{FF2B5EF4-FFF2-40B4-BE49-F238E27FC236}">
                <a16:creationId xmlns:a16="http://schemas.microsoft.com/office/drawing/2014/main" id="{ECF2F490-5083-449F-A39E-20757D51D1D5}"/>
              </a:ext>
            </a:extLst>
          </p:cNvPr>
          <p:cNvSpPr>
            <a:spLocks noGrp="1"/>
          </p:cNvSpPr>
          <p:nvPr/>
        </p:nvSpPr>
        <p:spPr>
          <a:xfrm>
            <a:off x="8705850" y="3667125"/>
            <a:ext cx="295275" cy="295275"/>
          </a:xfrm>
          <a:prstGeom prst="rect">
            <a:avLst/>
          </a:prstGeom>
          <a:solidFill>
            <a:srgbClr val="FFFFFF"/>
          </a:solidFill>
          <a:ln w="9525">
            <a:solidFill>
              <a:srgbClr val="C4CACC"/>
            </a:solidFill>
          </a:ln>
        </p:spPr>
      </p:sp>
      <p:sp>
        <p:nvSpPr>
          <p:cNvPr id="117" name="Rectangle 116">
            <a:extLst>
              <a:ext uri="{FF2B5EF4-FFF2-40B4-BE49-F238E27FC236}">
                <a16:creationId xmlns:a16="http://schemas.microsoft.com/office/drawing/2014/main" id="{57551C34-B280-4DC4-93A9-521069C5C8D3}"/>
              </a:ext>
            </a:extLst>
          </p:cNvPr>
          <p:cNvSpPr>
            <a:spLocks noGrp="1"/>
          </p:cNvSpPr>
          <p:nvPr/>
        </p:nvSpPr>
        <p:spPr>
          <a:xfrm>
            <a:off x="9001125" y="3667125"/>
            <a:ext cx="295275" cy="295275"/>
          </a:xfrm>
          <a:prstGeom prst="rect">
            <a:avLst/>
          </a:prstGeom>
          <a:solidFill>
            <a:srgbClr val="FFFFFF"/>
          </a:solidFill>
          <a:ln w="9525">
            <a:solidFill>
              <a:srgbClr val="C4CACC"/>
            </a:solidFill>
          </a:ln>
        </p:spPr>
      </p:sp>
      <p:sp>
        <p:nvSpPr>
          <p:cNvPr id="118" name="Rectangle 117">
            <a:extLst>
              <a:ext uri="{FF2B5EF4-FFF2-40B4-BE49-F238E27FC236}">
                <a16:creationId xmlns:a16="http://schemas.microsoft.com/office/drawing/2014/main" id="{D0635C89-073E-413A-A754-8BDED1176CA4}"/>
              </a:ext>
            </a:extLst>
          </p:cNvPr>
          <p:cNvSpPr>
            <a:spLocks noGrp="1"/>
          </p:cNvSpPr>
          <p:nvPr/>
        </p:nvSpPr>
        <p:spPr>
          <a:xfrm>
            <a:off x="9296400" y="3667125"/>
            <a:ext cx="295275" cy="295275"/>
          </a:xfrm>
          <a:prstGeom prst="rect">
            <a:avLst/>
          </a:prstGeom>
          <a:solidFill>
            <a:srgbClr val="FFFFFF"/>
          </a:solidFill>
          <a:ln w="9525">
            <a:solidFill>
              <a:srgbClr val="C4CACC"/>
            </a:solidFill>
          </a:ln>
        </p:spPr>
      </p:sp>
      <p:sp>
        <p:nvSpPr>
          <p:cNvPr id="119" name="Rectangle 118">
            <a:extLst>
              <a:ext uri="{FF2B5EF4-FFF2-40B4-BE49-F238E27FC236}">
                <a16:creationId xmlns:a16="http://schemas.microsoft.com/office/drawing/2014/main" id="{F0A2110C-9536-4558-9FB0-98109005157C}"/>
              </a:ext>
            </a:extLst>
          </p:cNvPr>
          <p:cNvSpPr>
            <a:spLocks noGrp="1"/>
          </p:cNvSpPr>
          <p:nvPr/>
        </p:nvSpPr>
        <p:spPr>
          <a:xfrm>
            <a:off x="9591675" y="3667125"/>
            <a:ext cx="295275" cy="295275"/>
          </a:xfrm>
          <a:prstGeom prst="rect">
            <a:avLst/>
          </a:prstGeom>
          <a:solidFill>
            <a:srgbClr val="FFFFFF"/>
          </a:solidFill>
          <a:ln w="9525">
            <a:solidFill>
              <a:srgbClr val="C4CACC"/>
            </a:solidFill>
          </a:ln>
        </p:spPr>
      </p:sp>
      <p:sp>
        <p:nvSpPr>
          <p:cNvPr id="120" name="Rectangle 119">
            <a:extLst>
              <a:ext uri="{FF2B5EF4-FFF2-40B4-BE49-F238E27FC236}">
                <a16:creationId xmlns:a16="http://schemas.microsoft.com/office/drawing/2014/main" id="{9269FF6F-9610-4DE8-A893-0C7C4C886894}"/>
              </a:ext>
            </a:extLst>
          </p:cNvPr>
          <p:cNvSpPr>
            <a:spLocks noGrp="1"/>
          </p:cNvSpPr>
          <p:nvPr/>
        </p:nvSpPr>
        <p:spPr>
          <a:xfrm>
            <a:off x="7258050" y="4000500"/>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5</a:t>
            </a:r>
          </a:p>
        </p:txBody>
      </p:sp>
      <p:sp>
        <p:nvSpPr>
          <p:cNvPr id="121" name="Rectangle 120">
            <a:extLst>
              <a:ext uri="{FF2B5EF4-FFF2-40B4-BE49-F238E27FC236}">
                <a16:creationId xmlns:a16="http://schemas.microsoft.com/office/drawing/2014/main" id="{3D1F9B51-6B46-43F4-BB2F-5909FA97D2D8}"/>
              </a:ext>
            </a:extLst>
          </p:cNvPr>
          <p:cNvSpPr>
            <a:spLocks noGrp="1"/>
          </p:cNvSpPr>
          <p:nvPr/>
        </p:nvSpPr>
        <p:spPr>
          <a:xfrm>
            <a:off x="7524750" y="3962400"/>
            <a:ext cx="295275" cy="295275"/>
          </a:xfrm>
          <a:prstGeom prst="rect">
            <a:avLst/>
          </a:prstGeom>
          <a:solidFill>
            <a:srgbClr val="FFFFFF"/>
          </a:solidFill>
          <a:ln w="9525">
            <a:solidFill>
              <a:srgbClr val="C4CACC"/>
            </a:solidFill>
          </a:ln>
        </p:spPr>
      </p:sp>
      <p:sp>
        <p:nvSpPr>
          <p:cNvPr id="122" name="Rectangle 121">
            <a:extLst>
              <a:ext uri="{FF2B5EF4-FFF2-40B4-BE49-F238E27FC236}">
                <a16:creationId xmlns:a16="http://schemas.microsoft.com/office/drawing/2014/main" id="{8B09D3D4-5A76-4D01-A247-E0F41152F912}"/>
              </a:ext>
            </a:extLst>
          </p:cNvPr>
          <p:cNvSpPr>
            <a:spLocks noGrp="1"/>
          </p:cNvSpPr>
          <p:nvPr/>
        </p:nvSpPr>
        <p:spPr>
          <a:xfrm>
            <a:off x="7820025" y="3962400"/>
            <a:ext cx="295275" cy="295275"/>
          </a:xfrm>
          <a:prstGeom prst="rect">
            <a:avLst/>
          </a:prstGeom>
          <a:solidFill>
            <a:srgbClr val="FFFFFF"/>
          </a:solidFill>
          <a:ln w="9525">
            <a:solidFill>
              <a:srgbClr val="C4CACC"/>
            </a:solidFill>
          </a:ln>
        </p:spPr>
      </p:sp>
      <p:sp>
        <p:nvSpPr>
          <p:cNvPr id="123" name="Rectangle 122">
            <a:extLst>
              <a:ext uri="{FF2B5EF4-FFF2-40B4-BE49-F238E27FC236}">
                <a16:creationId xmlns:a16="http://schemas.microsoft.com/office/drawing/2014/main" id="{439BC0D9-AA85-430F-868B-2FF69D8E796C}"/>
              </a:ext>
            </a:extLst>
          </p:cNvPr>
          <p:cNvSpPr>
            <a:spLocks noGrp="1"/>
          </p:cNvSpPr>
          <p:nvPr/>
        </p:nvSpPr>
        <p:spPr>
          <a:xfrm>
            <a:off x="8115300" y="3962400"/>
            <a:ext cx="295275" cy="295275"/>
          </a:xfrm>
          <a:prstGeom prst="rect">
            <a:avLst/>
          </a:prstGeom>
          <a:solidFill>
            <a:srgbClr val="3CA5AF"/>
          </a:solidFill>
          <a:ln w="9525">
            <a:solidFill>
              <a:srgbClr val="C4CACC"/>
            </a:solidFill>
          </a:ln>
        </p:spPr>
      </p:sp>
      <p:sp>
        <p:nvSpPr>
          <p:cNvPr id="124" name="Rectangle 123">
            <a:extLst>
              <a:ext uri="{FF2B5EF4-FFF2-40B4-BE49-F238E27FC236}">
                <a16:creationId xmlns:a16="http://schemas.microsoft.com/office/drawing/2014/main" id="{EFA1A40A-D540-4A18-AEE4-F82BAE7F957E}"/>
              </a:ext>
            </a:extLst>
          </p:cNvPr>
          <p:cNvSpPr>
            <a:spLocks noGrp="1"/>
          </p:cNvSpPr>
          <p:nvPr/>
        </p:nvSpPr>
        <p:spPr>
          <a:xfrm>
            <a:off x="8410575" y="3962400"/>
            <a:ext cx="295275" cy="295275"/>
          </a:xfrm>
          <a:prstGeom prst="rect">
            <a:avLst/>
          </a:prstGeom>
          <a:solidFill>
            <a:srgbClr val="3CA5AF"/>
          </a:solidFill>
          <a:ln w="9525">
            <a:solidFill>
              <a:srgbClr val="C4CACC"/>
            </a:solidFill>
          </a:ln>
        </p:spPr>
      </p:sp>
      <p:sp>
        <p:nvSpPr>
          <p:cNvPr id="125" name="Rectangle 124">
            <a:extLst>
              <a:ext uri="{FF2B5EF4-FFF2-40B4-BE49-F238E27FC236}">
                <a16:creationId xmlns:a16="http://schemas.microsoft.com/office/drawing/2014/main" id="{31C996C9-8D12-4C9F-8B0D-87AFF28DA8AC}"/>
              </a:ext>
            </a:extLst>
          </p:cNvPr>
          <p:cNvSpPr>
            <a:spLocks noGrp="1"/>
          </p:cNvSpPr>
          <p:nvPr/>
        </p:nvSpPr>
        <p:spPr>
          <a:xfrm>
            <a:off x="8705850" y="3962400"/>
            <a:ext cx="295275" cy="295275"/>
          </a:xfrm>
          <a:prstGeom prst="rect">
            <a:avLst/>
          </a:prstGeom>
          <a:solidFill>
            <a:srgbClr val="3CA5AF"/>
          </a:solidFill>
          <a:ln w="9525">
            <a:solidFill>
              <a:srgbClr val="C4CACC"/>
            </a:solidFill>
          </a:ln>
        </p:spPr>
      </p:sp>
      <p:sp>
        <p:nvSpPr>
          <p:cNvPr id="126" name="Rectangle 125">
            <a:extLst>
              <a:ext uri="{FF2B5EF4-FFF2-40B4-BE49-F238E27FC236}">
                <a16:creationId xmlns:a16="http://schemas.microsoft.com/office/drawing/2014/main" id="{DA5DE20D-D988-4584-A27E-9FCEFF1E422F}"/>
              </a:ext>
            </a:extLst>
          </p:cNvPr>
          <p:cNvSpPr>
            <a:spLocks noGrp="1"/>
          </p:cNvSpPr>
          <p:nvPr/>
        </p:nvSpPr>
        <p:spPr>
          <a:xfrm>
            <a:off x="9001125" y="3962400"/>
            <a:ext cx="295275" cy="295275"/>
          </a:xfrm>
          <a:prstGeom prst="rect">
            <a:avLst/>
          </a:prstGeom>
          <a:solidFill>
            <a:srgbClr val="FFFFFF"/>
          </a:solidFill>
          <a:ln w="9525">
            <a:solidFill>
              <a:srgbClr val="C4CACC"/>
            </a:solidFill>
          </a:ln>
        </p:spPr>
      </p:sp>
      <p:sp>
        <p:nvSpPr>
          <p:cNvPr id="127" name="Rectangle 126">
            <a:extLst>
              <a:ext uri="{FF2B5EF4-FFF2-40B4-BE49-F238E27FC236}">
                <a16:creationId xmlns:a16="http://schemas.microsoft.com/office/drawing/2014/main" id="{B46CA6E3-EF8A-4560-BE69-6B46333732AA}"/>
              </a:ext>
            </a:extLst>
          </p:cNvPr>
          <p:cNvSpPr>
            <a:spLocks noGrp="1"/>
          </p:cNvSpPr>
          <p:nvPr/>
        </p:nvSpPr>
        <p:spPr>
          <a:xfrm>
            <a:off x="9296400" y="3962400"/>
            <a:ext cx="295275" cy="295275"/>
          </a:xfrm>
          <a:prstGeom prst="rect">
            <a:avLst/>
          </a:prstGeom>
          <a:solidFill>
            <a:srgbClr val="FFFFFF"/>
          </a:solidFill>
          <a:ln w="9525">
            <a:solidFill>
              <a:srgbClr val="C4CACC"/>
            </a:solidFill>
          </a:ln>
        </p:spPr>
      </p:sp>
      <p:sp>
        <p:nvSpPr>
          <p:cNvPr id="128" name="Rectangle 127">
            <a:extLst>
              <a:ext uri="{FF2B5EF4-FFF2-40B4-BE49-F238E27FC236}">
                <a16:creationId xmlns:a16="http://schemas.microsoft.com/office/drawing/2014/main" id="{F087613B-A127-4D4A-A04E-DE9947F03BCB}"/>
              </a:ext>
            </a:extLst>
          </p:cNvPr>
          <p:cNvSpPr>
            <a:spLocks noGrp="1"/>
          </p:cNvSpPr>
          <p:nvPr/>
        </p:nvSpPr>
        <p:spPr>
          <a:xfrm>
            <a:off x="9591675" y="3962400"/>
            <a:ext cx="295275" cy="295275"/>
          </a:xfrm>
          <a:prstGeom prst="rect">
            <a:avLst/>
          </a:prstGeom>
          <a:solidFill>
            <a:srgbClr val="FFFFFF"/>
          </a:solidFill>
          <a:ln w="9525">
            <a:solidFill>
              <a:srgbClr val="C4CACC"/>
            </a:solidFill>
          </a:ln>
        </p:spPr>
      </p:sp>
      <p:sp>
        <p:nvSpPr>
          <p:cNvPr id="129" name="Rectangle 128">
            <a:extLst>
              <a:ext uri="{FF2B5EF4-FFF2-40B4-BE49-F238E27FC236}">
                <a16:creationId xmlns:a16="http://schemas.microsoft.com/office/drawing/2014/main" id="{A45884B0-4178-4230-A5C0-E1CC3C0B21B9}"/>
              </a:ext>
            </a:extLst>
          </p:cNvPr>
          <p:cNvSpPr>
            <a:spLocks noGrp="1"/>
          </p:cNvSpPr>
          <p:nvPr/>
        </p:nvSpPr>
        <p:spPr>
          <a:xfrm>
            <a:off x="7258050" y="4295775"/>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6</a:t>
            </a:r>
          </a:p>
        </p:txBody>
      </p:sp>
      <p:sp>
        <p:nvSpPr>
          <p:cNvPr id="130" name="Rectangle 129">
            <a:extLst>
              <a:ext uri="{FF2B5EF4-FFF2-40B4-BE49-F238E27FC236}">
                <a16:creationId xmlns:a16="http://schemas.microsoft.com/office/drawing/2014/main" id="{18439673-F364-4D1F-BB66-A0F3E0B2E775}"/>
              </a:ext>
            </a:extLst>
          </p:cNvPr>
          <p:cNvSpPr>
            <a:spLocks noGrp="1"/>
          </p:cNvSpPr>
          <p:nvPr/>
        </p:nvSpPr>
        <p:spPr>
          <a:xfrm>
            <a:off x="7524750" y="4257675"/>
            <a:ext cx="295275" cy="295275"/>
          </a:xfrm>
          <a:prstGeom prst="rect">
            <a:avLst/>
          </a:prstGeom>
          <a:solidFill>
            <a:srgbClr val="FFFFFF"/>
          </a:solidFill>
          <a:ln w="9525">
            <a:solidFill>
              <a:srgbClr val="C4CACC"/>
            </a:solidFill>
          </a:ln>
        </p:spPr>
      </p:sp>
      <p:sp>
        <p:nvSpPr>
          <p:cNvPr id="131" name="Rectangle 130">
            <a:extLst>
              <a:ext uri="{FF2B5EF4-FFF2-40B4-BE49-F238E27FC236}">
                <a16:creationId xmlns:a16="http://schemas.microsoft.com/office/drawing/2014/main" id="{841494D9-5C46-4641-B688-C43142FFF102}"/>
              </a:ext>
            </a:extLst>
          </p:cNvPr>
          <p:cNvSpPr>
            <a:spLocks noGrp="1"/>
          </p:cNvSpPr>
          <p:nvPr/>
        </p:nvSpPr>
        <p:spPr>
          <a:xfrm>
            <a:off x="7820025" y="4257675"/>
            <a:ext cx="295275" cy="295275"/>
          </a:xfrm>
          <a:prstGeom prst="rect">
            <a:avLst/>
          </a:prstGeom>
          <a:solidFill>
            <a:srgbClr val="FFFFFF"/>
          </a:solidFill>
          <a:ln w="9525">
            <a:solidFill>
              <a:srgbClr val="C4CACC"/>
            </a:solidFill>
          </a:ln>
        </p:spPr>
      </p:sp>
      <p:sp>
        <p:nvSpPr>
          <p:cNvPr id="132" name="Rectangle 131">
            <a:extLst>
              <a:ext uri="{FF2B5EF4-FFF2-40B4-BE49-F238E27FC236}">
                <a16:creationId xmlns:a16="http://schemas.microsoft.com/office/drawing/2014/main" id="{F93753A7-BF32-4D78-9111-CC942618E4C4}"/>
              </a:ext>
            </a:extLst>
          </p:cNvPr>
          <p:cNvSpPr>
            <a:spLocks noGrp="1"/>
          </p:cNvSpPr>
          <p:nvPr/>
        </p:nvSpPr>
        <p:spPr>
          <a:xfrm>
            <a:off x="8115300" y="4257675"/>
            <a:ext cx="295275" cy="295275"/>
          </a:xfrm>
          <a:prstGeom prst="rect">
            <a:avLst/>
          </a:prstGeom>
          <a:solidFill>
            <a:srgbClr val="FFFFFF"/>
          </a:solidFill>
          <a:ln w="9525">
            <a:solidFill>
              <a:srgbClr val="C4CACC"/>
            </a:solidFill>
          </a:ln>
        </p:spPr>
      </p:sp>
      <p:sp>
        <p:nvSpPr>
          <p:cNvPr id="133" name="Rectangle 132">
            <a:extLst>
              <a:ext uri="{FF2B5EF4-FFF2-40B4-BE49-F238E27FC236}">
                <a16:creationId xmlns:a16="http://schemas.microsoft.com/office/drawing/2014/main" id="{66DA3AAE-EF39-4117-8F47-6262030ECB44}"/>
              </a:ext>
            </a:extLst>
          </p:cNvPr>
          <p:cNvSpPr>
            <a:spLocks noGrp="1"/>
          </p:cNvSpPr>
          <p:nvPr/>
        </p:nvSpPr>
        <p:spPr>
          <a:xfrm>
            <a:off x="8410575" y="4257675"/>
            <a:ext cx="295275" cy="295275"/>
          </a:xfrm>
          <a:prstGeom prst="rect">
            <a:avLst/>
          </a:prstGeom>
          <a:solidFill>
            <a:srgbClr val="3CA5AF"/>
          </a:solidFill>
          <a:ln w="9525">
            <a:solidFill>
              <a:srgbClr val="C4CACC"/>
            </a:solidFill>
          </a:ln>
        </p:spPr>
      </p:sp>
      <p:sp>
        <p:nvSpPr>
          <p:cNvPr id="134" name="Rectangle 133">
            <a:extLst>
              <a:ext uri="{FF2B5EF4-FFF2-40B4-BE49-F238E27FC236}">
                <a16:creationId xmlns:a16="http://schemas.microsoft.com/office/drawing/2014/main" id="{A8A78A33-C6D2-4BFE-969A-AFEBA69D05C4}"/>
              </a:ext>
            </a:extLst>
          </p:cNvPr>
          <p:cNvSpPr>
            <a:spLocks noGrp="1"/>
          </p:cNvSpPr>
          <p:nvPr/>
        </p:nvSpPr>
        <p:spPr>
          <a:xfrm>
            <a:off x="8705850" y="4257675"/>
            <a:ext cx="295275" cy="295275"/>
          </a:xfrm>
          <a:prstGeom prst="rect">
            <a:avLst/>
          </a:prstGeom>
          <a:solidFill>
            <a:srgbClr val="3CA5AF"/>
          </a:solidFill>
          <a:ln w="9525">
            <a:solidFill>
              <a:srgbClr val="C4CACC"/>
            </a:solidFill>
          </a:ln>
        </p:spPr>
      </p:sp>
      <p:sp>
        <p:nvSpPr>
          <p:cNvPr id="135" name="Rectangle 134">
            <a:extLst>
              <a:ext uri="{FF2B5EF4-FFF2-40B4-BE49-F238E27FC236}">
                <a16:creationId xmlns:a16="http://schemas.microsoft.com/office/drawing/2014/main" id="{E80116CD-B78C-46DA-BBA7-0A8F27706B25}"/>
              </a:ext>
            </a:extLst>
          </p:cNvPr>
          <p:cNvSpPr>
            <a:spLocks noGrp="1"/>
          </p:cNvSpPr>
          <p:nvPr/>
        </p:nvSpPr>
        <p:spPr>
          <a:xfrm>
            <a:off x="9001125" y="4257675"/>
            <a:ext cx="295275" cy="295275"/>
          </a:xfrm>
          <a:prstGeom prst="rect">
            <a:avLst/>
          </a:prstGeom>
          <a:solidFill>
            <a:srgbClr val="3CA5AF"/>
          </a:solidFill>
          <a:ln w="9525">
            <a:solidFill>
              <a:srgbClr val="C4CACC"/>
            </a:solidFill>
          </a:ln>
        </p:spPr>
      </p:sp>
      <p:sp>
        <p:nvSpPr>
          <p:cNvPr id="136" name="Rectangle 135">
            <a:extLst>
              <a:ext uri="{FF2B5EF4-FFF2-40B4-BE49-F238E27FC236}">
                <a16:creationId xmlns:a16="http://schemas.microsoft.com/office/drawing/2014/main" id="{12195011-245F-4667-8BE1-9D5D765F448D}"/>
              </a:ext>
            </a:extLst>
          </p:cNvPr>
          <p:cNvSpPr>
            <a:spLocks noGrp="1"/>
          </p:cNvSpPr>
          <p:nvPr/>
        </p:nvSpPr>
        <p:spPr>
          <a:xfrm>
            <a:off x="9296400" y="4257675"/>
            <a:ext cx="295275" cy="295275"/>
          </a:xfrm>
          <a:prstGeom prst="rect">
            <a:avLst/>
          </a:prstGeom>
          <a:solidFill>
            <a:srgbClr val="FFFFFF"/>
          </a:solidFill>
          <a:ln w="9525">
            <a:solidFill>
              <a:srgbClr val="C4CACC"/>
            </a:solidFill>
          </a:ln>
        </p:spPr>
      </p:sp>
      <p:sp>
        <p:nvSpPr>
          <p:cNvPr id="137" name="Rectangle 136">
            <a:extLst>
              <a:ext uri="{FF2B5EF4-FFF2-40B4-BE49-F238E27FC236}">
                <a16:creationId xmlns:a16="http://schemas.microsoft.com/office/drawing/2014/main" id="{4BA0F6F5-103D-4285-8696-D25101A71D27}"/>
              </a:ext>
            </a:extLst>
          </p:cNvPr>
          <p:cNvSpPr>
            <a:spLocks noGrp="1"/>
          </p:cNvSpPr>
          <p:nvPr/>
        </p:nvSpPr>
        <p:spPr>
          <a:xfrm>
            <a:off x="9591675" y="4257675"/>
            <a:ext cx="295275" cy="295275"/>
          </a:xfrm>
          <a:prstGeom prst="rect">
            <a:avLst/>
          </a:prstGeom>
          <a:solidFill>
            <a:srgbClr val="FFFFFF"/>
          </a:solidFill>
          <a:ln w="9525">
            <a:solidFill>
              <a:srgbClr val="C4CACC"/>
            </a:solidFill>
          </a:ln>
        </p:spPr>
      </p:sp>
      <p:sp>
        <p:nvSpPr>
          <p:cNvPr id="138" name="Rectangle 137">
            <a:extLst>
              <a:ext uri="{FF2B5EF4-FFF2-40B4-BE49-F238E27FC236}">
                <a16:creationId xmlns:a16="http://schemas.microsoft.com/office/drawing/2014/main" id="{4A5243DA-BF34-4898-BB11-461A32CA61C8}"/>
              </a:ext>
            </a:extLst>
          </p:cNvPr>
          <p:cNvSpPr>
            <a:spLocks noGrp="1"/>
          </p:cNvSpPr>
          <p:nvPr/>
        </p:nvSpPr>
        <p:spPr>
          <a:xfrm>
            <a:off x="7258050" y="4591050"/>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7</a:t>
            </a:r>
          </a:p>
        </p:txBody>
      </p:sp>
      <p:sp>
        <p:nvSpPr>
          <p:cNvPr id="139" name="Rectangle 138">
            <a:extLst>
              <a:ext uri="{FF2B5EF4-FFF2-40B4-BE49-F238E27FC236}">
                <a16:creationId xmlns:a16="http://schemas.microsoft.com/office/drawing/2014/main" id="{9F4A6F5E-D2D5-4CC3-93FA-2B3D290E5309}"/>
              </a:ext>
            </a:extLst>
          </p:cNvPr>
          <p:cNvSpPr>
            <a:spLocks noGrp="1"/>
          </p:cNvSpPr>
          <p:nvPr/>
        </p:nvSpPr>
        <p:spPr>
          <a:xfrm>
            <a:off x="7524750" y="4552950"/>
            <a:ext cx="295275" cy="295275"/>
          </a:xfrm>
          <a:prstGeom prst="rect">
            <a:avLst/>
          </a:prstGeom>
          <a:solidFill>
            <a:srgbClr val="FFFFFF"/>
          </a:solidFill>
          <a:ln w="9525">
            <a:solidFill>
              <a:srgbClr val="C4CACC"/>
            </a:solidFill>
          </a:ln>
        </p:spPr>
      </p:sp>
      <p:sp>
        <p:nvSpPr>
          <p:cNvPr id="140" name="Rectangle 139">
            <a:extLst>
              <a:ext uri="{FF2B5EF4-FFF2-40B4-BE49-F238E27FC236}">
                <a16:creationId xmlns:a16="http://schemas.microsoft.com/office/drawing/2014/main" id="{97BB3EAD-8667-4373-B71C-DC7425AD4EC3}"/>
              </a:ext>
            </a:extLst>
          </p:cNvPr>
          <p:cNvSpPr>
            <a:spLocks noGrp="1"/>
          </p:cNvSpPr>
          <p:nvPr/>
        </p:nvSpPr>
        <p:spPr>
          <a:xfrm>
            <a:off x="7820025" y="4552950"/>
            <a:ext cx="295275" cy="295275"/>
          </a:xfrm>
          <a:prstGeom prst="rect">
            <a:avLst/>
          </a:prstGeom>
          <a:solidFill>
            <a:srgbClr val="FFFFFF"/>
          </a:solidFill>
          <a:ln w="9525">
            <a:solidFill>
              <a:srgbClr val="C4CACC"/>
            </a:solidFill>
          </a:ln>
        </p:spPr>
      </p:sp>
      <p:sp>
        <p:nvSpPr>
          <p:cNvPr id="141" name="Rectangle 140">
            <a:extLst>
              <a:ext uri="{FF2B5EF4-FFF2-40B4-BE49-F238E27FC236}">
                <a16:creationId xmlns:a16="http://schemas.microsoft.com/office/drawing/2014/main" id="{C9F30A6F-E4EE-46DD-B1CB-DE7A01E3F8F1}"/>
              </a:ext>
            </a:extLst>
          </p:cNvPr>
          <p:cNvSpPr>
            <a:spLocks noGrp="1"/>
          </p:cNvSpPr>
          <p:nvPr/>
        </p:nvSpPr>
        <p:spPr>
          <a:xfrm>
            <a:off x="8115300" y="4552950"/>
            <a:ext cx="295275" cy="295275"/>
          </a:xfrm>
          <a:prstGeom prst="rect">
            <a:avLst/>
          </a:prstGeom>
          <a:solidFill>
            <a:srgbClr val="FFFFFF"/>
          </a:solidFill>
          <a:ln w="9525">
            <a:solidFill>
              <a:srgbClr val="C4CACC"/>
            </a:solidFill>
          </a:ln>
        </p:spPr>
      </p:sp>
      <p:sp>
        <p:nvSpPr>
          <p:cNvPr id="142" name="Rectangle 141">
            <a:extLst>
              <a:ext uri="{FF2B5EF4-FFF2-40B4-BE49-F238E27FC236}">
                <a16:creationId xmlns:a16="http://schemas.microsoft.com/office/drawing/2014/main" id="{BC34E5FC-C8C6-4AC5-ADDC-28819AA50F13}"/>
              </a:ext>
            </a:extLst>
          </p:cNvPr>
          <p:cNvSpPr>
            <a:spLocks noGrp="1"/>
          </p:cNvSpPr>
          <p:nvPr/>
        </p:nvSpPr>
        <p:spPr>
          <a:xfrm>
            <a:off x="8410575" y="4552950"/>
            <a:ext cx="295275" cy="295275"/>
          </a:xfrm>
          <a:prstGeom prst="rect">
            <a:avLst/>
          </a:prstGeom>
          <a:solidFill>
            <a:srgbClr val="FFFFFF"/>
          </a:solidFill>
          <a:ln w="9525">
            <a:solidFill>
              <a:srgbClr val="C4CACC"/>
            </a:solidFill>
          </a:ln>
        </p:spPr>
      </p:sp>
      <p:sp>
        <p:nvSpPr>
          <p:cNvPr id="143" name="Rectangle 142">
            <a:extLst>
              <a:ext uri="{FF2B5EF4-FFF2-40B4-BE49-F238E27FC236}">
                <a16:creationId xmlns:a16="http://schemas.microsoft.com/office/drawing/2014/main" id="{1110CEF4-C952-44CE-B791-87DD3DD6A7E5}"/>
              </a:ext>
            </a:extLst>
          </p:cNvPr>
          <p:cNvSpPr>
            <a:spLocks noGrp="1"/>
          </p:cNvSpPr>
          <p:nvPr/>
        </p:nvSpPr>
        <p:spPr>
          <a:xfrm>
            <a:off x="8705850" y="4552950"/>
            <a:ext cx="295275" cy="295275"/>
          </a:xfrm>
          <a:prstGeom prst="rect">
            <a:avLst/>
          </a:prstGeom>
          <a:solidFill>
            <a:srgbClr val="3CA5AF"/>
          </a:solidFill>
          <a:ln w="9525">
            <a:solidFill>
              <a:srgbClr val="C4CACC"/>
            </a:solidFill>
          </a:ln>
        </p:spPr>
      </p:sp>
      <p:sp>
        <p:nvSpPr>
          <p:cNvPr id="144" name="Rectangle 143">
            <a:extLst>
              <a:ext uri="{FF2B5EF4-FFF2-40B4-BE49-F238E27FC236}">
                <a16:creationId xmlns:a16="http://schemas.microsoft.com/office/drawing/2014/main" id="{5E4EF1C0-B0C4-42F0-88B4-F223AE8F736D}"/>
              </a:ext>
            </a:extLst>
          </p:cNvPr>
          <p:cNvSpPr>
            <a:spLocks noGrp="1"/>
          </p:cNvSpPr>
          <p:nvPr/>
        </p:nvSpPr>
        <p:spPr>
          <a:xfrm>
            <a:off x="9001125" y="4552950"/>
            <a:ext cx="295275" cy="295275"/>
          </a:xfrm>
          <a:prstGeom prst="rect">
            <a:avLst/>
          </a:prstGeom>
          <a:solidFill>
            <a:srgbClr val="3CA5AF"/>
          </a:solidFill>
          <a:ln w="9525">
            <a:solidFill>
              <a:srgbClr val="C4CACC"/>
            </a:solidFill>
          </a:ln>
        </p:spPr>
      </p:sp>
      <p:sp>
        <p:nvSpPr>
          <p:cNvPr id="145" name="Rectangle 144">
            <a:extLst>
              <a:ext uri="{FF2B5EF4-FFF2-40B4-BE49-F238E27FC236}">
                <a16:creationId xmlns:a16="http://schemas.microsoft.com/office/drawing/2014/main" id="{13213E72-7468-4AE5-B661-8BFC5A63B9B7}"/>
              </a:ext>
            </a:extLst>
          </p:cNvPr>
          <p:cNvSpPr>
            <a:spLocks noGrp="1"/>
          </p:cNvSpPr>
          <p:nvPr/>
        </p:nvSpPr>
        <p:spPr>
          <a:xfrm>
            <a:off x="9296400" y="4552950"/>
            <a:ext cx="295275" cy="295275"/>
          </a:xfrm>
          <a:prstGeom prst="rect">
            <a:avLst/>
          </a:prstGeom>
          <a:solidFill>
            <a:srgbClr val="3CA5AF"/>
          </a:solidFill>
          <a:ln w="9525">
            <a:solidFill>
              <a:srgbClr val="C4CACC"/>
            </a:solidFill>
          </a:ln>
        </p:spPr>
      </p:sp>
      <p:sp>
        <p:nvSpPr>
          <p:cNvPr id="146" name="Rectangle 145">
            <a:extLst>
              <a:ext uri="{FF2B5EF4-FFF2-40B4-BE49-F238E27FC236}">
                <a16:creationId xmlns:a16="http://schemas.microsoft.com/office/drawing/2014/main" id="{50678FBD-7783-4EA6-9F3B-0DE49B96D9D5}"/>
              </a:ext>
            </a:extLst>
          </p:cNvPr>
          <p:cNvSpPr>
            <a:spLocks noGrp="1"/>
          </p:cNvSpPr>
          <p:nvPr/>
        </p:nvSpPr>
        <p:spPr>
          <a:xfrm>
            <a:off x="9591675" y="4552950"/>
            <a:ext cx="295275" cy="295275"/>
          </a:xfrm>
          <a:prstGeom prst="rect">
            <a:avLst/>
          </a:prstGeom>
          <a:solidFill>
            <a:srgbClr val="FFFFFF"/>
          </a:solidFill>
          <a:ln w="9525">
            <a:solidFill>
              <a:srgbClr val="C4CACC"/>
            </a:solidFill>
          </a:ln>
        </p:spPr>
      </p:sp>
      <p:sp>
        <p:nvSpPr>
          <p:cNvPr id="147" name="Rectangle 146">
            <a:extLst>
              <a:ext uri="{FF2B5EF4-FFF2-40B4-BE49-F238E27FC236}">
                <a16:creationId xmlns:a16="http://schemas.microsoft.com/office/drawing/2014/main" id="{A26161A9-8EB8-43BF-A569-EA6DFADFBF77}"/>
              </a:ext>
            </a:extLst>
          </p:cNvPr>
          <p:cNvSpPr>
            <a:spLocks noGrp="1"/>
          </p:cNvSpPr>
          <p:nvPr/>
        </p:nvSpPr>
        <p:spPr>
          <a:xfrm>
            <a:off x="7258050" y="4886325"/>
            <a:ext cx="238125" cy="23812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8</a:t>
            </a:r>
          </a:p>
        </p:txBody>
      </p:sp>
      <p:sp>
        <p:nvSpPr>
          <p:cNvPr id="148" name="Rectangle 147">
            <a:extLst>
              <a:ext uri="{FF2B5EF4-FFF2-40B4-BE49-F238E27FC236}">
                <a16:creationId xmlns:a16="http://schemas.microsoft.com/office/drawing/2014/main" id="{DD872DA7-68F8-46EA-B4C2-9E25F362AC31}"/>
              </a:ext>
            </a:extLst>
          </p:cNvPr>
          <p:cNvSpPr>
            <a:spLocks noGrp="1"/>
          </p:cNvSpPr>
          <p:nvPr/>
        </p:nvSpPr>
        <p:spPr>
          <a:xfrm>
            <a:off x="7524750" y="4848225"/>
            <a:ext cx="295275" cy="295275"/>
          </a:xfrm>
          <a:prstGeom prst="rect">
            <a:avLst/>
          </a:prstGeom>
          <a:solidFill>
            <a:srgbClr val="FFFFFF"/>
          </a:solidFill>
          <a:ln w="9525">
            <a:solidFill>
              <a:srgbClr val="C4CACC"/>
            </a:solidFill>
          </a:ln>
        </p:spPr>
      </p:sp>
      <p:sp>
        <p:nvSpPr>
          <p:cNvPr id="149" name="Rectangle 148">
            <a:extLst>
              <a:ext uri="{FF2B5EF4-FFF2-40B4-BE49-F238E27FC236}">
                <a16:creationId xmlns:a16="http://schemas.microsoft.com/office/drawing/2014/main" id="{E9ABCD4E-57F8-47B7-9B1A-CFFE5BC08C62}"/>
              </a:ext>
            </a:extLst>
          </p:cNvPr>
          <p:cNvSpPr>
            <a:spLocks noGrp="1"/>
          </p:cNvSpPr>
          <p:nvPr/>
        </p:nvSpPr>
        <p:spPr>
          <a:xfrm>
            <a:off x="7820025" y="4848225"/>
            <a:ext cx="295275" cy="295275"/>
          </a:xfrm>
          <a:prstGeom prst="rect">
            <a:avLst/>
          </a:prstGeom>
          <a:solidFill>
            <a:srgbClr val="FFFFFF"/>
          </a:solidFill>
          <a:ln w="9525">
            <a:solidFill>
              <a:srgbClr val="C4CACC"/>
            </a:solidFill>
          </a:ln>
        </p:spPr>
      </p:sp>
      <p:sp>
        <p:nvSpPr>
          <p:cNvPr id="150" name="Rectangle 149">
            <a:extLst>
              <a:ext uri="{FF2B5EF4-FFF2-40B4-BE49-F238E27FC236}">
                <a16:creationId xmlns:a16="http://schemas.microsoft.com/office/drawing/2014/main" id="{810DFC97-27DF-4D3E-B9A3-8B994022C33D}"/>
              </a:ext>
            </a:extLst>
          </p:cNvPr>
          <p:cNvSpPr>
            <a:spLocks noGrp="1"/>
          </p:cNvSpPr>
          <p:nvPr/>
        </p:nvSpPr>
        <p:spPr>
          <a:xfrm>
            <a:off x="8115300" y="4848225"/>
            <a:ext cx="295275" cy="295275"/>
          </a:xfrm>
          <a:prstGeom prst="rect">
            <a:avLst/>
          </a:prstGeom>
          <a:solidFill>
            <a:srgbClr val="FFFFFF"/>
          </a:solidFill>
          <a:ln w="9525">
            <a:solidFill>
              <a:srgbClr val="C4CACC"/>
            </a:solidFill>
          </a:ln>
        </p:spPr>
      </p:sp>
      <p:sp>
        <p:nvSpPr>
          <p:cNvPr id="151" name="Rectangle 150">
            <a:extLst>
              <a:ext uri="{FF2B5EF4-FFF2-40B4-BE49-F238E27FC236}">
                <a16:creationId xmlns:a16="http://schemas.microsoft.com/office/drawing/2014/main" id="{D5E371BF-D2A7-41EE-8D1A-1ED1E1144CD9}"/>
              </a:ext>
            </a:extLst>
          </p:cNvPr>
          <p:cNvSpPr>
            <a:spLocks noGrp="1"/>
          </p:cNvSpPr>
          <p:nvPr/>
        </p:nvSpPr>
        <p:spPr>
          <a:xfrm>
            <a:off x="8410575" y="4848225"/>
            <a:ext cx="295275" cy="295275"/>
          </a:xfrm>
          <a:prstGeom prst="rect">
            <a:avLst/>
          </a:prstGeom>
          <a:solidFill>
            <a:srgbClr val="FFFFFF"/>
          </a:solidFill>
          <a:ln w="9525">
            <a:solidFill>
              <a:srgbClr val="C4CACC"/>
            </a:solidFill>
          </a:ln>
        </p:spPr>
      </p:sp>
      <p:sp>
        <p:nvSpPr>
          <p:cNvPr id="152" name="Rectangle 151">
            <a:extLst>
              <a:ext uri="{FF2B5EF4-FFF2-40B4-BE49-F238E27FC236}">
                <a16:creationId xmlns:a16="http://schemas.microsoft.com/office/drawing/2014/main" id="{8ED3A77A-842B-4442-A54B-864032E6E909}"/>
              </a:ext>
            </a:extLst>
          </p:cNvPr>
          <p:cNvSpPr>
            <a:spLocks noGrp="1"/>
          </p:cNvSpPr>
          <p:nvPr/>
        </p:nvSpPr>
        <p:spPr>
          <a:xfrm>
            <a:off x="8705850" y="4848225"/>
            <a:ext cx="295275" cy="295275"/>
          </a:xfrm>
          <a:prstGeom prst="rect">
            <a:avLst/>
          </a:prstGeom>
          <a:solidFill>
            <a:srgbClr val="FFFFFF"/>
          </a:solidFill>
          <a:ln w="9525">
            <a:solidFill>
              <a:srgbClr val="C4CACC"/>
            </a:solidFill>
          </a:ln>
        </p:spPr>
      </p:sp>
      <p:sp>
        <p:nvSpPr>
          <p:cNvPr id="153" name="Rectangle 152">
            <a:extLst>
              <a:ext uri="{FF2B5EF4-FFF2-40B4-BE49-F238E27FC236}">
                <a16:creationId xmlns:a16="http://schemas.microsoft.com/office/drawing/2014/main" id="{FBF507AA-3938-46F3-9610-DF54F16A00B7}"/>
              </a:ext>
            </a:extLst>
          </p:cNvPr>
          <p:cNvSpPr>
            <a:spLocks noGrp="1"/>
          </p:cNvSpPr>
          <p:nvPr/>
        </p:nvSpPr>
        <p:spPr>
          <a:xfrm>
            <a:off x="9001125" y="4848225"/>
            <a:ext cx="295275" cy="295275"/>
          </a:xfrm>
          <a:prstGeom prst="rect">
            <a:avLst/>
          </a:prstGeom>
          <a:solidFill>
            <a:srgbClr val="3CA5AF"/>
          </a:solidFill>
          <a:ln w="9525">
            <a:solidFill>
              <a:srgbClr val="C4CACC"/>
            </a:solidFill>
          </a:ln>
        </p:spPr>
      </p:sp>
      <p:sp>
        <p:nvSpPr>
          <p:cNvPr id="154" name="Rectangle 153">
            <a:extLst>
              <a:ext uri="{FF2B5EF4-FFF2-40B4-BE49-F238E27FC236}">
                <a16:creationId xmlns:a16="http://schemas.microsoft.com/office/drawing/2014/main" id="{3A9A11C9-4C06-427A-B881-A6F4B9798AF5}"/>
              </a:ext>
            </a:extLst>
          </p:cNvPr>
          <p:cNvSpPr>
            <a:spLocks noGrp="1"/>
          </p:cNvSpPr>
          <p:nvPr/>
        </p:nvSpPr>
        <p:spPr>
          <a:xfrm>
            <a:off x="9296400" y="4848225"/>
            <a:ext cx="295275" cy="295275"/>
          </a:xfrm>
          <a:prstGeom prst="rect">
            <a:avLst/>
          </a:prstGeom>
          <a:solidFill>
            <a:srgbClr val="3CA5AF"/>
          </a:solidFill>
          <a:ln w="9525">
            <a:solidFill>
              <a:srgbClr val="C4CACC"/>
            </a:solidFill>
          </a:ln>
        </p:spPr>
      </p:sp>
      <p:sp>
        <p:nvSpPr>
          <p:cNvPr id="155" name="Rectangle 154">
            <a:extLst>
              <a:ext uri="{FF2B5EF4-FFF2-40B4-BE49-F238E27FC236}">
                <a16:creationId xmlns:a16="http://schemas.microsoft.com/office/drawing/2014/main" id="{3BB48FAA-DF63-4915-99BF-83AE2F041772}"/>
              </a:ext>
            </a:extLst>
          </p:cNvPr>
          <p:cNvSpPr>
            <a:spLocks noGrp="1"/>
          </p:cNvSpPr>
          <p:nvPr/>
        </p:nvSpPr>
        <p:spPr>
          <a:xfrm>
            <a:off x="9591675" y="4848225"/>
            <a:ext cx="295275" cy="295275"/>
          </a:xfrm>
          <a:prstGeom prst="rect">
            <a:avLst/>
          </a:prstGeom>
          <a:solidFill>
            <a:srgbClr val="3CA5AF"/>
          </a:solidFill>
          <a:ln w="9525">
            <a:solidFill>
              <a:srgbClr val="C4CACC"/>
            </a:solidFill>
          </a:ln>
        </p:spPr>
      </p:sp>
      <p:sp>
        <p:nvSpPr>
          <p:cNvPr id="156" name="Source">
            <a:extLst>
              <a:ext uri="{FF2B5EF4-FFF2-40B4-BE49-F238E27FC236}">
                <a16:creationId xmlns:a16="http://schemas.microsoft.com/office/drawing/2014/main" id="{EBEE0F1E-B9EA-42E5-B367-A14116632DFE}"/>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Adapted from CME 295 Lecture 2, local attention</a:t>
            </a:r>
          </a:p>
        </p:txBody>
      </p:sp>
      <p:sp>
        <p:nvSpPr>
          <p:cNvPr id="157" name="Slide number">
            <a:extLst>
              <a:ext uri="{FF2B5EF4-FFF2-40B4-BE49-F238E27FC236}">
                <a16:creationId xmlns:a16="http://schemas.microsoft.com/office/drawing/2014/main" id="{945690C4-48D2-415B-8D81-7AEC6277763D}"/>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27</a:t>
            </a:r>
          </a:p>
        </p:txBody>
      </p:sp>
    </p:spTree>
    <p:extLst>
      <p:ext uri="{BB962C8B-B14F-4D97-AF65-F5344CB8AC3E}">
        <p14:creationId xmlns:p14="http://schemas.microsoft.com/office/powerpoint/2010/main" val="835125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9B603F03-9502-46BF-8E5C-6BD031D26418}"/>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A wider receptive field across layers</a:t>
            </a:r>
          </a:p>
        </p:txBody>
      </p:sp>
      <p:pic>
        <p:nvPicPr>
          <p:cNvPr id="2" name="Picture 1">
            <a:extLst>
              <a:ext uri="{FF2B5EF4-FFF2-40B4-BE49-F238E27FC236}">
                <a16:creationId xmlns:a16="http://schemas.microsoft.com/office/drawing/2014/main" id="{C8BE99C3-528E-4708-AC35-828FEC723C01}"/>
              </a:ext>
            </a:extLst>
          </p:cNvPr>
          <p:cNvPicPr>
            <a:picLocks noChangeAspect="1"/>
          </p:cNvPicPr>
          <p:nvPr/>
        </p:nvPicPr>
        <p:blipFill>
          <a:blip r:embed="rId3"/>
          <a:stretch/>
        </p:blipFill>
        <p:spPr>
          <a:xfrm>
            <a:off x="1800402" y="2095500"/>
            <a:ext cx="3542947" cy="4000500"/>
          </a:xfrm>
          <a:prstGeom prst="rect">
            <a:avLst/>
          </a:prstGeom>
        </p:spPr>
      </p:pic>
      <p:sp>
        <p:nvSpPr>
          <p:cNvPr id="3" name="Rectangle 2">
            <a:extLst>
              <a:ext uri="{FF2B5EF4-FFF2-40B4-BE49-F238E27FC236}">
                <a16:creationId xmlns:a16="http://schemas.microsoft.com/office/drawing/2014/main" id="{73D91007-AD11-4A5B-A9FA-12E5D0976A33}"/>
              </a:ext>
            </a:extLst>
          </p:cNvPr>
          <p:cNvSpPr>
            <a:spLocks noGrp="1"/>
          </p:cNvSpPr>
          <p:nvPr/>
        </p:nvSpPr>
        <p:spPr>
          <a:xfrm>
            <a:off x="666750" y="10953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Local attention passes information across successive layers.</a:t>
            </a:r>
          </a:p>
        </p:txBody>
      </p:sp>
      <p:sp>
        <p:nvSpPr>
          <p:cNvPr id="4" name="Rectangle 3">
            <a:extLst>
              <a:ext uri="{FF2B5EF4-FFF2-40B4-BE49-F238E27FC236}">
                <a16:creationId xmlns:a16="http://schemas.microsoft.com/office/drawing/2014/main" id="{1927BC30-C9C4-43DF-BB9B-F92900F1AF6F}"/>
              </a:ext>
            </a:extLst>
          </p:cNvPr>
          <p:cNvSpPr>
            <a:spLocks noGrp="1"/>
          </p:cNvSpPr>
          <p:nvPr/>
        </p:nvSpPr>
        <p:spPr>
          <a:xfrm>
            <a:off x="6667500" y="2571750"/>
            <a:ext cx="4667250" cy="13335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Deeper layers can depend on tokens outside one layer’s direct window.</a:t>
            </a:r>
          </a:p>
        </p:txBody>
      </p:sp>
      <p:sp>
        <p:nvSpPr>
          <p:cNvPr id="5" name="Rectangle 4">
            <a:extLst>
              <a:ext uri="{FF2B5EF4-FFF2-40B4-BE49-F238E27FC236}">
                <a16:creationId xmlns:a16="http://schemas.microsoft.com/office/drawing/2014/main" id="{52ED905D-5E16-4D8B-A9BB-0A21DE368098}"/>
              </a:ext>
            </a:extLst>
          </p:cNvPr>
          <p:cNvSpPr>
            <a:spLocks noGrp="1"/>
          </p:cNvSpPr>
          <p:nvPr/>
        </p:nvSpPr>
        <p:spPr>
          <a:xfrm>
            <a:off x="6667500" y="4495800"/>
            <a:ext cx="4667250" cy="147637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Some architectures mix local layers with global attention to retain longer-range access.</a:t>
            </a:r>
          </a:p>
        </p:txBody>
      </p:sp>
      <p:sp>
        <p:nvSpPr>
          <p:cNvPr id="6" name="Source">
            <a:extLst>
              <a:ext uri="{FF2B5EF4-FFF2-40B4-BE49-F238E27FC236}">
                <a16:creationId xmlns:a16="http://schemas.microsoft.com/office/drawing/2014/main" id="{890E44F2-F30D-45EB-AF8B-C538364B2161}"/>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Jiang et al., 2023. Mistral 7B</a:t>
            </a:r>
          </a:p>
        </p:txBody>
      </p:sp>
      <p:sp>
        <p:nvSpPr>
          <p:cNvPr id="7" name="Slide number">
            <a:extLst>
              <a:ext uri="{FF2B5EF4-FFF2-40B4-BE49-F238E27FC236}">
                <a16:creationId xmlns:a16="http://schemas.microsoft.com/office/drawing/2014/main" id="{7A858502-481A-4262-B2A9-0A6946846520}"/>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28</a:t>
            </a:r>
          </a:p>
        </p:txBody>
      </p:sp>
    </p:spTree>
    <p:extLst>
      <p:ext uri="{BB962C8B-B14F-4D97-AF65-F5344CB8AC3E}">
        <p14:creationId xmlns:p14="http://schemas.microsoft.com/office/powerpoint/2010/main" val="435576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FB09D9-08E5-49F2-A15C-AE4DB59A7E0D}"/>
              </a:ext>
            </a:extLst>
          </p:cNvPr>
          <p:cNvPicPr>
            <a:picLocks noChangeAspect="1"/>
          </p:cNvPicPr>
          <p:nvPr/>
        </p:nvPicPr>
        <p:blipFill>
          <a:blip r:embed="rId3"/>
          <a:stretch/>
        </p:blipFill>
        <p:spPr>
          <a:xfrm>
            <a:off x="0" y="0"/>
            <a:ext cx="12192000" cy="6858000"/>
          </a:xfrm>
          <a:prstGeom prst="rect">
            <a:avLst/>
          </a:prstGeom>
        </p:spPr>
      </p:pic>
      <p:sp>
        <p:nvSpPr>
          <p:cNvPr id="3" name="Rectangle 2">
            <a:extLst>
              <a:ext uri="{FF2B5EF4-FFF2-40B4-BE49-F238E27FC236}">
                <a16:creationId xmlns:a16="http://schemas.microsoft.com/office/drawing/2014/main" id="{BC6BD942-F663-4D84-A8A7-3E291C5CEBD3}"/>
              </a:ext>
            </a:extLst>
          </p:cNvPr>
          <p:cNvSpPr>
            <a:spLocks noGrp="1"/>
          </p:cNvSpPr>
          <p:nvPr/>
        </p:nvSpPr>
        <p:spPr>
          <a:xfrm>
            <a:off x="1270000" y="3569760"/>
            <a:ext cx="10583333" cy="507549"/>
          </a:xfrm>
          <a:prstGeom prst="rect">
            <a:avLst/>
          </a:prstGeom>
          <a:noFill/>
          <a:ln w="0">
            <a:noFill/>
          </a:ln>
        </p:spPr>
        <p:txBody>
          <a:bodyPr wrap="square" lIns="0" tIns="0" rIns="0" bIns="0" anchor="t">
            <a:noAutofit/>
          </a:bodyPr>
          <a:lstStyle>
            <a:defPPr algn="l">
              <a:defRPr sz="2133" b="1">
                <a:solidFill>
                  <a:srgbClr val="111111"/>
                </a:solidFill>
                <a:latin typeface="Calibri"/>
                <a:ea typeface="Calibri"/>
                <a:cs typeface="Calibri"/>
              </a:defRPr>
            </a:defPPr>
          </a:lstStyle>
          <a:p>
            <a:pPr algn="l">
              <a:defRPr sz="2133" b="1">
                <a:solidFill>
                  <a:srgbClr val="111111"/>
                </a:solidFill>
                <a:latin typeface="Calibri"/>
                <a:ea typeface="Calibri"/>
                <a:cs typeface="Calibri"/>
              </a:defRPr>
            </a:pPr>
            <a:r>
              <a:rPr sz="2133" b="1">
                <a:solidFill>
                  <a:srgbClr val="111111"/>
                </a:solidFill>
                <a:latin typeface="Calibri"/>
                <a:ea typeface="Calibri"/>
                <a:cs typeface="Calibri"/>
              </a:rPr>
              <a:t>With ρ = identity (no softmax), matrix multiplication can be reordered.</a:t>
            </a:r>
          </a:p>
        </p:txBody>
      </p:sp>
      <p:sp>
        <p:nvSpPr>
          <p:cNvPr id="4" name="Rectangle 3">
            <a:extLst>
              <a:ext uri="{FF2B5EF4-FFF2-40B4-BE49-F238E27FC236}">
                <a16:creationId xmlns:a16="http://schemas.microsoft.com/office/drawing/2014/main" id="{CB8565E3-6309-4FB4-9627-1A1DB01FFC66}"/>
              </a:ext>
            </a:extLst>
          </p:cNvPr>
          <p:cNvSpPr>
            <a:spLocks noGrp="1"/>
          </p:cNvSpPr>
          <p:nvPr/>
        </p:nvSpPr>
        <p:spPr>
          <a:xfrm>
            <a:off x="1270000" y="5802975"/>
            <a:ext cx="10583333" cy="575222"/>
          </a:xfrm>
          <a:prstGeom prst="rect">
            <a:avLst/>
          </a:prstGeom>
          <a:noFill/>
          <a:ln w="0">
            <a:noFill/>
          </a:ln>
        </p:spPr>
        <p:txBody>
          <a:bodyPr wrap="square" lIns="0" tIns="0" rIns="0" bIns="0" anchor="t">
            <a:noAutofit/>
          </a:bodyPr>
          <a:lstStyle>
            <a:defPPr algn="l">
              <a:defRPr sz="2000" b="0">
                <a:solidFill>
                  <a:srgbClr val="111111"/>
                </a:solidFill>
                <a:latin typeface="Calibri"/>
                <a:ea typeface="Calibri"/>
                <a:cs typeface="Calibri"/>
              </a:defRPr>
            </a:defPPr>
          </a:lstStyle>
          <a:p>
            <a:pPr algn="l">
              <a:defRPr sz="2000" b="0">
                <a:solidFill>
                  <a:srgbClr val="111111"/>
                </a:solidFill>
                <a:latin typeface="Calibri"/>
                <a:ea typeface="Calibri"/>
                <a:cs typeface="Calibri"/>
              </a:defRPr>
            </a:pPr>
            <a:r>
              <a:rPr sz="2000" b="0">
                <a:solidFill>
                  <a:srgbClr val="111111"/>
                </a:solidFill>
                <a:latin typeface="Calibri"/>
                <a:ea typeface="Calibri"/>
                <a:cs typeface="Calibri"/>
              </a:rPr>
              <a:t>This avoids the n × n attention matrix: cost is linear in n for fixed head dimensions.</a:t>
            </a:r>
          </a:p>
        </p:txBody>
      </p:sp>
      <p:sp>
        <p:nvSpPr>
          <p:cNvPr id="5" name="Rectangle 4">
            <a:extLst>
              <a:ext uri="{FF2B5EF4-FFF2-40B4-BE49-F238E27FC236}">
                <a16:creationId xmlns:a16="http://schemas.microsoft.com/office/drawing/2014/main" id="{F9F862D6-4B27-4154-9193-DEB3D00324A4}"/>
              </a:ext>
            </a:extLst>
          </p:cNvPr>
          <p:cNvSpPr>
            <a:spLocks noGrp="1"/>
          </p:cNvSpPr>
          <p:nvPr/>
        </p:nvSpPr>
        <p:spPr>
          <a:xfrm>
            <a:off x="6434667" y="6513544"/>
            <a:ext cx="5588000" cy="287611"/>
          </a:xfrm>
          <a:prstGeom prst="rect">
            <a:avLst/>
          </a:prstGeom>
          <a:noFill/>
          <a:ln w="0">
            <a:noFill/>
          </a:ln>
        </p:spPr>
        <p:txBody>
          <a:bodyPr wrap="square" lIns="0" tIns="0" rIns="0" bIns="0" anchor="t">
            <a:noAutofit/>
          </a:bodyPr>
          <a:lstStyle>
            <a:defPPr algn="l">
              <a:defRPr sz="1400" b="0">
                <a:solidFill>
                  <a:srgbClr val="111111"/>
                </a:solidFill>
                <a:latin typeface="Calibri"/>
                <a:ea typeface="Calibri"/>
                <a:cs typeface="Calibri"/>
              </a:defRPr>
            </a:defPPr>
          </a:lstStyle>
          <a:p>
            <a:pPr algn="l">
              <a:defRPr sz="1400" b="0">
                <a:solidFill>
                  <a:srgbClr val="111111"/>
                </a:solidFill>
                <a:latin typeface="Calibri"/>
                <a:ea typeface="Calibri"/>
                <a:cs typeface="Calibri"/>
              </a:defRPr>
            </a:pPr>
            <a:r>
              <a:rPr sz="1400" b="0">
                <a:solidFill>
                  <a:srgbClr val="111111"/>
                </a:solidFill>
                <a:latin typeface="Calibri"/>
                <a:ea typeface="Calibri"/>
                <a:cs typeface="Calibri"/>
              </a:rPr>
              <a:t>Shen et al. (2018); Katharopoulos et al. (2020)</a:t>
            </a:r>
          </a:p>
        </p:txBody>
      </p:sp>
      <p:sp>
        <p:nvSpPr>
          <p:cNvPr id="8" name="TextBox 7">
            <a:extLst>
              <a:ext uri="{FF2B5EF4-FFF2-40B4-BE49-F238E27FC236}">
                <a16:creationId xmlns:a16="http://schemas.microsoft.com/office/drawing/2014/main" id="{55273412-8F77-95D3-881B-C772F8E7E61A}"/>
              </a:ext>
            </a:extLst>
          </p:cNvPr>
          <p:cNvSpPr txBox="1"/>
          <p:nvPr/>
        </p:nvSpPr>
        <p:spPr>
          <a:xfrm>
            <a:off x="485775" y="266700"/>
            <a:ext cx="11239500" cy="484748"/>
          </a:xfrm>
          <a:prstGeom prst="rect">
            <a:avLst/>
          </a:prstGeom>
          <a:noFill/>
        </p:spPr>
        <p:txBody>
          <a:bodyPr vert="horz" lIns="0" tIns="0" rIns="0" bIns="0" rtlCol="0">
            <a:spAutoFit/>
          </a:bodyPr>
          <a:lstStyle/>
          <a:p>
            <a:r>
              <a:rPr lang="en-US" sz="3150" b="1">
                <a:solidFill>
                  <a:srgbClr val="007B92"/>
                </a:solidFill>
                <a:latin typeface="Calibri" panose="020F0502020204030204" pitchFamily="34" charset="0"/>
              </a:rPr>
              <a:t>Linear attention: associativity</a:t>
            </a:r>
          </a:p>
        </p:txBody>
      </p:sp>
      <p:sp>
        <p:nvSpPr>
          <p:cNvPr id="9" name="TextBox 8">
            <a:extLst>
              <a:ext uri="{FF2B5EF4-FFF2-40B4-BE49-F238E27FC236}">
                <a16:creationId xmlns:a16="http://schemas.microsoft.com/office/drawing/2014/main" id="{B60427A8-5271-428D-43D5-E0E3A1160A02}"/>
              </a:ext>
            </a:extLst>
          </p:cNvPr>
          <p:cNvSpPr txBox="1"/>
          <p:nvPr/>
        </p:nvSpPr>
        <p:spPr>
          <a:xfrm>
            <a:off x="485775" y="6477000"/>
            <a:ext cx="619125" cy="207749"/>
          </a:xfrm>
          <a:prstGeom prst="rect">
            <a:avLst/>
          </a:prstGeom>
          <a:noFill/>
        </p:spPr>
        <p:txBody>
          <a:bodyPr vert="horz" lIns="0" tIns="0" rIns="0" bIns="0" rtlCol="0">
            <a:spAutoFit/>
          </a:bodyPr>
          <a:lstStyle/>
          <a:p>
            <a:r>
              <a:rPr lang="en-US" sz="1350">
                <a:solidFill>
                  <a:srgbClr val="171717"/>
                </a:solidFill>
                <a:latin typeface="Calibri" panose="020F0502020204030204" pitchFamily="34" charset="0"/>
              </a:rPr>
              <a:t>29</a:t>
            </a:r>
          </a:p>
        </p:txBody>
      </p:sp>
    </p:spTree>
    <p:extLst>
      <p:ext uri="{BB962C8B-B14F-4D97-AF65-F5344CB8AC3E}">
        <p14:creationId xmlns:p14="http://schemas.microsoft.com/office/powerpoint/2010/main" val="2275859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232461A-0AEF-439B-A460-009096443209}"/>
              </a:ext>
            </a:extLst>
          </p:cNvPr>
          <p:cNvPicPr>
            <a:picLocks noChangeAspect="1"/>
          </p:cNvPicPr>
          <p:nvPr/>
        </p:nvPicPr>
        <p:blipFill>
          <a:blip r:embed="rId3"/>
          <a:stretch/>
        </p:blipFill>
        <p:spPr>
          <a:xfrm>
            <a:off x="0" y="0"/>
            <a:ext cx="12192000" cy="6858000"/>
          </a:xfrm>
          <a:prstGeom prst="rect">
            <a:avLst/>
          </a:prstGeom>
        </p:spPr>
      </p:pic>
      <p:sp>
        <p:nvSpPr>
          <p:cNvPr id="3" name="Rectangle 2">
            <a:extLst>
              <a:ext uri="{FF2B5EF4-FFF2-40B4-BE49-F238E27FC236}">
                <a16:creationId xmlns:a16="http://schemas.microsoft.com/office/drawing/2014/main" id="{DF787A83-311B-4E0A-90E0-C8FDD3FFABC7}"/>
              </a:ext>
            </a:extLst>
          </p:cNvPr>
          <p:cNvSpPr>
            <a:spLocks noGrp="1"/>
          </p:cNvSpPr>
          <p:nvPr/>
        </p:nvSpPr>
        <p:spPr>
          <a:xfrm>
            <a:off x="1266292" y="1661448"/>
            <a:ext cx="7682504" cy="382493"/>
          </a:xfrm>
          <a:prstGeom prst="rect">
            <a:avLst/>
          </a:prstGeom>
          <a:noFill/>
          <a:ln w="0">
            <a:noFill/>
          </a:ln>
        </p:spPr>
        <p:txBody>
          <a:bodyPr wrap="square" lIns="0" tIns="0" rIns="0" bIns="0" anchor="t">
            <a:noAutofit/>
          </a:bodyPr>
          <a:lstStyle>
            <a:defPPr algn="l">
              <a:defRPr sz="2119" b="0">
                <a:solidFill>
                  <a:srgbClr val="111111"/>
                </a:solidFill>
                <a:latin typeface="Calibri"/>
                <a:ea typeface="Calibri"/>
                <a:cs typeface="Calibri"/>
              </a:defRPr>
            </a:defPPr>
          </a:lstStyle>
          <a:p>
            <a:pPr algn="l">
              <a:defRPr sz="2119" b="0">
                <a:solidFill>
                  <a:srgbClr val="111111"/>
                </a:solidFill>
                <a:latin typeface="Calibri"/>
                <a:ea typeface="Calibri"/>
                <a:cs typeface="Calibri"/>
              </a:defRPr>
            </a:pPr>
            <a:r>
              <a:rPr sz="2119" b="0">
                <a:solidFill>
                  <a:srgbClr val="111111"/>
                </a:solidFill>
                <a:latin typeface="Calibri"/>
                <a:ea typeface="Calibri"/>
                <a:cs typeface="Calibri"/>
              </a:rPr>
              <a:t>Recall that in purely linear attention, we consider the reordering</a:t>
            </a:r>
          </a:p>
        </p:txBody>
      </p:sp>
      <p:sp>
        <p:nvSpPr>
          <p:cNvPr id="4" name="Rectangle 3">
            <a:extLst>
              <a:ext uri="{FF2B5EF4-FFF2-40B4-BE49-F238E27FC236}">
                <a16:creationId xmlns:a16="http://schemas.microsoft.com/office/drawing/2014/main" id="{26BCB00D-A7E5-4807-8EC8-95215ED6ABA9}"/>
              </a:ext>
            </a:extLst>
          </p:cNvPr>
          <p:cNvSpPr>
            <a:spLocks noGrp="1"/>
          </p:cNvSpPr>
          <p:nvPr/>
        </p:nvSpPr>
        <p:spPr>
          <a:xfrm>
            <a:off x="1270000" y="3146803"/>
            <a:ext cx="10583333" cy="507549"/>
          </a:xfrm>
          <a:prstGeom prst="rect">
            <a:avLst/>
          </a:prstGeom>
          <a:noFill/>
          <a:ln w="0">
            <a:noFill/>
          </a:ln>
        </p:spPr>
        <p:txBody>
          <a:bodyPr wrap="square" lIns="0" tIns="0" rIns="0" bIns="0" anchor="t">
            <a:noAutofit/>
          </a:bodyPr>
          <a:lstStyle>
            <a:defPPr algn="l">
              <a:defRPr sz="2133" b="0">
                <a:solidFill>
                  <a:srgbClr val="111111"/>
                </a:solidFill>
                <a:latin typeface="Calibri"/>
                <a:ea typeface="Calibri"/>
                <a:cs typeface="Calibri"/>
              </a:defRPr>
            </a:defPPr>
          </a:lstStyle>
          <a:p>
            <a:pPr algn="l">
              <a:defRPr sz="2133" b="0">
                <a:solidFill>
                  <a:srgbClr val="111111"/>
                </a:solidFill>
                <a:latin typeface="Calibri"/>
                <a:ea typeface="Calibri"/>
                <a:cs typeface="Calibri"/>
              </a:defRPr>
            </a:pPr>
            <a:r>
              <a:rPr sz="2133" b="0">
                <a:solidFill>
                  <a:srgbClr val="111111"/>
                </a:solidFill>
                <a:latin typeface="Calibri"/>
                <a:ea typeface="Calibri"/>
                <a:cs typeface="Calibri"/>
              </a:rPr>
              <a:t>For causal attention, maintain a state that sums key–value outer products.</a:t>
            </a:r>
          </a:p>
        </p:txBody>
      </p:sp>
      <p:sp>
        <p:nvSpPr>
          <p:cNvPr id="5" name="Rectangle 4">
            <a:extLst>
              <a:ext uri="{FF2B5EF4-FFF2-40B4-BE49-F238E27FC236}">
                <a16:creationId xmlns:a16="http://schemas.microsoft.com/office/drawing/2014/main" id="{32ACD086-1DF8-47BD-8F35-72AB828A5AF5}"/>
              </a:ext>
            </a:extLst>
          </p:cNvPr>
          <p:cNvSpPr>
            <a:spLocks noGrp="1"/>
          </p:cNvSpPr>
          <p:nvPr/>
        </p:nvSpPr>
        <p:spPr>
          <a:xfrm>
            <a:off x="1270000" y="4737123"/>
            <a:ext cx="10583333" cy="761323"/>
          </a:xfrm>
          <a:prstGeom prst="rect">
            <a:avLst/>
          </a:prstGeom>
          <a:noFill/>
          <a:ln w="0">
            <a:noFill/>
          </a:ln>
        </p:spPr>
        <p:txBody>
          <a:bodyPr wrap="square" lIns="0" tIns="0" rIns="0" bIns="0" anchor="t">
            <a:noAutofit/>
          </a:bodyPr>
          <a:lstStyle>
            <a:defPPr algn="l">
              <a:defRPr sz="2133" b="0">
                <a:solidFill>
                  <a:srgbClr val="111111"/>
                </a:solidFill>
                <a:latin typeface="Calibri"/>
                <a:ea typeface="Calibri"/>
                <a:cs typeface="Calibri"/>
              </a:defRPr>
            </a:defPPr>
          </a:lstStyle>
          <a:p>
            <a:pPr algn="l">
              <a:defRPr sz="2133" b="0">
                <a:solidFill>
                  <a:srgbClr val="111111"/>
                </a:solidFill>
                <a:latin typeface="Calibri"/>
                <a:ea typeface="Calibri"/>
                <a:cs typeface="Calibri"/>
              </a:defRPr>
            </a:pPr>
            <a:r>
              <a:rPr sz="2133" b="0">
                <a:solidFill>
                  <a:srgbClr val="111111"/>
                </a:solidFill>
                <a:latin typeface="Calibri"/>
                <a:ea typeface="Calibri"/>
                <a:cs typeface="Calibri"/>
              </a:rPr>
              <a:t>Training can use parallel scans or chunks. Decoding updates one state per token.</a:t>
            </a:r>
          </a:p>
        </p:txBody>
      </p:sp>
      <p:sp>
        <p:nvSpPr>
          <p:cNvPr id="6" name="Rectangle 5">
            <a:extLst>
              <a:ext uri="{FF2B5EF4-FFF2-40B4-BE49-F238E27FC236}">
                <a16:creationId xmlns:a16="http://schemas.microsoft.com/office/drawing/2014/main" id="{09696CD6-E2A0-4306-83F2-C0E4DA7ED767}"/>
              </a:ext>
            </a:extLst>
          </p:cNvPr>
          <p:cNvSpPr>
            <a:spLocks noGrp="1"/>
          </p:cNvSpPr>
          <p:nvPr/>
        </p:nvSpPr>
        <p:spPr>
          <a:xfrm>
            <a:off x="1270000" y="5786057"/>
            <a:ext cx="10583333" cy="676732"/>
          </a:xfrm>
          <a:prstGeom prst="rect">
            <a:avLst/>
          </a:prstGeom>
          <a:noFill/>
          <a:ln w="0">
            <a:noFill/>
          </a:ln>
        </p:spPr>
        <p:txBody>
          <a:bodyPr wrap="square" lIns="0" tIns="0" rIns="0" bIns="0" anchor="t">
            <a:noAutofit/>
          </a:bodyPr>
          <a:lstStyle>
            <a:defPPr algn="l">
              <a:defRPr sz="2067" b="0">
                <a:solidFill>
                  <a:srgbClr val="111111"/>
                </a:solidFill>
                <a:latin typeface="Calibri"/>
                <a:ea typeface="Calibri"/>
                <a:cs typeface="Calibri"/>
              </a:defRPr>
            </a:defPPr>
          </a:lstStyle>
          <a:p>
            <a:pPr algn="l">
              <a:defRPr sz="2067" b="0">
                <a:solidFill>
                  <a:srgbClr val="111111"/>
                </a:solidFill>
                <a:latin typeface="Calibri"/>
                <a:ea typeface="Calibri"/>
                <a:cs typeface="Calibri"/>
              </a:defRPr>
            </a:pPr>
            <a:r>
              <a:rPr sz="2067" b="0">
                <a:solidFill>
                  <a:srgbClr val="111111"/>
                </a:solidFill>
                <a:latin typeface="Calibri"/>
                <a:ea typeface="Calibri"/>
                <a:cs typeface="Calibri"/>
              </a:rPr>
              <a:t>The state size depends on the head dimensions, not the sequence length.</a:t>
            </a:r>
          </a:p>
        </p:txBody>
      </p:sp>
      <p:sp>
        <p:nvSpPr>
          <p:cNvPr id="9" name="TextBox 8">
            <a:extLst>
              <a:ext uri="{FF2B5EF4-FFF2-40B4-BE49-F238E27FC236}">
                <a16:creationId xmlns:a16="http://schemas.microsoft.com/office/drawing/2014/main" id="{B8295B20-1F73-BF0A-36FD-EA91D20516FC}"/>
              </a:ext>
            </a:extLst>
          </p:cNvPr>
          <p:cNvSpPr txBox="1"/>
          <p:nvPr/>
        </p:nvSpPr>
        <p:spPr>
          <a:xfrm>
            <a:off x="485775" y="266700"/>
            <a:ext cx="11239500" cy="484748"/>
          </a:xfrm>
          <a:prstGeom prst="rect">
            <a:avLst/>
          </a:prstGeom>
          <a:noFill/>
        </p:spPr>
        <p:txBody>
          <a:bodyPr vert="horz" lIns="0" tIns="0" rIns="0" bIns="0" rtlCol="0">
            <a:spAutoFit/>
          </a:bodyPr>
          <a:lstStyle/>
          <a:p>
            <a:r>
              <a:rPr lang="en-GB" sz="3150" b="1">
                <a:solidFill>
                  <a:srgbClr val="007B92"/>
                </a:solidFill>
                <a:latin typeface="Calibri" panose="020F0502020204030204" pitchFamily="34" charset="0"/>
              </a:rPr>
              <a:t>Linear attention as a recurrence</a:t>
            </a:r>
            <a:endParaRPr lang="en-US" sz="3150" b="1">
              <a:solidFill>
                <a:srgbClr val="007B92"/>
              </a:solidFill>
              <a:latin typeface="Calibri" panose="020F0502020204030204" pitchFamily="34" charset="0"/>
            </a:endParaRPr>
          </a:p>
        </p:txBody>
      </p:sp>
      <p:sp>
        <p:nvSpPr>
          <p:cNvPr id="10" name="TextBox 9">
            <a:extLst>
              <a:ext uri="{FF2B5EF4-FFF2-40B4-BE49-F238E27FC236}">
                <a16:creationId xmlns:a16="http://schemas.microsoft.com/office/drawing/2014/main" id="{85F463C7-02DE-0BE0-5AB6-A4801227B010}"/>
              </a:ext>
            </a:extLst>
          </p:cNvPr>
          <p:cNvSpPr txBox="1"/>
          <p:nvPr/>
        </p:nvSpPr>
        <p:spPr>
          <a:xfrm>
            <a:off x="485775" y="6477000"/>
            <a:ext cx="619125" cy="207749"/>
          </a:xfrm>
          <a:prstGeom prst="rect">
            <a:avLst/>
          </a:prstGeom>
          <a:noFill/>
        </p:spPr>
        <p:txBody>
          <a:bodyPr vert="horz" lIns="0" tIns="0" rIns="0" bIns="0" rtlCol="0">
            <a:spAutoFit/>
          </a:bodyPr>
          <a:lstStyle/>
          <a:p>
            <a:r>
              <a:rPr lang="en-US" sz="1350">
                <a:solidFill>
                  <a:srgbClr val="171717"/>
                </a:solidFill>
                <a:latin typeface="Calibri" panose="020F0502020204030204" pitchFamily="34" charset="0"/>
              </a:rPr>
              <a:t>30</a:t>
            </a:r>
          </a:p>
        </p:txBody>
      </p:sp>
    </p:spTree>
    <p:extLst>
      <p:ext uri="{BB962C8B-B14F-4D97-AF65-F5344CB8AC3E}">
        <p14:creationId xmlns:p14="http://schemas.microsoft.com/office/powerpoint/2010/main" val="4224500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8C9423CC-D310-4930-9BC8-48660D6705AD}"/>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Three ways to reduce attention cost</a:t>
            </a:r>
          </a:p>
        </p:txBody>
      </p:sp>
      <p:sp>
        <p:nvSpPr>
          <p:cNvPr id="2" name="Rectangle 1">
            <a:extLst>
              <a:ext uri="{FF2B5EF4-FFF2-40B4-BE49-F238E27FC236}">
                <a16:creationId xmlns:a16="http://schemas.microsoft.com/office/drawing/2014/main" id="{792FEE50-775A-42B4-9953-905C436C3E0F}"/>
              </a:ext>
            </a:extLst>
          </p:cNvPr>
          <p:cNvSpPr>
            <a:spLocks noGrp="1"/>
          </p:cNvSpPr>
          <p:nvPr/>
        </p:nvSpPr>
        <p:spPr>
          <a:xfrm>
            <a:off x="666750" y="1095375"/>
            <a:ext cx="10858500" cy="666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Each method changes a different part of attention.</a:t>
            </a:r>
          </a:p>
        </p:txBody>
      </p:sp>
      <p:sp>
        <p:nvSpPr>
          <p:cNvPr id="3" name="Rectangle 2">
            <a:extLst>
              <a:ext uri="{FF2B5EF4-FFF2-40B4-BE49-F238E27FC236}">
                <a16:creationId xmlns:a16="http://schemas.microsoft.com/office/drawing/2014/main" id="{CCC2E4B7-41AB-4DDA-BC26-51E3FCAE0F37}"/>
              </a:ext>
            </a:extLst>
          </p:cNvPr>
          <p:cNvSpPr>
            <a:spLocks noGrp="1"/>
          </p:cNvSpPr>
          <p:nvPr/>
        </p:nvSpPr>
        <p:spPr>
          <a:xfrm>
            <a:off x="666750" y="5600700"/>
            <a:ext cx="10858500" cy="85725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These choices can be combined, but their quality and speed depend on the model and hardware.</a:t>
            </a:r>
          </a:p>
        </p:txBody>
      </p:sp>
      <p:graphicFrame>
        <p:nvGraphicFramePr>
          <p:cNvPr id="4" name="Table 3">
            <a:extLst>
              <a:ext uri="{FF2B5EF4-FFF2-40B4-BE49-F238E27FC236}">
                <a16:creationId xmlns:a16="http://schemas.microsoft.com/office/drawing/2014/main" id="{C5D7EB86-1DE6-43CF-BE0D-FAB3551B7007}"/>
              </a:ext>
            </a:extLst>
          </p:cNvPr>
          <p:cNvGraphicFramePr/>
          <p:nvPr/>
        </p:nvGraphicFramePr>
        <p:xfrm>
          <a:off x="619125" y="2238375"/>
          <a:ext cx="10953750" cy="2857500"/>
        </p:xfrm>
        <a:graphic>
          <a:graphicData uri="http://schemas.openxmlformats.org/drawingml/2006/table">
            <a:tbl>
              <a:tblPr/>
              <a:tblGrid>
                <a:gridCol w="2952750">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4095750">
                  <a:extLst>
                    <a:ext uri="{9D8B030D-6E8A-4147-A177-3AD203B41FA5}">
                      <a16:colId xmlns:a16="http://schemas.microsoft.com/office/drawing/2014/main" val="20002"/>
                    </a:ext>
                  </a:extLst>
                </a:gridCol>
              </a:tblGrid>
              <a:tr h="714375">
                <a:tc>
                  <a:txBody>
                    <a:bodyPr/>
                    <a:lstStyle/>
                    <a:p>
                      <a:r>
                        <a:rPr sz="2100" b="1">
                          <a:solidFill>
                            <a:srgbClr val="007B92"/>
                          </a:solidFill>
                          <a:latin typeface="Calibri"/>
                          <a:ea typeface="Calibri"/>
                          <a:cs typeface="Calibri"/>
                        </a:rPr>
                        <a:t>Method</a:t>
                      </a:r>
                    </a:p>
                  </a:txBody>
                  <a:tcPr>
                    <a:lnL w="9525">
                      <a:solidFill>
                        <a:srgbClr val="CFD5D6"/>
                      </a:solidFill>
                    </a:lnL>
                    <a:lnR w="9525">
                      <a:solidFill>
                        <a:srgbClr val="CFD5D6"/>
                      </a:solidFill>
                    </a:lnR>
                    <a:lnT w="9525">
                      <a:solidFill>
                        <a:srgbClr val="CFD5D6"/>
                      </a:solidFill>
                    </a:lnT>
                    <a:lnB w="9525">
                      <a:solidFill>
                        <a:srgbClr val="CFD5D6"/>
                      </a:solidFill>
                    </a:lnB>
                    <a:solidFill>
                      <a:srgbClr val="FFFFFF"/>
                    </a:solidFill>
                  </a:tcPr>
                </a:tc>
                <a:tc>
                  <a:txBody>
                    <a:bodyPr/>
                    <a:lstStyle/>
                    <a:p>
                      <a:r>
                        <a:rPr sz="2100" b="1">
                          <a:solidFill>
                            <a:srgbClr val="007B92"/>
                          </a:solidFill>
                          <a:latin typeface="Calibri"/>
                          <a:ea typeface="Calibri"/>
                          <a:cs typeface="Calibri"/>
                        </a:rPr>
                        <a:t>What gets smaller</a:t>
                      </a:r>
                    </a:p>
                  </a:txBody>
                  <a:tcPr>
                    <a:lnL w="9525" cap="flat" cmpd="sng" algn="ctr">
                      <a:solidFill>
                        <a:srgbClr val="CFD5D6"/>
                      </a:solidFill>
                      <a:prstDash val="solid"/>
                      <a:round/>
                      <a:headEnd type="none" w="med" len="med"/>
                      <a:tailEnd type="none" w="med" len="med"/>
                    </a:lnL>
                    <a:lnR w="9525">
                      <a:solidFill>
                        <a:srgbClr val="CFD5D6"/>
                      </a:solidFill>
                    </a:lnR>
                    <a:lnT w="9525">
                      <a:solidFill>
                        <a:srgbClr val="CFD5D6"/>
                      </a:solidFill>
                    </a:lnT>
                    <a:lnB w="9525">
                      <a:solidFill>
                        <a:srgbClr val="CFD5D6"/>
                      </a:solidFill>
                    </a:lnB>
                    <a:solidFill>
                      <a:srgbClr val="FFFFFF"/>
                    </a:solidFill>
                  </a:tcPr>
                </a:tc>
                <a:tc>
                  <a:txBody>
                    <a:bodyPr/>
                    <a:lstStyle/>
                    <a:p>
                      <a:r>
                        <a:rPr sz="2100" b="1">
                          <a:solidFill>
                            <a:srgbClr val="007B92"/>
                          </a:solidFill>
                          <a:latin typeface="Calibri"/>
                          <a:ea typeface="Calibri"/>
                          <a:cs typeface="Calibri"/>
                        </a:rPr>
                        <a:t>Main constraint</a:t>
                      </a:r>
                    </a:p>
                  </a:txBody>
                  <a:tcPr>
                    <a:lnL w="9525" cap="flat" cmpd="sng" algn="ctr">
                      <a:solidFill>
                        <a:srgbClr val="CFD5D6"/>
                      </a:solidFill>
                      <a:prstDash val="solid"/>
                      <a:round/>
                      <a:headEnd type="none" w="med" len="med"/>
                      <a:tailEnd type="none" w="med" len="med"/>
                    </a:lnL>
                    <a:lnR w="9525">
                      <a:solidFill>
                        <a:srgbClr val="CFD5D6"/>
                      </a:solidFill>
                    </a:lnR>
                    <a:lnT w="9525">
                      <a:solidFill>
                        <a:srgbClr val="CFD5D6"/>
                      </a:solidFill>
                    </a:lnT>
                    <a:lnB w="9525">
                      <a:solidFill>
                        <a:srgbClr val="CFD5D6"/>
                      </a:solidFill>
                    </a:lnB>
                    <a:solidFill>
                      <a:srgbClr val="FFFFFF"/>
                    </a:solidFill>
                  </a:tcPr>
                </a:tc>
                <a:extLst>
                  <a:ext uri="{0D108BD9-81ED-4DB2-BD59-A6C34878D82A}">
                    <a16:rowId xmlns:a16="http://schemas.microsoft.com/office/drawing/2014/main" val="10000"/>
                  </a:ext>
                </a:extLst>
              </a:tr>
              <a:tr h="714375">
                <a:tc>
                  <a:txBody>
                    <a:bodyPr/>
                    <a:lstStyle/>
                    <a:p>
                      <a:r>
                        <a:rPr sz="2100" b="0">
                          <a:solidFill>
                            <a:srgbClr val="171717"/>
                          </a:solidFill>
                          <a:latin typeface="Calibri"/>
                          <a:ea typeface="Calibri"/>
                          <a:cs typeface="Calibri"/>
                        </a:rPr>
                        <a:t>MQA / GQA</a:t>
                      </a:r>
                    </a:p>
                  </a:txBody>
                  <a:tcPr>
                    <a:lnL w="9525">
                      <a:solidFill>
                        <a:srgbClr val="CFD5D6"/>
                      </a:solidFill>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Stored K/V heads</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Less head-specific K/V</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extLst>
                  <a:ext uri="{0D108BD9-81ED-4DB2-BD59-A6C34878D82A}">
                    <a16:rowId xmlns:a16="http://schemas.microsoft.com/office/drawing/2014/main" val="10001"/>
                  </a:ext>
                </a:extLst>
              </a:tr>
              <a:tr h="714375">
                <a:tc>
                  <a:txBody>
                    <a:bodyPr/>
                    <a:lstStyle/>
                    <a:p>
                      <a:r>
                        <a:rPr sz="2100" b="0">
                          <a:solidFill>
                            <a:srgbClr val="171717"/>
                          </a:solidFill>
                          <a:latin typeface="Calibri"/>
                          <a:ea typeface="Calibri"/>
                          <a:cs typeface="Calibri"/>
                        </a:rPr>
                        <a:t>Local / sparse attention</a:t>
                      </a:r>
                    </a:p>
                  </a:txBody>
                  <a:tcPr>
                    <a:lnL w="9525">
                      <a:solidFill>
                        <a:srgbClr val="CFD5D6"/>
                      </a:solidFill>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Direct token connections</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Limited direct context</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extLst>
                  <a:ext uri="{0D108BD9-81ED-4DB2-BD59-A6C34878D82A}">
                    <a16:rowId xmlns:a16="http://schemas.microsoft.com/office/drawing/2014/main" val="10002"/>
                  </a:ext>
                </a:extLst>
              </a:tr>
              <a:tr h="714375">
                <a:tc>
                  <a:txBody>
                    <a:bodyPr/>
                    <a:lstStyle/>
                    <a:p>
                      <a:r>
                        <a:rPr sz="2100" b="0">
                          <a:solidFill>
                            <a:srgbClr val="171717"/>
                          </a:solidFill>
                          <a:latin typeface="Calibri"/>
                          <a:ea typeface="Calibri"/>
                          <a:cs typeface="Calibri"/>
                        </a:rPr>
                        <a:t>Linear attention</a:t>
                      </a:r>
                    </a:p>
                  </a:txBody>
                  <a:tcPr>
                    <a:lnL w="9525">
                      <a:solidFill>
                        <a:srgbClr val="CFD5D6"/>
                      </a:solidFill>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History state</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0">
                          <a:solidFill>
                            <a:srgbClr val="171717"/>
                          </a:solidFill>
                          <a:latin typeface="Calibri"/>
                          <a:ea typeface="Calibri"/>
                          <a:cs typeface="Calibri"/>
                        </a:rPr>
                        <a:t>Changes the attention rule</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extLst>
                  <a:ext uri="{0D108BD9-81ED-4DB2-BD59-A6C34878D82A}">
                    <a16:rowId xmlns:a16="http://schemas.microsoft.com/office/drawing/2014/main" val="10003"/>
                  </a:ext>
                </a:extLst>
              </a:tr>
            </a:tbl>
          </a:graphicData>
        </a:graphic>
      </p:graphicFrame>
      <p:sp>
        <p:nvSpPr>
          <p:cNvPr id="5" name="Slide number">
            <a:extLst>
              <a:ext uri="{FF2B5EF4-FFF2-40B4-BE49-F238E27FC236}">
                <a16:creationId xmlns:a16="http://schemas.microsoft.com/office/drawing/2014/main" id="{415B85E1-8283-4B16-B2EC-EABC95A9507A}"/>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31</a:t>
            </a:r>
          </a:p>
        </p:txBody>
      </p:sp>
    </p:spTree>
    <p:extLst>
      <p:ext uri="{BB962C8B-B14F-4D97-AF65-F5344CB8AC3E}">
        <p14:creationId xmlns:p14="http://schemas.microsoft.com/office/powerpoint/2010/main" val="1790128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45DBBB-8E64-443E-903B-735110D71C33}"/>
              </a:ext>
            </a:extLst>
          </p:cNvPr>
          <p:cNvSpPr>
            <a:spLocks noGrp="1"/>
          </p:cNvSpPr>
          <p:nvPr/>
        </p:nvSpPr>
        <p:spPr>
          <a:xfrm>
            <a:off x="857250" y="2000250"/>
            <a:ext cx="10668000" cy="1762125"/>
          </a:xfrm>
          <a:prstGeom prst="rect">
            <a:avLst/>
          </a:prstGeom>
          <a:noFill/>
          <a:ln w="0">
            <a:noFill/>
          </a:ln>
        </p:spPr>
        <p:txBody>
          <a:bodyPr wrap="square" lIns="0" tIns="0" rIns="0" bIns="0" anchor="t">
            <a:noAutofit/>
          </a:bodyPr>
          <a:lstStyle>
            <a:defPPr algn="l">
              <a:defRPr sz="4350" b="1">
                <a:solidFill>
                  <a:srgbClr val="007B92"/>
                </a:solidFill>
                <a:latin typeface="Calibri"/>
                <a:ea typeface="Calibri"/>
                <a:cs typeface="Calibri"/>
              </a:defRPr>
            </a:defPPr>
            <a:lvl1pPr algn="l">
              <a:defRPr sz="4350" b="1">
                <a:solidFill>
                  <a:srgbClr val="007B92"/>
                </a:solidFill>
                <a:latin typeface="Calibri"/>
                <a:ea typeface="Calibri"/>
                <a:cs typeface="Calibri"/>
              </a:defRPr>
            </a:lvl1pPr>
            <a:lvl2pPr algn="l">
              <a:defRPr sz="4350" b="1">
                <a:solidFill>
                  <a:srgbClr val="007B92"/>
                </a:solidFill>
                <a:latin typeface="Calibri"/>
                <a:ea typeface="Calibri"/>
                <a:cs typeface="Calibri"/>
              </a:defRPr>
            </a:lvl2pPr>
            <a:lvl3pPr algn="l">
              <a:defRPr sz="4350" b="1">
                <a:solidFill>
                  <a:srgbClr val="007B92"/>
                </a:solidFill>
                <a:latin typeface="Calibri"/>
                <a:ea typeface="Calibri"/>
                <a:cs typeface="Calibri"/>
              </a:defRPr>
            </a:lvl3pPr>
            <a:lvl4pPr algn="l">
              <a:defRPr sz="4350" b="1">
                <a:solidFill>
                  <a:srgbClr val="007B92"/>
                </a:solidFill>
                <a:latin typeface="Calibri"/>
                <a:ea typeface="Calibri"/>
                <a:cs typeface="Calibri"/>
              </a:defRPr>
            </a:lvl4pPr>
            <a:lvl5pPr algn="l">
              <a:defRPr sz="4350" b="1">
                <a:solidFill>
                  <a:srgbClr val="007B92"/>
                </a:solidFill>
                <a:latin typeface="Calibri"/>
                <a:ea typeface="Calibri"/>
                <a:cs typeface="Calibri"/>
              </a:defRPr>
            </a:lvl5pPr>
            <a:lvl6pPr algn="l">
              <a:defRPr sz="4350" b="1">
                <a:solidFill>
                  <a:srgbClr val="007B92"/>
                </a:solidFill>
                <a:latin typeface="Calibri"/>
                <a:ea typeface="Calibri"/>
                <a:cs typeface="Calibri"/>
              </a:defRPr>
            </a:lvl6pPr>
            <a:lvl7pPr algn="l">
              <a:defRPr sz="4350" b="1">
                <a:solidFill>
                  <a:srgbClr val="007B92"/>
                </a:solidFill>
                <a:latin typeface="Calibri"/>
                <a:ea typeface="Calibri"/>
                <a:cs typeface="Calibri"/>
              </a:defRPr>
            </a:lvl7pPr>
            <a:lvl8pPr algn="l">
              <a:defRPr sz="4350" b="1">
                <a:solidFill>
                  <a:srgbClr val="007B92"/>
                </a:solidFill>
                <a:latin typeface="Calibri"/>
                <a:ea typeface="Calibri"/>
                <a:cs typeface="Calibri"/>
              </a:defRPr>
            </a:lvl8pPr>
            <a:lvl9pPr algn="l">
              <a:defRPr sz="4350" b="1">
                <a:solidFill>
                  <a:srgbClr val="007B92"/>
                </a:solidFill>
                <a:latin typeface="Calibri"/>
                <a:ea typeface="Calibri"/>
                <a:cs typeface="Calibri"/>
              </a:defRPr>
            </a:lvl9pPr>
          </a:lstStyle>
          <a:p>
            <a:pPr algn="l">
              <a:defRPr sz="4350" b="1">
                <a:solidFill>
                  <a:srgbClr val="007B92"/>
                </a:solidFill>
                <a:latin typeface="Calibri"/>
                <a:ea typeface="Calibri"/>
                <a:cs typeface="Calibri"/>
              </a:defRPr>
            </a:pPr>
            <a:r>
              <a:rPr sz="4350" b="1">
                <a:solidFill>
                  <a:srgbClr val="007B92"/>
                </a:solidFill>
                <a:latin typeface="Calibri"/>
                <a:ea typeface="Calibri"/>
                <a:cs typeface="Calibri"/>
              </a:rPr>
              <a:t>Mixtures of experts</a:t>
            </a:r>
          </a:p>
        </p:txBody>
      </p:sp>
      <p:sp>
        <p:nvSpPr>
          <p:cNvPr id="2" name="Rectangle 1">
            <a:extLst>
              <a:ext uri="{FF2B5EF4-FFF2-40B4-BE49-F238E27FC236}">
                <a16:creationId xmlns:a16="http://schemas.microsoft.com/office/drawing/2014/main" id="{8908FC96-6740-43A3-8937-978B366F192D}"/>
              </a:ext>
            </a:extLst>
          </p:cNvPr>
          <p:cNvSpPr>
            <a:spLocks noGrp="1"/>
          </p:cNvSpPr>
          <p:nvPr/>
        </p:nvSpPr>
        <p:spPr>
          <a:xfrm>
            <a:off x="857250" y="4476750"/>
            <a:ext cx="10477500" cy="1095375"/>
          </a:xfrm>
          <a:prstGeom prst="rect">
            <a:avLst/>
          </a:prstGeom>
          <a:noFill/>
          <a:ln w="0">
            <a:noFill/>
          </a:ln>
        </p:spPr>
        <p:txBody>
          <a:bodyPr wrap="square" lIns="0" tIns="0" rIns="0" bIns="0" anchor="t">
            <a:noAutofit/>
          </a:bodyPr>
          <a:lstStyle>
            <a:defPPr algn="l">
              <a:defRPr sz="2550" b="0">
                <a:solidFill>
                  <a:srgbClr val="171717"/>
                </a:solidFill>
                <a:latin typeface="Calibri"/>
                <a:ea typeface="Calibri"/>
                <a:cs typeface="Calibri"/>
              </a:defRPr>
            </a:defPPr>
            <a:lvl1pPr algn="l">
              <a:defRPr sz="2550" b="0">
                <a:solidFill>
                  <a:srgbClr val="171717"/>
                </a:solidFill>
                <a:latin typeface="Calibri"/>
                <a:ea typeface="Calibri"/>
                <a:cs typeface="Calibri"/>
              </a:defRPr>
            </a:lvl1pPr>
            <a:lvl2pPr algn="l">
              <a:defRPr sz="2550" b="0">
                <a:solidFill>
                  <a:srgbClr val="171717"/>
                </a:solidFill>
                <a:latin typeface="Calibri"/>
                <a:ea typeface="Calibri"/>
                <a:cs typeface="Calibri"/>
              </a:defRPr>
            </a:lvl2pPr>
            <a:lvl3pPr algn="l">
              <a:defRPr sz="2550" b="0">
                <a:solidFill>
                  <a:srgbClr val="171717"/>
                </a:solidFill>
                <a:latin typeface="Calibri"/>
                <a:ea typeface="Calibri"/>
                <a:cs typeface="Calibri"/>
              </a:defRPr>
            </a:lvl3pPr>
            <a:lvl4pPr algn="l">
              <a:defRPr sz="2550" b="0">
                <a:solidFill>
                  <a:srgbClr val="171717"/>
                </a:solidFill>
                <a:latin typeface="Calibri"/>
                <a:ea typeface="Calibri"/>
                <a:cs typeface="Calibri"/>
              </a:defRPr>
            </a:lvl4pPr>
            <a:lvl5pPr algn="l">
              <a:defRPr sz="2550" b="0">
                <a:solidFill>
                  <a:srgbClr val="171717"/>
                </a:solidFill>
                <a:latin typeface="Calibri"/>
                <a:ea typeface="Calibri"/>
                <a:cs typeface="Calibri"/>
              </a:defRPr>
            </a:lvl5pPr>
            <a:lvl6pPr algn="l">
              <a:defRPr sz="2550" b="0">
                <a:solidFill>
                  <a:srgbClr val="171717"/>
                </a:solidFill>
                <a:latin typeface="Calibri"/>
                <a:ea typeface="Calibri"/>
                <a:cs typeface="Calibri"/>
              </a:defRPr>
            </a:lvl6pPr>
            <a:lvl7pPr algn="l">
              <a:defRPr sz="2550" b="0">
                <a:solidFill>
                  <a:srgbClr val="171717"/>
                </a:solidFill>
                <a:latin typeface="Calibri"/>
                <a:ea typeface="Calibri"/>
                <a:cs typeface="Calibri"/>
              </a:defRPr>
            </a:lvl7pPr>
            <a:lvl8pPr algn="l">
              <a:defRPr sz="2550" b="0">
                <a:solidFill>
                  <a:srgbClr val="171717"/>
                </a:solidFill>
                <a:latin typeface="Calibri"/>
                <a:ea typeface="Calibri"/>
                <a:cs typeface="Calibri"/>
              </a:defRPr>
            </a:lvl8pPr>
            <a:lvl9pPr algn="l">
              <a:defRPr sz="2550" b="0">
                <a:solidFill>
                  <a:srgbClr val="171717"/>
                </a:solidFill>
                <a:latin typeface="Calibri"/>
                <a:ea typeface="Calibri"/>
                <a:cs typeface="Calibri"/>
              </a:defRPr>
            </a:lvl9pPr>
          </a:lstStyle>
          <a:p>
            <a:pPr algn="l">
              <a:defRPr sz="2550" b="0">
                <a:solidFill>
                  <a:srgbClr val="171717"/>
                </a:solidFill>
                <a:latin typeface="Calibri"/>
                <a:ea typeface="Calibri"/>
                <a:cs typeface="Calibri"/>
              </a:defRPr>
            </a:pPr>
            <a:r>
              <a:rPr sz="2550" b="0">
                <a:solidFill>
                  <a:srgbClr val="171717"/>
                </a:solidFill>
                <a:latin typeface="Calibri"/>
                <a:ea typeface="Calibri"/>
                <a:cs typeface="Calibri"/>
              </a:rPr>
              <a:t>Can we add parameters without running them all for every token?</a:t>
            </a:r>
          </a:p>
        </p:txBody>
      </p:sp>
      <p:sp>
        <p:nvSpPr>
          <p:cNvPr id="3" name="Slide number">
            <a:extLst>
              <a:ext uri="{FF2B5EF4-FFF2-40B4-BE49-F238E27FC236}">
                <a16:creationId xmlns:a16="http://schemas.microsoft.com/office/drawing/2014/main" id="{C03D98DD-FE74-4BC1-8007-95D1E9B671BD}"/>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32</a:t>
            </a:r>
          </a:p>
        </p:txBody>
      </p:sp>
    </p:spTree>
    <p:extLst>
      <p:ext uri="{BB962C8B-B14F-4D97-AF65-F5344CB8AC3E}">
        <p14:creationId xmlns:p14="http://schemas.microsoft.com/office/powerpoint/2010/main" val="515164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15CD8EE2-16BF-43F8-88DE-44DFD1AC6D7D}"/>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MoE inside a Transformer</a:t>
            </a:r>
          </a:p>
        </p:txBody>
      </p:sp>
      <p:pic>
        <p:nvPicPr>
          <p:cNvPr id="2" name="Picture 1">
            <a:extLst>
              <a:ext uri="{FF2B5EF4-FFF2-40B4-BE49-F238E27FC236}">
                <a16:creationId xmlns:a16="http://schemas.microsoft.com/office/drawing/2014/main" id="{158531B7-5B26-4B80-AA5B-45D24C031E46}"/>
              </a:ext>
            </a:extLst>
          </p:cNvPr>
          <p:cNvPicPr>
            <a:picLocks noChangeAspect="1"/>
          </p:cNvPicPr>
          <p:nvPr/>
        </p:nvPicPr>
        <p:blipFill>
          <a:blip r:embed="rId3"/>
          <a:stretch/>
        </p:blipFill>
        <p:spPr>
          <a:xfrm>
            <a:off x="926379" y="2333625"/>
            <a:ext cx="10243992" cy="3286125"/>
          </a:xfrm>
          <a:prstGeom prst="rect">
            <a:avLst/>
          </a:prstGeom>
        </p:spPr>
      </p:pic>
      <p:sp>
        <p:nvSpPr>
          <p:cNvPr id="3" name="Rectangle 2">
            <a:extLst>
              <a:ext uri="{FF2B5EF4-FFF2-40B4-BE49-F238E27FC236}">
                <a16:creationId xmlns:a16="http://schemas.microsoft.com/office/drawing/2014/main" id="{C01C2CAC-4060-46AD-8510-74DCC9A0FF41}"/>
              </a:ext>
            </a:extLst>
          </p:cNvPr>
          <p:cNvSpPr>
            <a:spLocks noGrp="1"/>
          </p:cNvSpPr>
          <p:nvPr/>
        </p:nvSpPr>
        <p:spPr>
          <a:xfrm>
            <a:off x="666750" y="10953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Expert FFNs replace selected dense feedforward layers.</a:t>
            </a:r>
          </a:p>
        </p:txBody>
      </p:sp>
      <p:sp>
        <p:nvSpPr>
          <p:cNvPr id="4" name="Rectangle 3">
            <a:extLst>
              <a:ext uri="{FF2B5EF4-FFF2-40B4-BE49-F238E27FC236}">
                <a16:creationId xmlns:a16="http://schemas.microsoft.com/office/drawing/2014/main" id="{6A772817-A96E-4163-A605-2E9473552E35}"/>
              </a:ext>
            </a:extLst>
          </p:cNvPr>
          <p:cNvSpPr>
            <a:spLocks noGrp="1"/>
          </p:cNvSpPr>
          <p:nvPr/>
        </p:nvSpPr>
        <p:spPr>
          <a:xfrm>
            <a:off x="666750" y="5810250"/>
            <a:ext cx="10858500" cy="66675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Routing happens separately for each token. Attention still mixes information across tokens.</a:t>
            </a:r>
          </a:p>
        </p:txBody>
      </p:sp>
      <p:sp>
        <p:nvSpPr>
          <p:cNvPr id="5" name="Source">
            <a:extLst>
              <a:ext uri="{FF2B5EF4-FFF2-40B4-BE49-F238E27FC236}">
                <a16:creationId xmlns:a16="http://schemas.microsoft.com/office/drawing/2014/main" id="{DEBBDC3B-E179-4CD8-B3D6-A3EF3F0F512F}"/>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Vaswani et al., 2017; Shazeer et al., 2017</a:t>
            </a:r>
          </a:p>
        </p:txBody>
      </p:sp>
      <p:sp>
        <p:nvSpPr>
          <p:cNvPr id="6" name="Slide number">
            <a:extLst>
              <a:ext uri="{FF2B5EF4-FFF2-40B4-BE49-F238E27FC236}">
                <a16:creationId xmlns:a16="http://schemas.microsoft.com/office/drawing/2014/main" id="{81810362-D8BB-49AA-966B-F1F727A7768E}"/>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33</a:t>
            </a:r>
          </a:p>
        </p:txBody>
      </p:sp>
    </p:spTree>
    <p:extLst>
      <p:ext uri="{BB962C8B-B14F-4D97-AF65-F5344CB8AC3E}">
        <p14:creationId xmlns:p14="http://schemas.microsoft.com/office/powerpoint/2010/main" val="16846799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A4F8186E-B9BA-4057-8B49-86EAB97C63AB}"/>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Mixtures of experts</a:t>
            </a:r>
          </a:p>
        </p:txBody>
      </p:sp>
      <p:pic>
        <p:nvPicPr>
          <p:cNvPr id="2" name="Picture 1">
            <a:extLst>
              <a:ext uri="{FF2B5EF4-FFF2-40B4-BE49-F238E27FC236}">
                <a16:creationId xmlns:a16="http://schemas.microsoft.com/office/drawing/2014/main" id="{0EF45B5A-7A20-4364-892F-6DD28693E8CA}"/>
              </a:ext>
            </a:extLst>
          </p:cNvPr>
          <p:cNvPicPr>
            <a:picLocks noChangeAspect="1"/>
          </p:cNvPicPr>
          <p:nvPr/>
        </p:nvPicPr>
        <p:blipFill>
          <a:blip r:embed="rId3"/>
          <a:stretch/>
        </p:blipFill>
        <p:spPr>
          <a:xfrm>
            <a:off x="3242889" y="2133600"/>
            <a:ext cx="5706221" cy="3095625"/>
          </a:xfrm>
          <a:prstGeom prst="rect">
            <a:avLst/>
          </a:prstGeom>
        </p:spPr>
      </p:pic>
      <p:sp>
        <p:nvSpPr>
          <p:cNvPr id="3" name="Rectangle 2">
            <a:extLst>
              <a:ext uri="{FF2B5EF4-FFF2-40B4-BE49-F238E27FC236}">
                <a16:creationId xmlns:a16="http://schemas.microsoft.com/office/drawing/2014/main" id="{9C1E0B41-22A7-4D3F-902A-79BA5C37AB5D}"/>
              </a:ext>
            </a:extLst>
          </p:cNvPr>
          <p:cNvSpPr>
            <a:spLocks noGrp="1"/>
          </p:cNvSpPr>
          <p:nvPr/>
        </p:nvSpPr>
        <p:spPr>
          <a:xfrm>
            <a:off x="666750" y="10953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A router chooses a small subset of expert networks for each token.</a:t>
            </a:r>
          </a:p>
        </p:txBody>
      </p:sp>
      <p:sp>
        <p:nvSpPr>
          <p:cNvPr id="4" name="Rectangle 3">
            <a:extLst>
              <a:ext uri="{FF2B5EF4-FFF2-40B4-BE49-F238E27FC236}">
                <a16:creationId xmlns:a16="http://schemas.microsoft.com/office/drawing/2014/main" id="{9FC88764-232B-44D3-BA1B-C438C97A951A}"/>
              </a:ext>
            </a:extLst>
          </p:cNvPr>
          <p:cNvSpPr>
            <a:spLocks noGrp="1"/>
          </p:cNvSpPr>
          <p:nvPr/>
        </p:nvSpPr>
        <p:spPr>
          <a:xfrm>
            <a:off x="666750" y="5534025"/>
            <a:ext cx="10858500" cy="8096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More expert parameters can increase capacity without running every expert on every token.</a:t>
            </a:r>
          </a:p>
        </p:txBody>
      </p:sp>
      <p:sp>
        <p:nvSpPr>
          <p:cNvPr id="5" name="Source">
            <a:extLst>
              <a:ext uri="{FF2B5EF4-FFF2-40B4-BE49-F238E27FC236}">
                <a16:creationId xmlns:a16="http://schemas.microsoft.com/office/drawing/2014/main" id="{9FF6B880-4106-43D4-8B90-000456A2F10E}"/>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Shazeer et al., 2017. Sparsely-Gated Mixture-of-Experts Layer</a:t>
            </a:r>
          </a:p>
        </p:txBody>
      </p:sp>
      <p:sp>
        <p:nvSpPr>
          <p:cNvPr id="6" name="Slide number">
            <a:extLst>
              <a:ext uri="{FF2B5EF4-FFF2-40B4-BE49-F238E27FC236}">
                <a16:creationId xmlns:a16="http://schemas.microsoft.com/office/drawing/2014/main" id="{76BB0708-3F01-49F7-9A2E-612F13C3AD6C}"/>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34</a:t>
            </a:r>
          </a:p>
        </p:txBody>
      </p:sp>
    </p:spTree>
    <p:extLst>
      <p:ext uri="{BB962C8B-B14F-4D97-AF65-F5344CB8AC3E}">
        <p14:creationId xmlns:p14="http://schemas.microsoft.com/office/powerpoint/2010/main" val="15520901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B4828DDA-A9D7-43FC-B783-8BD6E151C88D}"/>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A token routed to two experts</a:t>
            </a:r>
          </a:p>
        </p:txBody>
      </p:sp>
      <p:sp>
        <p:nvSpPr>
          <p:cNvPr id="2" name="Rectangle 1">
            <a:extLst>
              <a:ext uri="{FF2B5EF4-FFF2-40B4-BE49-F238E27FC236}">
                <a16:creationId xmlns:a16="http://schemas.microsoft.com/office/drawing/2014/main" id="{551BE6CE-E9CC-4CE6-BAAD-E79B4C706CB3}"/>
              </a:ext>
            </a:extLst>
          </p:cNvPr>
          <p:cNvSpPr>
            <a:spLocks noGrp="1"/>
          </p:cNvSpPr>
          <p:nvPr/>
        </p:nvSpPr>
        <p:spPr>
          <a:xfrm>
            <a:off x="666750" y="10953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Four experts receive these router probabilities. Choose k = 2.</a:t>
            </a:r>
          </a:p>
        </p:txBody>
      </p:sp>
      <p:sp>
        <p:nvSpPr>
          <p:cNvPr id="3" name="Rectangle 2">
            <a:extLst>
              <a:ext uri="{FF2B5EF4-FFF2-40B4-BE49-F238E27FC236}">
                <a16:creationId xmlns:a16="http://schemas.microsoft.com/office/drawing/2014/main" id="{A9AF1406-8EF7-450A-80E0-6CD5F34ACC40}"/>
              </a:ext>
            </a:extLst>
          </p:cNvPr>
          <p:cNvSpPr>
            <a:spLocks noGrp="1"/>
          </p:cNvSpPr>
          <p:nvPr/>
        </p:nvSpPr>
        <p:spPr>
          <a:xfrm>
            <a:off x="666750" y="4038600"/>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E₂ and E₄ receive the token. Their probabilities sum to 0.85.</a:t>
            </a:r>
          </a:p>
        </p:txBody>
      </p:sp>
      <p:sp>
        <p:nvSpPr>
          <p:cNvPr id="4" name="Rectangle 3">
            <a:extLst>
              <a:ext uri="{FF2B5EF4-FFF2-40B4-BE49-F238E27FC236}">
                <a16:creationId xmlns:a16="http://schemas.microsoft.com/office/drawing/2014/main" id="{0C8F90F1-8CD2-4CB7-A9C0-7081DC582987}"/>
              </a:ext>
            </a:extLst>
          </p:cNvPr>
          <p:cNvSpPr>
            <a:spLocks noGrp="1"/>
          </p:cNvSpPr>
          <p:nvPr/>
        </p:nvSpPr>
        <p:spPr>
          <a:xfrm>
            <a:off x="666750" y="4810125"/>
            <a:ext cx="10858500" cy="619125"/>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Renormalized weights: 0.60 / 0.85 ≈ 0.706 and 0.25 / 0.85 ≈ 0.294.</a:t>
            </a:r>
          </a:p>
        </p:txBody>
      </p:sp>
      <p:sp>
        <p:nvSpPr>
          <p:cNvPr id="5" name="Rectangle 4">
            <a:extLst>
              <a:ext uri="{FF2B5EF4-FFF2-40B4-BE49-F238E27FC236}">
                <a16:creationId xmlns:a16="http://schemas.microsoft.com/office/drawing/2014/main" id="{C4EEED19-B04B-45D7-A366-5C27E20133FF}"/>
              </a:ext>
            </a:extLst>
          </p:cNvPr>
          <p:cNvSpPr>
            <a:spLocks noGrp="1"/>
          </p:cNvSpPr>
          <p:nvPr/>
        </p:nvSpPr>
        <p:spPr>
          <a:xfrm>
            <a:off x="1333500" y="5619750"/>
            <a:ext cx="9525000" cy="619125"/>
          </a:xfrm>
          <a:prstGeom prst="rect">
            <a:avLst/>
          </a:prstGeom>
          <a:noFill/>
          <a:ln w="0">
            <a:noFill/>
          </a:ln>
        </p:spPr>
        <p:txBody>
          <a:bodyPr wrap="square" lIns="0" tIns="0" rIns="0" bIns="0" anchor="t">
            <a:noAutofit/>
          </a:bodyPr>
          <a:lstStyle>
            <a:defPPr algn="l">
              <a:defRPr sz="2700" b="0">
                <a:solidFill>
                  <a:srgbClr val="171717"/>
                </a:solidFill>
                <a:latin typeface="Cambria Math"/>
                <a:ea typeface="Cambria Math"/>
                <a:cs typeface="Cambria Math"/>
              </a:defRPr>
            </a:defPPr>
            <a:lvl1pPr algn="l">
              <a:defRPr sz="2700" b="0">
                <a:solidFill>
                  <a:srgbClr val="171717"/>
                </a:solidFill>
                <a:latin typeface="Cambria Math"/>
                <a:ea typeface="Cambria Math"/>
                <a:cs typeface="Cambria Math"/>
              </a:defRPr>
            </a:lvl1pPr>
            <a:lvl2pPr algn="l">
              <a:defRPr sz="2700" b="0">
                <a:solidFill>
                  <a:srgbClr val="171717"/>
                </a:solidFill>
                <a:latin typeface="Cambria Math"/>
                <a:ea typeface="Cambria Math"/>
                <a:cs typeface="Cambria Math"/>
              </a:defRPr>
            </a:lvl2pPr>
            <a:lvl3pPr algn="l">
              <a:defRPr sz="2700" b="0">
                <a:solidFill>
                  <a:srgbClr val="171717"/>
                </a:solidFill>
                <a:latin typeface="Cambria Math"/>
                <a:ea typeface="Cambria Math"/>
                <a:cs typeface="Cambria Math"/>
              </a:defRPr>
            </a:lvl3pPr>
            <a:lvl4pPr algn="l">
              <a:defRPr sz="2700" b="0">
                <a:solidFill>
                  <a:srgbClr val="171717"/>
                </a:solidFill>
                <a:latin typeface="Cambria Math"/>
                <a:ea typeface="Cambria Math"/>
                <a:cs typeface="Cambria Math"/>
              </a:defRPr>
            </a:lvl4pPr>
            <a:lvl5pPr algn="l">
              <a:defRPr sz="2700" b="0">
                <a:solidFill>
                  <a:srgbClr val="171717"/>
                </a:solidFill>
                <a:latin typeface="Cambria Math"/>
                <a:ea typeface="Cambria Math"/>
                <a:cs typeface="Cambria Math"/>
              </a:defRPr>
            </a:lvl5pPr>
            <a:lvl6pPr algn="l">
              <a:defRPr sz="2700" b="0">
                <a:solidFill>
                  <a:srgbClr val="171717"/>
                </a:solidFill>
                <a:latin typeface="Cambria Math"/>
                <a:ea typeface="Cambria Math"/>
                <a:cs typeface="Cambria Math"/>
              </a:defRPr>
            </a:lvl6pPr>
            <a:lvl7pPr algn="l">
              <a:defRPr sz="2700" b="0">
                <a:solidFill>
                  <a:srgbClr val="171717"/>
                </a:solidFill>
                <a:latin typeface="Cambria Math"/>
                <a:ea typeface="Cambria Math"/>
                <a:cs typeface="Cambria Math"/>
              </a:defRPr>
            </a:lvl7pPr>
            <a:lvl8pPr algn="l">
              <a:defRPr sz="2700" b="0">
                <a:solidFill>
                  <a:srgbClr val="171717"/>
                </a:solidFill>
                <a:latin typeface="Cambria Math"/>
                <a:ea typeface="Cambria Math"/>
                <a:cs typeface="Cambria Math"/>
              </a:defRPr>
            </a:lvl8pPr>
            <a:lvl9pPr algn="l">
              <a:defRPr sz="2700" b="0">
                <a:solidFill>
                  <a:srgbClr val="171717"/>
                </a:solidFill>
                <a:latin typeface="Cambria Math"/>
                <a:ea typeface="Cambria Math"/>
                <a:cs typeface="Cambria Math"/>
              </a:defRPr>
            </a:lvl9pPr>
          </a:lstStyle>
          <a:p>
            <a:pPr algn="l">
              <a:defRPr sz="2700" b="0">
                <a:solidFill>
                  <a:srgbClr val="171717"/>
                </a:solidFill>
                <a:latin typeface="Cambria Math"/>
                <a:ea typeface="Cambria Math"/>
                <a:cs typeface="Cambria Math"/>
              </a:defRPr>
            </a:pPr>
            <a:r>
              <a:rPr sz="2700" b="0">
                <a:solidFill>
                  <a:srgbClr val="171717"/>
                </a:solidFill>
                <a:latin typeface="Cambria Math"/>
                <a:ea typeface="Cambria Math"/>
                <a:cs typeface="Cambria Math"/>
              </a:rPr>
              <a:t>Output ≈ 0.706 E₂(x) + 0.294 E₄(x)</a:t>
            </a:r>
          </a:p>
        </p:txBody>
      </p:sp>
      <p:graphicFrame>
        <p:nvGraphicFramePr>
          <p:cNvPr id="6" name="Table 5">
            <a:extLst>
              <a:ext uri="{FF2B5EF4-FFF2-40B4-BE49-F238E27FC236}">
                <a16:creationId xmlns:a16="http://schemas.microsoft.com/office/drawing/2014/main" id="{1AE4FF62-379B-4D28-BC5D-3F9DD61BF0BD}"/>
              </a:ext>
            </a:extLst>
          </p:cNvPr>
          <p:cNvGraphicFramePr/>
          <p:nvPr/>
        </p:nvGraphicFramePr>
        <p:xfrm>
          <a:off x="857250" y="2333625"/>
          <a:ext cx="10477500" cy="1190625"/>
        </p:xfrm>
        <a:graphic>
          <a:graphicData uri="http://schemas.openxmlformats.org/drawingml/2006/table">
            <a:tbl>
              <a:tblPr/>
              <a:tblGrid>
                <a:gridCol w="2619375">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619375">
                  <a:extLst>
                    <a:ext uri="{9D8B030D-6E8A-4147-A177-3AD203B41FA5}">
                      <a16:colId xmlns:a16="http://schemas.microsoft.com/office/drawing/2014/main" val="20002"/>
                    </a:ext>
                  </a:extLst>
                </a:gridCol>
                <a:gridCol w="2619375">
                  <a:extLst>
                    <a:ext uri="{9D8B030D-6E8A-4147-A177-3AD203B41FA5}">
                      <a16:colId xmlns:a16="http://schemas.microsoft.com/office/drawing/2014/main" val="20003"/>
                    </a:ext>
                  </a:extLst>
                </a:gridCol>
              </a:tblGrid>
              <a:tr h="595313">
                <a:tc>
                  <a:txBody>
                    <a:bodyPr/>
                    <a:lstStyle/>
                    <a:p>
                      <a:r>
                        <a:rPr sz="2100" b="1">
                          <a:solidFill>
                            <a:srgbClr val="007B92"/>
                          </a:solidFill>
                          <a:latin typeface="Calibri"/>
                          <a:ea typeface="Calibri"/>
                          <a:cs typeface="Calibri"/>
                        </a:rPr>
                        <a:t>E₁</a:t>
                      </a:r>
                    </a:p>
                  </a:txBody>
                  <a:tcPr>
                    <a:lnL w="9525">
                      <a:solidFill>
                        <a:srgbClr val="CFD5D6"/>
                      </a:solidFill>
                    </a:lnL>
                    <a:lnR w="9525">
                      <a:solidFill>
                        <a:srgbClr val="CFD5D6"/>
                      </a:solidFill>
                    </a:lnR>
                    <a:lnT w="9525">
                      <a:solidFill>
                        <a:srgbClr val="CFD5D6"/>
                      </a:solidFill>
                    </a:lnT>
                    <a:lnB w="9525">
                      <a:solidFill>
                        <a:srgbClr val="CFD5D6"/>
                      </a:solidFill>
                    </a:lnB>
                    <a:solidFill>
                      <a:srgbClr val="FFFFFF"/>
                    </a:solidFill>
                  </a:tcPr>
                </a:tc>
                <a:tc>
                  <a:txBody>
                    <a:bodyPr/>
                    <a:lstStyle/>
                    <a:p>
                      <a:r>
                        <a:rPr sz="2100" b="1">
                          <a:solidFill>
                            <a:srgbClr val="007B92"/>
                          </a:solidFill>
                          <a:latin typeface="Calibri"/>
                          <a:ea typeface="Calibri"/>
                          <a:cs typeface="Calibri"/>
                        </a:rPr>
                        <a:t>E₂</a:t>
                      </a:r>
                    </a:p>
                  </a:txBody>
                  <a:tcPr>
                    <a:lnL w="9525" cap="flat" cmpd="sng" algn="ctr">
                      <a:solidFill>
                        <a:srgbClr val="CFD5D6"/>
                      </a:solidFill>
                      <a:prstDash val="solid"/>
                      <a:round/>
                      <a:headEnd type="none" w="med" len="med"/>
                      <a:tailEnd type="none" w="med" len="med"/>
                    </a:lnL>
                    <a:lnR w="9525">
                      <a:solidFill>
                        <a:srgbClr val="CFD5D6"/>
                      </a:solidFill>
                    </a:lnR>
                    <a:lnT w="9525">
                      <a:solidFill>
                        <a:srgbClr val="CFD5D6"/>
                      </a:solidFill>
                    </a:lnT>
                    <a:lnB w="9525">
                      <a:solidFill>
                        <a:srgbClr val="CFD5D6"/>
                      </a:solidFill>
                    </a:lnB>
                    <a:solidFill>
                      <a:srgbClr val="FFFFFF"/>
                    </a:solidFill>
                  </a:tcPr>
                </a:tc>
                <a:tc>
                  <a:txBody>
                    <a:bodyPr/>
                    <a:lstStyle/>
                    <a:p>
                      <a:r>
                        <a:rPr sz="2100" b="1">
                          <a:solidFill>
                            <a:srgbClr val="007B92"/>
                          </a:solidFill>
                          <a:latin typeface="Calibri"/>
                          <a:ea typeface="Calibri"/>
                          <a:cs typeface="Calibri"/>
                        </a:rPr>
                        <a:t>E₃</a:t>
                      </a:r>
                    </a:p>
                  </a:txBody>
                  <a:tcPr>
                    <a:lnL w="9525" cap="flat" cmpd="sng" algn="ctr">
                      <a:solidFill>
                        <a:srgbClr val="CFD5D6"/>
                      </a:solidFill>
                      <a:prstDash val="solid"/>
                      <a:round/>
                      <a:headEnd type="none" w="med" len="med"/>
                      <a:tailEnd type="none" w="med" len="med"/>
                    </a:lnL>
                    <a:lnR w="9525">
                      <a:solidFill>
                        <a:srgbClr val="CFD5D6"/>
                      </a:solidFill>
                    </a:lnR>
                    <a:lnT w="9525">
                      <a:solidFill>
                        <a:srgbClr val="CFD5D6"/>
                      </a:solidFill>
                    </a:lnT>
                    <a:lnB w="9525">
                      <a:solidFill>
                        <a:srgbClr val="CFD5D6"/>
                      </a:solidFill>
                    </a:lnB>
                    <a:solidFill>
                      <a:srgbClr val="FFFFFF"/>
                    </a:solidFill>
                  </a:tcPr>
                </a:tc>
                <a:tc>
                  <a:txBody>
                    <a:bodyPr/>
                    <a:lstStyle/>
                    <a:p>
                      <a:r>
                        <a:rPr sz="2100" b="1">
                          <a:solidFill>
                            <a:srgbClr val="007B92"/>
                          </a:solidFill>
                          <a:latin typeface="Calibri"/>
                          <a:ea typeface="Calibri"/>
                          <a:cs typeface="Calibri"/>
                        </a:rPr>
                        <a:t>E₄</a:t>
                      </a:r>
                    </a:p>
                  </a:txBody>
                  <a:tcPr>
                    <a:lnL w="9525" cap="flat" cmpd="sng" algn="ctr">
                      <a:solidFill>
                        <a:srgbClr val="CFD5D6"/>
                      </a:solidFill>
                      <a:prstDash val="solid"/>
                      <a:round/>
                      <a:headEnd type="none" w="med" len="med"/>
                      <a:tailEnd type="none" w="med" len="med"/>
                    </a:lnL>
                    <a:lnR w="9525">
                      <a:solidFill>
                        <a:srgbClr val="CFD5D6"/>
                      </a:solidFill>
                    </a:lnR>
                    <a:lnT w="9525">
                      <a:solidFill>
                        <a:srgbClr val="CFD5D6"/>
                      </a:solidFill>
                    </a:lnT>
                    <a:lnB w="9525">
                      <a:solidFill>
                        <a:srgbClr val="CFD5D6"/>
                      </a:solidFill>
                    </a:lnB>
                    <a:solidFill>
                      <a:srgbClr val="FFFFFF"/>
                    </a:solidFill>
                  </a:tcPr>
                </a:tc>
                <a:extLst>
                  <a:ext uri="{0D108BD9-81ED-4DB2-BD59-A6C34878D82A}">
                    <a16:rowId xmlns:a16="http://schemas.microsoft.com/office/drawing/2014/main" val="10000"/>
                  </a:ext>
                </a:extLst>
              </a:tr>
              <a:tr h="595313">
                <a:tc>
                  <a:txBody>
                    <a:bodyPr/>
                    <a:lstStyle/>
                    <a:p>
                      <a:r>
                        <a:rPr sz="2100" b="0">
                          <a:solidFill>
                            <a:srgbClr val="171717"/>
                          </a:solidFill>
                          <a:latin typeface="Calibri"/>
                          <a:ea typeface="Calibri"/>
                          <a:cs typeface="Calibri"/>
                        </a:rPr>
                        <a:t>0.10</a:t>
                      </a:r>
                    </a:p>
                  </a:txBody>
                  <a:tcPr>
                    <a:lnL w="9525">
                      <a:solidFill>
                        <a:srgbClr val="CFD5D6"/>
                      </a:solidFill>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1">
                          <a:solidFill>
                            <a:srgbClr val="171717"/>
                          </a:solidFill>
                          <a:latin typeface="Calibri"/>
                          <a:ea typeface="Calibri"/>
                          <a:cs typeface="Calibri"/>
                        </a:rPr>
                        <a:t>0.60</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E1F0F1"/>
                    </a:solidFill>
                  </a:tcPr>
                </a:tc>
                <a:tc>
                  <a:txBody>
                    <a:bodyPr/>
                    <a:lstStyle/>
                    <a:p>
                      <a:r>
                        <a:rPr sz="2100" b="0">
                          <a:solidFill>
                            <a:srgbClr val="171717"/>
                          </a:solidFill>
                          <a:latin typeface="Calibri"/>
                          <a:ea typeface="Calibri"/>
                          <a:cs typeface="Calibri"/>
                        </a:rPr>
                        <a:t>0.05</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FFFFFF"/>
                    </a:solidFill>
                  </a:tcPr>
                </a:tc>
                <a:tc>
                  <a:txBody>
                    <a:bodyPr/>
                    <a:lstStyle/>
                    <a:p>
                      <a:r>
                        <a:rPr sz="2100" b="1">
                          <a:solidFill>
                            <a:srgbClr val="171717"/>
                          </a:solidFill>
                          <a:latin typeface="Calibri"/>
                          <a:ea typeface="Calibri"/>
                          <a:cs typeface="Calibri"/>
                        </a:rPr>
                        <a:t>0.25</a:t>
                      </a:r>
                    </a:p>
                  </a:txBody>
                  <a:tcPr>
                    <a:lnL w="9525" cap="flat" cmpd="sng" algn="ctr">
                      <a:solidFill>
                        <a:srgbClr val="CFD5D6"/>
                      </a:solidFill>
                      <a:prstDash val="solid"/>
                      <a:round/>
                      <a:headEnd type="none" w="med" len="med"/>
                      <a:tailEnd type="none" w="med" len="med"/>
                    </a:lnL>
                    <a:lnR w="9525">
                      <a:solidFill>
                        <a:srgbClr val="CFD5D6"/>
                      </a:solidFill>
                    </a:lnR>
                    <a:lnT w="9525" cap="flat" cmpd="sng" algn="ctr">
                      <a:solidFill>
                        <a:srgbClr val="CFD5D6"/>
                      </a:solidFill>
                      <a:prstDash val="solid"/>
                      <a:round/>
                      <a:headEnd type="none" w="med" len="med"/>
                      <a:tailEnd type="none" w="med" len="med"/>
                    </a:lnT>
                    <a:lnB w="9525">
                      <a:solidFill>
                        <a:srgbClr val="CFD5D6"/>
                      </a:solidFill>
                    </a:lnB>
                    <a:solidFill>
                      <a:srgbClr val="E1F0F1"/>
                    </a:solidFill>
                  </a:tcPr>
                </a:tc>
                <a:extLst>
                  <a:ext uri="{0D108BD9-81ED-4DB2-BD59-A6C34878D82A}">
                    <a16:rowId xmlns:a16="http://schemas.microsoft.com/office/drawing/2014/main" val="10001"/>
                  </a:ext>
                </a:extLst>
              </a:tr>
            </a:tbl>
          </a:graphicData>
        </a:graphic>
      </p:graphicFrame>
      <p:sp>
        <p:nvSpPr>
          <p:cNvPr id="7" name="Slide number">
            <a:extLst>
              <a:ext uri="{FF2B5EF4-FFF2-40B4-BE49-F238E27FC236}">
                <a16:creationId xmlns:a16="http://schemas.microsoft.com/office/drawing/2014/main" id="{3F8F42BC-2671-4226-94EB-EF3B8A7DDAAE}"/>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35</a:t>
            </a:r>
          </a:p>
        </p:txBody>
      </p:sp>
    </p:spTree>
    <p:extLst>
      <p:ext uri="{BB962C8B-B14F-4D97-AF65-F5344CB8AC3E}">
        <p14:creationId xmlns:p14="http://schemas.microsoft.com/office/powerpoint/2010/main" val="15194262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3F47A950-BBAE-4481-B21A-4CD8DDAD5601}"/>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Top-k expert routing</a:t>
            </a:r>
          </a:p>
        </p:txBody>
      </p:sp>
      <p:pic>
        <p:nvPicPr>
          <p:cNvPr id="2" name="Picture 1">
            <a:extLst>
              <a:ext uri="{FF2B5EF4-FFF2-40B4-BE49-F238E27FC236}">
                <a16:creationId xmlns:a16="http://schemas.microsoft.com/office/drawing/2014/main" id="{BE3CD92B-AEAA-413F-87B8-FFD8C6B92ECD}"/>
              </a:ext>
            </a:extLst>
          </p:cNvPr>
          <p:cNvPicPr>
            <a:picLocks noChangeAspect="1"/>
          </p:cNvPicPr>
          <p:nvPr/>
        </p:nvPicPr>
        <p:blipFill>
          <a:blip r:embed="rId3"/>
          <a:stretch/>
        </p:blipFill>
        <p:spPr>
          <a:xfrm>
            <a:off x="868435" y="2190750"/>
            <a:ext cx="5359256" cy="3333750"/>
          </a:xfrm>
          <a:prstGeom prst="rect">
            <a:avLst/>
          </a:prstGeom>
        </p:spPr>
      </p:pic>
      <p:pic>
        <p:nvPicPr>
          <p:cNvPr id="3" name="Picture 2">
            <a:extLst>
              <a:ext uri="{FF2B5EF4-FFF2-40B4-BE49-F238E27FC236}">
                <a16:creationId xmlns:a16="http://schemas.microsoft.com/office/drawing/2014/main" id="{615E1E8C-3804-42DF-B4F3-A5F4163BCE81}"/>
              </a:ext>
            </a:extLst>
          </p:cNvPr>
          <p:cNvPicPr>
            <a:picLocks noChangeAspect="1"/>
          </p:cNvPicPr>
          <p:nvPr/>
        </p:nvPicPr>
        <p:blipFill>
          <a:blip r:embed="rId4"/>
          <a:stretch/>
        </p:blipFill>
        <p:spPr>
          <a:xfrm>
            <a:off x="7096125" y="2276738"/>
            <a:ext cx="4286250" cy="1523474"/>
          </a:xfrm>
          <a:prstGeom prst="rect">
            <a:avLst/>
          </a:prstGeom>
        </p:spPr>
      </p:pic>
      <p:sp>
        <p:nvSpPr>
          <p:cNvPr id="4" name="Rectangle 3">
            <a:extLst>
              <a:ext uri="{FF2B5EF4-FFF2-40B4-BE49-F238E27FC236}">
                <a16:creationId xmlns:a16="http://schemas.microsoft.com/office/drawing/2014/main" id="{B3E41E6C-3E45-442F-8094-F2B6F632A715}"/>
              </a:ext>
            </a:extLst>
          </p:cNvPr>
          <p:cNvSpPr>
            <a:spLocks noGrp="1"/>
          </p:cNvSpPr>
          <p:nvPr/>
        </p:nvSpPr>
        <p:spPr>
          <a:xfrm>
            <a:off x="666750" y="10953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Score the experts, select k, then combine the selected outputs.</a:t>
            </a:r>
          </a:p>
        </p:txBody>
      </p:sp>
      <p:sp>
        <p:nvSpPr>
          <p:cNvPr id="5" name="Rectangle 4">
            <a:extLst>
              <a:ext uri="{FF2B5EF4-FFF2-40B4-BE49-F238E27FC236}">
                <a16:creationId xmlns:a16="http://schemas.microsoft.com/office/drawing/2014/main" id="{A7BBFEDD-CD0E-4D91-BF11-C342CE0A77A2}"/>
              </a:ext>
            </a:extLst>
          </p:cNvPr>
          <p:cNvSpPr>
            <a:spLocks noGrp="1"/>
          </p:cNvSpPr>
          <p:nvPr/>
        </p:nvSpPr>
        <p:spPr>
          <a:xfrm>
            <a:off x="7143750" y="4029075"/>
            <a:ext cx="4286250" cy="1381125"/>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Iₖ: selected experts</a:t>
            </a:r>
          </a:p>
          <a:p>
            <a:pPr algn="l">
              <a:defRPr sz="2175" b="0">
                <a:solidFill>
                  <a:srgbClr val="171717"/>
                </a:solidFill>
                <a:latin typeface="Calibri"/>
                <a:ea typeface="Calibri"/>
                <a:cs typeface="Calibri"/>
              </a:defRPr>
            </a:pPr>
            <a:r>
              <a:rPr sz="2175" b="0">
                <a:solidFill>
                  <a:srgbClr val="171717"/>
                </a:solidFill>
                <a:latin typeface="Calibri"/>
                <a:ea typeface="Calibri"/>
                <a:cs typeface="Calibri"/>
              </a:rPr>
              <a:t>G(x)ᵢ: routing weight</a:t>
            </a:r>
          </a:p>
          <a:p>
            <a:pPr algn="l">
              <a:defRPr sz="2175" b="0">
                <a:solidFill>
                  <a:srgbClr val="171717"/>
                </a:solidFill>
                <a:latin typeface="Calibri"/>
                <a:ea typeface="Calibri"/>
                <a:cs typeface="Calibri"/>
              </a:defRPr>
            </a:pPr>
            <a:r>
              <a:rPr sz="2175" b="0">
                <a:solidFill>
                  <a:srgbClr val="171717"/>
                </a:solidFill>
                <a:latin typeface="Calibri"/>
                <a:ea typeface="Calibri"/>
                <a:cs typeface="Calibri"/>
              </a:rPr>
              <a:t>Eᵢ(x): expert output</a:t>
            </a:r>
          </a:p>
        </p:txBody>
      </p:sp>
      <p:sp>
        <p:nvSpPr>
          <p:cNvPr id="6" name="Rectangle 5">
            <a:extLst>
              <a:ext uri="{FF2B5EF4-FFF2-40B4-BE49-F238E27FC236}">
                <a16:creationId xmlns:a16="http://schemas.microsoft.com/office/drawing/2014/main" id="{46250D89-D73B-4B97-B5AE-B4DA77052A19}"/>
              </a:ext>
            </a:extLst>
          </p:cNvPr>
          <p:cNvSpPr>
            <a:spLocks noGrp="1"/>
          </p:cNvSpPr>
          <p:nvPr/>
        </p:nvSpPr>
        <p:spPr>
          <a:xfrm>
            <a:off x="666750" y="5695950"/>
            <a:ext cx="10858500" cy="57150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The router learns which experts each token uses.</a:t>
            </a:r>
          </a:p>
        </p:txBody>
      </p:sp>
      <p:sp>
        <p:nvSpPr>
          <p:cNvPr id="7" name="Source">
            <a:extLst>
              <a:ext uri="{FF2B5EF4-FFF2-40B4-BE49-F238E27FC236}">
                <a16:creationId xmlns:a16="http://schemas.microsoft.com/office/drawing/2014/main" id="{AA424A17-2B85-4012-B9E0-CFE14BA99A25}"/>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Shazeer et al., 2017. Sparsely-Gated Mixture-of-Experts Layer</a:t>
            </a:r>
          </a:p>
        </p:txBody>
      </p:sp>
      <p:sp>
        <p:nvSpPr>
          <p:cNvPr id="8" name="Slide number">
            <a:extLst>
              <a:ext uri="{FF2B5EF4-FFF2-40B4-BE49-F238E27FC236}">
                <a16:creationId xmlns:a16="http://schemas.microsoft.com/office/drawing/2014/main" id="{2CB2E549-A957-4801-995E-25679317B2E8}"/>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36</a:t>
            </a:r>
          </a:p>
        </p:txBody>
      </p:sp>
    </p:spTree>
    <p:extLst>
      <p:ext uri="{BB962C8B-B14F-4D97-AF65-F5344CB8AC3E}">
        <p14:creationId xmlns:p14="http://schemas.microsoft.com/office/powerpoint/2010/main" val="16721333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CD5F91A9-AF86-477B-B36A-5C08CB062F73}"/>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Top-k routing with normalized weights</a:t>
            </a:r>
          </a:p>
        </p:txBody>
      </p:sp>
      <p:sp>
        <p:nvSpPr>
          <p:cNvPr id="2" name="Rectangle 1">
            <a:extLst>
              <a:ext uri="{FF2B5EF4-FFF2-40B4-BE49-F238E27FC236}">
                <a16:creationId xmlns:a16="http://schemas.microsoft.com/office/drawing/2014/main" id="{29FE9E69-6ED8-4A39-809A-AB7A1FE60F07}"/>
              </a:ext>
            </a:extLst>
          </p:cNvPr>
          <p:cNvSpPr>
            <a:spLocks noGrp="1"/>
          </p:cNvSpPr>
          <p:nvPr/>
        </p:nvSpPr>
        <p:spPr>
          <a:xfrm>
            <a:off x="666750" y="1190625"/>
            <a:ext cx="5334000" cy="476250"/>
          </a:xfrm>
          <a:prstGeom prst="rect">
            <a:avLst/>
          </a:prstGeom>
          <a:noFill/>
          <a:ln w="0">
            <a:noFill/>
          </a:ln>
        </p:spPr>
        <p:txBody>
          <a:bodyPr wrap="square" lIns="0" tIns="0" rIns="0" bIns="0" anchor="t">
            <a:noAutofit/>
          </a:bodyPr>
          <a:lstStyle>
            <a:defPPr algn="l">
              <a:defRPr sz="2250" b="1">
                <a:solidFill>
                  <a:srgbClr val="171717"/>
                </a:solidFill>
                <a:latin typeface="Calibri"/>
                <a:ea typeface="Calibri"/>
                <a:cs typeface="Calibri"/>
              </a:defRPr>
            </a:defPPr>
            <a:lvl1pPr algn="l">
              <a:defRPr sz="2250" b="1">
                <a:solidFill>
                  <a:srgbClr val="171717"/>
                </a:solidFill>
                <a:latin typeface="Calibri"/>
                <a:ea typeface="Calibri"/>
                <a:cs typeface="Calibri"/>
              </a:defRPr>
            </a:lvl1pPr>
            <a:lvl2pPr algn="l">
              <a:defRPr sz="2250" b="1">
                <a:solidFill>
                  <a:srgbClr val="171717"/>
                </a:solidFill>
                <a:latin typeface="Calibri"/>
                <a:ea typeface="Calibri"/>
                <a:cs typeface="Calibri"/>
              </a:defRPr>
            </a:lvl2pPr>
            <a:lvl3pPr algn="l">
              <a:defRPr sz="2250" b="1">
                <a:solidFill>
                  <a:srgbClr val="171717"/>
                </a:solidFill>
                <a:latin typeface="Calibri"/>
                <a:ea typeface="Calibri"/>
                <a:cs typeface="Calibri"/>
              </a:defRPr>
            </a:lvl3pPr>
            <a:lvl4pPr algn="l">
              <a:defRPr sz="2250" b="1">
                <a:solidFill>
                  <a:srgbClr val="171717"/>
                </a:solidFill>
                <a:latin typeface="Calibri"/>
                <a:ea typeface="Calibri"/>
                <a:cs typeface="Calibri"/>
              </a:defRPr>
            </a:lvl4pPr>
            <a:lvl5pPr algn="l">
              <a:defRPr sz="2250" b="1">
                <a:solidFill>
                  <a:srgbClr val="171717"/>
                </a:solidFill>
                <a:latin typeface="Calibri"/>
                <a:ea typeface="Calibri"/>
                <a:cs typeface="Calibri"/>
              </a:defRPr>
            </a:lvl5pPr>
            <a:lvl6pPr algn="l">
              <a:defRPr sz="2250" b="1">
                <a:solidFill>
                  <a:srgbClr val="171717"/>
                </a:solidFill>
                <a:latin typeface="Calibri"/>
                <a:ea typeface="Calibri"/>
                <a:cs typeface="Calibri"/>
              </a:defRPr>
            </a:lvl6pPr>
            <a:lvl7pPr algn="l">
              <a:defRPr sz="2250" b="1">
                <a:solidFill>
                  <a:srgbClr val="171717"/>
                </a:solidFill>
                <a:latin typeface="Calibri"/>
                <a:ea typeface="Calibri"/>
                <a:cs typeface="Calibri"/>
              </a:defRPr>
            </a:lvl7pPr>
            <a:lvl8pPr algn="l">
              <a:defRPr sz="2250" b="1">
                <a:solidFill>
                  <a:srgbClr val="171717"/>
                </a:solidFill>
                <a:latin typeface="Calibri"/>
                <a:ea typeface="Calibri"/>
                <a:cs typeface="Calibri"/>
              </a:defRPr>
            </a:lvl8pPr>
            <a:lvl9pPr algn="l">
              <a:defRPr sz="2250" b="1">
                <a:solidFill>
                  <a:srgbClr val="171717"/>
                </a:solidFill>
                <a:latin typeface="Calibri"/>
                <a:ea typeface="Calibri"/>
                <a:cs typeface="Calibri"/>
              </a:defRPr>
            </a:lvl9pPr>
          </a:lstStyle>
          <a:p>
            <a:pPr algn="l">
              <a:defRPr sz="2250" b="1">
                <a:solidFill>
                  <a:srgbClr val="171717"/>
                </a:solidFill>
                <a:latin typeface="Calibri"/>
                <a:ea typeface="Calibri"/>
                <a:cs typeface="Calibri"/>
              </a:defRPr>
            </a:pPr>
            <a:r>
              <a:rPr sz="2250" b="1">
                <a:solidFill>
                  <a:srgbClr val="171717"/>
                </a:solidFill>
                <a:latin typeface="Calibri"/>
                <a:ea typeface="Calibri"/>
                <a:cs typeface="Calibri"/>
              </a:rPr>
              <a:t>1. Score the experts</a:t>
            </a:r>
          </a:p>
        </p:txBody>
      </p:sp>
      <p:sp>
        <p:nvSpPr>
          <p:cNvPr id="3" name="Rectangle 2">
            <a:extLst>
              <a:ext uri="{FF2B5EF4-FFF2-40B4-BE49-F238E27FC236}">
                <a16:creationId xmlns:a16="http://schemas.microsoft.com/office/drawing/2014/main" id="{1D34A348-7BF0-4453-B656-188FD23A2827}"/>
              </a:ext>
            </a:extLst>
          </p:cNvPr>
          <p:cNvSpPr>
            <a:spLocks noGrp="1"/>
          </p:cNvSpPr>
          <p:nvPr/>
        </p:nvSpPr>
        <p:spPr>
          <a:xfrm>
            <a:off x="6286500" y="1190625"/>
            <a:ext cx="5143500" cy="714375"/>
          </a:xfrm>
          <a:prstGeom prst="rect">
            <a:avLst/>
          </a:prstGeom>
          <a:noFill/>
          <a:ln w="0">
            <a:noFill/>
          </a:ln>
        </p:spPr>
        <p:txBody>
          <a:bodyPr wrap="square" lIns="0" tIns="0" rIns="0" bIns="0" anchor="t">
            <a:noAutofit/>
          </a:bodyPr>
          <a:lstStyle>
            <a:defPPr algn="l">
              <a:defRPr sz="2850" b="0">
                <a:solidFill>
                  <a:srgbClr val="171717"/>
                </a:solidFill>
                <a:latin typeface="Cambria Math"/>
                <a:ea typeface="Cambria Math"/>
                <a:cs typeface="Cambria Math"/>
              </a:defRPr>
            </a:defPPr>
            <a:lvl1pPr algn="l">
              <a:defRPr sz="2850" b="0">
                <a:solidFill>
                  <a:srgbClr val="171717"/>
                </a:solidFill>
                <a:latin typeface="Cambria Math"/>
                <a:ea typeface="Cambria Math"/>
                <a:cs typeface="Cambria Math"/>
              </a:defRPr>
            </a:lvl1pPr>
            <a:lvl2pPr algn="l">
              <a:defRPr sz="2850" b="0">
                <a:solidFill>
                  <a:srgbClr val="171717"/>
                </a:solidFill>
                <a:latin typeface="Cambria Math"/>
                <a:ea typeface="Cambria Math"/>
                <a:cs typeface="Cambria Math"/>
              </a:defRPr>
            </a:lvl2pPr>
            <a:lvl3pPr algn="l">
              <a:defRPr sz="2850" b="0">
                <a:solidFill>
                  <a:srgbClr val="171717"/>
                </a:solidFill>
                <a:latin typeface="Cambria Math"/>
                <a:ea typeface="Cambria Math"/>
                <a:cs typeface="Cambria Math"/>
              </a:defRPr>
            </a:lvl3pPr>
            <a:lvl4pPr algn="l">
              <a:defRPr sz="2850" b="0">
                <a:solidFill>
                  <a:srgbClr val="171717"/>
                </a:solidFill>
                <a:latin typeface="Cambria Math"/>
                <a:ea typeface="Cambria Math"/>
                <a:cs typeface="Cambria Math"/>
              </a:defRPr>
            </a:lvl4pPr>
            <a:lvl5pPr algn="l">
              <a:defRPr sz="2850" b="0">
                <a:solidFill>
                  <a:srgbClr val="171717"/>
                </a:solidFill>
                <a:latin typeface="Cambria Math"/>
                <a:ea typeface="Cambria Math"/>
                <a:cs typeface="Cambria Math"/>
              </a:defRPr>
            </a:lvl5pPr>
            <a:lvl6pPr algn="l">
              <a:defRPr sz="2850" b="0">
                <a:solidFill>
                  <a:srgbClr val="171717"/>
                </a:solidFill>
                <a:latin typeface="Cambria Math"/>
                <a:ea typeface="Cambria Math"/>
                <a:cs typeface="Cambria Math"/>
              </a:defRPr>
            </a:lvl6pPr>
            <a:lvl7pPr algn="l">
              <a:defRPr sz="2850" b="0">
                <a:solidFill>
                  <a:srgbClr val="171717"/>
                </a:solidFill>
                <a:latin typeface="Cambria Math"/>
                <a:ea typeface="Cambria Math"/>
                <a:cs typeface="Cambria Math"/>
              </a:defRPr>
            </a:lvl7pPr>
            <a:lvl8pPr algn="l">
              <a:defRPr sz="2850" b="0">
                <a:solidFill>
                  <a:srgbClr val="171717"/>
                </a:solidFill>
                <a:latin typeface="Cambria Math"/>
                <a:ea typeface="Cambria Math"/>
                <a:cs typeface="Cambria Math"/>
              </a:defRPr>
            </a:lvl8pPr>
            <a:lvl9pPr algn="l">
              <a:defRPr sz="2850" b="0">
                <a:solidFill>
                  <a:srgbClr val="171717"/>
                </a:solidFill>
                <a:latin typeface="Cambria Math"/>
                <a:ea typeface="Cambria Math"/>
                <a:cs typeface="Cambria Math"/>
              </a:defRPr>
            </a:lvl9pPr>
          </a:lstStyle>
          <a:p>
            <a:pPr algn="l">
              <a:defRPr sz="2850" b="0">
                <a:solidFill>
                  <a:srgbClr val="171717"/>
                </a:solidFill>
                <a:latin typeface="Cambria Math"/>
                <a:ea typeface="Cambria Math"/>
                <a:cs typeface="Cambria Math"/>
              </a:defRPr>
            </a:pPr>
            <a:r>
              <a:rPr sz="2850" b="0">
                <a:solidFill>
                  <a:srgbClr val="171717"/>
                </a:solidFill>
                <a:latin typeface="Cambria Math"/>
                <a:ea typeface="Cambria Math"/>
                <a:cs typeface="Cambria Math"/>
              </a:rPr>
              <a:t>p = softmax(xWᵣ)</a:t>
            </a:r>
          </a:p>
        </p:txBody>
      </p:sp>
      <p:sp>
        <p:nvSpPr>
          <p:cNvPr id="4" name="Rectangle 3">
            <a:extLst>
              <a:ext uri="{FF2B5EF4-FFF2-40B4-BE49-F238E27FC236}">
                <a16:creationId xmlns:a16="http://schemas.microsoft.com/office/drawing/2014/main" id="{36A29603-22D0-456F-ABB9-0019768BEA82}"/>
              </a:ext>
            </a:extLst>
          </p:cNvPr>
          <p:cNvSpPr>
            <a:spLocks noGrp="1"/>
          </p:cNvSpPr>
          <p:nvPr/>
        </p:nvSpPr>
        <p:spPr>
          <a:xfrm>
            <a:off x="666750" y="2571750"/>
            <a:ext cx="5334000" cy="857250"/>
          </a:xfrm>
          <a:prstGeom prst="rect">
            <a:avLst/>
          </a:prstGeom>
          <a:noFill/>
          <a:ln w="0">
            <a:noFill/>
          </a:ln>
        </p:spPr>
        <p:txBody>
          <a:bodyPr wrap="square" lIns="0" tIns="0" rIns="0" bIns="0" anchor="t">
            <a:noAutofit/>
          </a:bodyPr>
          <a:lstStyle>
            <a:defPPr algn="l">
              <a:defRPr sz="2250" b="1">
                <a:solidFill>
                  <a:srgbClr val="171717"/>
                </a:solidFill>
                <a:latin typeface="Calibri"/>
                <a:ea typeface="Calibri"/>
                <a:cs typeface="Calibri"/>
              </a:defRPr>
            </a:defPPr>
            <a:lvl1pPr algn="l">
              <a:defRPr sz="2250" b="1">
                <a:solidFill>
                  <a:srgbClr val="171717"/>
                </a:solidFill>
                <a:latin typeface="Calibri"/>
                <a:ea typeface="Calibri"/>
                <a:cs typeface="Calibri"/>
              </a:defRPr>
            </a:lvl1pPr>
            <a:lvl2pPr algn="l">
              <a:defRPr sz="2250" b="1">
                <a:solidFill>
                  <a:srgbClr val="171717"/>
                </a:solidFill>
                <a:latin typeface="Calibri"/>
                <a:ea typeface="Calibri"/>
                <a:cs typeface="Calibri"/>
              </a:defRPr>
            </a:lvl2pPr>
            <a:lvl3pPr algn="l">
              <a:defRPr sz="2250" b="1">
                <a:solidFill>
                  <a:srgbClr val="171717"/>
                </a:solidFill>
                <a:latin typeface="Calibri"/>
                <a:ea typeface="Calibri"/>
                <a:cs typeface="Calibri"/>
              </a:defRPr>
            </a:lvl3pPr>
            <a:lvl4pPr algn="l">
              <a:defRPr sz="2250" b="1">
                <a:solidFill>
                  <a:srgbClr val="171717"/>
                </a:solidFill>
                <a:latin typeface="Calibri"/>
                <a:ea typeface="Calibri"/>
                <a:cs typeface="Calibri"/>
              </a:defRPr>
            </a:lvl4pPr>
            <a:lvl5pPr algn="l">
              <a:defRPr sz="2250" b="1">
                <a:solidFill>
                  <a:srgbClr val="171717"/>
                </a:solidFill>
                <a:latin typeface="Calibri"/>
                <a:ea typeface="Calibri"/>
                <a:cs typeface="Calibri"/>
              </a:defRPr>
            </a:lvl5pPr>
            <a:lvl6pPr algn="l">
              <a:defRPr sz="2250" b="1">
                <a:solidFill>
                  <a:srgbClr val="171717"/>
                </a:solidFill>
                <a:latin typeface="Calibri"/>
                <a:ea typeface="Calibri"/>
                <a:cs typeface="Calibri"/>
              </a:defRPr>
            </a:lvl6pPr>
            <a:lvl7pPr algn="l">
              <a:defRPr sz="2250" b="1">
                <a:solidFill>
                  <a:srgbClr val="171717"/>
                </a:solidFill>
                <a:latin typeface="Calibri"/>
                <a:ea typeface="Calibri"/>
                <a:cs typeface="Calibri"/>
              </a:defRPr>
            </a:lvl7pPr>
            <a:lvl8pPr algn="l">
              <a:defRPr sz="2250" b="1">
                <a:solidFill>
                  <a:srgbClr val="171717"/>
                </a:solidFill>
                <a:latin typeface="Calibri"/>
                <a:ea typeface="Calibri"/>
                <a:cs typeface="Calibri"/>
              </a:defRPr>
            </a:lvl8pPr>
            <a:lvl9pPr algn="l">
              <a:defRPr sz="2250" b="1">
                <a:solidFill>
                  <a:srgbClr val="171717"/>
                </a:solidFill>
                <a:latin typeface="Calibri"/>
                <a:ea typeface="Calibri"/>
                <a:cs typeface="Calibri"/>
              </a:defRPr>
            </a:lvl9pPr>
          </a:lstStyle>
          <a:p>
            <a:pPr algn="l">
              <a:defRPr sz="2250" b="1">
                <a:solidFill>
                  <a:srgbClr val="171717"/>
                </a:solidFill>
                <a:latin typeface="Calibri"/>
                <a:ea typeface="Calibri"/>
                <a:cs typeface="Calibri"/>
              </a:defRPr>
            </a:pPr>
            <a:r>
              <a:rPr sz="2250" b="1">
                <a:solidFill>
                  <a:srgbClr val="171717"/>
                </a:solidFill>
                <a:latin typeface="Calibri"/>
                <a:ea typeface="Calibri"/>
                <a:cs typeface="Calibri"/>
              </a:rPr>
              <a:t>2. Select the k largest probabilities</a:t>
            </a:r>
          </a:p>
        </p:txBody>
      </p:sp>
      <p:sp>
        <p:nvSpPr>
          <p:cNvPr id="5" name="Rectangle 4">
            <a:extLst>
              <a:ext uri="{FF2B5EF4-FFF2-40B4-BE49-F238E27FC236}">
                <a16:creationId xmlns:a16="http://schemas.microsoft.com/office/drawing/2014/main" id="{24C26A9E-4FCE-4AF8-A443-48622CAA2FB7}"/>
              </a:ext>
            </a:extLst>
          </p:cNvPr>
          <p:cNvSpPr>
            <a:spLocks noGrp="1"/>
          </p:cNvSpPr>
          <p:nvPr/>
        </p:nvSpPr>
        <p:spPr>
          <a:xfrm>
            <a:off x="6286500" y="2714625"/>
            <a:ext cx="5143500" cy="714375"/>
          </a:xfrm>
          <a:prstGeom prst="rect">
            <a:avLst/>
          </a:prstGeom>
          <a:noFill/>
          <a:ln w="0">
            <a:noFill/>
          </a:ln>
        </p:spPr>
        <p:txBody>
          <a:bodyPr wrap="square" lIns="0" tIns="0" rIns="0" bIns="0" anchor="t">
            <a:noAutofit/>
          </a:bodyPr>
          <a:lstStyle>
            <a:defPPr algn="l">
              <a:defRPr sz="2850" b="0">
                <a:solidFill>
                  <a:srgbClr val="171717"/>
                </a:solidFill>
                <a:latin typeface="Cambria Math"/>
                <a:ea typeface="Cambria Math"/>
                <a:cs typeface="Cambria Math"/>
              </a:defRPr>
            </a:defPPr>
            <a:lvl1pPr algn="l">
              <a:defRPr sz="2850" b="0">
                <a:solidFill>
                  <a:srgbClr val="171717"/>
                </a:solidFill>
                <a:latin typeface="Cambria Math"/>
                <a:ea typeface="Cambria Math"/>
                <a:cs typeface="Cambria Math"/>
              </a:defRPr>
            </a:lvl1pPr>
            <a:lvl2pPr algn="l">
              <a:defRPr sz="2850" b="0">
                <a:solidFill>
                  <a:srgbClr val="171717"/>
                </a:solidFill>
                <a:latin typeface="Cambria Math"/>
                <a:ea typeface="Cambria Math"/>
                <a:cs typeface="Cambria Math"/>
              </a:defRPr>
            </a:lvl2pPr>
            <a:lvl3pPr algn="l">
              <a:defRPr sz="2850" b="0">
                <a:solidFill>
                  <a:srgbClr val="171717"/>
                </a:solidFill>
                <a:latin typeface="Cambria Math"/>
                <a:ea typeface="Cambria Math"/>
                <a:cs typeface="Cambria Math"/>
              </a:defRPr>
            </a:lvl3pPr>
            <a:lvl4pPr algn="l">
              <a:defRPr sz="2850" b="0">
                <a:solidFill>
                  <a:srgbClr val="171717"/>
                </a:solidFill>
                <a:latin typeface="Cambria Math"/>
                <a:ea typeface="Cambria Math"/>
                <a:cs typeface="Cambria Math"/>
              </a:defRPr>
            </a:lvl4pPr>
            <a:lvl5pPr algn="l">
              <a:defRPr sz="2850" b="0">
                <a:solidFill>
                  <a:srgbClr val="171717"/>
                </a:solidFill>
                <a:latin typeface="Cambria Math"/>
                <a:ea typeface="Cambria Math"/>
                <a:cs typeface="Cambria Math"/>
              </a:defRPr>
            </a:lvl5pPr>
            <a:lvl6pPr algn="l">
              <a:defRPr sz="2850" b="0">
                <a:solidFill>
                  <a:srgbClr val="171717"/>
                </a:solidFill>
                <a:latin typeface="Cambria Math"/>
                <a:ea typeface="Cambria Math"/>
                <a:cs typeface="Cambria Math"/>
              </a:defRPr>
            </a:lvl6pPr>
            <a:lvl7pPr algn="l">
              <a:defRPr sz="2850" b="0">
                <a:solidFill>
                  <a:srgbClr val="171717"/>
                </a:solidFill>
                <a:latin typeface="Cambria Math"/>
                <a:ea typeface="Cambria Math"/>
                <a:cs typeface="Cambria Math"/>
              </a:defRPr>
            </a:lvl7pPr>
            <a:lvl8pPr algn="l">
              <a:defRPr sz="2850" b="0">
                <a:solidFill>
                  <a:srgbClr val="171717"/>
                </a:solidFill>
                <a:latin typeface="Cambria Math"/>
                <a:ea typeface="Cambria Math"/>
                <a:cs typeface="Cambria Math"/>
              </a:defRPr>
            </a:lvl8pPr>
            <a:lvl9pPr algn="l">
              <a:defRPr sz="2850" b="0">
                <a:solidFill>
                  <a:srgbClr val="171717"/>
                </a:solidFill>
                <a:latin typeface="Cambria Math"/>
                <a:ea typeface="Cambria Math"/>
                <a:cs typeface="Cambria Math"/>
              </a:defRPr>
            </a:lvl9pPr>
          </a:lstStyle>
          <a:p>
            <a:pPr algn="l">
              <a:defRPr sz="2850" b="0">
                <a:solidFill>
                  <a:srgbClr val="171717"/>
                </a:solidFill>
                <a:latin typeface="Cambria Math"/>
                <a:ea typeface="Cambria Math"/>
                <a:cs typeface="Cambria Math"/>
              </a:defRPr>
            </a:pPr>
            <a:r>
              <a:rPr sz="2850" b="0">
                <a:solidFill>
                  <a:srgbClr val="171717"/>
                </a:solidFill>
                <a:latin typeface="Cambria Math"/>
                <a:ea typeface="Cambria Math"/>
                <a:cs typeface="Cambria Math"/>
              </a:rPr>
              <a:t>Iₖ = TopK(p)</a:t>
            </a:r>
          </a:p>
        </p:txBody>
      </p:sp>
      <p:sp>
        <p:nvSpPr>
          <p:cNvPr id="6" name="Rectangle 5">
            <a:extLst>
              <a:ext uri="{FF2B5EF4-FFF2-40B4-BE49-F238E27FC236}">
                <a16:creationId xmlns:a16="http://schemas.microsoft.com/office/drawing/2014/main" id="{18D249AD-CD2B-4BC7-A3A0-580B8A82BE25}"/>
              </a:ext>
            </a:extLst>
          </p:cNvPr>
          <p:cNvSpPr>
            <a:spLocks noGrp="1"/>
          </p:cNvSpPr>
          <p:nvPr/>
        </p:nvSpPr>
        <p:spPr>
          <a:xfrm>
            <a:off x="666750" y="3952875"/>
            <a:ext cx="5334000" cy="857250"/>
          </a:xfrm>
          <a:prstGeom prst="rect">
            <a:avLst/>
          </a:prstGeom>
          <a:noFill/>
          <a:ln w="0">
            <a:noFill/>
          </a:ln>
        </p:spPr>
        <p:txBody>
          <a:bodyPr wrap="square" lIns="0" tIns="0" rIns="0" bIns="0" anchor="t">
            <a:noAutofit/>
          </a:bodyPr>
          <a:lstStyle>
            <a:defPPr algn="l">
              <a:defRPr sz="2250" b="1">
                <a:solidFill>
                  <a:srgbClr val="171717"/>
                </a:solidFill>
                <a:latin typeface="Calibri"/>
                <a:ea typeface="Calibri"/>
                <a:cs typeface="Calibri"/>
              </a:defRPr>
            </a:defPPr>
            <a:lvl1pPr algn="l">
              <a:defRPr sz="2250" b="1">
                <a:solidFill>
                  <a:srgbClr val="171717"/>
                </a:solidFill>
                <a:latin typeface="Calibri"/>
                <a:ea typeface="Calibri"/>
                <a:cs typeface="Calibri"/>
              </a:defRPr>
            </a:lvl1pPr>
            <a:lvl2pPr algn="l">
              <a:defRPr sz="2250" b="1">
                <a:solidFill>
                  <a:srgbClr val="171717"/>
                </a:solidFill>
                <a:latin typeface="Calibri"/>
                <a:ea typeface="Calibri"/>
                <a:cs typeface="Calibri"/>
              </a:defRPr>
            </a:lvl2pPr>
            <a:lvl3pPr algn="l">
              <a:defRPr sz="2250" b="1">
                <a:solidFill>
                  <a:srgbClr val="171717"/>
                </a:solidFill>
                <a:latin typeface="Calibri"/>
                <a:ea typeface="Calibri"/>
                <a:cs typeface="Calibri"/>
              </a:defRPr>
            </a:lvl3pPr>
            <a:lvl4pPr algn="l">
              <a:defRPr sz="2250" b="1">
                <a:solidFill>
                  <a:srgbClr val="171717"/>
                </a:solidFill>
                <a:latin typeface="Calibri"/>
                <a:ea typeface="Calibri"/>
                <a:cs typeface="Calibri"/>
              </a:defRPr>
            </a:lvl4pPr>
            <a:lvl5pPr algn="l">
              <a:defRPr sz="2250" b="1">
                <a:solidFill>
                  <a:srgbClr val="171717"/>
                </a:solidFill>
                <a:latin typeface="Calibri"/>
                <a:ea typeface="Calibri"/>
                <a:cs typeface="Calibri"/>
              </a:defRPr>
            </a:lvl5pPr>
            <a:lvl6pPr algn="l">
              <a:defRPr sz="2250" b="1">
                <a:solidFill>
                  <a:srgbClr val="171717"/>
                </a:solidFill>
                <a:latin typeface="Calibri"/>
                <a:ea typeface="Calibri"/>
                <a:cs typeface="Calibri"/>
              </a:defRPr>
            </a:lvl6pPr>
            <a:lvl7pPr algn="l">
              <a:defRPr sz="2250" b="1">
                <a:solidFill>
                  <a:srgbClr val="171717"/>
                </a:solidFill>
                <a:latin typeface="Calibri"/>
                <a:ea typeface="Calibri"/>
                <a:cs typeface="Calibri"/>
              </a:defRPr>
            </a:lvl7pPr>
            <a:lvl8pPr algn="l">
              <a:defRPr sz="2250" b="1">
                <a:solidFill>
                  <a:srgbClr val="171717"/>
                </a:solidFill>
                <a:latin typeface="Calibri"/>
                <a:ea typeface="Calibri"/>
                <a:cs typeface="Calibri"/>
              </a:defRPr>
            </a:lvl8pPr>
            <a:lvl9pPr algn="l">
              <a:defRPr sz="2250" b="1">
                <a:solidFill>
                  <a:srgbClr val="171717"/>
                </a:solidFill>
                <a:latin typeface="Calibri"/>
                <a:ea typeface="Calibri"/>
                <a:cs typeface="Calibri"/>
              </a:defRPr>
            </a:lvl9pPr>
          </a:lstStyle>
          <a:p>
            <a:pPr algn="l">
              <a:defRPr sz="2250" b="1">
                <a:solidFill>
                  <a:srgbClr val="171717"/>
                </a:solidFill>
                <a:latin typeface="Calibri"/>
                <a:ea typeface="Calibri"/>
                <a:cs typeface="Calibri"/>
              </a:defRPr>
            </a:pPr>
            <a:r>
              <a:rPr sz="2250" b="1">
                <a:solidFill>
                  <a:srgbClr val="171717"/>
                </a:solidFill>
                <a:latin typeface="Calibri"/>
                <a:ea typeface="Calibri"/>
                <a:cs typeface="Calibri"/>
              </a:rPr>
              <a:t>3. Normalize the selected weights</a:t>
            </a:r>
          </a:p>
        </p:txBody>
      </p:sp>
      <p:sp>
        <p:nvSpPr>
          <p:cNvPr id="7" name="Rectangle 6">
            <a:extLst>
              <a:ext uri="{FF2B5EF4-FFF2-40B4-BE49-F238E27FC236}">
                <a16:creationId xmlns:a16="http://schemas.microsoft.com/office/drawing/2014/main" id="{DF7FE199-E9CB-4455-BC71-962C53D36A71}"/>
              </a:ext>
            </a:extLst>
          </p:cNvPr>
          <p:cNvSpPr>
            <a:spLocks noGrp="1"/>
          </p:cNvSpPr>
          <p:nvPr/>
        </p:nvSpPr>
        <p:spPr>
          <a:xfrm>
            <a:off x="6286500" y="4048125"/>
            <a:ext cx="5143500" cy="714375"/>
          </a:xfrm>
          <a:prstGeom prst="rect">
            <a:avLst/>
          </a:prstGeom>
          <a:noFill/>
          <a:ln w="0">
            <a:noFill/>
          </a:ln>
        </p:spPr>
        <p:txBody>
          <a:bodyPr wrap="square" lIns="0" tIns="0" rIns="0" bIns="0" anchor="t">
            <a:noAutofit/>
          </a:bodyPr>
          <a:lstStyle>
            <a:defPPr algn="l">
              <a:defRPr sz="2700" b="0">
                <a:solidFill>
                  <a:srgbClr val="171717"/>
                </a:solidFill>
                <a:latin typeface="Cambria Math"/>
                <a:ea typeface="Cambria Math"/>
                <a:cs typeface="Cambria Math"/>
              </a:defRPr>
            </a:defPPr>
            <a:lvl1pPr algn="l">
              <a:defRPr sz="2700" b="0">
                <a:solidFill>
                  <a:srgbClr val="171717"/>
                </a:solidFill>
                <a:latin typeface="Cambria Math"/>
                <a:ea typeface="Cambria Math"/>
                <a:cs typeface="Cambria Math"/>
              </a:defRPr>
            </a:lvl1pPr>
            <a:lvl2pPr algn="l">
              <a:defRPr sz="2700" b="0">
                <a:solidFill>
                  <a:srgbClr val="171717"/>
                </a:solidFill>
                <a:latin typeface="Cambria Math"/>
                <a:ea typeface="Cambria Math"/>
                <a:cs typeface="Cambria Math"/>
              </a:defRPr>
            </a:lvl2pPr>
            <a:lvl3pPr algn="l">
              <a:defRPr sz="2700" b="0">
                <a:solidFill>
                  <a:srgbClr val="171717"/>
                </a:solidFill>
                <a:latin typeface="Cambria Math"/>
                <a:ea typeface="Cambria Math"/>
                <a:cs typeface="Cambria Math"/>
              </a:defRPr>
            </a:lvl3pPr>
            <a:lvl4pPr algn="l">
              <a:defRPr sz="2700" b="0">
                <a:solidFill>
                  <a:srgbClr val="171717"/>
                </a:solidFill>
                <a:latin typeface="Cambria Math"/>
                <a:ea typeface="Cambria Math"/>
                <a:cs typeface="Cambria Math"/>
              </a:defRPr>
            </a:lvl4pPr>
            <a:lvl5pPr algn="l">
              <a:defRPr sz="2700" b="0">
                <a:solidFill>
                  <a:srgbClr val="171717"/>
                </a:solidFill>
                <a:latin typeface="Cambria Math"/>
                <a:ea typeface="Cambria Math"/>
                <a:cs typeface="Cambria Math"/>
              </a:defRPr>
            </a:lvl5pPr>
            <a:lvl6pPr algn="l">
              <a:defRPr sz="2700" b="0">
                <a:solidFill>
                  <a:srgbClr val="171717"/>
                </a:solidFill>
                <a:latin typeface="Cambria Math"/>
                <a:ea typeface="Cambria Math"/>
                <a:cs typeface="Cambria Math"/>
              </a:defRPr>
            </a:lvl6pPr>
            <a:lvl7pPr algn="l">
              <a:defRPr sz="2700" b="0">
                <a:solidFill>
                  <a:srgbClr val="171717"/>
                </a:solidFill>
                <a:latin typeface="Cambria Math"/>
                <a:ea typeface="Cambria Math"/>
                <a:cs typeface="Cambria Math"/>
              </a:defRPr>
            </a:lvl7pPr>
            <a:lvl8pPr algn="l">
              <a:defRPr sz="2700" b="0">
                <a:solidFill>
                  <a:srgbClr val="171717"/>
                </a:solidFill>
                <a:latin typeface="Cambria Math"/>
                <a:ea typeface="Cambria Math"/>
                <a:cs typeface="Cambria Math"/>
              </a:defRPr>
            </a:lvl8pPr>
            <a:lvl9pPr algn="l">
              <a:defRPr sz="2700" b="0">
                <a:solidFill>
                  <a:srgbClr val="171717"/>
                </a:solidFill>
                <a:latin typeface="Cambria Math"/>
                <a:ea typeface="Cambria Math"/>
                <a:cs typeface="Cambria Math"/>
              </a:defRPr>
            </a:lvl9pPr>
          </a:lstStyle>
          <a:p>
            <a:pPr algn="l">
              <a:defRPr sz="2700" b="0">
                <a:solidFill>
                  <a:srgbClr val="171717"/>
                </a:solidFill>
                <a:latin typeface="Cambria Math"/>
                <a:ea typeface="Cambria Math"/>
                <a:cs typeface="Cambria Math"/>
              </a:defRPr>
            </a:pPr>
            <a:r>
              <a:rPr sz="2700" b="0">
                <a:solidFill>
                  <a:srgbClr val="171717"/>
                </a:solidFill>
                <a:latin typeface="Cambria Math"/>
                <a:ea typeface="Cambria Math"/>
                <a:cs typeface="Cambria Math"/>
              </a:rPr>
              <a:t>gᵢ = pᵢ / (Σⱼ∈Iₖ pⱼ)</a:t>
            </a:r>
          </a:p>
        </p:txBody>
      </p:sp>
      <p:sp>
        <p:nvSpPr>
          <p:cNvPr id="8" name="Rectangle 7">
            <a:extLst>
              <a:ext uri="{FF2B5EF4-FFF2-40B4-BE49-F238E27FC236}">
                <a16:creationId xmlns:a16="http://schemas.microsoft.com/office/drawing/2014/main" id="{B85A3406-0E23-40F7-9358-CD5A7A78ACD7}"/>
              </a:ext>
            </a:extLst>
          </p:cNvPr>
          <p:cNvSpPr>
            <a:spLocks noGrp="1"/>
          </p:cNvSpPr>
          <p:nvPr/>
        </p:nvSpPr>
        <p:spPr>
          <a:xfrm>
            <a:off x="3048000" y="5524500"/>
            <a:ext cx="8096250" cy="666750"/>
          </a:xfrm>
          <a:prstGeom prst="rect">
            <a:avLst/>
          </a:prstGeom>
          <a:noFill/>
          <a:ln w="0">
            <a:noFill/>
          </a:ln>
        </p:spPr>
        <p:txBody>
          <a:bodyPr wrap="square" lIns="0" tIns="0" rIns="0" bIns="0" anchor="t">
            <a:noAutofit/>
          </a:bodyPr>
          <a:lstStyle>
            <a:defPPr algn="l">
              <a:defRPr sz="3000" b="0">
                <a:solidFill>
                  <a:srgbClr val="171717"/>
                </a:solidFill>
                <a:latin typeface="Cambria Math"/>
                <a:ea typeface="Cambria Math"/>
                <a:cs typeface="Cambria Math"/>
              </a:defRPr>
            </a:defPPr>
            <a:lvl1pPr algn="l">
              <a:defRPr sz="3000" b="0">
                <a:solidFill>
                  <a:srgbClr val="171717"/>
                </a:solidFill>
                <a:latin typeface="Cambria Math"/>
                <a:ea typeface="Cambria Math"/>
                <a:cs typeface="Cambria Math"/>
              </a:defRPr>
            </a:lvl1pPr>
            <a:lvl2pPr algn="l">
              <a:defRPr sz="3000" b="0">
                <a:solidFill>
                  <a:srgbClr val="171717"/>
                </a:solidFill>
                <a:latin typeface="Cambria Math"/>
                <a:ea typeface="Cambria Math"/>
                <a:cs typeface="Cambria Math"/>
              </a:defRPr>
            </a:lvl2pPr>
            <a:lvl3pPr algn="l">
              <a:defRPr sz="3000" b="0">
                <a:solidFill>
                  <a:srgbClr val="171717"/>
                </a:solidFill>
                <a:latin typeface="Cambria Math"/>
                <a:ea typeface="Cambria Math"/>
                <a:cs typeface="Cambria Math"/>
              </a:defRPr>
            </a:lvl3pPr>
            <a:lvl4pPr algn="l">
              <a:defRPr sz="3000" b="0">
                <a:solidFill>
                  <a:srgbClr val="171717"/>
                </a:solidFill>
                <a:latin typeface="Cambria Math"/>
                <a:ea typeface="Cambria Math"/>
                <a:cs typeface="Cambria Math"/>
              </a:defRPr>
            </a:lvl4pPr>
            <a:lvl5pPr algn="l">
              <a:defRPr sz="3000" b="0">
                <a:solidFill>
                  <a:srgbClr val="171717"/>
                </a:solidFill>
                <a:latin typeface="Cambria Math"/>
                <a:ea typeface="Cambria Math"/>
                <a:cs typeface="Cambria Math"/>
              </a:defRPr>
            </a:lvl5pPr>
            <a:lvl6pPr algn="l">
              <a:defRPr sz="3000" b="0">
                <a:solidFill>
                  <a:srgbClr val="171717"/>
                </a:solidFill>
                <a:latin typeface="Cambria Math"/>
                <a:ea typeface="Cambria Math"/>
                <a:cs typeface="Cambria Math"/>
              </a:defRPr>
            </a:lvl6pPr>
            <a:lvl7pPr algn="l">
              <a:defRPr sz="3000" b="0">
                <a:solidFill>
                  <a:srgbClr val="171717"/>
                </a:solidFill>
                <a:latin typeface="Cambria Math"/>
                <a:ea typeface="Cambria Math"/>
                <a:cs typeface="Cambria Math"/>
              </a:defRPr>
            </a:lvl7pPr>
            <a:lvl8pPr algn="l">
              <a:defRPr sz="3000" b="0">
                <a:solidFill>
                  <a:srgbClr val="171717"/>
                </a:solidFill>
                <a:latin typeface="Cambria Math"/>
                <a:ea typeface="Cambria Math"/>
                <a:cs typeface="Cambria Math"/>
              </a:defRPr>
            </a:lvl8pPr>
            <a:lvl9pPr algn="l">
              <a:defRPr sz="3000" b="0">
                <a:solidFill>
                  <a:srgbClr val="171717"/>
                </a:solidFill>
                <a:latin typeface="Cambria Math"/>
                <a:ea typeface="Cambria Math"/>
                <a:cs typeface="Cambria Math"/>
              </a:defRPr>
            </a:lvl9pPr>
          </a:lstStyle>
          <a:p>
            <a:pPr algn="l">
              <a:defRPr sz="3000" b="0">
                <a:solidFill>
                  <a:srgbClr val="171717"/>
                </a:solidFill>
                <a:latin typeface="Cambria Math"/>
                <a:ea typeface="Cambria Math"/>
                <a:cs typeface="Cambria Math"/>
              </a:defRPr>
            </a:pPr>
            <a:r>
              <a:rPr sz="3000" b="0">
                <a:solidFill>
                  <a:srgbClr val="171717"/>
                </a:solidFill>
                <a:latin typeface="Cambria Math"/>
                <a:ea typeface="Cambria Math"/>
                <a:cs typeface="Cambria Math"/>
              </a:rPr>
              <a:t>y = Σᵢ∈Iₖ gᵢ Eᵢ(x)</a:t>
            </a:r>
          </a:p>
        </p:txBody>
      </p:sp>
      <p:sp>
        <p:nvSpPr>
          <p:cNvPr id="9" name="Rectangle 8">
            <a:extLst>
              <a:ext uri="{FF2B5EF4-FFF2-40B4-BE49-F238E27FC236}">
                <a16:creationId xmlns:a16="http://schemas.microsoft.com/office/drawing/2014/main" id="{66C8EBEC-5832-4BAC-B6B0-B2D8FEF115F1}"/>
              </a:ext>
            </a:extLst>
          </p:cNvPr>
          <p:cNvSpPr>
            <a:spLocks noGrp="1"/>
          </p:cNvSpPr>
          <p:nvPr/>
        </p:nvSpPr>
        <p:spPr>
          <a:xfrm>
            <a:off x="666750" y="1905000"/>
            <a:ext cx="10858500" cy="428625"/>
          </a:xfrm>
          <a:prstGeom prst="rect">
            <a:avLst/>
          </a:prstGeom>
          <a:noFill/>
          <a:ln w="0">
            <a:noFill/>
          </a:ln>
        </p:spPr>
        <p:txBody>
          <a:bodyPr wrap="square" lIns="0" tIns="0" rIns="0" bIns="0" anchor="t">
            <a:noAutofit/>
          </a:bodyPr>
          <a:lstStyle>
            <a:defPPr algn="l">
              <a:defRPr sz="1950" b="0">
                <a:solidFill>
                  <a:srgbClr val="171717"/>
                </a:solidFill>
                <a:latin typeface="Calibri"/>
                <a:ea typeface="Calibri"/>
                <a:cs typeface="Calibri"/>
              </a:defRPr>
            </a:defPPr>
            <a:lvl1pPr algn="l">
              <a:defRPr sz="1950" b="0">
                <a:solidFill>
                  <a:srgbClr val="171717"/>
                </a:solidFill>
                <a:latin typeface="Calibri"/>
                <a:ea typeface="Calibri"/>
                <a:cs typeface="Calibri"/>
              </a:defRPr>
            </a:lvl1pPr>
            <a:lvl2pPr algn="l">
              <a:defRPr sz="1950" b="0">
                <a:solidFill>
                  <a:srgbClr val="171717"/>
                </a:solidFill>
                <a:latin typeface="Calibri"/>
                <a:ea typeface="Calibri"/>
                <a:cs typeface="Calibri"/>
              </a:defRPr>
            </a:lvl2pPr>
            <a:lvl3pPr algn="l">
              <a:defRPr sz="1950" b="0">
                <a:solidFill>
                  <a:srgbClr val="171717"/>
                </a:solidFill>
                <a:latin typeface="Calibri"/>
                <a:ea typeface="Calibri"/>
                <a:cs typeface="Calibri"/>
              </a:defRPr>
            </a:lvl3pPr>
            <a:lvl4pPr algn="l">
              <a:defRPr sz="1950" b="0">
                <a:solidFill>
                  <a:srgbClr val="171717"/>
                </a:solidFill>
                <a:latin typeface="Calibri"/>
                <a:ea typeface="Calibri"/>
                <a:cs typeface="Calibri"/>
              </a:defRPr>
            </a:lvl4pPr>
            <a:lvl5pPr algn="l">
              <a:defRPr sz="1950" b="0">
                <a:solidFill>
                  <a:srgbClr val="171717"/>
                </a:solidFill>
                <a:latin typeface="Calibri"/>
                <a:ea typeface="Calibri"/>
                <a:cs typeface="Calibri"/>
              </a:defRPr>
            </a:lvl5pPr>
            <a:lvl6pPr algn="l">
              <a:defRPr sz="1950" b="0">
                <a:solidFill>
                  <a:srgbClr val="171717"/>
                </a:solidFill>
                <a:latin typeface="Calibri"/>
                <a:ea typeface="Calibri"/>
                <a:cs typeface="Calibri"/>
              </a:defRPr>
            </a:lvl6pPr>
            <a:lvl7pPr algn="l">
              <a:defRPr sz="1950" b="0">
                <a:solidFill>
                  <a:srgbClr val="171717"/>
                </a:solidFill>
                <a:latin typeface="Calibri"/>
                <a:ea typeface="Calibri"/>
                <a:cs typeface="Calibri"/>
              </a:defRPr>
            </a:lvl7pPr>
            <a:lvl8pPr algn="l">
              <a:defRPr sz="1950" b="0">
                <a:solidFill>
                  <a:srgbClr val="171717"/>
                </a:solidFill>
                <a:latin typeface="Calibri"/>
                <a:ea typeface="Calibri"/>
                <a:cs typeface="Calibri"/>
              </a:defRPr>
            </a:lvl8pPr>
            <a:lvl9pPr algn="l">
              <a:defRPr sz="1950" b="0">
                <a:solidFill>
                  <a:srgbClr val="171717"/>
                </a:solidFill>
                <a:latin typeface="Calibri"/>
                <a:ea typeface="Calibri"/>
                <a:cs typeface="Calibri"/>
              </a:defRPr>
            </a:lvl9pPr>
          </a:lstStyle>
          <a:p>
            <a:pPr algn="l">
              <a:defRPr sz="1950" b="0">
                <a:solidFill>
                  <a:srgbClr val="171717"/>
                </a:solidFill>
                <a:latin typeface="Calibri"/>
                <a:ea typeface="Calibri"/>
                <a:cs typeface="Calibri"/>
              </a:defRPr>
            </a:pPr>
            <a:r>
              <a:rPr sz="1950" b="0">
                <a:solidFill>
                  <a:srgbClr val="171717"/>
                </a:solidFill>
                <a:latin typeface="Calibri"/>
                <a:ea typeface="Calibri"/>
                <a:cs typeface="Calibri"/>
              </a:rPr>
              <a:t>Wᵣ is the learned router projection.</a:t>
            </a:r>
          </a:p>
        </p:txBody>
      </p:sp>
      <p:sp>
        <p:nvSpPr>
          <p:cNvPr id="10" name="Source">
            <a:extLst>
              <a:ext uri="{FF2B5EF4-FFF2-40B4-BE49-F238E27FC236}">
                <a16:creationId xmlns:a16="http://schemas.microsoft.com/office/drawing/2014/main" id="{5F9156A6-9D4A-431E-B97A-C52AA162727F}"/>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Shazeer et al., 2017; Dai et al., 2024</a:t>
            </a:r>
          </a:p>
        </p:txBody>
      </p:sp>
      <p:sp>
        <p:nvSpPr>
          <p:cNvPr id="11" name="Slide number">
            <a:extLst>
              <a:ext uri="{FF2B5EF4-FFF2-40B4-BE49-F238E27FC236}">
                <a16:creationId xmlns:a16="http://schemas.microsoft.com/office/drawing/2014/main" id="{D727A268-52BF-45DA-A23C-38837914B5BA}"/>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37</a:t>
            </a:r>
          </a:p>
        </p:txBody>
      </p:sp>
    </p:spTree>
    <p:extLst>
      <p:ext uri="{BB962C8B-B14F-4D97-AF65-F5344CB8AC3E}">
        <p14:creationId xmlns:p14="http://schemas.microsoft.com/office/powerpoint/2010/main" val="14378685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EB64E8F1-44A4-4DFD-83A7-5F68143DFE70}"/>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Uneven expert load</a:t>
            </a:r>
          </a:p>
        </p:txBody>
      </p:sp>
      <p:sp>
        <p:nvSpPr>
          <p:cNvPr id="2" name="Rectangle 1">
            <a:extLst>
              <a:ext uri="{FF2B5EF4-FFF2-40B4-BE49-F238E27FC236}">
                <a16:creationId xmlns:a16="http://schemas.microsoft.com/office/drawing/2014/main" id="{FA0A262F-45D8-4A11-91C8-3EC95256A195}"/>
              </a:ext>
            </a:extLst>
          </p:cNvPr>
          <p:cNvSpPr>
            <a:spLocks noGrp="1"/>
          </p:cNvSpPr>
          <p:nvPr/>
        </p:nvSpPr>
        <p:spPr>
          <a:xfrm>
            <a:off x="666750" y="1095375"/>
            <a:ext cx="10858500" cy="666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Sixteen tokens choose four experts with equal compute capacity.</a:t>
            </a:r>
          </a:p>
        </p:txBody>
      </p:sp>
      <p:sp>
        <p:nvSpPr>
          <p:cNvPr id="3" name="Rectangle 2">
            <a:extLst>
              <a:ext uri="{FF2B5EF4-FFF2-40B4-BE49-F238E27FC236}">
                <a16:creationId xmlns:a16="http://schemas.microsoft.com/office/drawing/2014/main" id="{E809C73E-171A-460A-8C9A-FA4812264007}"/>
              </a:ext>
            </a:extLst>
          </p:cNvPr>
          <p:cNvSpPr>
            <a:spLocks noGrp="1"/>
          </p:cNvSpPr>
          <p:nvPr/>
        </p:nvSpPr>
        <p:spPr>
          <a:xfrm>
            <a:off x="7143750" y="2476500"/>
            <a:ext cx="4286250" cy="952500"/>
          </a:xfrm>
          <a:prstGeom prst="rect">
            <a:avLst/>
          </a:prstGeom>
          <a:noFill/>
          <a:ln w="0">
            <a:noFill/>
          </a:ln>
        </p:spPr>
        <p:txBody>
          <a:bodyPr wrap="square" lIns="0" tIns="0" rIns="0" bIns="0" anchor="t">
            <a:noAutofit/>
          </a:bodyPr>
          <a:lstStyle>
            <a:defPPr algn="l">
              <a:defRPr sz="2400" b="1">
                <a:solidFill>
                  <a:srgbClr val="171717"/>
                </a:solidFill>
                <a:latin typeface="Calibri"/>
                <a:ea typeface="Calibri"/>
                <a:cs typeface="Calibri"/>
              </a:defRPr>
            </a:defPPr>
            <a:lvl1pPr algn="l">
              <a:defRPr sz="2400" b="1">
                <a:solidFill>
                  <a:srgbClr val="171717"/>
                </a:solidFill>
                <a:latin typeface="Calibri"/>
                <a:ea typeface="Calibri"/>
                <a:cs typeface="Calibri"/>
              </a:defRPr>
            </a:lvl1pPr>
            <a:lvl2pPr algn="l">
              <a:defRPr sz="2400" b="1">
                <a:solidFill>
                  <a:srgbClr val="171717"/>
                </a:solidFill>
                <a:latin typeface="Calibri"/>
                <a:ea typeface="Calibri"/>
                <a:cs typeface="Calibri"/>
              </a:defRPr>
            </a:lvl2pPr>
            <a:lvl3pPr algn="l">
              <a:defRPr sz="2400" b="1">
                <a:solidFill>
                  <a:srgbClr val="171717"/>
                </a:solidFill>
                <a:latin typeface="Calibri"/>
                <a:ea typeface="Calibri"/>
                <a:cs typeface="Calibri"/>
              </a:defRPr>
            </a:lvl3pPr>
            <a:lvl4pPr algn="l">
              <a:defRPr sz="2400" b="1">
                <a:solidFill>
                  <a:srgbClr val="171717"/>
                </a:solidFill>
                <a:latin typeface="Calibri"/>
                <a:ea typeface="Calibri"/>
                <a:cs typeface="Calibri"/>
              </a:defRPr>
            </a:lvl4pPr>
            <a:lvl5pPr algn="l">
              <a:defRPr sz="2400" b="1">
                <a:solidFill>
                  <a:srgbClr val="171717"/>
                </a:solidFill>
                <a:latin typeface="Calibri"/>
                <a:ea typeface="Calibri"/>
                <a:cs typeface="Calibri"/>
              </a:defRPr>
            </a:lvl5pPr>
            <a:lvl6pPr algn="l">
              <a:defRPr sz="2400" b="1">
                <a:solidFill>
                  <a:srgbClr val="171717"/>
                </a:solidFill>
                <a:latin typeface="Calibri"/>
                <a:ea typeface="Calibri"/>
                <a:cs typeface="Calibri"/>
              </a:defRPr>
            </a:lvl6pPr>
            <a:lvl7pPr algn="l">
              <a:defRPr sz="2400" b="1">
                <a:solidFill>
                  <a:srgbClr val="171717"/>
                </a:solidFill>
                <a:latin typeface="Calibri"/>
                <a:ea typeface="Calibri"/>
                <a:cs typeface="Calibri"/>
              </a:defRPr>
            </a:lvl7pPr>
            <a:lvl8pPr algn="l">
              <a:defRPr sz="2400" b="1">
                <a:solidFill>
                  <a:srgbClr val="171717"/>
                </a:solidFill>
                <a:latin typeface="Calibri"/>
                <a:ea typeface="Calibri"/>
                <a:cs typeface="Calibri"/>
              </a:defRPr>
            </a:lvl8pPr>
            <a:lvl9pPr algn="l">
              <a:defRPr sz="2400" b="1">
                <a:solidFill>
                  <a:srgbClr val="171717"/>
                </a:solidFill>
                <a:latin typeface="Calibri"/>
                <a:ea typeface="Calibri"/>
                <a:cs typeface="Calibri"/>
              </a:defRPr>
            </a:lvl9pPr>
          </a:lstStyle>
          <a:p>
            <a:pPr algn="l">
              <a:defRPr sz="2400" b="1">
                <a:solidFill>
                  <a:srgbClr val="171717"/>
                </a:solidFill>
                <a:latin typeface="Calibri"/>
                <a:ea typeface="Calibri"/>
                <a:cs typeface="Calibri"/>
              </a:defRPr>
            </a:pPr>
            <a:r>
              <a:rPr sz="2400" b="1">
                <a:solidFill>
                  <a:srgbClr val="171717"/>
                </a:solidFill>
                <a:latin typeface="Calibri"/>
                <a:ea typeface="Calibri"/>
                <a:cs typeface="Calibri"/>
              </a:rPr>
              <a:t>An overloaded expert can delay the batch.</a:t>
            </a:r>
          </a:p>
        </p:txBody>
      </p:sp>
      <p:sp>
        <p:nvSpPr>
          <p:cNvPr id="4" name="Rectangle 3">
            <a:extLst>
              <a:ext uri="{FF2B5EF4-FFF2-40B4-BE49-F238E27FC236}">
                <a16:creationId xmlns:a16="http://schemas.microsoft.com/office/drawing/2014/main" id="{081BBC6F-16D9-4400-8790-9897F40B0B6A}"/>
              </a:ext>
            </a:extLst>
          </p:cNvPr>
          <p:cNvSpPr>
            <a:spLocks noGrp="1"/>
          </p:cNvSpPr>
          <p:nvPr/>
        </p:nvSpPr>
        <p:spPr>
          <a:xfrm>
            <a:off x="7143750" y="3714750"/>
            <a:ext cx="4286250" cy="114300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Other experts may sit idle and receive fewer training updates.</a:t>
            </a:r>
          </a:p>
        </p:txBody>
      </p:sp>
      <p:sp>
        <p:nvSpPr>
          <p:cNvPr id="5" name="Rectangle 4">
            <a:extLst>
              <a:ext uri="{FF2B5EF4-FFF2-40B4-BE49-F238E27FC236}">
                <a16:creationId xmlns:a16="http://schemas.microsoft.com/office/drawing/2014/main" id="{6AA1A1D5-064B-4761-8DC6-40A561DA8E06}"/>
              </a:ext>
            </a:extLst>
          </p:cNvPr>
          <p:cNvSpPr>
            <a:spLocks noGrp="1"/>
          </p:cNvSpPr>
          <p:nvPr/>
        </p:nvSpPr>
        <p:spPr>
          <a:xfrm>
            <a:off x="666750" y="5667375"/>
            <a:ext cx="10858500" cy="809625"/>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Balancing encourages more even use. Capacity handling may queue, drop or reroute tokens.</a:t>
            </a:r>
          </a:p>
        </p:txBody>
      </p:sp>
      <p:graphicFrame>
        <p:nvGraphicFramePr>
          <p:cNvPr id="6" name="Chart">
            <a:extLst>
              <a:ext uri="{FF2B5EF4-FFF2-40B4-BE49-F238E27FC236}">
                <a16:creationId xmlns:a16="http://schemas.microsoft.com/office/drawing/2014/main" id="{4C600C08-CBFC-4968-8854-8A8FE4A87049}"/>
              </a:ext>
            </a:extLst>
          </p:cNvPr>
          <p:cNvGraphicFramePr/>
          <p:nvPr/>
        </p:nvGraphicFramePr>
        <p:xfrm>
          <a:off x="762000" y="2190750"/>
          <a:ext cx="5715000" cy="3048000"/>
        </p:xfrm>
        <a:graphic>
          <a:graphicData uri="http://schemas.openxmlformats.org/drawingml/2006/chart">
            <c:chart xmlns:c="http://schemas.openxmlformats.org/drawingml/2006/chart" xmlns:r="http://schemas.openxmlformats.org/officeDocument/2006/relationships" r:id="rId3"/>
          </a:graphicData>
        </a:graphic>
      </p:graphicFrame>
      <p:sp>
        <p:nvSpPr>
          <p:cNvPr id="7" name="Source">
            <a:extLst>
              <a:ext uri="{FF2B5EF4-FFF2-40B4-BE49-F238E27FC236}">
                <a16:creationId xmlns:a16="http://schemas.microsoft.com/office/drawing/2014/main" id="{BEF9E3B3-8CAD-4CFD-BD61-A489FF150B90}"/>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Fedus et al., 2021. Switch Transformers</a:t>
            </a:r>
          </a:p>
        </p:txBody>
      </p:sp>
      <p:sp>
        <p:nvSpPr>
          <p:cNvPr id="8" name="Slide number">
            <a:extLst>
              <a:ext uri="{FF2B5EF4-FFF2-40B4-BE49-F238E27FC236}">
                <a16:creationId xmlns:a16="http://schemas.microsoft.com/office/drawing/2014/main" id="{9F017856-01B9-4895-A4F1-DF9A6751A1A5}"/>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38</a:t>
            </a:r>
          </a:p>
        </p:txBody>
      </p:sp>
    </p:spTree>
    <p:extLst>
      <p:ext uri="{BB962C8B-B14F-4D97-AF65-F5344CB8AC3E}">
        <p14:creationId xmlns:p14="http://schemas.microsoft.com/office/powerpoint/2010/main" val="5429811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37F40F90-276B-4B50-8790-B873FF36A75B}"/>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An auxiliary loss for load balancing</a:t>
            </a:r>
          </a:p>
        </p:txBody>
      </p:sp>
      <p:pic>
        <p:nvPicPr>
          <p:cNvPr id="2" name="Picture 1">
            <a:extLst>
              <a:ext uri="{FF2B5EF4-FFF2-40B4-BE49-F238E27FC236}">
                <a16:creationId xmlns:a16="http://schemas.microsoft.com/office/drawing/2014/main" id="{D3C83A24-1309-47E7-8CDD-C4F8E8475B40}"/>
              </a:ext>
            </a:extLst>
          </p:cNvPr>
          <p:cNvPicPr>
            <a:picLocks noChangeAspect="1"/>
          </p:cNvPicPr>
          <p:nvPr/>
        </p:nvPicPr>
        <p:blipFill>
          <a:blip r:embed="rId3"/>
          <a:stretch/>
        </p:blipFill>
        <p:spPr>
          <a:xfrm>
            <a:off x="679429" y="3095625"/>
            <a:ext cx="4737142" cy="1590675"/>
          </a:xfrm>
          <a:prstGeom prst="rect">
            <a:avLst/>
          </a:prstGeom>
        </p:spPr>
      </p:pic>
      <p:sp>
        <p:nvSpPr>
          <p:cNvPr id="3" name="Rectangle 2">
            <a:extLst>
              <a:ext uri="{FF2B5EF4-FFF2-40B4-BE49-F238E27FC236}">
                <a16:creationId xmlns:a16="http://schemas.microsoft.com/office/drawing/2014/main" id="{E81C710C-9000-4B98-BDA5-F8457C47F44B}"/>
              </a:ext>
            </a:extLst>
          </p:cNvPr>
          <p:cNvSpPr>
            <a:spLocks noGrp="1"/>
          </p:cNvSpPr>
          <p:nvPr/>
        </p:nvSpPr>
        <p:spPr>
          <a:xfrm>
            <a:off x="666750" y="1095375"/>
            <a:ext cx="10858500" cy="8096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For top-1 Switch routing, penalize experts that receive both high probability and many assignments.</a:t>
            </a:r>
          </a:p>
        </p:txBody>
      </p:sp>
      <p:sp>
        <p:nvSpPr>
          <p:cNvPr id="4" name="Rectangle 3">
            <a:extLst>
              <a:ext uri="{FF2B5EF4-FFF2-40B4-BE49-F238E27FC236}">
                <a16:creationId xmlns:a16="http://schemas.microsoft.com/office/drawing/2014/main" id="{3D5B9ED5-81AB-4719-AA59-3F0B642C0964}"/>
              </a:ext>
            </a:extLst>
          </p:cNvPr>
          <p:cNvSpPr>
            <a:spLocks noGrp="1"/>
          </p:cNvSpPr>
          <p:nvPr/>
        </p:nvSpPr>
        <p:spPr>
          <a:xfrm>
            <a:off x="5762625" y="2505075"/>
            <a:ext cx="5715000" cy="142875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fᵢ: fraction of tokens assigned to expert i</a:t>
            </a:r>
          </a:p>
          <a:p>
            <a:pPr algn="l">
              <a:defRPr sz="2175" b="0">
                <a:solidFill>
                  <a:srgbClr val="171717"/>
                </a:solidFill>
                <a:latin typeface="Calibri"/>
                <a:ea typeface="Calibri"/>
                <a:cs typeface="Calibri"/>
              </a:defRPr>
            </a:pPr>
            <a:r>
              <a:rPr sz="2175" b="0">
                <a:solidFill>
                  <a:srgbClr val="171717"/>
                </a:solidFill>
                <a:latin typeface="Calibri"/>
                <a:ea typeface="Calibri"/>
                <a:cs typeface="Calibri"/>
              </a:rPr>
              <a:t>Pᵢ: mean router probability for expert i</a:t>
            </a:r>
          </a:p>
        </p:txBody>
      </p:sp>
      <p:sp>
        <p:nvSpPr>
          <p:cNvPr id="5" name="Rectangle 4">
            <a:extLst>
              <a:ext uri="{FF2B5EF4-FFF2-40B4-BE49-F238E27FC236}">
                <a16:creationId xmlns:a16="http://schemas.microsoft.com/office/drawing/2014/main" id="{8F3A932F-570B-48D1-B545-C1FD4C935E81}"/>
              </a:ext>
            </a:extLst>
          </p:cNvPr>
          <p:cNvSpPr>
            <a:spLocks noGrp="1"/>
          </p:cNvSpPr>
          <p:nvPr/>
        </p:nvSpPr>
        <p:spPr>
          <a:xfrm>
            <a:off x="5762625" y="4476750"/>
            <a:ext cx="5715000" cy="952500"/>
          </a:xfrm>
          <a:prstGeom prst="rect">
            <a:avLst/>
          </a:prstGeom>
          <a:noFill/>
          <a:ln w="0">
            <a:noFill/>
          </a:ln>
        </p:spPr>
        <p:txBody>
          <a:bodyPr wrap="square" lIns="0" tIns="0" rIns="0" bIns="0" anchor="t">
            <a:noAutofit/>
          </a:bodyPr>
          <a:lstStyle>
            <a:defPPr algn="l">
              <a:defRPr sz="2100" b="0">
                <a:solidFill>
                  <a:srgbClr val="171717"/>
                </a:solidFill>
                <a:latin typeface="Calibri"/>
                <a:ea typeface="Calibri"/>
                <a:cs typeface="Calibri"/>
              </a:defRPr>
            </a:defPPr>
            <a:lvl1pPr algn="l">
              <a:defRPr sz="2100" b="0">
                <a:solidFill>
                  <a:srgbClr val="171717"/>
                </a:solidFill>
                <a:latin typeface="Calibri"/>
                <a:ea typeface="Calibri"/>
                <a:cs typeface="Calibri"/>
              </a:defRPr>
            </a:lvl1pPr>
            <a:lvl2pPr algn="l">
              <a:defRPr sz="2100" b="0">
                <a:solidFill>
                  <a:srgbClr val="171717"/>
                </a:solidFill>
                <a:latin typeface="Calibri"/>
                <a:ea typeface="Calibri"/>
                <a:cs typeface="Calibri"/>
              </a:defRPr>
            </a:lvl2pPr>
            <a:lvl3pPr algn="l">
              <a:defRPr sz="2100" b="0">
                <a:solidFill>
                  <a:srgbClr val="171717"/>
                </a:solidFill>
                <a:latin typeface="Calibri"/>
                <a:ea typeface="Calibri"/>
                <a:cs typeface="Calibri"/>
              </a:defRPr>
            </a:lvl3pPr>
            <a:lvl4pPr algn="l">
              <a:defRPr sz="2100" b="0">
                <a:solidFill>
                  <a:srgbClr val="171717"/>
                </a:solidFill>
                <a:latin typeface="Calibri"/>
                <a:ea typeface="Calibri"/>
                <a:cs typeface="Calibri"/>
              </a:defRPr>
            </a:lvl4pPr>
            <a:lvl5pPr algn="l">
              <a:defRPr sz="2100" b="0">
                <a:solidFill>
                  <a:srgbClr val="171717"/>
                </a:solidFill>
                <a:latin typeface="Calibri"/>
                <a:ea typeface="Calibri"/>
                <a:cs typeface="Calibri"/>
              </a:defRPr>
            </a:lvl5pPr>
            <a:lvl6pPr algn="l">
              <a:defRPr sz="2100" b="0">
                <a:solidFill>
                  <a:srgbClr val="171717"/>
                </a:solidFill>
                <a:latin typeface="Calibri"/>
                <a:ea typeface="Calibri"/>
                <a:cs typeface="Calibri"/>
              </a:defRPr>
            </a:lvl6pPr>
            <a:lvl7pPr algn="l">
              <a:defRPr sz="2100" b="0">
                <a:solidFill>
                  <a:srgbClr val="171717"/>
                </a:solidFill>
                <a:latin typeface="Calibri"/>
                <a:ea typeface="Calibri"/>
                <a:cs typeface="Calibri"/>
              </a:defRPr>
            </a:lvl7pPr>
            <a:lvl8pPr algn="l">
              <a:defRPr sz="2100" b="0">
                <a:solidFill>
                  <a:srgbClr val="171717"/>
                </a:solidFill>
                <a:latin typeface="Calibri"/>
                <a:ea typeface="Calibri"/>
                <a:cs typeface="Calibri"/>
              </a:defRPr>
            </a:lvl8pPr>
            <a:lvl9pPr algn="l">
              <a:defRPr sz="2100" b="0">
                <a:solidFill>
                  <a:srgbClr val="171717"/>
                </a:solidFill>
                <a:latin typeface="Calibri"/>
                <a:ea typeface="Calibri"/>
                <a:cs typeface="Calibri"/>
              </a:defRPr>
            </a:lvl9pPr>
          </a:lstStyle>
          <a:p>
            <a:pPr algn="l">
              <a:defRPr sz="2100" b="0">
                <a:solidFill>
                  <a:srgbClr val="171717"/>
                </a:solidFill>
                <a:latin typeface="Calibri"/>
                <a:ea typeface="Calibri"/>
                <a:cs typeface="Calibri"/>
              </a:defRPr>
            </a:pPr>
            <a:r>
              <a:rPr sz="2100" b="0">
                <a:solidFill>
                  <a:srgbClr val="171717"/>
                </a:solidFill>
                <a:latin typeface="Calibri"/>
                <a:ea typeface="Calibri"/>
                <a:cs typeface="Calibri"/>
              </a:rPr>
              <a:t>N: number of experts</a:t>
            </a:r>
          </a:p>
          <a:p>
            <a:pPr algn="l">
              <a:defRPr sz="2100" b="0">
                <a:solidFill>
                  <a:srgbClr val="171717"/>
                </a:solidFill>
                <a:latin typeface="Calibri"/>
                <a:ea typeface="Calibri"/>
                <a:cs typeface="Calibri"/>
              </a:defRPr>
            </a:pPr>
            <a:r>
              <a:rPr sz="2100" b="0">
                <a:solidFill>
                  <a:srgbClr val="171717"/>
                </a:solidFill>
                <a:latin typeface="Calibri"/>
                <a:ea typeface="Calibri"/>
                <a:cs typeface="Calibri"/>
              </a:rPr>
              <a:t>α: strength of the auxiliary loss</a:t>
            </a:r>
          </a:p>
        </p:txBody>
      </p:sp>
      <p:sp>
        <p:nvSpPr>
          <p:cNvPr id="6" name="Rectangle 5">
            <a:extLst>
              <a:ext uri="{FF2B5EF4-FFF2-40B4-BE49-F238E27FC236}">
                <a16:creationId xmlns:a16="http://schemas.microsoft.com/office/drawing/2014/main" id="{D4CD124F-93EE-4EC7-89B8-CC727D24C985}"/>
              </a:ext>
            </a:extLst>
          </p:cNvPr>
          <p:cNvSpPr>
            <a:spLocks noGrp="1"/>
          </p:cNvSpPr>
          <p:nvPr/>
        </p:nvSpPr>
        <p:spPr>
          <a:xfrm>
            <a:off x="666750" y="5695950"/>
            <a:ext cx="10858500" cy="57150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Add this term to the language-model training loss.</a:t>
            </a:r>
          </a:p>
        </p:txBody>
      </p:sp>
      <p:sp>
        <p:nvSpPr>
          <p:cNvPr id="7" name="Source">
            <a:extLst>
              <a:ext uri="{FF2B5EF4-FFF2-40B4-BE49-F238E27FC236}">
                <a16:creationId xmlns:a16="http://schemas.microsoft.com/office/drawing/2014/main" id="{30518713-AC33-43BD-81CF-EB3FD1D2E662}"/>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Fedus et al., 2021. Switch Transformers</a:t>
            </a:r>
          </a:p>
        </p:txBody>
      </p:sp>
      <p:sp>
        <p:nvSpPr>
          <p:cNvPr id="8" name="Slide number">
            <a:extLst>
              <a:ext uri="{FF2B5EF4-FFF2-40B4-BE49-F238E27FC236}">
                <a16:creationId xmlns:a16="http://schemas.microsoft.com/office/drawing/2014/main" id="{9A8E4A68-AC2C-4E5A-963B-660DE7B7961B}"/>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39</a:t>
            </a:r>
          </a:p>
        </p:txBody>
      </p:sp>
    </p:spTree>
    <p:extLst>
      <p:ext uri="{BB962C8B-B14F-4D97-AF65-F5344CB8AC3E}">
        <p14:creationId xmlns:p14="http://schemas.microsoft.com/office/powerpoint/2010/main" val="7304160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2C1D422-6A68-43C5-8AB0-07B0CCBA7135}"/>
              </a:ext>
            </a:extLst>
          </p:cNvPr>
          <p:cNvPicPr>
            <a:picLocks noChangeAspect="1"/>
          </p:cNvPicPr>
          <p:nvPr/>
        </p:nvPicPr>
        <p:blipFill>
          <a:blip r:embed="rId3"/>
          <a:stretch/>
        </p:blipFill>
        <p:spPr>
          <a:xfrm>
            <a:off x="0" y="0"/>
            <a:ext cx="12192000" cy="6858000"/>
          </a:xfrm>
          <a:prstGeom prst="rect">
            <a:avLst/>
          </a:prstGeom>
        </p:spPr>
      </p:pic>
      <p:sp>
        <p:nvSpPr>
          <p:cNvPr id="3" name="Rectangle 2">
            <a:extLst>
              <a:ext uri="{FF2B5EF4-FFF2-40B4-BE49-F238E27FC236}">
                <a16:creationId xmlns:a16="http://schemas.microsoft.com/office/drawing/2014/main" id="{89DD82A5-450D-4E77-B19A-F247DDD7FB85}"/>
              </a:ext>
            </a:extLst>
          </p:cNvPr>
          <p:cNvSpPr>
            <a:spLocks noGrp="1"/>
          </p:cNvSpPr>
          <p:nvPr/>
        </p:nvSpPr>
        <p:spPr>
          <a:xfrm>
            <a:off x="1275537" y="1285185"/>
            <a:ext cx="7030545" cy="382493"/>
          </a:xfrm>
          <a:prstGeom prst="rect">
            <a:avLst/>
          </a:prstGeom>
          <a:noFill/>
          <a:ln w="0">
            <a:noFill/>
          </a:ln>
        </p:spPr>
        <p:txBody>
          <a:bodyPr wrap="square" lIns="0" tIns="0" rIns="0" bIns="0" anchor="t">
            <a:noAutofit/>
          </a:bodyPr>
          <a:lstStyle>
            <a:defPPr algn="l">
              <a:defRPr sz="2119" b="0">
                <a:solidFill>
                  <a:srgbClr val="111111"/>
                </a:solidFill>
                <a:latin typeface="Calibri"/>
                <a:ea typeface="Calibri"/>
                <a:cs typeface="Calibri"/>
              </a:defRPr>
            </a:defPPr>
          </a:lstStyle>
          <a:p>
            <a:pPr algn="l">
              <a:defRPr sz="2119" b="0">
                <a:solidFill>
                  <a:srgbClr val="111111"/>
                </a:solidFill>
                <a:latin typeface="Calibri"/>
                <a:ea typeface="Calibri"/>
                <a:cs typeface="Calibri"/>
              </a:defRPr>
            </a:pPr>
            <a:r>
              <a:rPr lang="en-GB" sz="2119" b="0">
                <a:solidFill>
                  <a:srgbClr val="111111"/>
                </a:solidFill>
                <a:latin typeface="Calibri"/>
                <a:ea typeface="Calibri"/>
                <a:cs typeface="Calibri"/>
              </a:rPr>
              <a:t>Routing alternatives change which side controls the assignment.</a:t>
            </a:r>
            <a:endParaRPr sz="2119" b="0">
              <a:solidFill>
                <a:srgbClr val="111111"/>
              </a:solidFill>
              <a:latin typeface="Calibri"/>
              <a:ea typeface="Calibri"/>
              <a:cs typeface="Calibri"/>
            </a:endParaRPr>
          </a:p>
        </p:txBody>
      </p:sp>
      <p:sp>
        <p:nvSpPr>
          <p:cNvPr id="4" name="Rectangle 3">
            <a:extLst>
              <a:ext uri="{FF2B5EF4-FFF2-40B4-BE49-F238E27FC236}">
                <a16:creationId xmlns:a16="http://schemas.microsoft.com/office/drawing/2014/main" id="{B68DB0B5-6F3D-433E-80C9-D8D92DC0B0B7}"/>
              </a:ext>
            </a:extLst>
          </p:cNvPr>
          <p:cNvSpPr>
            <a:spLocks noGrp="1"/>
          </p:cNvSpPr>
          <p:nvPr/>
        </p:nvSpPr>
        <p:spPr>
          <a:xfrm>
            <a:off x="2442633" y="5594471"/>
            <a:ext cx="2215946" cy="427588"/>
          </a:xfrm>
          <a:prstGeom prst="rect">
            <a:avLst/>
          </a:prstGeom>
          <a:noFill/>
          <a:ln w="0">
            <a:noFill/>
          </a:ln>
        </p:spPr>
        <p:txBody>
          <a:bodyPr wrap="square" lIns="0" tIns="0" rIns="0" bIns="0" anchor="t">
            <a:noAutofit/>
          </a:bodyPr>
          <a:lstStyle>
            <a:defPPr algn="l">
              <a:defRPr sz="2407" b="0">
                <a:solidFill>
                  <a:srgbClr val="111111"/>
                </a:solidFill>
                <a:latin typeface="Calibri"/>
                <a:ea typeface="Calibri"/>
                <a:cs typeface="Calibri"/>
              </a:defRPr>
            </a:defPPr>
          </a:lstStyle>
          <a:p>
            <a:pPr algn="l">
              <a:defRPr sz="2407" b="0">
                <a:solidFill>
                  <a:srgbClr val="111111"/>
                </a:solidFill>
                <a:latin typeface="Calibri"/>
                <a:ea typeface="Calibri"/>
                <a:cs typeface="Calibri"/>
              </a:defRPr>
            </a:pPr>
            <a:r>
              <a:rPr sz="2407" b="0">
                <a:solidFill>
                  <a:srgbClr val="111111"/>
                </a:solidFill>
                <a:latin typeface="Calibri"/>
                <a:ea typeface="Calibri"/>
                <a:cs typeface="Calibri"/>
              </a:rPr>
              <a:t>Token chooses </a:t>
            </a:r>
          </a:p>
        </p:txBody>
      </p:sp>
      <p:sp>
        <p:nvSpPr>
          <p:cNvPr id="5" name="Rectangle 4">
            <a:extLst>
              <a:ext uri="{FF2B5EF4-FFF2-40B4-BE49-F238E27FC236}">
                <a16:creationId xmlns:a16="http://schemas.microsoft.com/office/drawing/2014/main" id="{9D8FF29A-E791-4DC9-BDD0-5293EB6B4205}"/>
              </a:ext>
            </a:extLst>
          </p:cNvPr>
          <p:cNvSpPr>
            <a:spLocks noGrp="1"/>
          </p:cNvSpPr>
          <p:nvPr/>
        </p:nvSpPr>
        <p:spPr>
          <a:xfrm>
            <a:off x="2984161" y="5961175"/>
            <a:ext cx="1063964" cy="427588"/>
          </a:xfrm>
          <a:prstGeom prst="rect">
            <a:avLst/>
          </a:prstGeom>
          <a:noFill/>
          <a:ln w="0">
            <a:noFill/>
          </a:ln>
        </p:spPr>
        <p:txBody>
          <a:bodyPr wrap="square" lIns="0" tIns="0" rIns="0" bIns="0" anchor="t">
            <a:noAutofit/>
          </a:bodyPr>
          <a:lstStyle>
            <a:defPPr algn="l">
              <a:defRPr sz="2407" b="0">
                <a:solidFill>
                  <a:srgbClr val="111111"/>
                </a:solidFill>
                <a:latin typeface="Calibri"/>
                <a:ea typeface="Calibri"/>
                <a:cs typeface="Calibri"/>
              </a:defRPr>
            </a:defPPr>
          </a:lstStyle>
          <a:p>
            <a:pPr algn="l">
              <a:defRPr sz="2407" b="0">
                <a:solidFill>
                  <a:srgbClr val="111111"/>
                </a:solidFill>
                <a:latin typeface="Calibri"/>
                <a:ea typeface="Calibri"/>
                <a:cs typeface="Calibri"/>
              </a:defRPr>
            </a:pPr>
            <a:r>
              <a:rPr sz="2407" b="0">
                <a:solidFill>
                  <a:srgbClr val="111111"/>
                </a:solidFill>
                <a:latin typeface="Calibri"/>
                <a:ea typeface="Calibri"/>
                <a:cs typeface="Calibri"/>
              </a:rPr>
              <a:t>expert</a:t>
            </a:r>
          </a:p>
        </p:txBody>
      </p:sp>
      <p:sp>
        <p:nvSpPr>
          <p:cNvPr id="6" name="Rectangle 5">
            <a:extLst>
              <a:ext uri="{FF2B5EF4-FFF2-40B4-BE49-F238E27FC236}">
                <a16:creationId xmlns:a16="http://schemas.microsoft.com/office/drawing/2014/main" id="{0EAB4CE9-7CAD-4392-B847-9694165576B2}"/>
              </a:ext>
            </a:extLst>
          </p:cNvPr>
          <p:cNvSpPr>
            <a:spLocks noGrp="1"/>
          </p:cNvSpPr>
          <p:nvPr/>
        </p:nvSpPr>
        <p:spPr>
          <a:xfrm>
            <a:off x="5138251" y="5590275"/>
            <a:ext cx="2239786" cy="427588"/>
          </a:xfrm>
          <a:prstGeom prst="rect">
            <a:avLst/>
          </a:prstGeom>
          <a:noFill/>
          <a:ln w="0">
            <a:noFill/>
          </a:ln>
        </p:spPr>
        <p:txBody>
          <a:bodyPr wrap="square" lIns="0" tIns="0" rIns="0" bIns="0" anchor="t">
            <a:noAutofit/>
          </a:bodyPr>
          <a:lstStyle>
            <a:defPPr algn="l">
              <a:defRPr sz="2407" b="0">
                <a:solidFill>
                  <a:srgbClr val="111111"/>
                </a:solidFill>
                <a:latin typeface="Calibri"/>
                <a:ea typeface="Calibri"/>
                <a:cs typeface="Calibri"/>
              </a:defRPr>
            </a:defPPr>
          </a:lstStyle>
          <a:p>
            <a:pPr algn="l">
              <a:defRPr sz="2407" b="0">
                <a:solidFill>
                  <a:srgbClr val="111111"/>
                </a:solidFill>
                <a:latin typeface="Calibri"/>
                <a:ea typeface="Calibri"/>
                <a:cs typeface="Calibri"/>
              </a:defRPr>
            </a:pPr>
            <a:r>
              <a:rPr sz="2407" b="0">
                <a:solidFill>
                  <a:srgbClr val="111111"/>
                </a:solidFill>
                <a:latin typeface="Calibri"/>
                <a:ea typeface="Calibri"/>
                <a:cs typeface="Calibri"/>
              </a:rPr>
              <a:t>Expert chooses </a:t>
            </a:r>
          </a:p>
        </p:txBody>
      </p:sp>
      <p:sp>
        <p:nvSpPr>
          <p:cNvPr id="7" name="Rectangle 6">
            <a:extLst>
              <a:ext uri="{FF2B5EF4-FFF2-40B4-BE49-F238E27FC236}">
                <a16:creationId xmlns:a16="http://schemas.microsoft.com/office/drawing/2014/main" id="{52492FED-B8D5-4B22-B3B8-67B18789D4E4}"/>
              </a:ext>
            </a:extLst>
          </p:cNvPr>
          <p:cNvSpPr>
            <a:spLocks noGrp="1"/>
          </p:cNvSpPr>
          <p:nvPr/>
        </p:nvSpPr>
        <p:spPr>
          <a:xfrm>
            <a:off x="5733627" y="5956556"/>
            <a:ext cx="993970" cy="427588"/>
          </a:xfrm>
          <a:prstGeom prst="rect">
            <a:avLst/>
          </a:prstGeom>
          <a:noFill/>
          <a:ln w="0">
            <a:noFill/>
          </a:ln>
        </p:spPr>
        <p:txBody>
          <a:bodyPr wrap="square" lIns="0" tIns="0" rIns="0" bIns="0" anchor="t">
            <a:noAutofit/>
          </a:bodyPr>
          <a:lstStyle>
            <a:defPPr algn="l">
              <a:defRPr sz="2407" b="0">
                <a:solidFill>
                  <a:srgbClr val="111111"/>
                </a:solidFill>
                <a:latin typeface="Calibri"/>
                <a:ea typeface="Calibri"/>
                <a:cs typeface="Calibri"/>
              </a:defRPr>
            </a:defPPr>
          </a:lstStyle>
          <a:p>
            <a:pPr algn="l">
              <a:defRPr sz="2407" b="0">
                <a:solidFill>
                  <a:srgbClr val="111111"/>
                </a:solidFill>
                <a:latin typeface="Calibri"/>
                <a:ea typeface="Calibri"/>
                <a:cs typeface="Calibri"/>
              </a:defRPr>
            </a:pPr>
            <a:r>
              <a:rPr sz="2407" b="0">
                <a:solidFill>
                  <a:srgbClr val="111111"/>
                </a:solidFill>
                <a:latin typeface="Calibri"/>
                <a:ea typeface="Calibri"/>
                <a:cs typeface="Calibri"/>
              </a:rPr>
              <a:t>token</a:t>
            </a:r>
          </a:p>
        </p:txBody>
      </p:sp>
      <p:sp>
        <p:nvSpPr>
          <p:cNvPr id="8" name="Rectangle 7">
            <a:extLst>
              <a:ext uri="{FF2B5EF4-FFF2-40B4-BE49-F238E27FC236}">
                <a16:creationId xmlns:a16="http://schemas.microsoft.com/office/drawing/2014/main" id="{129C2E54-8EDB-4C87-8AE0-FD4D8EAAB5FB}"/>
              </a:ext>
            </a:extLst>
          </p:cNvPr>
          <p:cNvSpPr>
            <a:spLocks noGrp="1"/>
          </p:cNvSpPr>
          <p:nvPr/>
        </p:nvSpPr>
        <p:spPr>
          <a:xfrm>
            <a:off x="7606962" y="5590275"/>
            <a:ext cx="2585167" cy="427588"/>
          </a:xfrm>
          <a:prstGeom prst="rect">
            <a:avLst/>
          </a:prstGeom>
          <a:noFill/>
          <a:ln w="0">
            <a:noFill/>
          </a:ln>
        </p:spPr>
        <p:txBody>
          <a:bodyPr wrap="square" lIns="0" tIns="0" rIns="0" bIns="0" anchor="t">
            <a:noAutofit/>
          </a:bodyPr>
          <a:lstStyle>
            <a:defPPr algn="l">
              <a:defRPr sz="2407" b="0">
                <a:solidFill>
                  <a:srgbClr val="111111"/>
                </a:solidFill>
                <a:latin typeface="Calibri"/>
                <a:ea typeface="Calibri"/>
                <a:cs typeface="Calibri"/>
              </a:defRPr>
            </a:defPPr>
          </a:lstStyle>
          <a:p>
            <a:pPr algn="l">
              <a:defRPr sz="2407" b="0">
                <a:solidFill>
                  <a:srgbClr val="111111"/>
                </a:solidFill>
                <a:latin typeface="Calibri"/>
                <a:ea typeface="Calibri"/>
                <a:cs typeface="Calibri"/>
              </a:defRPr>
            </a:pPr>
            <a:r>
              <a:rPr sz="2407" b="0">
                <a:solidFill>
                  <a:srgbClr val="111111"/>
                </a:solidFill>
                <a:latin typeface="Calibri"/>
                <a:ea typeface="Calibri"/>
                <a:cs typeface="Calibri"/>
              </a:rPr>
              <a:t>Global routing via </a:t>
            </a:r>
          </a:p>
        </p:txBody>
      </p:sp>
      <p:sp>
        <p:nvSpPr>
          <p:cNvPr id="9" name="Rectangle 8">
            <a:extLst>
              <a:ext uri="{FF2B5EF4-FFF2-40B4-BE49-F238E27FC236}">
                <a16:creationId xmlns:a16="http://schemas.microsoft.com/office/drawing/2014/main" id="{4C307FE3-9D8F-4D7C-BE7B-15FA67F1E1FB}"/>
              </a:ext>
            </a:extLst>
          </p:cNvPr>
          <p:cNvSpPr>
            <a:spLocks noGrp="1"/>
          </p:cNvSpPr>
          <p:nvPr/>
        </p:nvSpPr>
        <p:spPr>
          <a:xfrm>
            <a:off x="7922768" y="5956556"/>
            <a:ext cx="1884933" cy="427588"/>
          </a:xfrm>
          <a:prstGeom prst="rect">
            <a:avLst/>
          </a:prstGeom>
          <a:noFill/>
          <a:ln w="0">
            <a:noFill/>
          </a:ln>
        </p:spPr>
        <p:txBody>
          <a:bodyPr wrap="square" lIns="0" tIns="0" rIns="0" bIns="0" anchor="t">
            <a:noAutofit/>
          </a:bodyPr>
          <a:lstStyle>
            <a:defPPr algn="l">
              <a:defRPr sz="2407" b="0">
                <a:solidFill>
                  <a:srgbClr val="111111"/>
                </a:solidFill>
                <a:latin typeface="Calibri"/>
                <a:ea typeface="Calibri"/>
                <a:cs typeface="Calibri"/>
              </a:defRPr>
            </a:defPPr>
          </a:lstStyle>
          <a:p>
            <a:pPr algn="l">
              <a:defRPr sz="2407" b="0">
                <a:solidFill>
                  <a:srgbClr val="111111"/>
                </a:solidFill>
                <a:latin typeface="Calibri"/>
                <a:ea typeface="Calibri"/>
                <a:cs typeface="Calibri"/>
              </a:defRPr>
            </a:pPr>
            <a:r>
              <a:rPr sz="2407" b="0">
                <a:solidFill>
                  <a:srgbClr val="111111"/>
                </a:solidFill>
                <a:latin typeface="Calibri"/>
                <a:ea typeface="Calibri"/>
                <a:cs typeface="Calibri"/>
              </a:rPr>
              <a:t>optimization</a:t>
            </a:r>
          </a:p>
        </p:txBody>
      </p:sp>
      <p:sp>
        <p:nvSpPr>
          <p:cNvPr id="10" name="Rectangle 9">
            <a:extLst>
              <a:ext uri="{FF2B5EF4-FFF2-40B4-BE49-F238E27FC236}">
                <a16:creationId xmlns:a16="http://schemas.microsoft.com/office/drawing/2014/main" id="{84F59E53-5012-4AB8-804C-ACB795F308FE}"/>
              </a:ext>
            </a:extLst>
          </p:cNvPr>
          <p:cNvSpPr>
            <a:spLocks noGrp="1"/>
          </p:cNvSpPr>
          <p:nvPr/>
        </p:nvSpPr>
        <p:spPr>
          <a:xfrm>
            <a:off x="10362861" y="6294827"/>
            <a:ext cx="1552481" cy="276750"/>
          </a:xfrm>
          <a:prstGeom prst="rect">
            <a:avLst/>
          </a:prstGeom>
          <a:noFill/>
          <a:ln w="0">
            <a:noFill/>
          </a:ln>
        </p:spPr>
        <p:txBody>
          <a:bodyPr wrap="square" lIns="0" tIns="0" rIns="0" bIns="0" anchor="t">
            <a:noAutofit/>
          </a:bodyPr>
          <a:lstStyle>
            <a:defPPr algn="l">
              <a:defRPr sz="1443" b="0">
                <a:solidFill>
                  <a:srgbClr val="111111"/>
                </a:solidFill>
                <a:latin typeface="Calibri"/>
                <a:ea typeface="Calibri"/>
                <a:cs typeface="Calibri"/>
              </a:defRPr>
            </a:defPPr>
          </a:lstStyle>
          <a:p>
            <a:pPr algn="l">
              <a:defRPr sz="1443" b="0">
                <a:solidFill>
                  <a:srgbClr val="111111"/>
                </a:solidFill>
                <a:latin typeface="Calibri"/>
                <a:ea typeface="Calibri"/>
                <a:cs typeface="Calibri"/>
              </a:defRPr>
            </a:pPr>
            <a:r>
              <a:rPr sz="1443" b="0">
                <a:solidFill>
                  <a:srgbClr val="111111"/>
                </a:solidFill>
                <a:latin typeface="Calibri"/>
                <a:ea typeface="Calibri"/>
                <a:cs typeface="Calibri"/>
              </a:rPr>
              <a:t>[Fedus et al 2022]</a:t>
            </a:r>
          </a:p>
        </p:txBody>
      </p:sp>
      <p:sp>
        <p:nvSpPr>
          <p:cNvPr id="13" name="TextBox 12">
            <a:extLst>
              <a:ext uri="{FF2B5EF4-FFF2-40B4-BE49-F238E27FC236}">
                <a16:creationId xmlns:a16="http://schemas.microsoft.com/office/drawing/2014/main" id="{082DE111-A9D2-362D-3CEA-07FF60B781EA}"/>
              </a:ext>
            </a:extLst>
          </p:cNvPr>
          <p:cNvSpPr txBox="1"/>
          <p:nvPr/>
        </p:nvSpPr>
        <p:spPr>
          <a:xfrm>
            <a:off x="485775" y="266700"/>
            <a:ext cx="11239500" cy="484748"/>
          </a:xfrm>
          <a:prstGeom prst="rect">
            <a:avLst/>
          </a:prstGeom>
          <a:noFill/>
        </p:spPr>
        <p:txBody>
          <a:bodyPr vert="horz" lIns="0" tIns="0" rIns="0" bIns="0" rtlCol="0">
            <a:spAutoFit/>
          </a:bodyPr>
          <a:lstStyle/>
          <a:p>
            <a:r>
              <a:rPr lang="en-US" sz="3150" b="1">
                <a:solidFill>
                  <a:srgbClr val="007B92"/>
                </a:solidFill>
                <a:latin typeface="Calibri" panose="020F0502020204030204" pitchFamily="34" charset="0"/>
              </a:rPr>
              <a:t>Expert-routing alternatives</a:t>
            </a:r>
          </a:p>
        </p:txBody>
      </p:sp>
      <p:sp>
        <p:nvSpPr>
          <p:cNvPr id="14" name="TextBox 13">
            <a:extLst>
              <a:ext uri="{FF2B5EF4-FFF2-40B4-BE49-F238E27FC236}">
                <a16:creationId xmlns:a16="http://schemas.microsoft.com/office/drawing/2014/main" id="{B489D29D-C0D2-EBD7-BD53-20E39F367032}"/>
              </a:ext>
            </a:extLst>
          </p:cNvPr>
          <p:cNvSpPr txBox="1"/>
          <p:nvPr/>
        </p:nvSpPr>
        <p:spPr>
          <a:xfrm>
            <a:off x="485775" y="6477000"/>
            <a:ext cx="619125" cy="207749"/>
          </a:xfrm>
          <a:prstGeom prst="rect">
            <a:avLst/>
          </a:prstGeom>
          <a:noFill/>
        </p:spPr>
        <p:txBody>
          <a:bodyPr vert="horz" lIns="0" tIns="0" rIns="0" bIns="0" rtlCol="0">
            <a:spAutoFit/>
          </a:bodyPr>
          <a:lstStyle/>
          <a:p>
            <a:r>
              <a:rPr lang="en-US" sz="1350">
                <a:solidFill>
                  <a:srgbClr val="171717"/>
                </a:solidFill>
                <a:latin typeface="Calibri" panose="020F0502020204030204" pitchFamily="34" charset="0"/>
              </a:rPr>
              <a:t>40</a:t>
            </a:r>
          </a:p>
        </p:txBody>
      </p:sp>
    </p:spTree>
    <p:extLst>
      <p:ext uri="{BB962C8B-B14F-4D97-AF65-F5344CB8AC3E}">
        <p14:creationId xmlns:p14="http://schemas.microsoft.com/office/powerpoint/2010/main" val="24729795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764AA382-C517-4FE2-8088-313F7CC5EB99}"/>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Shared and fine-grained experts</a:t>
            </a:r>
          </a:p>
        </p:txBody>
      </p:sp>
      <p:pic>
        <p:nvPicPr>
          <p:cNvPr id="2" name="Picture 1">
            <a:extLst>
              <a:ext uri="{FF2B5EF4-FFF2-40B4-BE49-F238E27FC236}">
                <a16:creationId xmlns:a16="http://schemas.microsoft.com/office/drawing/2014/main" id="{D5F5BCCF-AC48-43E4-BEAB-06C1B1813D6E}"/>
              </a:ext>
            </a:extLst>
          </p:cNvPr>
          <p:cNvPicPr>
            <a:picLocks noChangeAspect="1"/>
          </p:cNvPicPr>
          <p:nvPr/>
        </p:nvPicPr>
        <p:blipFill>
          <a:blip r:embed="rId3"/>
          <a:stretch/>
        </p:blipFill>
        <p:spPr>
          <a:xfrm>
            <a:off x="2214352" y="2400300"/>
            <a:ext cx="7668047" cy="3000375"/>
          </a:xfrm>
          <a:prstGeom prst="rect">
            <a:avLst/>
          </a:prstGeom>
        </p:spPr>
      </p:pic>
      <p:sp>
        <p:nvSpPr>
          <p:cNvPr id="3" name="Rectangle 2">
            <a:extLst>
              <a:ext uri="{FF2B5EF4-FFF2-40B4-BE49-F238E27FC236}">
                <a16:creationId xmlns:a16="http://schemas.microsoft.com/office/drawing/2014/main" id="{D179A98E-3CB4-4888-BF1E-4C4408ADB5D2}"/>
              </a:ext>
            </a:extLst>
          </p:cNvPr>
          <p:cNvSpPr>
            <a:spLocks noGrp="1"/>
          </p:cNvSpPr>
          <p:nvPr/>
        </p:nvSpPr>
        <p:spPr>
          <a:xfrm>
            <a:off x="666750" y="1095375"/>
            <a:ext cx="10858500" cy="6667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Smaller routed experts provide more combinations at a fixed active budget.</a:t>
            </a:r>
          </a:p>
        </p:txBody>
      </p:sp>
      <p:sp>
        <p:nvSpPr>
          <p:cNvPr id="4" name="Rectangle 3">
            <a:extLst>
              <a:ext uri="{FF2B5EF4-FFF2-40B4-BE49-F238E27FC236}">
                <a16:creationId xmlns:a16="http://schemas.microsoft.com/office/drawing/2014/main" id="{55BF7254-09B7-4C57-BCB0-75AC3374ED52}"/>
              </a:ext>
            </a:extLst>
          </p:cNvPr>
          <p:cNvSpPr>
            <a:spLocks noGrp="1"/>
          </p:cNvSpPr>
          <p:nvPr/>
        </p:nvSpPr>
        <p:spPr>
          <a:xfrm>
            <a:off x="666750" y="1905000"/>
            <a:ext cx="10858500" cy="428625"/>
          </a:xfrm>
          <a:prstGeom prst="rect">
            <a:avLst/>
          </a:prstGeom>
          <a:noFill/>
          <a:ln w="0">
            <a:noFill/>
          </a:ln>
        </p:spPr>
        <p:txBody>
          <a:bodyPr wrap="square" lIns="0" tIns="0" rIns="0" bIns="0" anchor="t">
            <a:noAutofit/>
          </a:bodyPr>
          <a:lstStyle>
            <a:defPPr algn="l">
              <a:defRPr sz="1950" b="0">
                <a:solidFill>
                  <a:srgbClr val="171717"/>
                </a:solidFill>
                <a:latin typeface="Calibri"/>
                <a:ea typeface="Calibri"/>
                <a:cs typeface="Calibri"/>
              </a:defRPr>
            </a:defPPr>
            <a:lvl1pPr algn="l">
              <a:defRPr sz="1950" b="0">
                <a:solidFill>
                  <a:srgbClr val="171717"/>
                </a:solidFill>
                <a:latin typeface="Calibri"/>
                <a:ea typeface="Calibri"/>
                <a:cs typeface="Calibri"/>
              </a:defRPr>
            </a:lvl1pPr>
            <a:lvl2pPr algn="l">
              <a:defRPr sz="1950" b="0">
                <a:solidFill>
                  <a:srgbClr val="171717"/>
                </a:solidFill>
                <a:latin typeface="Calibri"/>
                <a:ea typeface="Calibri"/>
                <a:cs typeface="Calibri"/>
              </a:defRPr>
            </a:lvl2pPr>
            <a:lvl3pPr algn="l">
              <a:defRPr sz="1950" b="0">
                <a:solidFill>
                  <a:srgbClr val="171717"/>
                </a:solidFill>
                <a:latin typeface="Calibri"/>
                <a:ea typeface="Calibri"/>
                <a:cs typeface="Calibri"/>
              </a:defRPr>
            </a:lvl3pPr>
            <a:lvl4pPr algn="l">
              <a:defRPr sz="1950" b="0">
                <a:solidFill>
                  <a:srgbClr val="171717"/>
                </a:solidFill>
                <a:latin typeface="Calibri"/>
                <a:ea typeface="Calibri"/>
                <a:cs typeface="Calibri"/>
              </a:defRPr>
            </a:lvl4pPr>
            <a:lvl5pPr algn="l">
              <a:defRPr sz="1950" b="0">
                <a:solidFill>
                  <a:srgbClr val="171717"/>
                </a:solidFill>
                <a:latin typeface="Calibri"/>
                <a:ea typeface="Calibri"/>
                <a:cs typeface="Calibri"/>
              </a:defRPr>
            </a:lvl5pPr>
            <a:lvl6pPr algn="l">
              <a:defRPr sz="1950" b="0">
                <a:solidFill>
                  <a:srgbClr val="171717"/>
                </a:solidFill>
                <a:latin typeface="Calibri"/>
                <a:ea typeface="Calibri"/>
                <a:cs typeface="Calibri"/>
              </a:defRPr>
            </a:lvl6pPr>
            <a:lvl7pPr algn="l">
              <a:defRPr sz="1950" b="0">
                <a:solidFill>
                  <a:srgbClr val="171717"/>
                </a:solidFill>
                <a:latin typeface="Calibri"/>
                <a:ea typeface="Calibri"/>
                <a:cs typeface="Calibri"/>
              </a:defRPr>
            </a:lvl7pPr>
            <a:lvl8pPr algn="l">
              <a:defRPr sz="1950" b="0">
                <a:solidFill>
                  <a:srgbClr val="171717"/>
                </a:solidFill>
                <a:latin typeface="Calibri"/>
                <a:ea typeface="Calibri"/>
                <a:cs typeface="Calibri"/>
              </a:defRPr>
            </a:lvl8pPr>
            <a:lvl9pPr algn="l">
              <a:defRPr sz="1950" b="0">
                <a:solidFill>
                  <a:srgbClr val="171717"/>
                </a:solidFill>
                <a:latin typeface="Calibri"/>
                <a:ea typeface="Calibri"/>
                <a:cs typeface="Calibri"/>
              </a:defRPr>
            </a:lvl9pPr>
          </a:lstStyle>
          <a:p>
            <a:pPr algn="l">
              <a:defRPr sz="1950" b="0">
                <a:solidFill>
                  <a:srgbClr val="171717"/>
                </a:solidFill>
                <a:latin typeface="Calibri"/>
                <a:ea typeface="Calibri"/>
                <a:cs typeface="Calibri"/>
              </a:defRPr>
            </a:pPr>
            <a:r>
              <a:rPr sz="1950" b="0">
                <a:solidFill>
                  <a:srgbClr val="171717"/>
                </a:solidFill>
                <a:latin typeface="Calibri"/>
                <a:ea typeface="Calibri"/>
                <a:cs typeface="Calibri"/>
              </a:rPr>
              <a:t>Blue: routed experts. Green: shared experts.</a:t>
            </a:r>
          </a:p>
        </p:txBody>
      </p:sp>
      <p:sp>
        <p:nvSpPr>
          <p:cNvPr id="5" name="Rectangle 4">
            <a:extLst>
              <a:ext uri="{FF2B5EF4-FFF2-40B4-BE49-F238E27FC236}">
                <a16:creationId xmlns:a16="http://schemas.microsoft.com/office/drawing/2014/main" id="{CDED3FB7-9162-4724-A24A-81BD5A1F0DB1}"/>
              </a:ext>
            </a:extLst>
          </p:cNvPr>
          <p:cNvSpPr>
            <a:spLocks noGrp="1"/>
          </p:cNvSpPr>
          <p:nvPr/>
        </p:nvSpPr>
        <p:spPr>
          <a:xfrm>
            <a:off x="666750" y="5619750"/>
            <a:ext cx="10858500" cy="7620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Shared experts run for every token and learn transformations used across inputs.</a:t>
            </a:r>
          </a:p>
        </p:txBody>
      </p:sp>
      <p:sp>
        <p:nvSpPr>
          <p:cNvPr id="6" name="Source">
            <a:extLst>
              <a:ext uri="{FF2B5EF4-FFF2-40B4-BE49-F238E27FC236}">
                <a16:creationId xmlns:a16="http://schemas.microsoft.com/office/drawing/2014/main" id="{F86BAFC1-32EE-4C01-9FFC-0FAF5624553D}"/>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Dai et al., 2024. DeepSeekMoE</a:t>
            </a:r>
          </a:p>
        </p:txBody>
      </p:sp>
      <p:sp>
        <p:nvSpPr>
          <p:cNvPr id="7" name="Slide number">
            <a:extLst>
              <a:ext uri="{FF2B5EF4-FFF2-40B4-BE49-F238E27FC236}">
                <a16:creationId xmlns:a16="http://schemas.microsoft.com/office/drawing/2014/main" id="{EA3DAE6F-E7AE-454F-B714-EB5F0267C33D}"/>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41</a:t>
            </a:r>
          </a:p>
        </p:txBody>
      </p:sp>
    </p:spTree>
    <p:extLst>
      <p:ext uri="{BB962C8B-B14F-4D97-AF65-F5344CB8AC3E}">
        <p14:creationId xmlns:p14="http://schemas.microsoft.com/office/powerpoint/2010/main" val="1707860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5BD3DA6-1D8D-40E6-88ED-868AFD66FAE6}"/>
              </a:ext>
            </a:extLst>
          </p:cNvPr>
          <p:cNvPicPr>
            <a:picLocks noChangeAspect="1"/>
          </p:cNvPicPr>
          <p:nvPr/>
        </p:nvPicPr>
        <p:blipFill>
          <a:blip r:embed="rId3"/>
          <a:stretch/>
        </p:blipFill>
        <p:spPr>
          <a:xfrm>
            <a:off x="0" y="0"/>
            <a:ext cx="12192000" cy="6858000"/>
          </a:xfrm>
          <a:prstGeom prst="rect">
            <a:avLst/>
          </a:prstGeom>
        </p:spPr>
      </p:pic>
      <p:sp>
        <p:nvSpPr>
          <p:cNvPr id="3" name="Rectangle 2">
            <a:extLst>
              <a:ext uri="{FF2B5EF4-FFF2-40B4-BE49-F238E27FC236}">
                <a16:creationId xmlns:a16="http://schemas.microsoft.com/office/drawing/2014/main" id="{3A861634-A3F6-40E8-9D14-2AE939287AD8}"/>
              </a:ext>
            </a:extLst>
          </p:cNvPr>
          <p:cNvSpPr>
            <a:spLocks noGrp="1"/>
          </p:cNvSpPr>
          <p:nvPr/>
        </p:nvSpPr>
        <p:spPr>
          <a:xfrm>
            <a:off x="10118175" y="6125136"/>
            <a:ext cx="1552480" cy="276750"/>
          </a:xfrm>
          <a:prstGeom prst="rect">
            <a:avLst/>
          </a:prstGeom>
          <a:noFill/>
          <a:ln w="0">
            <a:noFill/>
          </a:ln>
        </p:spPr>
        <p:txBody>
          <a:bodyPr wrap="square" lIns="0" tIns="0" rIns="0" bIns="0" anchor="t">
            <a:noAutofit/>
          </a:bodyPr>
          <a:lstStyle>
            <a:defPPr algn="l">
              <a:defRPr sz="1443" b="0">
                <a:solidFill>
                  <a:srgbClr val="111111"/>
                </a:solidFill>
                <a:latin typeface="Calibri"/>
                <a:ea typeface="Calibri"/>
                <a:cs typeface="Calibri"/>
              </a:defRPr>
            </a:defPPr>
          </a:lstStyle>
          <a:p>
            <a:pPr algn="l">
              <a:defRPr sz="1443" b="0">
                <a:solidFill>
                  <a:srgbClr val="111111"/>
                </a:solidFill>
                <a:latin typeface="Calibri"/>
                <a:ea typeface="Calibri"/>
                <a:cs typeface="Calibri"/>
              </a:defRPr>
            </a:pPr>
            <a:r>
              <a:rPr sz="1443" b="0">
                <a:solidFill>
                  <a:srgbClr val="111111"/>
                </a:solidFill>
                <a:latin typeface="Calibri"/>
                <a:ea typeface="Calibri"/>
                <a:cs typeface="Calibri"/>
              </a:rPr>
              <a:t>[Fedus et al 2022]</a:t>
            </a:r>
          </a:p>
        </p:txBody>
      </p:sp>
      <p:sp>
        <p:nvSpPr>
          <p:cNvPr id="4" name="Rectangle 3">
            <a:extLst>
              <a:ext uri="{FF2B5EF4-FFF2-40B4-BE49-F238E27FC236}">
                <a16:creationId xmlns:a16="http://schemas.microsoft.com/office/drawing/2014/main" id="{4C3546E7-7A6C-4370-BBA8-E9426706FB6E}"/>
              </a:ext>
            </a:extLst>
          </p:cNvPr>
          <p:cNvSpPr>
            <a:spLocks noGrp="1"/>
          </p:cNvSpPr>
          <p:nvPr/>
        </p:nvSpPr>
        <p:spPr>
          <a:xfrm>
            <a:off x="1270000" y="1319627"/>
            <a:ext cx="10583333" cy="592140"/>
          </a:xfrm>
          <a:prstGeom prst="rect">
            <a:avLst/>
          </a:prstGeom>
          <a:noFill/>
          <a:ln w="0">
            <a:noFill/>
          </a:ln>
        </p:spPr>
        <p:txBody>
          <a:bodyPr wrap="square" lIns="0" tIns="0" rIns="0" bIns="0" anchor="t">
            <a:noAutofit/>
          </a:bodyPr>
          <a:lstStyle>
            <a:defPPr algn="l">
              <a:defRPr sz="2067" b="0">
                <a:solidFill>
                  <a:srgbClr val="111111"/>
                </a:solidFill>
                <a:latin typeface="Calibri"/>
                <a:ea typeface="Calibri"/>
                <a:cs typeface="Calibri"/>
              </a:defRPr>
            </a:defPPr>
          </a:lstStyle>
          <a:p>
            <a:pPr algn="l">
              <a:defRPr sz="2067" b="0">
                <a:solidFill>
                  <a:srgbClr val="111111"/>
                </a:solidFill>
                <a:latin typeface="Calibri"/>
                <a:ea typeface="Calibri"/>
                <a:cs typeface="Calibri"/>
              </a:defRPr>
            </a:pPr>
            <a:r>
              <a:rPr sz="2067" b="0">
                <a:solidFill>
                  <a:srgbClr val="111111"/>
                </a:solidFill>
                <a:latin typeface="Calibri"/>
                <a:ea typeface="Calibri"/>
                <a:cs typeface="Calibri"/>
              </a:rPr>
              <a:t>Switch Transformer experiments: more experts improve quality at matched per-token FLOPs.</a:t>
            </a:r>
          </a:p>
        </p:txBody>
      </p:sp>
      <p:sp>
        <p:nvSpPr>
          <p:cNvPr id="7" name="TextBox 6">
            <a:extLst>
              <a:ext uri="{FF2B5EF4-FFF2-40B4-BE49-F238E27FC236}">
                <a16:creationId xmlns:a16="http://schemas.microsoft.com/office/drawing/2014/main" id="{E2B52080-E078-6284-9A4E-65B251DCC808}"/>
              </a:ext>
            </a:extLst>
          </p:cNvPr>
          <p:cNvSpPr txBox="1"/>
          <p:nvPr/>
        </p:nvSpPr>
        <p:spPr>
          <a:xfrm>
            <a:off x="485775" y="266700"/>
            <a:ext cx="11239500" cy="484748"/>
          </a:xfrm>
          <a:prstGeom prst="rect">
            <a:avLst/>
          </a:prstGeom>
          <a:noFill/>
        </p:spPr>
        <p:txBody>
          <a:bodyPr vert="horz" lIns="0" tIns="0" rIns="0" bIns="0" rtlCol="0">
            <a:spAutoFit/>
          </a:bodyPr>
          <a:lstStyle/>
          <a:p>
            <a:r>
              <a:rPr lang="en-GB" sz="3150" b="1">
                <a:solidFill>
                  <a:srgbClr val="007B92"/>
                </a:solidFill>
                <a:latin typeface="Calibri" panose="020F0502020204030204" pitchFamily="34" charset="0"/>
              </a:rPr>
              <a:t>Switch Transformer: an empirical result</a:t>
            </a:r>
            <a:endParaRPr lang="en-US" sz="3150" b="1">
              <a:solidFill>
                <a:srgbClr val="007B92"/>
              </a:solidFill>
              <a:latin typeface="Calibri" panose="020F0502020204030204" pitchFamily="34" charset="0"/>
            </a:endParaRPr>
          </a:p>
        </p:txBody>
      </p:sp>
      <p:sp>
        <p:nvSpPr>
          <p:cNvPr id="8" name="TextBox 7">
            <a:extLst>
              <a:ext uri="{FF2B5EF4-FFF2-40B4-BE49-F238E27FC236}">
                <a16:creationId xmlns:a16="http://schemas.microsoft.com/office/drawing/2014/main" id="{C404FD94-1015-F2DC-E37D-69BF416BAC66}"/>
              </a:ext>
            </a:extLst>
          </p:cNvPr>
          <p:cNvSpPr txBox="1"/>
          <p:nvPr/>
        </p:nvSpPr>
        <p:spPr>
          <a:xfrm>
            <a:off x="485775" y="6477000"/>
            <a:ext cx="619125" cy="207749"/>
          </a:xfrm>
          <a:prstGeom prst="rect">
            <a:avLst/>
          </a:prstGeom>
          <a:noFill/>
        </p:spPr>
        <p:txBody>
          <a:bodyPr vert="horz" lIns="0" tIns="0" rIns="0" bIns="0" rtlCol="0">
            <a:spAutoFit/>
          </a:bodyPr>
          <a:lstStyle/>
          <a:p>
            <a:r>
              <a:rPr lang="en-US" sz="1350">
                <a:solidFill>
                  <a:srgbClr val="171717"/>
                </a:solidFill>
                <a:latin typeface="Calibri" panose="020F0502020204030204" pitchFamily="34" charset="0"/>
              </a:rPr>
              <a:t>42</a:t>
            </a:r>
          </a:p>
        </p:txBody>
      </p:sp>
    </p:spTree>
    <p:extLst>
      <p:ext uri="{BB962C8B-B14F-4D97-AF65-F5344CB8AC3E}">
        <p14:creationId xmlns:p14="http://schemas.microsoft.com/office/powerpoint/2010/main" val="28605595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BD68C0C6-2CB4-4847-9E44-6D7775FD087B}"/>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Expert placement across devices</a:t>
            </a:r>
          </a:p>
        </p:txBody>
      </p:sp>
      <p:pic>
        <p:nvPicPr>
          <p:cNvPr id="2" name="Picture 1">
            <a:extLst>
              <a:ext uri="{FF2B5EF4-FFF2-40B4-BE49-F238E27FC236}">
                <a16:creationId xmlns:a16="http://schemas.microsoft.com/office/drawing/2014/main" id="{9025BDCD-2304-4ED8-A7DC-41D76E893BFD}"/>
              </a:ext>
            </a:extLst>
          </p:cNvPr>
          <p:cNvPicPr>
            <a:picLocks noChangeAspect="1"/>
          </p:cNvPicPr>
          <p:nvPr/>
        </p:nvPicPr>
        <p:blipFill>
          <a:blip r:embed="rId3"/>
          <a:stretch/>
        </p:blipFill>
        <p:spPr>
          <a:xfrm>
            <a:off x="1905000" y="3048000"/>
            <a:ext cx="2286000" cy="2286000"/>
          </a:xfrm>
          <a:prstGeom prst="rect">
            <a:avLst/>
          </a:prstGeom>
        </p:spPr>
      </p:pic>
      <p:pic>
        <p:nvPicPr>
          <p:cNvPr id="3" name="Picture 2">
            <a:extLst>
              <a:ext uri="{FF2B5EF4-FFF2-40B4-BE49-F238E27FC236}">
                <a16:creationId xmlns:a16="http://schemas.microsoft.com/office/drawing/2014/main" id="{100B326A-3A6D-45ED-BA9E-939B5C3F1713}"/>
              </a:ext>
            </a:extLst>
          </p:cNvPr>
          <p:cNvPicPr>
            <a:picLocks noChangeAspect="1"/>
          </p:cNvPicPr>
          <p:nvPr/>
        </p:nvPicPr>
        <p:blipFill>
          <a:blip r:embed="rId4"/>
          <a:stretch/>
        </p:blipFill>
        <p:spPr>
          <a:xfrm>
            <a:off x="7789015" y="3048000"/>
            <a:ext cx="2328970" cy="2286000"/>
          </a:xfrm>
          <a:prstGeom prst="rect">
            <a:avLst/>
          </a:prstGeom>
        </p:spPr>
      </p:pic>
      <p:sp>
        <p:nvSpPr>
          <p:cNvPr id="4" name="Rectangle 3">
            <a:extLst>
              <a:ext uri="{FF2B5EF4-FFF2-40B4-BE49-F238E27FC236}">
                <a16:creationId xmlns:a16="http://schemas.microsoft.com/office/drawing/2014/main" id="{804EC5F0-7728-47AA-9202-CA1E6561202F}"/>
              </a:ext>
            </a:extLst>
          </p:cNvPr>
          <p:cNvSpPr>
            <a:spLocks noGrp="1"/>
          </p:cNvSpPr>
          <p:nvPr/>
        </p:nvSpPr>
        <p:spPr>
          <a:xfrm>
            <a:off x="666750" y="10953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Expert parallelism stores different expert weights on different devices.</a:t>
            </a:r>
          </a:p>
        </p:txBody>
      </p:sp>
      <p:sp>
        <p:nvSpPr>
          <p:cNvPr id="5" name="Rectangle 4">
            <a:extLst>
              <a:ext uri="{FF2B5EF4-FFF2-40B4-BE49-F238E27FC236}">
                <a16:creationId xmlns:a16="http://schemas.microsoft.com/office/drawing/2014/main" id="{3A2277AC-1803-4BBA-AAA4-F5F258479A27}"/>
              </a:ext>
            </a:extLst>
          </p:cNvPr>
          <p:cNvSpPr>
            <a:spLocks noGrp="1"/>
          </p:cNvSpPr>
          <p:nvPr/>
        </p:nvSpPr>
        <p:spPr>
          <a:xfrm>
            <a:off x="952500" y="2190750"/>
            <a:ext cx="4476750" cy="476250"/>
          </a:xfrm>
          <a:prstGeom prst="rect">
            <a:avLst/>
          </a:prstGeom>
          <a:noFill/>
          <a:ln w="0">
            <a:noFill/>
          </a:ln>
        </p:spPr>
        <p:txBody>
          <a:bodyPr wrap="square" lIns="0" tIns="0" rIns="0" bIns="0" anchor="t">
            <a:noAutofit/>
          </a:bodyPr>
          <a:lstStyle>
            <a:defPPr algn="l">
              <a:defRPr sz="2325" b="1">
                <a:solidFill>
                  <a:srgbClr val="171717"/>
                </a:solidFill>
                <a:latin typeface="Calibri"/>
                <a:ea typeface="Calibri"/>
                <a:cs typeface="Calibri"/>
              </a:defRPr>
            </a:defPPr>
            <a:lvl1pPr algn="l">
              <a:defRPr sz="2325" b="1">
                <a:solidFill>
                  <a:srgbClr val="171717"/>
                </a:solidFill>
                <a:latin typeface="Calibri"/>
                <a:ea typeface="Calibri"/>
                <a:cs typeface="Calibri"/>
              </a:defRPr>
            </a:lvl1pPr>
            <a:lvl2pPr algn="l">
              <a:defRPr sz="2325" b="1">
                <a:solidFill>
                  <a:srgbClr val="171717"/>
                </a:solidFill>
                <a:latin typeface="Calibri"/>
                <a:ea typeface="Calibri"/>
                <a:cs typeface="Calibri"/>
              </a:defRPr>
            </a:lvl2pPr>
            <a:lvl3pPr algn="l">
              <a:defRPr sz="2325" b="1">
                <a:solidFill>
                  <a:srgbClr val="171717"/>
                </a:solidFill>
                <a:latin typeface="Calibri"/>
                <a:ea typeface="Calibri"/>
                <a:cs typeface="Calibri"/>
              </a:defRPr>
            </a:lvl3pPr>
            <a:lvl4pPr algn="l">
              <a:defRPr sz="2325" b="1">
                <a:solidFill>
                  <a:srgbClr val="171717"/>
                </a:solidFill>
                <a:latin typeface="Calibri"/>
                <a:ea typeface="Calibri"/>
                <a:cs typeface="Calibri"/>
              </a:defRPr>
            </a:lvl4pPr>
            <a:lvl5pPr algn="l">
              <a:defRPr sz="2325" b="1">
                <a:solidFill>
                  <a:srgbClr val="171717"/>
                </a:solidFill>
                <a:latin typeface="Calibri"/>
                <a:ea typeface="Calibri"/>
                <a:cs typeface="Calibri"/>
              </a:defRPr>
            </a:lvl5pPr>
            <a:lvl6pPr algn="l">
              <a:defRPr sz="2325" b="1">
                <a:solidFill>
                  <a:srgbClr val="171717"/>
                </a:solidFill>
                <a:latin typeface="Calibri"/>
                <a:ea typeface="Calibri"/>
                <a:cs typeface="Calibri"/>
              </a:defRPr>
            </a:lvl6pPr>
            <a:lvl7pPr algn="l">
              <a:defRPr sz="2325" b="1">
                <a:solidFill>
                  <a:srgbClr val="171717"/>
                </a:solidFill>
                <a:latin typeface="Calibri"/>
                <a:ea typeface="Calibri"/>
                <a:cs typeface="Calibri"/>
              </a:defRPr>
            </a:lvl7pPr>
            <a:lvl8pPr algn="l">
              <a:defRPr sz="2325" b="1">
                <a:solidFill>
                  <a:srgbClr val="171717"/>
                </a:solidFill>
                <a:latin typeface="Calibri"/>
                <a:ea typeface="Calibri"/>
                <a:cs typeface="Calibri"/>
              </a:defRPr>
            </a:lvl8pPr>
            <a:lvl9pPr algn="l">
              <a:defRPr sz="2325" b="1">
                <a:solidFill>
                  <a:srgbClr val="171717"/>
                </a:solidFill>
                <a:latin typeface="Calibri"/>
                <a:ea typeface="Calibri"/>
                <a:cs typeface="Calibri"/>
              </a:defRPr>
            </a:lvl9pPr>
          </a:lstStyle>
          <a:p>
            <a:pPr algn="l">
              <a:defRPr sz="2325" b="1">
                <a:solidFill>
                  <a:srgbClr val="171717"/>
                </a:solidFill>
                <a:latin typeface="Calibri"/>
                <a:ea typeface="Calibri"/>
                <a:cs typeface="Calibri"/>
              </a:defRPr>
            </a:pPr>
            <a:r>
              <a:rPr sz="2325" b="1">
                <a:solidFill>
                  <a:srgbClr val="171717"/>
                </a:solidFill>
                <a:latin typeface="Calibri"/>
                <a:ea typeface="Calibri"/>
                <a:cs typeface="Calibri"/>
              </a:rPr>
              <a:t>Weight placement</a:t>
            </a:r>
          </a:p>
        </p:txBody>
      </p:sp>
      <p:sp>
        <p:nvSpPr>
          <p:cNvPr id="6" name="Rectangle 5">
            <a:extLst>
              <a:ext uri="{FF2B5EF4-FFF2-40B4-BE49-F238E27FC236}">
                <a16:creationId xmlns:a16="http://schemas.microsoft.com/office/drawing/2014/main" id="{5B5B13B0-F819-4A1A-9DC2-61C29CF70DE4}"/>
              </a:ext>
            </a:extLst>
          </p:cNvPr>
          <p:cNvSpPr>
            <a:spLocks noGrp="1"/>
          </p:cNvSpPr>
          <p:nvPr/>
        </p:nvSpPr>
        <p:spPr>
          <a:xfrm>
            <a:off x="6858000" y="2190750"/>
            <a:ext cx="4476750" cy="476250"/>
          </a:xfrm>
          <a:prstGeom prst="rect">
            <a:avLst/>
          </a:prstGeom>
          <a:noFill/>
          <a:ln w="0">
            <a:noFill/>
          </a:ln>
        </p:spPr>
        <p:txBody>
          <a:bodyPr wrap="square" lIns="0" tIns="0" rIns="0" bIns="0" anchor="t">
            <a:noAutofit/>
          </a:bodyPr>
          <a:lstStyle>
            <a:defPPr algn="l">
              <a:defRPr sz="2325" b="1">
                <a:solidFill>
                  <a:srgbClr val="171717"/>
                </a:solidFill>
                <a:latin typeface="Calibri"/>
                <a:ea typeface="Calibri"/>
                <a:cs typeface="Calibri"/>
              </a:defRPr>
            </a:defPPr>
            <a:lvl1pPr algn="l">
              <a:defRPr sz="2325" b="1">
                <a:solidFill>
                  <a:srgbClr val="171717"/>
                </a:solidFill>
                <a:latin typeface="Calibri"/>
                <a:ea typeface="Calibri"/>
                <a:cs typeface="Calibri"/>
              </a:defRPr>
            </a:lvl1pPr>
            <a:lvl2pPr algn="l">
              <a:defRPr sz="2325" b="1">
                <a:solidFill>
                  <a:srgbClr val="171717"/>
                </a:solidFill>
                <a:latin typeface="Calibri"/>
                <a:ea typeface="Calibri"/>
                <a:cs typeface="Calibri"/>
              </a:defRPr>
            </a:lvl2pPr>
            <a:lvl3pPr algn="l">
              <a:defRPr sz="2325" b="1">
                <a:solidFill>
                  <a:srgbClr val="171717"/>
                </a:solidFill>
                <a:latin typeface="Calibri"/>
                <a:ea typeface="Calibri"/>
                <a:cs typeface="Calibri"/>
              </a:defRPr>
            </a:lvl3pPr>
            <a:lvl4pPr algn="l">
              <a:defRPr sz="2325" b="1">
                <a:solidFill>
                  <a:srgbClr val="171717"/>
                </a:solidFill>
                <a:latin typeface="Calibri"/>
                <a:ea typeface="Calibri"/>
                <a:cs typeface="Calibri"/>
              </a:defRPr>
            </a:lvl4pPr>
            <a:lvl5pPr algn="l">
              <a:defRPr sz="2325" b="1">
                <a:solidFill>
                  <a:srgbClr val="171717"/>
                </a:solidFill>
                <a:latin typeface="Calibri"/>
                <a:ea typeface="Calibri"/>
                <a:cs typeface="Calibri"/>
              </a:defRPr>
            </a:lvl5pPr>
            <a:lvl6pPr algn="l">
              <a:defRPr sz="2325" b="1">
                <a:solidFill>
                  <a:srgbClr val="171717"/>
                </a:solidFill>
                <a:latin typeface="Calibri"/>
                <a:ea typeface="Calibri"/>
                <a:cs typeface="Calibri"/>
              </a:defRPr>
            </a:lvl6pPr>
            <a:lvl7pPr algn="l">
              <a:defRPr sz="2325" b="1">
                <a:solidFill>
                  <a:srgbClr val="171717"/>
                </a:solidFill>
                <a:latin typeface="Calibri"/>
                <a:ea typeface="Calibri"/>
                <a:cs typeface="Calibri"/>
              </a:defRPr>
            </a:lvl7pPr>
            <a:lvl8pPr algn="l">
              <a:defRPr sz="2325" b="1">
                <a:solidFill>
                  <a:srgbClr val="171717"/>
                </a:solidFill>
                <a:latin typeface="Calibri"/>
                <a:ea typeface="Calibri"/>
                <a:cs typeface="Calibri"/>
              </a:defRPr>
            </a:lvl8pPr>
            <a:lvl9pPr algn="l">
              <a:defRPr sz="2325" b="1">
                <a:solidFill>
                  <a:srgbClr val="171717"/>
                </a:solidFill>
                <a:latin typeface="Calibri"/>
                <a:ea typeface="Calibri"/>
                <a:cs typeface="Calibri"/>
              </a:defRPr>
            </a:lvl9pPr>
          </a:lstStyle>
          <a:p>
            <a:pPr algn="l">
              <a:defRPr sz="2325" b="1">
                <a:solidFill>
                  <a:srgbClr val="171717"/>
                </a:solidFill>
                <a:latin typeface="Calibri"/>
                <a:ea typeface="Calibri"/>
                <a:cs typeface="Calibri"/>
              </a:defRPr>
            </a:pPr>
            <a:r>
              <a:rPr sz="2325" b="1">
                <a:solidFill>
                  <a:srgbClr val="171717"/>
                </a:solidFill>
                <a:latin typeface="Calibri"/>
                <a:ea typeface="Calibri"/>
                <a:cs typeface="Calibri"/>
              </a:rPr>
              <a:t>Input batch</a:t>
            </a:r>
          </a:p>
        </p:txBody>
      </p:sp>
      <p:sp>
        <p:nvSpPr>
          <p:cNvPr id="7" name="Rectangle 6">
            <a:extLst>
              <a:ext uri="{FF2B5EF4-FFF2-40B4-BE49-F238E27FC236}">
                <a16:creationId xmlns:a16="http://schemas.microsoft.com/office/drawing/2014/main" id="{699FF242-B5CC-4192-ABCA-640F91BDCB02}"/>
              </a:ext>
            </a:extLst>
          </p:cNvPr>
          <p:cNvSpPr>
            <a:spLocks noGrp="1"/>
          </p:cNvSpPr>
          <p:nvPr/>
        </p:nvSpPr>
        <p:spPr>
          <a:xfrm>
            <a:off x="666750" y="5524500"/>
            <a:ext cx="4953000" cy="85725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Each device owns a subset of experts.</a:t>
            </a:r>
          </a:p>
        </p:txBody>
      </p:sp>
      <p:sp>
        <p:nvSpPr>
          <p:cNvPr id="8" name="Rectangle 7">
            <a:extLst>
              <a:ext uri="{FF2B5EF4-FFF2-40B4-BE49-F238E27FC236}">
                <a16:creationId xmlns:a16="http://schemas.microsoft.com/office/drawing/2014/main" id="{52AF71D3-F17D-49CE-AA80-497374AA91E6}"/>
              </a:ext>
            </a:extLst>
          </p:cNvPr>
          <p:cNvSpPr>
            <a:spLocks noGrp="1"/>
          </p:cNvSpPr>
          <p:nvPr/>
        </p:nvSpPr>
        <p:spPr>
          <a:xfrm>
            <a:off x="6572250" y="5524500"/>
            <a:ext cx="4953000" cy="857250"/>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The token batch uses experts across devices.</a:t>
            </a:r>
          </a:p>
        </p:txBody>
      </p:sp>
      <p:sp>
        <p:nvSpPr>
          <p:cNvPr id="9" name="Source">
            <a:extLst>
              <a:ext uri="{FF2B5EF4-FFF2-40B4-BE49-F238E27FC236}">
                <a16:creationId xmlns:a16="http://schemas.microsoft.com/office/drawing/2014/main" id="{0694F959-73E7-4F5E-A95E-B995BF198CBF}"/>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Fedus et al., 2021. Switch Transformers</a:t>
            </a:r>
          </a:p>
        </p:txBody>
      </p:sp>
      <p:sp>
        <p:nvSpPr>
          <p:cNvPr id="10" name="Slide number">
            <a:extLst>
              <a:ext uri="{FF2B5EF4-FFF2-40B4-BE49-F238E27FC236}">
                <a16:creationId xmlns:a16="http://schemas.microsoft.com/office/drawing/2014/main" id="{2D502CAA-E08D-4CB5-9CFB-2333B54CE100}"/>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43</a:t>
            </a:r>
          </a:p>
        </p:txBody>
      </p:sp>
    </p:spTree>
    <p:extLst>
      <p:ext uri="{BB962C8B-B14F-4D97-AF65-F5344CB8AC3E}">
        <p14:creationId xmlns:p14="http://schemas.microsoft.com/office/powerpoint/2010/main" val="13710178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3AD6D0F8-3431-4EEE-917A-439F58F64478}"/>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Dispatch, expert computation and combine</a:t>
            </a:r>
          </a:p>
        </p:txBody>
      </p:sp>
      <p:pic>
        <p:nvPicPr>
          <p:cNvPr id="2" name="Picture 1">
            <a:extLst>
              <a:ext uri="{FF2B5EF4-FFF2-40B4-BE49-F238E27FC236}">
                <a16:creationId xmlns:a16="http://schemas.microsoft.com/office/drawing/2014/main" id="{00608B52-F983-448D-BE27-B476D45A23F8}"/>
              </a:ext>
            </a:extLst>
          </p:cNvPr>
          <p:cNvPicPr>
            <a:picLocks noChangeAspect="1"/>
          </p:cNvPicPr>
          <p:nvPr/>
        </p:nvPicPr>
        <p:blipFill>
          <a:blip r:embed="rId3"/>
          <a:stretch/>
        </p:blipFill>
        <p:spPr>
          <a:xfrm>
            <a:off x="1428750" y="2733675"/>
            <a:ext cx="9334500" cy="2000250"/>
          </a:xfrm>
          <a:prstGeom prst="rect">
            <a:avLst/>
          </a:prstGeom>
        </p:spPr>
      </p:pic>
      <p:sp>
        <p:nvSpPr>
          <p:cNvPr id="3" name="Rectangle 2">
            <a:extLst>
              <a:ext uri="{FF2B5EF4-FFF2-40B4-BE49-F238E27FC236}">
                <a16:creationId xmlns:a16="http://schemas.microsoft.com/office/drawing/2014/main" id="{3CD8FF61-A925-433C-B58C-5F9725033F22}"/>
              </a:ext>
            </a:extLst>
          </p:cNvPr>
          <p:cNvSpPr>
            <a:spLocks noGrp="1"/>
          </p:cNvSpPr>
          <p:nvPr/>
        </p:nvSpPr>
        <p:spPr>
          <a:xfrm>
            <a:off x="666750" y="10953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Experts on different devices exchange token activations.</a:t>
            </a:r>
          </a:p>
        </p:txBody>
      </p:sp>
      <p:sp>
        <p:nvSpPr>
          <p:cNvPr id="4" name="Rectangle 3">
            <a:extLst>
              <a:ext uri="{FF2B5EF4-FFF2-40B4-BE49-F238E27FC236}">
                <a16:creationId xmlns:a16="http://schemas.microsoft.com/office/drawing/2014/main" id="{2D702835-CB85-4121-BBC2-D46843F339E8}"/>
              </a:ext>
            </a:extLst>
          </p:cNvPr>
          <p:cNvSpPr>
            <a:spLocks noGrp="1"/>
          </p:cNvSpPr>
          <p:nvPr/>
        </p:nvSpPr>
        <p:spPr>
          <a:xfrm>
            <a:off x="1524000" y="2095500"/>
            <a:ext cx="4000500" cy="428625"/>
          </a:xfrm>
          <a:prstGeom prst="rect">
            <a:avLst/>
          </a:prstGeom>
          <a:noFill/>
          <a:ln w="0">
            <a:noFill/>
          </a:ln>
        </p:spPr>
        <p:txBody>
          <a:bodyPr wrap="square" lIns="0" tIns="0" rIns="0" bIns="0" anchor="t">
            <a:noAutofit/>
          </a:bodyPr>
          <a:lstStyle>
            <a:defPPr algn="l">
              <a:defRPr sz="2175" b="1">
                <a:solidFill>
                  <a:srgbClr val="171717"/>
                </a:solidFill>
                <a:latin typeface="Calibri"/>
                <a:ea typeface="Calibri"/>
                <a:cs typeface="Calibri"/>
              </a:defRPr>
            </a:defPPr>
            <a:lvl1pPr algn="l">
              <a:defRPr sz="2175" b="1">
                <a:solidFill>
                  <a:srgbClr val="171717"/>
                </a:solidFill>
                <a:latin typeface="Calibri"/>
                <a:ea typeface="Calibri"/>
                <a:cs typeface="Calibri"/>
              </a:defRPr>
            </a:lvl1pPr>
            <a:lvl2pPr algn="l">
              <a:defRPr sz="2175" b="1">
                <a:solidFill>
                  <a:srgbClr val="171717"/>
                </a:solidFill>
                <a:latin typeface="Calibri"/>
                <a:ea typeface="Calibri"/>
                <a:cs typeface="Calibri"/>
              </a:defRPr>
            </a:lvl2pPr>
            <a:lvl3pPr algn="l">
              <a:defRPr sz="2175" b="1">
                <a:solidFill>
                  <a:srgbClr val="171717"/>
                </a:solidFill>
                <a:latin typeface="Calibri"/>
                <a:ea typeface="Calibri"/>
                <a:cs typeface="Calibri"/>
              </a:defRPr>
            </a:lvl3pPr>
            <a:lvl4pPr algn="l">
              <a:defRPr sz="2175" b="1">
                <a:solidFill>
                  <a:srgbClr val="171717"/>
                </a:solidFill>
                <a:latin typeface="Calibri"/>
                <a:ea typeface="Calibri"/>
                <a:cs typeface="Calibri"/>
              </a:defRPr>
            </a:lvl4pPr>
            <a:lvl5pPr algn="l">
              <a:defRPr sz="2175" b="1">
                <a:solidFill>
                  <a:srgbClr val="171717"/>
                </a:solidFill>
                <a:latin typeface="Calibri"/>
                <a:ea typeface="Calibri"/>
                <a:cs typeface="Calibri"/>
              </a:defRPr>
            </a:lvl5pPr>
            <a:lvl6pPr algn="l">
              <a:defRPr sz="2175" b="1">
                <a:solidFill>
                  <a:srgbClr val="171717"/>
                </a:solidFill>
                <a:latin typeface="Calibri"/>
                <a:ea typeface="Calibri"/>
                <a:cs typeface="Calibri"/>
              </a:defRPr>
            </a:lvl6pPr>
            <a:lvl7pPr algn="l">
              <a:defRPr sz="2175" b="1">
                <a:solidFill>
                  <a:srgbClr val="171717"/>
                </a:solidFill>
                <a:latin typeface="Calibri"/>
                <a:ea typeface="Calibri"/>
                <a:cs typeface="Calibri"/>
              </a:defRPr>
            </a:lvl7pPr>
            <a:lvl8pPr algn="l">
              <a:defRPr sz="2175" b="1">
                <a:solidFill>
                  <a:srgbClr val="171717"/>
                </a:solidFill>
                <a:latin typeface="Calibri"/>
                <a:ea typeface="Calibri"/>
                <a:cs typeface="Calibri"/>
              </a:defRPr>
            </a:lvl8pPr>
            <a:lvl9pPr algn="l">
              <a:defRPr sz="2175" b="1">
                <a:solidFill>
                  <a:srgbClr val="171717"/>
                </a:solidFill>
                <a:latin typeface="Calibri"/>
                <a:ea typeface="Calibri"/>
                <a:cs typeface="Calibri"/>
              </a:defRPr>
            </a:lvl9pPr>
          </a:lstStyle>
          <a:p>
            <a:pPr algn="l">
              <a:defRPr sz="2175" b="1">
                <a:solidFill>
                  <a:srgbClr val="171717"/>
                </a:solidFill>
                <a:latin typeface="Calibri"/>
                <a:ea typeface="Calibri"/>
                <a:cs typeface="Calibri"/>
              </a:defRPr>
            </a:pPr>
            <a:r>
              <a:rPr sz="2175" b="1">
                <a:solidFill>
                  <a:srgbClr val="171717"/>
                </a:solidFill>
                <a:latin typeface="Calibri"/>
                <a:ea typeface="Calibri"/>
                <a:cs typeface="Calibri"/>
              </a:rPr>
              <a:t>Device 1</a:t>
            </a:r>
          </a:p>
        </p:txBody>
      </p:sp>
      <p:sp>
        <p:nvSpPr>
          <p:cNvPr id="5" name="Rectangle 4">
            <a:extLst>
              <a:ext uri="{FF2B5EF4-FFF2-40B4-BE49-F238E27FC236}">
                <a16:creationId xmlns:a16="http://schemas.microsoft.com/office/drawing/2014/main" id="{9965BC16-1977-4EC2-ADE5-79C16DC4584C}"/>
              </a:ext>
            </a:extLst>
          </p:cNvPr>
          <p:cNvSpPr>
            <a:spLocks noGrp="1"/>
          </p:cNvSpPr>
          <p:nvPr/>
        </p:nvSpPr>
        <p:spPr>
          <a:xfrm>
            <a:off x="7858125" y="2095500"/>
            <a:ext cx="3905250" cy="428625"/>
          </a:xfrm>
          <a:prstGeom prst="rect">
            <a:avLst/>
          </a:prstGeom>
          <a:noFill/>
          <a:ln w="0">
            <a:noFill/>
          </a:ln>
        </p:spPr>
        <p:txBody>
          <a:bodyPr wrap="square" lIns="0" tIns="0" rIns="0" bIns="0" anchor="t">
            <a:noAutofit/>
          </a:bodyPr>
          <a:lstStyle>
            <a:defPPr algn="l">
              <a:defRPr sz="2175" b="1">
                <a:solidFill>
                  <a:srgbClr val="171717"/>
                </a:solidFill>
                <a:latin typeface="Calibri"/>
                <a:ea typeface="Calibri"/>
                <a:cs typeface="Calibri"/>
              </a:defRPr>
            </a:defPPr>
            <a:lvl1pPr algn="l">
              <a:defRPr sz="2175" b="1">
                <a:solidFill>
                  <a:srgbClr val="171717"/>
                </a:solidFill>
                <a:latin typeface="Calibri"/>
                <a:ea typeface="Calibri"/>
                <a:cs typeface="Calibri"/>
              </a:defRPr>
            </a:lvl1pPr>
            <a:lvl2pPr algn="l">
              <a:defRPr sz="2175" b="1">
                <a:solidFill>
                  <a:srgbClr val="171717"/>
                </a:solidFill>
                <a:latin typeface="Calibri"/>
                <a:ea typeface="Calibri"/>
                <a:cs typeface="Calibri"/>
              </a:defRPr>
            </a:lvl2pPr>
            <a:lvl3pPr algn="l">
              <a:defRPr sz="2175" b="1">
                <a:solidFill>
                  <a:srgbClr val="171717"/>
                </a:solidFill>
                <a:latin typeface="Calibri"/>
                <a:ea typeface="Calibri"/>
                <a:cs typeface="Calibri"/>
              </a:defRPr>
            </a:lvl3pPr>
            <a:lvl4pPr algn="l">
              <a:defRPr sz="2175" b="1">
                <a:solidFill>
                  <a:srgbClr val="171717"/>
                </a:solidFill>
                <a:latin typeface="Calibri"/>
                <a:ea typeface="Calibri"/>
                <a:cs typeface="Calibri"/>
              </a:defRPr>
            </a:lvl4pPr>
            <a:lvl5pPr algn="l">
              <a:defRPr sz="2175" b="1">
                <a:solidFill>
                  <a:srgbClr val="171717"/>
                </a:solidFill>
                <a:latin typeface="Calibri"/>
                <a:ea typeface="Calibri"/>
                <a:cs typeface="Calibri"/>
              </a:defRPr>
            </a:lvl5pPr>
            <a:lvl6pPr algn="l">
              <a:defRPr sz="2175" b="1">
                <a:solidFill>
                  <a:srgbClr val="171717"/>
                </a:solidFill>
                <a:latin typeface="Calibri"/>
                <a:ea typeface="Calibri"/>
                <a:cs typeface="Calibri"/>
              </a:defRPr>
            </a:lvl6pPr>
            <a:lvl7pPr algn="l">
              <a:defRPr sz="2175" b="1">
                <a:solidFill>
                  <a:srgbClr val="171717"/>
                </a:solidFill>
                <a:latin typeface="Calibri"/>
                <a:ea typeface="Calibri"/>
                <a:cs typeface="Calibri"/>
              </a:defRPr>
            </a:lvl7pPr>
            <a:lvl8pPr algn="l">
              <a:defRPr sz="2175" b="1">
                <a:solidFill>
                  <a:srgbClr val="171717"/>
                </a:solidFill>
                <a:latin typeface="Calibri"/>
                <a:ea typeface="Calibri"/>
                <a:cs typeface="Calibri"/>
              </a:defRPr>
            </a:lvl8pPr>
            <a:lvl9pPr algn="l">
              <a:defRPr sz="2175" b="1">
                <a:solidFill>
                  <a:srgbClr val="171717"/>
                </a:solidFill>
                <a:latin typeface="Calibri"/>
                <a:ea typeface="Calibri"/>
                <a:cs typeface="Calibri"/>
              </a:defRPr>
            </a:lvl9pPr>
          </a:lstStyle>
          <a:p>
            <a:pPr algn="l">
              <a:defRPr sz="2175" b="1">
                <a:solidFill>
                  <a:srgbClr val="171717"/>
                </a:solidFill>
                <a:latin typeface="Calibri"/>
                <a:ea typeface="Calibri"/>
                <a:cs typeface="Calibri"/>
              </a:defRPr>
            </a:pPr>
            <a:r>
              <a:rPr sz="2175" b="1">
                <a:solidFill>
                  <a:srgbClr val="171717"/>
                </a:solidFill>
                <a:latin typeface="Calibri"/>
                <a:ea typeface="Calibri"/>
                <a:cs typeface="Calibri"/>
              </a:rPr>
              <a:t>Other expert devices</a:t>
            </a:r>
          </a:p>
        </p:txBody>
      </p:sp>
      <p:sp>
        <p:nvSpPr>
          <p:cNvPr id="6" name="Rectangle 5">
            <a:extLst>
              <a:ext uri="{FF2B5EF4-FFF2-40B4-BE49-F238E27FC236}">
                <a16:creationId xmlns:a16="http://schemas.microsoft.com/office/drawing/2014/main" id="{C48A8604-A7D9-4BD7-A636-C650AEE37BCF}"/>
              </a:ext>
            </a:extLst>
          </p:cNvPr>
          <p:cNvSpPr>
            <a:spLocks noGrp="1"/>
          </p:cNvSpPr>
          <p:nvPr/>
        </p:nvSpPr>
        <p:spPr>
          <a:xfrm>
            <a:off x="666750" y="5048250"/>
            <a:ext cx="3333750" cy="428625"/>
          </a:xfrm>
          <a:prstGeom prst="rect">
            <a:avLst/>
          </a:prstGeom>
          <a:noFill/>
          <a:ln w="0">
            <a:noFill/>
          </a:ln>
        </p:spPr>
        <p:txBody>
          <a:bodyPr wrap="square" lIns="0" tIns="0" rIns="0" bIns="0" anchor="t">
            <a:noAutofit/>
          </a:bodyPr>
          <a:lstStyle>
            <a:defPPr algn="l">
              <a:defRPr sz="2175" b="1">
                <a:solidFill>
                  <a:srgbClr val="171717"/>
                </a:solidFill>
                <a:latin typeface="Calibri"/>
                <a:ea typeface="Calibri"/>
                <a:cs typeface="Calibri"/>
              </a:defRPr>
            </a:defPPr>
            <a:lvl1pPr algn="l">
              <a:defRPr sz="2175" b="1">
                <a:solidFill>
                  <a:srgbClr val="171717"/>
                </a:solidFill>
                <a:latin typeface="Calibri"/>
                <a:ea typeface="Calibri"/>
                <a:cs typeface="Calibri"/>
              </a:defRPr>
            </a:lvl1pPr>
            <a:lvl2pPr algn="l">
              <a:defRPr sz="2175" b="1">
                <a:solidFill>
                  <a:srgbClr val="171717"/>
                </a:solidFill>
                <a:latin typeface="Calibri"/>
                <a:ea typeface="Calibri"/>
                <a:cs typeface="Calibri"/>
              </a:defRPr>
            </a:lvl2pPr>
            <a:lvl3pPr algn="l">
              <a:defRPr sz="2175" b="1">
                <a:solidFill>
                  <a:srgbClr val="171717"/>
                </a:solidFill>
                <a:latin typeface="Calibri"/>
                <a:ea typeface="Calibri"/>
                <a:cs typeface="Calibri"/>
              </a:defRPr>
            </a:lvl3pPr>
            <a:lvl4pPr algn="l">
              <a:defRPr sz="2175" b="1">
                <a:solidFill>
                  <a:srgbClr val="171717"/>
                </a:solidFill>
                <a:latin typeface="Calibri"/>
                <a:ea typeface="Calibri"/>
                <a:cs typeface="Calibri"/>
              </a:defRPr>
            </a:lvl4pPr>
            <a:lvl5pPr algn="l">
              <a:defRPr sz="2175" b="1">
                <a:solidFill>
                  <a:srgbClr val="171717"/>
                </a:solidFill>
                <a:latin typeface="Calibri"/>
                <a:ea typeface="Calibri"/>
                <a:cs typeface="Calibri"/>
              </a:defRPr>
            </a:lvl5pPr>
            <a:lvl6pPr algn="l">
              <a:defRPr sz="2175" b="1">
                <a:solidFill>
                  <a:srgbClr val="171717"/>
                </a:solidFill>
                <a:latin typeface="Calibri"/>
                <a:ea typeface="Calibri"/>
                <a:cs typeface="Calibri"/>
              </a:defRPr>
            </a:lvl6pPr>
            <a:lvl7pPr algn="l">
              <a:defRPr sz="2175" b="1">
                <a:solidFill>
                  <a:srgbClr val="171717"/>
                </a:solidFill>
                <a:latin typeface="Calibri"/>
                <a:ea typeface="Calibri"/>
                <a:cs typeface="Calibri"/>
              </a:defRPr>
            </a:lvl7pPr>
            <a:lvl8pPr algn="l">
              <a:defRPr sz="2175" b="1">
                <a:solidFill>
                  <a:srgbClr val="171717"/>
                </a:solidFill>
                <a:latin typeface="Calibri"/>
                <a:ea typeface="Calibri"/>
                <a:cs typeface="Calibri"/>
              </a:defRPr>
            </a:lvl8pPr>
            <a:lvl9pPr algn="l">
              <a:defRPr sz="2175" b="1">
                <a:solidFill>
                  <a:srgbClr val="171717"/>
                </a:solidFill>
                <a:latin typeface="Calibri"/>
                <a:ea typeface="Calibri"/>
                <a:cs typeface="Calibri"/>
              </a:defRPr>
            </a:lvl9pPr>
          </a:lstStyle>
          <a:p>
            <a:pPr algn="l">
              <a:defRPr sz="2175" b="1">
                <a:solidFill>
                  <a:srgbClr val="171717"/>
                </a:solidFill>
                <a:latin typeface="Calibri"/>
                <a:ea typeface="Calibri"/>
                <a:cs typeface="Calibri"/>
              </a:defRPr>
            </a:pPr>
            <a:r>
              <a:rPr sz="2175" b="1">
                <a:solidFill>
                  <a:srgbClr val="171717"/>
                </a:solidFill>
                <a:latin typeface="Calibri"/>
                <a:ea typeface="Calibri"/>
                <a:cs typeface="Calibri"/>
              </a:rPr>
              <a:t>1. Dispatch</a:t>
            </a:r>
          </a:p>
        </p:txBody>
      </p:sp>
      <p:sp>
        <p:nvSpPr>
          <p:cNvPr id="7" name="Rectangle 6">
            <a:extLst>
              <a:ext uri="{FF2B5EF4-FFF2-40B4-BE49-F238E27FC236}">
                <a16:creationId xmlns:a16="http://schemas.microsoft.com/office/drawing/2014/main" id="{4B441FC7-18A9-46F8-8024-5FA33E22934F}"/>
              </a:ext>
            </a:extLst>
          </p:cNvPr>
          <p:cNvSpPr>
            <a:spLocks noGrp="1"/>
          </p:cNvSpPr>
          <p:nvPr/>
        </p:nvSpPr>
        <p:spPr>
          <a:xfrm>
            <a:off x="666750" y="5562600"/>
            <a:ext cx="3333750" cy="809625"/>
          </a:xfrm>
          <a:prstGeom prst="rect">
            <a:avLst/>
          </a:prstGeom>
          <a:noFill/>
          <a:ln w="0">
            <a:noFill/>
          </a:ln>
        </p:spPr>
        <p:txBody>
          <a:bodyPr wrap="square" lIns="0" tIns="0" rIns="0" bIns="0" anchor="t">
            <a:noAutofit/>
          </a:bodyPr>
          <a:lstStyle>
            <a:defPPr algn="l">
              <a:defRPr sz="2100" b="0">
                <a:solidFill>
                  <a:srgbClr val="171717"/>
                </a:solidFill>
                <a:latin typeface="Calibri"/>
                <a:ea typeface="Calibri"/>
                <a:cs typeface="Calibri"/>
              </a:defRPr>
            </a:defPPr>
            <a:lvl1pPr algn="l">
              <a:defRPr sz="2100" b="0">
                <a:solidFill>
                  <a:srgbClr val="171717"/>
                </a:solidFill>
                <a:latin typeface="Calibri"/>
                <a:ea typeface="Calibri"/>
                <a:cs typeface="Calibri"/>
              </a:defRPr>
            </a:lvl1pPr>
            <a:lvl2pPr algn="l">
              <a:defRPr sz="2100" b="0">
                <a:solidFill>
                  <a:srgbClr val="171717"/>
                </a:solidFill>
                <a:latin typeface="Calibri"/>
                <a:ea typeface="Calibri"/>
                <a:cs typeface="Calibri"/>
              </a:defRPr>
            </a:lvl2pPr>
            <a:lvl3pPr algn="l">
              <a:defRPr sz="2100" b="0">
                <a:solidFill>
                  <a:srgbClr val="171717"/>
                </a:solidFill>
                <a:latin typeface="Calibri"/>
                <a:ea typeface="Calibri"/>
                <a:cs typeface="Calibri"/>
              </a:defRPr>
            </a:lvl3pPr>
            <a:lvl4pPr algn="l">
              <a:defRPr sz="2100" b="0">
                <a:solidFill>
                  <a:srgbClr val="171717"/>
                </a:solidFill>
                <a:latin typeface="Calibri"/>
                <a:ea typeface="Calibri"/>
                <a:cs typeface="Calibri"/>
              </a:defRPr>
            </a:lvl4pPr>
            <a:lvl5pPr algn="l">
              <a:defRPr sz="2100" b="0">
                <a:solidFill>
                  <a:srgbClr val="171717"/>
                </a:solidFill>
                <a:latin typeface="Calibri"/>
                <a:ea typeface="Calibri"/>
                <a:cs typeface="Calibri"/>
              </a:defRPr>
            </a:lvl5pPr>
            <a:lvl6pPr algn="l">
              <a:defRPr sz="2100" b="0">
                <a:solidFill>
                  <a:srgbClr val="171717"/>
                </a:solidFill>
                <a:latin typeface="Calibri"/>
                <a:ea typeface="Calibri"/>
                <a:cs typeface="Calibri"/>
              </a:defRPr>
            </a:lvl6pPr>
            <a:lvl7pPr algn="l">
              <a:defRPr sz="2100" b="0">
                <a:solidFill>
                  <a:srgbClr val="171717"/>
                </a:solidFill>
                <a:latin typeface="Calibri"/>
                <a:ea typeface="Calibri"/>
                <a:cs typeface="Calibri"/>
              </a:defRPr>
            </a:lvl7pPr>
            <a:lvl8pPr algn="l">
              <a:defRPr sz="2100" b="0">
                <a:solidFill>
                  <a:srgbClr val="171717"/>
                </a:solidFill>
                <a:latin typeface="Calibri"/>
                <a:ea typeface="Calibri"/>
                <a:cs typeface="Calibri"/>
              </a:defRPr>
            </a:lvl8pPr>
            <a:lvl9pPr algn="l">
              <a:defRPr sz="2100" b="0">
                <a:solidFill>
                  <a:srgbClr val="171717"/>
                </a:solidFill>
                <a:latin typeface="Calibri"/>
                <a:ea typeface="Calibri"/>
                <a:cs typeface="Calibri"/>
              </a:defRPr>
            </a:lvl9pPr>
          </a:lstStyle>
          <a:p>
            <a:pPr algn="l">
              <a:defRPr sz="2100" b="0">
                <a:solidFill>
                  <a:srgbClr val="171717"/>
                </a:solidFill>
                <a:latin typeface="Calibri"/>
                <a:ea typeface="Calibri"/>
                <a:cs typeface="Calibri"/>
              </a:defRPr>
            </a:pPr>
            <a:r>
              <a:rPr sz="2100" b="0">
                <a:solidFill>
                  <a:srgbClr val="171717"/>
                </a:solidFill>
                <a:latin typeface="Calibri"/>
                <a:ea typeface="Calibri"/>
                <a:cs typeface="Calibri"/>
              </a:rPr>
              <a:t>Send each token to its selected experts.</a:t>
            </a:r>
          </a:p>
        </p:txBody>
      </p:sp>
      <p:sp>
        <p:nvSpPr>
          <p:cNvPr id="8" name="Rectangle 7">
            <a:extLst>
              <a:ext uri="{FF2B5EF4-FFF2-40B4-BE49-F238E27FC236}">
                <a16:creationId xmlns:a16="http://schemas.microsoft.com/office/drawing/2014/main" id="{49C4080F-03AF-4944-96A7-1735EF37EA6A}"/>
              </a:ext>
            </a:extLst>
          </p:cNvPr>
          <p:cNvSpPr>
            <a:spLocks noGrp="1"/>
          </p:cNvSpPr>
          <p:nvPr/>
        </p:nvSpPr>
        <p:spPr>
          <a:xfrm>
            <a:off x="4476750" y="5048250"/>
            <a:ext cx="3333750" cy="428625"/>
          </a:xfrm>
          <a:prstGeom prst="rect">
            <a:avLst/>
          </a:prstGeom>
          <a:noFill/>
          <a:ln w="0">
            <a:noFill/>
          </a:ln>
        </p:spPr>
        <p:txBody>
          <a:bodyPr wrap="square" lIns="0" tIns="0" rIns="0" bIns="0" anchor="t">
            <a:noAutofit/>
          </a:bodyPr>
          <a:lstStyle>
            <a:defPPr algn="l">
              <a:defRPr sz="2175" b="1">
                <a:solidFill>
                  <a:srgbClr val="171717"/>
                </a:solidFill>
                <a:latin typeface="Calibri"/>
                <a:ea typeface="Calibri"/>
                <a:cs typeface="Calibri"/>
              </a:defRPr>
            </a:defPPr>
            <a:lvl1pPr algn="l">
              <a:defRPr sz="2175" b="1">
                <a:solidFill>
                  <a:srgbClr val="171717"/>
                </a:solidFill>
                <a:latin typeface="Calibri"/>
                <a:ea typeface="Calibri"/>
                <a:cs typeface="Calibri"/>
              </a:defRPr>
            </a:lvl1pPr>
            <a:lvl2pPr algn="l">
              <a:defRPr sz="2175" b="1">
                <a:solidFill>
                  <a:srgbClr val="171717"/>
                </a:solidFill>
                <a:latin typeface="Calibri"/>
                <a:ea typeface="Calibri"/>
                <a:cs typeface="Calibri"/>
              </a:defRPr>
            </a:lvl2pPr>
            <a:lvl3pPr algn="l">
              <a:defRPr sz="2175" b="1">
                <a:solidFill>
                  <a:srgbClr val="171717"/>
                </a:solidFill>
                <a:latin typeface="Calibri"/>
                <a:ea typeface="Calibri"/>
                <a:cs typeface="Calibri"/>
              </a:defRPr>
            </a:lvl3pPr>
            <a:lvl4pPr algn="l">
              <a:defRPr sz="2175" b="1">
                <a:solidFill>
                  <a:srgbClr val="171717"/>
                </a:solidFill>
                <a:latin typeface="Calibri"/>
                <a:ea typeface="Calibri"/>
                <a:cs typeface="Calibri"/>
              </a:defRPr>
            </a:lvl4pPr>
            <a:lvl5pPr algn="l">
              <a:defRPr sz="2175" b="1">
                <a:solidFill>
                  <a:srgbClr val="171717"/>
                </a:solidFill>
                <a:latin typeface="Calibri"/>
                <a:ea typeface="Calibri"/>
                <a:cs typeface="Calibri"/>
              </a:defRPr>
            </a:lvl5pPr>
            <a:lvl6pPr algn="l">
              <a:defRPr sz="2175" b="1">
                <a:solidFill>
                  <a:srgbClr val="171717"/>
                </a:solidFill>
                <a:latin typeface="Calibri"/>
                <a:ea typeface="Calibri"/>
                <a:cs typeface="Calibri"/>
              </a:defRPr>
            </a:lvl6pPr>
            <a:lvl7pPr algn="l">
              <a:defRPr sz="2175" b="1">
                <a:solidFill>
                  <a:srgbClr val="171717"/>
                </a:solidFill>
                <a:latin typeface="Calibri"/>
                <a:ea typeface="Calibri"/>
                <a:cs typeface="Calibri"/>
              </a:defRPr>
            </a:lvl7pPr>
            <a:lvl8pPr algn="l">
              <a:defRPr sz="2175" b="1">
                <a:solidFill>
                  <a:srgbClr val="171717"/>
                </a:solidFill>
                <a:latin typeface="Calibri"/>
                <a:ea typeface="Calibri"/>
                <a:cs typeface="Calibri"/>
              </a:defRPr>
            </a:lvl8pPr>
            <a:lvl9pPr algn="l">
              <a:defRPr sz="2175" b="1">
                <a:solidFill>
                  <a:srgbClr val="171717"/>
                </a:solidFill>
                <a:latin typeface="Calibri"/>
                <a:ea typeface="Calibri"/>
                <a:cs typeface="Calibri"/>
              </a:defRPr>
            </a:lvl9pPr>
          </a:lstStyle>
          <a:p>
            <a:pPr algn="l">
              <a:defRPr sz="2175" b="1">
                <a:solidFill>
                  <a:srgbClr val="171717"/>
                </a:solidFill>
                <a:latin typeface="Calibri"/>
                <a:ea typeface="Calibri"/>
                <a:cs typeface="Calibri"/>
              </a:defRPr>
            </a:pPr>
            <a:r>
              <a:rPr sz="2175" b="1">
                <a:solidFill>
                  <a:srgbClr val="171717"/>
                </a:solidFill>
                <a:latin typeface="Calibri"/>
                <a:ea typeface="Calibri"/>
                <a:cs typeface="Calibri"/>
              </a:rPr>
              <a:t>2. Compute</a:t>
            </a:r>
          </a:p>
        </p:txBody>
      </p:sp>
      <p:sp>
        <p:nvSpPr>
          <p:cNvPr id="9" name="Rectangle 8">
            <a:extLst>
              <a:ext uri="{FF2B5EF4-FFF2-40B4-BE49-F238E27FC236}">
                <a16:creationId xmlns:a16="http://schemas.microsoft.com/office/drawing/2014/main" id="{FBDDC005-94D6-4AB1-85F9-88567E2F6EF1}"/>
              </a:ext>
            </a:extLst>
          </p:cNvPr>
          <p:cNvSpPr>
            <a:spLocks noGrp="1"/>
          </p:cNvSpPr>
          <p:nvPr/>
        </p:nvSpPr>
        <p:spPr>
          <a:xfrm>
            <a:off x="4476750" y="5562600"/>
            <a:ext cx="3333750" cy="809625"/>
          </a:xfrm>
          <a:prstGeom prst="rect">
            <a:avLst/>
          </a:prstGeom>
          <a:noFill/>
          <a:ln w="0">
            <a:noFill/>
          </a:ln>
        </p:spPr>
        <p:txBody>
          <a:bodyPr wrap="square" lIns="0" tIns="0" rIns="0" bIns="0" anchor="t">
            <a:noAutofit/>
          </a:bodyPr>
          <a:lstStyle>
            <a:defPPr algn="l">
              <a:defRPr sz="2100" b="0">
                <a:solidFill>
                  <a:srgbClr val="171717"/>
                </a:solidFill>
                <a:latin typeface="Calibri"/>
                <a:ea typeface="Calibri"/>
                <a:cs typeface="Calibri"/>
              </a:defRPr>
            </a:defPPr>
            <a:lvl1pPr algn="l">
              <a:defRPr sz="2100" b="0">
                <a:solidFill>
                  <a:srgbClr val="171717"/>
                </a:solidFill>
                <a:latin typeface="Calibri"/>
                <a:ea typeface="Calibri"/>
                <a:cs typeface="Calibri"/>
              </a:defRPr>
            </a:lvl1pPr>
            <a:lvl2pPr algn="l">
              <a:defRPr sz="2100" b="0">
                <a:solidFill>
                  <a:srgbClr val="171717"/>
                </a:solidFill>
                <a:latin typeface="Calibri"/>
                <a:ea typeface="Calibri"/>
                <a:cs typeface="Calibri"/>
              </a:defRPr>
            </a:lvl2pPr>
            <a:lvl3pPr algn="l">
              <a:defRPr sz="2100" b="0">
                <a:solidFill>
                  <a:srgbClr val="171717"/>
                </a:solidFill>
                <a:latin typeface="Calibri"/>
                <a:ea typeface="Calibri"/>
                <a:cs typeface="Calibri"/>
              </a:defRPr>
            </a:lvl3pPr>
            <a:lvl4pPr algn="l">
              <a:defRPr sz="2100" b="0">
                <a:solidFill>
                  <a:srgbClr val="171717"/>
                </a:solidFill>
                <a:latin typeface="Calibri"/>
                <a:ea typeface="Calibri"/>
                <a:cs typeface="Calibri"/>
              </a:defRPr>
            </a:lvl4pPr>
            <a:lvl5pPr algn="l">
              <a:defRPr sz="2100" b="0">
                <a:solidFill>
                  <a:srgbClr val="171717"/>
                </a:solidFill>
                <a:latin typeface="Calibri"/>
                <a:ea typeface="Calibri"/>
                <a:cs typeface="Calibri"/>
              </a:defRPr>
            </a:lvl5pPr>
            <a:lvl6pPr algn="l">
              <a:defRPr sz="2100" b="0">
                <a:solidFill>
                  <a:srgbClr val="171717"/>
                </a:solidFill>
                <a:latin typeface="Calibri"/>
                <a:ea typeface="Calibri"/>
                <a:cs typeface="Calibri"/>
              </a:defRPr>
            </a:lvl6pPr>
            <a:lvl7pPr algn="l">
              <a:defRPr sz="2100" b="0">
                <a:solidFill>
                  <a:srgbClr val="171717"/>
                </a:solidFill>
                <a:latin typeface="Calibri"/>
                <a:ea typeface="Calibri"/>
                <a:cs typeface="Calibri"/>
              </a:defRPr>
            </a:lvl7pPr>
            <a:lvl8pPr algn="l">
              <a:defRPr sz="2100" b="0">
                <a:solidFill>
                  <a:srgbClr val="171717"/>
                </a:solidFill>
                <a:latin typeface="Calibri"/>
                <a:ea typeface="Calibri"/>
                <a:cs typeface="Calibri"/>
              </a:defRPr>
            </a:lvl8pPr>
            <a:lvl9pPr algn="l">
              <a:defRPr sz="2100" b="0">
                <a:solidFill>
                  <a:srgbClr val="171717"/>
                </a:solidFill>
                <a:latin typeface="Calibri"/>
                <a:ea typeface="Calibri"/>
                <a:cs typeface="Calibri"/>
              </a:defRPr>
            </a:lvl9pPr>
          </a:lstStyle>
          <a:p>
            <a:pPr algn="l">
              <a:defRPr sz="2100" b="0">
                <a:solidFill>
                  <a:srgbClr val="171717"/>
                </a:solidFill>
                <a:latin typeface="Calibri"/>
                <a:ea typeface="Calibri"/>
                <a:cs typeface="Calibri"/>
              </a:defRPr>
            </a:pPr>
            <a:r>
              <a:rPr sz="2100" b="0">
                <a:solidFill>
                  <a:srgbClr val="171717"/>
                </a:solidFill>
                <a:latin typeface="Calibri"/>
                <a:ea typeface="Calibri"/>
                <a:cs typeface="Calibri"/>
              </a:rPr>
              <a:t>Run each expert FFN on the tokens it receives.</a:t>
            </a:r>
          </a:p>
        </p:txBody>
      </p:sp>
      <p:sp>
        <p:nvSpPr>
          <p:cNvPr id="10" name="Rectangle 9">
            <a:extLst>
              <a:ext uri="{FF2B5EF4-FFF2-40B4-BE49-F238E27FC236}">
                <a16:creationId xmlns:a16="http://schemas.microsoft.com/office/drawing/2014/main" id="{C5C66084-C0F7-4A6C-BD58-DD0FD00C3312}"/>
              </a:ext>
            </a:extLst>
          </p:cNvPr>
          <p:cNvSpPr>
            <a:spLocks noGrp="1"/>
          </p:cNvSpPr>
          <p:nvPr/>
        </p:nvSpPr>
        <p:spPr>
          <a:xfrm>
            <a:off x="8286750" y="5048250"/>
            <a:ext cx="3333750" cy="428625"/>
          </a:xfrm>
          <a:prstGeom prst="rect">
            <a:avLst/>
          </a:prstGeom>
          <a:noFill/>
          <a:ln w="0">
            <a:noFill/>
          </a:ln>
        </p:spPr>
        <p:txBody>
          <a:bodyPr wrap="square" lIns="0" tIns="0" rIns="0" bIns="0" anchor="t">
            <a:noAutofit/>
          </a:bodyPr>
          <a:lstStyle>
            <a:defPPr algn="l">
              <a:defRPr sz="2175" b="1">
                <a:solidFill>
                  <a:srgbClr val="171717"/>
                </a:solidFill>
                <a:latin typeface="Calibri"/>
                <a:ea typeface="Calibri"/>
                <a:cs typeface="Calibri"/>
              </a:defRPr>
            </a:defPPr>
            <a:lvl1pPr algn="l">
              <a:defRPr sz="2175" b="1">
                <a:solidFill>
                  <a:srgbClr val="171717"/>
                </a:solidFill>
                <a:latin typeface="Calibri"/>
                <a:ea typeface="Calibri"/>
                <a:cs typeface="Calibri"/>
              </a:defRPr>
            </a:lvl1pPr>
            <a:lvl2pPr algn="l">
              <a:defRPr sz="2175" b="1">
                <a:solidFill>
                  <a:srgbClr val="171717"/>
                </a:solidFill>
                <a:latin typeface="Calibri"/>
                <a:ea typeface="Calibri"/>
                <a:cs typeface="Calibri"/>
              </a:defRPr>
            </a:lvl2pPr>
            <a:lvl3pPr algn="l">
              <a:defRPr sz="2175" b="1">
                <a:solidFill>
                  <a:srgbClr val="171717"/>
                </a:solidFill>
                <a:latin typeface="Calibri"/>
                <a:ea typeface="Calibri"/>
                <a:cs typeface="Calibri"/>
              </a:defRPr>
            </a:lvl3pPr>
            <a:lvl4pPr algn="l">
              <a:defRPr sz="2175" b="1">
                <a:solidFill>
                  <a:srgbClr val="171717"/>
                </a:solidFill>
                <a:latin typeface="Calibri"/>
                <a:ea typeface="Calibri"/>
                <a:cs typeface="Calibri"/>
              </a:defRPr>
            </a:lvl4pPr>
            <a:lvl5pPr algn="l">
              <a:defRPr sz="2175" b="1">
                <a:solidFill>
                  <a:srgbClr val="171717"/>
                </a:solidFill>
                <a:latin typeface="Calibri"/>
                <a:ea typeface="Calibri"/>
                <a:cs typeface="Calibri"/>
              </a:defRPr>
            </a:lvl5pPr>
            <a:lvl6pPr algn="l">
              <a:defRPr sz="2175" b="1">
                <a:solidFill>
                  <a:srgbClr val="171717"/>
                </a:solidFill>
                <a:latin typeface="Calibri"/>
                <a:ea typeface="Calibri"/>
                <a:cs typeface="Calibri"/>
              </a:defRPr>
            </a:lvl6pPr>
            <a:lvl7pPr algn="l">
              <a:defRPr sz="2175" b="1">
                <a:solidFill>
                  <a:srgbClr val="171717"/>
                </a:solidFill>
                <a:latin typeface="Calibri"/>
                <a:ea typeface="Calibri"/>
                <a:cs typeface="Calibri"/>
              </a:defRPr>
            </a:lvl7pPr>
            <a:lvl8pPr algn="l">
              <a:defRPr sz="2175" b="1">
                <a:solidFill>
                  <a:srgbClr val="171717"/>
                </a:solidFill>
                <a:latin typeface="Calibri"/>
                <a:ea typeface="Calibri"/>
                <a:cs typeface="Calibri"/>
              </a:defRPr>
            </a:lvl8pPr>
            <a:lvl9pPr algn="l">
              <a:defRPr sz="2175" b="1">
                <a:solidFill>
                  <a:srgbClr val="171717"/>
                </a:solidFill>
                <a:latin typeface="Calibri"/>
                <a:ea typeface="Calibri"/>
                <a:cs typeface="Calibri"/>
              </a:defRPr>
            </a:lvl9pPr>
          </a:lstStyle>
          <a:p>
            <a:pPr algn="l">
              <a:defRPr sz="2175" b="1">
                <a:solidFill>
                  <a:srgbClr val="171717"/>
                </a:solidFill>
                <a:latin typeface="Calibri"/>
                <a:ea typeface="Calibri"/>
                <a:cs typeface="Calibri"/>
              </a:defRPr>
            </a:pPr>
            <a:r>
              <a:rPr sz="2175" b="1">
                <a:solidFill>
                  <a:srgbClr val="171717"/>
                </a:solidFill>
                <a:latin typeface="Calibri"/>
                <a:ea typeface="Calibri"/>
                <a:cs typeface="Calibri"/>
              </a:rPr>
              <a:t>3. Combine</a:t>
            </a:r>
          </a:p>
        </p:txBody>
      </p:sp>
      <p:sp>
        <p:nvSpPr>
          <p:cNvPr id="11" name="Rectangle 10">
            <a:extLst>
              <a:ext uri="{FF2B5EF4-FFF2-40B4-BE49-F238E27FC236}">
                <a16:creationId xmlns:a16="http://schemas.microsoft.com/office/drawing/2014/main" id="{89B81B93-B9B1-478B-849C-DD935D7A7C5A}"/>
              </a:ext>
            </a:extLst>
          </p:cNvPr>
          <p:cNvSpPr>
            <a:spLocks noGrp="1"/>
          </p:cNvSpPr>
          <p:nvPr/>
        </p:nvSpPr>
        <p:spPr>
          <a:xfrm>
            <a:off x="8286750" y="5562600"/>
            <a:ext cx="3333750" cy="809625"/>
          </a:xfrm>
          <a:prstGeom prst="rect">
            <a:avLst/>
          </a:prstGeom>
          <a:noFill/>
          <a:ln w="0">
            <a:noFill/>
          </a:ln>
        </p:spPr>
        <p:txBody>
          <a:bodyPr wrap="square" lIns="0" tIns="0" rIns="0" bIns="0" anchor="t">
            <a:noAutofit/>
          </a:bodyPr>
          <a:lstStyle>
            <a:defPPr algn="l">
              <a:defRPr sz="2100" b="0">
                <a:solidFill>
                  <a:srgbClr val="171717"/>
                </a:solidFill>
                <a:latin typeface="Calibri"/>
                <a:ea typeface="Calibri"/>
                <a:cs typeface="Calibri"/>
              </a:defRPr>
            </a:defPPr>
            <a:lvl1pPr algn="l">
              <a:defRPr sz="2100" b="0">
                <a:solidFill>
                  <a:srgbClr val="171717"/>
                </a:solidFill>
                <a:latin typeface="Calibri"/>
                <a:ea typeface="Calibri"/>
                <a:cs typeface="Calibri"/>
              </a:defRPr>
            </a:lvl1pPr>
            <a:lvl2pPr algn="l">
              <a:defRPr sz="2100" b="0">
                <a:solidFill>
                  <a:srgbClr val="171717"/>
                </a:solidFill>
                <a:latin typeface="Calibri"/>
                <a:ea typeface="Calibri"/>
                <a:cs typeface="Calibri"/>
              </a:defRPr>
            </a:lvl2pPr>
            <a:lvl3pPr algn="l">
              <a:defRPr sz="2100" b="0">
                <a:solidFill>
                  <a:srgbClr val="171717"/>
                </a:solidFill>
                <a:latin typeface="Calibri"/>
                <a:ea typeface="Calibri"/>
                <a:cs typeface="Calibri"/>
              </a:defRPr>
            </a:lvl3pPr>
            <a:lvl4pPr algn="l">
              <a:defRPr sz="2100" b="0">
                <a:solidFill>
                  <a:srgbClr val="171717"/>
                </a:solidFill>
                <a:latin typeface="Calibri"/>
                <a:ea typeface="Calibri"/>
                <a:cs typeface="Calibri"/>
              </a:defRPr>
            </a:lvl4pPr>
            <a:lvl5pPr algn="l">
              <a:defRPr sz="2100" b="0">
                <a:solidFill>
                  <a:srgbClr val="171717"/>
                </a:solidFill>
                <a:latin typeface="Calibri"/>
                <a:ea typeface="Calibri"/>
                <a:cs typeface="Calibri"/>
              </a:defRPr>
            </a:lvl5pPr>
            <a:lvl6pPr algn="l">
              <a:defRPr sz="2100" b="0">
                <a:solidFill>
                  <a:srgbClr val="171717"/>
                </a:solidFill>
                <a:latin typeface="Calibri"/>
                <a:ea typeface="Calibri"/>
                <a:cs typeface="Calibri"/>
              </a:defRPr>
            </a:lvl6pPr>
            <a:lvl7pPr algn="l">
              <a:defRPr sz="2100" b="0">
                <a:solidFill>
                  <a:srgbClr val="171717"/>
                </a:solidFill>
                <a:latin typeface="Calibri"/>
                <a:ea typeface="Calibri"/>
                <a:cs typeface="Calibri"/>
              </a:defRPr>
            </a:lvl7pPr>
            <a:lvl8pPr algn="l">
              <a:defRPr sz="2100" b="0">
                <a:solidFill>
                  <a:srgbClr val="171717"/>
                </a:solidFill>
                <a:latin typeface="Calibri"/>
                <a:ea typeface="Calibri"/>
                <a:cs typeface="Calibri"/>
              </a:defRPr>
            </a:lvl8pPr>
            <a:lvl9pPr algn="l">
              <a:defRPr sz="2100" b="0">
                <a:solidFill>
                  <a:srgbClr val="171717"/>
                </a:solidFill>
                <a:latin typeface="Calibri"/>
                <a:ea typeface="Calibri"/>
                <a:cs typeface="Calibri"/>
              </a:defRPr>
            </a:lvl9pPr>
          </a:lstStyle>
          <a:p>
            <a:pPr algn="l">
              <a:defRPr sz="2100" b="0">
                <a:solidFill>
                  <a:srgbClr val="171717"/>
                </a:solidFill>
                <a:latin typeface="Calibri"/>
                <a:ea typeface="Calibri"/>
                <a:cs typeface="Calibri"/>
              </a:defRPr>
            </a:pPr>
            <a:r>
              <a:rPr sz="2100" b="0">
                <a:solidFill>
                  <a:srgbClr val="171717"/>
                </a:solidFill>
                <a:latin typeface="Calibri"/>
                <a:ea typeface="Calibri"/>
                <a:cs typeface="Calibri"/>
              </a:rPr>
              <a:t>Return outputs and form the weighted sum.</a:t>
            </a:r>
          </a:p>
        </p:txBody>
      </p:sp>
      <p:sp>
        <p:nvSpPr>
          <p:cNvPr id="12" name="Source">
            <a:extLst>
              <a:ext uri="{FF2B5EF4-FFF2-40B4-BE49-F238E27FC236}">
                <a16:creationId xmlns:a16="http://schemas.microsoft.com/office/drawing/2014/main" id="{36C78189-F16F-4377-8857-C9C4D9E1428A}"/>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Lepikhin et al., 2020. GShard</a:t>
            </a:r>
          </a:p>
        </p:txBody>
      </p:sp>
      <p:sp>
        <p:nvSpPr>
          <p:cNvPr id="13" name="Slide number">
            <a:extLst>
              <a:ext uri="{FF2B5EF4-FFF2-40B4-BE49-F238E27FC236}">
                <a16:creationId xmlns:a16="http://schemas.microsoft.com/office/drawing/2014/main" id="{A6CCD889-9BCF-481A-9D69-8109E97C11F7}"/>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44</a:t>
            </a:r>
          </a:p>
        </p:txBody>
      </p:sp>
    </p:spTree>
    <p:extLst>
      <p:ext uri="{BB962C8B-B14F-4D97-AF65-F5344CB8AC3E}">
        <p14:creationId xmlns:p14="http://schemas.microsoft.com/office/powerpoint/2010/main" val="8260301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3F20F538-4D5B-4877-B2FE-4AFB5F116DDF}"/>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Efficient expert computation</a:t>
            </a:r>
          </a:p>
        </p:txBody>
      </p:sp>
      <p:pic>
        <p:nvPicPr>
          <p:cNvPr id="2" name="Picture 1">
            <a:extLst>
              <a:ext uri="{FF2B5EF4-FFF2-40B4-BE49-F238E27FC236}">
                <a16:creationId xmlns:a16="http://schemas.microsoft.com/office/drawing/2014/main" id="{85680B3A-5238-4446-AA05-E31C939954FA}"/>
              </a:ext>
            </a:extLst>
          </p:cNvPr>
          <p:cNvPicPr>
            <a:picLocks noChangeAspect="1"/>
          </p:cNvPicPr>
          <p:nvPr/>
        </p:nvPicPr>
        <p:blipFill>
          <a:blip r:embed="rId3"/>
          <a:stretch/>
        </p:blipFill>
        <p:spPr>
          <a:xfrm>
            <a:off x="619125" y="2288454"/>
            <a:ext cx="10953750" cy="2976417"/>
          </a:xfrm>
          <a:prstGeom prst="rect">
            <a:avLst/>
          </a:prstGeom>
        </p:spPr>
      </p:pic>
      <p:sp>
        <p:nvSpPr>
          <p:cNvPr id="3" name="Rectangle 2">
            <a:extLst>
              <a:ext uri="{FF2B5EF4-FFF2-40B4-BE49-F238E27FC236}">
                <a16:creationId xmlns:a16="http://schemas.microsoft.com/office/drawing/2014/main" id="{768B569F-2902-461F-9362-2DC051BA88A7}"/>
              </a:ext>
            </a:extLst>
          </p:cNvPr>
          <p:cNvSpPr>
            <a:spLocks noGrp="1"/>
          </p:cNvSpPr>
          <p:nvPr/>
        </p:nvSpPr>
        <p:spPr>
          <a:xfrm>
            <a:off x="666750" y="1095375"/>
            <a:ext cx="10858500" cy="61912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Routing creates token groups of different sizes for each expert.</a:t>
            </a:r>
          </a:p>
        </p:txBody>
      </p:sp>
      <p:sp>
        <p:nvSpPr>
          <p:cNvPr id="4" name="Rectangle 3">
            <a:extLst>
              <a:ext uri="{FF2B5EF4-FFF2-40B4-BE49-F238E27FC236}">
                <a16:creationId xmlns:a16="http://schemas.microsoft.com/office/drawing/2014/main" id="{B403259C-22EC-4A06-9821-DC6CD8B0BDD0}"/>
              </a:ext>
            </a:extLst>
          </p:cNvPr>
          <p:cNvSpPr>
            <a:spLocks noGrp="1"/>
          </p:cNvSpPr>
          <p:nvPr/>
        </p:nvSpPr>
        <p:spPr>
          <a:xfrm>
            <a:off x="666750" y="5524500"/>
            <a:ext cx="10858500" cy="8572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Grouped and block-sparse kernels handle uneven work without padding every expert to the same size.</a:t>
            </a:r>
          </a:p>
        </p:txBody>
      </p:sp>
      <p:sp>
        <p:nvSpPr>
          <p:cNvPr id="5" name="Source">
            <a:extLst>
              <a:ext uri="{FF2B5EF4-FFF2-40B4-BE49-F238E27FC236}">
                <a16:creationId xmlns:a16="http://schemas.microsoft.com/office/drawing/2014/main" id="{F93BF815-44E9-40CB-93AC-7D11EF0E28F9}"/>
              </a:ext>
            </a:extLst>
          </p:cNvPr>
          <p:cNvSpPr>
            <a:spLocks noGrp="1"/>
          </p:cNvSpPr>
          <p:nvPr/>
        </p:nvSpPr>
        <p:spPr>
          <a:xfrm>
            <a:off x="1428750" y="6543675"/>
            <a:ext cx="10287000" cy="238125"/>
          </a:xfrm>
          <a:prstGeom prst="rect">
            <a:avLst/>
          </a:prstGeom>
          <a:noFill/>
          <a:ln w="0">
            <a:noFill/>
          </a:ln>
        </p:spPr>
        <p:txBody>
          <a:bodyPr wrap="square" lIns="0" tIns="0" rIns="0" bIns="0" anchor="t">
            <a:noAutofit/>
          </a:bodyPr>
          <a:lstStyle>
            <a:defPPr algn="l">
              <a:defRPr sz="1200" b="0">
                <a:solidFill>
                  <a:srgbClr val="555555"/>
                </a:solidFill>
                <a:latin typeface="Calibri"/>
                <a:ea typeface="Calibri"/>
                <a:cs typeface="Calibri"/>
              </a:defRPr>
            </a:defPPr>
            <a:lvl1pPr algn="l">
              <a:defRPr sz="1200" b="0">
                <a:solidFill>
                  <a:srgbClr val="555555"/>
                </a:solidFill>
                <a:latin typeface="Calibri"/>
                <a:ea typeface="Calibri"/>
                <a:cs typeface="Calibri"/>
              </a:defRPr>
            </a:lvl1pPr>
            <a:lvl2pPr algn="l">
              <a:defRPr sz="1200" b="0">
                <a:solidFill>
                  <a:srgbClr val="555555"/>
                </a:solidFill>
                <a:latin typeface="Calibri"/>
                <a:ea typeface="Calibri"/>
                <a:cs typeface="Calibri"/>
              </a:defRPr>
            </a:lvl2pPr>
            <a:lvl3pPr algn="l">
              <a:defRPr sz="1200" b="0">
                <a:solidFill>
                  <a:srgbClr val="555555"/>
                </a:solidFill>
                <a:latin typeface="Calibri"/>
                <a:ea typeface="Calibri"/>
                <a:cs typeface="Calibri"/>
              </a:defRPr>
            </a:lvl3pPr>
            <a:lvl4pPr algn="l">
              <a:defRPr sz="1200" b="0">
                <a:solidFill>
                  <a:srgbClr val="555555"/>
                </a:solidFill>
                <a:latin typeface="Calibri"/>
                <a:ea typeface="Calibri"/>
                <a:cs typeface="Calibri"/>
              </a:defRPr>
            </a:lvl4pPr>
            <a:lvl5pPr algn="l">
              <a:defRPr sz="1200" b="0">
                <a:solidFill>
                  <a:srgbClr val="555555"/>
                </a:solidFill>
                <a:latin typeface="Calibri"/>
                <a:ea typeface="Calibri"/>
                <a:cs typeface="Calibri"/>
              </a:defRPr>
            </a:lvl5pPr>
            <a:lvl6pPr algn="l">
              <a:defRPr sz="1200" b="0">
                <a:solidFill>
                  <a:srgbClr val="555555"/>
                </a:solidFill>
                <a:latin typeface="Calibri"/>
                <a:ea typeface="Calibri"/>
                <a:cs typeface="Calibri"/>
              </a:defRPr>
            </a:lvl6pPr>
            <a:lvl7pPr algn="l">
              <a:defRPr sz="1200" b="0">
                <a:solidFill>
                  <a:srgbClr val="555555"/>
                </a:solidFill>
                <a:latin typeface="Calibri"/>
                <a:ea typeface="Calibri"/>
                <a:cs typeface="Calibri"/>
              </a:defRPr>
            </a:lvl7pPr>
            <a:lvl8pPr algn="l">
              <a:defRPr sz="1200" b="0">
                <a:solidFill>
                  <a:srgbClr val="555555"/>
                </a:solidFill>
                <a:latin typeface="Calibri"/>
                <a:ea typeface="Calibri"/>
                <a:cs typeface="Calibri"/>
              </a:defRPr>
            </a:lvl8pPr>
            <a:lvl9pPr algn="l">
              <a:defRPr sz="1200" b="0">
                <a:solidFill>
                  <a:srgbClr val="555555"/>
                </a:solidFill>
                <a:latin typeface="Calibri"/>
                <a:ea typeface="Calibri"/>
                <a:cs typeface="Calibri"/>
              </a:defRPr>
            </a:lvl9pPr>
          </a:lstStyle>
          <a:p>
            <a:pPr algn="l">
              <a:defRPr sz="1200" b="0">
                <a:solidFill>
                  <a:srgbClr val="555555"/>
                </a:solidFill>
                <a:latin typeface="Calibri"/>
                <a:ea typeface="Calibri"/>
                <a:cs typeface="Calibri"/>
              </a:defRPr>
            </a:pPr>
            <a:r>
              <a:rPr sz="1200" b="0">
                <a:solidFill>
                  <a:srgbClr val="555555"/>
                </a:solidFill>
                <a:latin typeface="Calibri"/>
                <a:ea typeface="Calibri"/>
                <a:cs typeface="Calibri"/>
              </a:rPr>
              <a:t>Gale et al., 2023. MegaBlocks</a:t>
            </a:r>
          </a:p>
        </p:txBody>
      </p:sp>
      <p:sp>
        <p:nvSpPr>
          <p:cNvPr id="6" name="Slide number">
            <a:extLst>
              <a:ext uri="{FF2B5EF4-FFF2-40B4-BE49-F238E27FC236}">
                <a16:creationId xmlns:a16="http://schemas.microsoft.com/office/drawing/2014/main" id="{C41D97DD-1623-485C-9BC3-ED63B7637AE8}"/>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45</a:t>
            </a:r>
          </a:p>
        </p:txBody>
      </p:sp>
    </p:spTree>
    <p:extLst>
      <p:ext uri="{BB962C8B-B14F-4D97-AF65-F5344CB8AC3E}">
        <p14:creationId xmlns:p14="http://schemas.microsoft.com/office/powerpoint/2010/main" val="19386434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830C6D33-2F9F-4642-A072-1F76A67A057A}"/>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The MoE trade-off</a:t>
            </a:r>
          </a:p>
        </p:txBody>
      </p:sp>
      <p:sp>
        <p:nvSpPr>
          <p:cNvPr id="2" name="Rectangle 1">
            <a:extLst>
              <a:ext uri="{FF2B5EF4-FFF2-40B4-BE49-F238E27FC236}">
                <a16:creationId xmlns:a16="http://schemas.microsoft.com/office/drawing/2014/main" id="{617ECCC3-4B61-4229-974E-8FF695374DBE}"/>
              </a:ext>
            </a:extLst>
          </p:cNvPr>
          <p:cNvSpPr>
            <a:spLocks noGrp="1"/>
          </p:cNvSpPr>
          <p:nvPr/>
        </p:nvSpPr>
        <p:spPr>
          <a:xfrm>
            <a:off x="857250" y="1476375"/>
            <a:ext cx="4762500" cy="476250"/>
          </a:xfrm>
          <a:prstGeom prst="rect">
            <a:avLst/>
          </a:prstGeom>
          <a:noFill/>
          <a:ln w="0">
            <a:noFill/>
          </a:ln>
        </p:spPr>
        <p:txBody>
          <a:bodyPr wrap="square" lIns="0" tIns="0" rIns="0" bIns="0" anchor="t">
            <a:noAutofit/>
          </a:bodyPr>
          <a:lstStyle>
            <a:defPPr algn="l">
              <a:defRPr sz="2400" b="1">
                <a:solidFill>
                  <a:srgbClr val="171717"/>
                </a:solidFill>
                <a:latin typeface="Calibri"/>
                <a:ea typeface="Calibri"/>
                <a:cs typeface="Calibri"/>
              </a:defRPr>
            </a:defPPr>
            <a:lvl1pPr algn="l">
              <a:defRPr sz="2400" b="1">
                <a:solidFill>
                  <a:srgbClr val="171717"/>
                </a:solidFill>
                <a:latin typeface="Calibri"/>
                <a:ea typeface="Calibri"/>
                <a:cs typeface="Calibri"/>
              </a:defRPr>
            </a:lvl1pPr>
            <a:lvl2pPr algn="l">
              <a:defRPr sz="2400" b="1">
                <a:solidFill>
                  <a:srgbClr val="171717"/>
                </a:solidFill>
                <a:latin typeface="Calibri"/>
                <a:ea typeface="Calibri"/>
                <a:cs typeface="Calibri"/>
              </a:defRPr>
            </a:lvl2pPr>
            <a:lvl3pPr algn="l">
              <a:defRPr sz="2400" b="1">
                <a:solidFill>
                  <a:srgbClr val="171717"/>
                </a:solidFill>
                <a:latin typeface="Calibri"/>
                <a:ea typeface="Calibri"/>
                <a:cs typeface="Calibri"/>
              </a:defRPr>
            </a:lvl3pPr>
            <a:lvl4pPr algn="l">
              <a:defRPr sz="2400" b="1">
                <a:solidFill>
                  <a:srgbClr val="171717"/>
                </a:solidFill>
                <a:latin typeface="Calibri"/>
                <a:ea typeface="Calibri"/>
                <a:cs typeface="Calibri"/>
              </a:defRPr>
            </a:lvl4pPr>
            <a:lvl5pPr algn="l">
              <a:defRPr sz="2400" b="1">
                <a:solidFill>
                  <a:srgbClr val="171717"/>
                </a:solidFill>
                <a:latin typeface="Calibri"/>
                <a:ea typeface="Calibri"/>
                <a:cs typeface="Calibri"/>
              </a:defRPr>
            </a:lvl5pPr>
            <a:lvl6pPr algn="l">
              <a:defRPr sz="2400" b="1">
                <a:solidFill>
                  <a:srgbClr val="171717"/>
                </a:solidFill>
                <a:latin typeface="Calibri"/>
                <a:ea typeface="Calibri"/>
                <a:cs typeface="Calibri"/>
              </a:defRPr>
            </a:lvl6pPr>
            <a:lvl7pPr algn="l">
              <a:defRPr sz="2400" b="1">
                <a:solidFill>
                  <a:srgbClr val="171717"/>
                </a:solidFill>
                <a:latin typeface="Calibri"/>
                <a:ea typeface="Calibri"/>
                <a:cs typeface="Calibri"/>
              </a:defRPr>
            </a:lvl7pPr>
            <a:lvl8pPr algn="l">
              <a:defRPr sz="2400" b="1">
                <a:solidFill>
                  <a:srgbClr val="171717"/>
                </a:solidFill>
                <a:latin typeface="Calibri"/>
                <a:ea typeface="Calibri"/>
                <a:cs typeface="Calibri"/>
              </a:defRPr>
            </a:lvl8pPr>
            <a:lvl9pPr algn="l">
              <a:defRPr sz="2400" b="1">
                <a:solidFill>
                  <a:srgbClr val="171717"/>
                </a:solidFill>
                <a:latin typeface="Calibri"/>
                <a:ea typeface="Calibri"/>
                <a:cs typeface="Calibri"/>
              </a:defRPr>
            </a:lvl9pPr>
          </a:lstStyle>
          <a:p>
            <a:pPr algn="l">
              <a:defRPr sz="2400" b="1">
                <a:solidFill>
                  <a:srgbClr val="171717"/>
                </a:solidFill>
                <a:latin typeface="Calibri"/>
                <a:ea typeface="Calibri"/>
                <a:cs typeface="Calibri"/>
              </a:defRPr>
            </a:pPr>
            <a:r>
              <a:rPr sz="2400" b="1">
                <a:solidFill>
                  <a:srgbClr val="171717"/>
                </a:solidFill>
                <a:latin typeface="Calibri"/>
                <a:ea typeface="Calibri"/>
                <a:cs typeface="Calibri"/>
              </a:rPr>
              <a:t>Total capacity</a:t>
            </a:r>
          </a:p>
        </p:txBody>
      </p:sp>
      <p:sp>
        <p:nvSpPr>
          <p:cNvPr id="3" name="Rectangle 2">
            <a:extLst>
              <a:ext uri="{FF2B5EF4-FFF2-40B4-BE49-F238E27FC236}">
                <a16:creationId xmlns:a16="http://schemas.microsoft.com/office/drawing/2014/main" id="{2F65394D-EEF9-4E68-9614-403FAD3DBF24}"/>
              </a:ext>
            </a:extLst>
          </p:cNvPr>
          <p:cNvSpPr>
            <a:spLocks noGrp="1"/>
          </p:cNvSpPr>
          <p:nvPr/>
        </p:nvSpPr>
        <p:spPr>
          <a:xfrm>
            <a:off x="857250" y="2171700"/>
            <a:ext cx="10382250" cy="904875"/>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Many expert parameters remain available, even though only a few experts run per token.</a:t>
            </a:r>
          </a:p>
        </p:txBody>
      </p:sp>
      <p:sp>
        <p:nvSpPr>
          <p:cNvPr id="4" name="Rectangle 3">
            <a:extLst>
              <a:ext uri="{FF2B5EF4-FFF2-40B4-BE49-F238E27FC236}">
                <a16:creationId xmlns:a16="http://schemas.microsoft.com/office/drawing/2014/main" id="{F8266C73-D585-453A-A47F-89191E3F82BF}"/>
              </a:ext>
            </a:extLst>
          </p:cNvPr>
          <p:cNvSpPr>
            <a:spLocks noGrp="1"/>
          </p:cNvSpPr>
          <p:nvPr/>
        </p:nvSpPr>
        <p:spPr>
          <a:xfrm>
            <a:off x="857250" y="3457575"/>
            <a:ext cx="4762500" cy="476250"/>
          </a:xfrm>
          <a:prstGeom prst="rect">
            <a:avLst/>
          </a:prstGeom>
          <a:noFill/>
          <a:ln w="0">
            <a:noFill/>
          </a:ln>
        </p:spPr>
        <p:txBody>
          <a:bodyPr wrap="square" lIns="0" tIns="0" rIns="0" bIns="0" anchor="t">
            <a:noAutofit/>
          </a:bodyPr>
          <a:lstStyle>
            <a:defPPr algn="l">
              <a:defRPr sz="2400" b="1">
                <a:solidFill>
                  <a:srgbClr val="171717"/>
                </a:solidFill>
                <a:latin typeface="Calibri"/>
                <a:ea typeface="Calibri"/>
                <a:cs typeface="Calibri"/>
              </a:defRPr>
            </a:defPPr>
            <a:lvl1pPr algn="l">
              <a:defRPr sz="2400" b="1">
                <a:solidFill>
                  <a:srgbClr val="171717"/>
                </a:solidFill>
                <a:latin typeface="Calibri"/>
                <a:ea typeface="Calibri"/>
                <a:cs typeface="Calibri"/>
              </a:defRPr>
            </a:lvl1pPr>
            <a:lvl2pPr algn="l">
              <a:defRPr sz="2400" b="1">
                <a:solidFill>
                  <a:srgbClr val="171717"/>
                </a:solidFill>
                <a:latin typeface="Calibri"/>
                <a:ea typeface="Calibri"/>
                <a:cs typeface="Calibri"/>
              </a:defRPr>
            </a:lvl2pPr>
            <a:lvl3pPr algn="l">
              <a:defRPr sz="2400" b="1">
                <a:solidFill>
                  <a:srgbClr val="171717"/>
                </a:solidFill>
                <a:latin typeface="Calibri"/>
                <a:ea typeface="Calibri"/>
                <a:cs typeface="Calibri"/>
              </a:defRPr>
            </a:lvl3pPr>
            <a:lvl4pPr algn="l">
              <a:defRPr sz="2400" b="1">
                <a:solidFill>
                  <a:srgbClr val="171717"/>
                </a:solidFill>
                <a:latin typeface="Calibri"/>
                <a:ea typeface="Calibri"/>
                <a:cs typeface="Calibri"/>
              </a:defRPr>
            </a:lvl4pPr>
            <a:lvl5pPr algn="l">
              <a:defRPr sz="2400" b="1">
                <a:solidFill>
                  <a:srgbClr val="171717"/>
                </a:solidFill>
                <a:latin typeface="Calibri"/>
                <a:ea typeface="Calibri"/>
                <a:cs typeface="Calibri"/>
              </a:defRPr>
            </a:lvl5pPr>
            <a:lvl6pPr algn="l">
              <a:defRPr sz="2400" b="1">
                <a:solidFill>
                  <a:srgbClr val="171717"/>
                </a:solidFill>
                <a:latin typeface="Calibri"/>
                <a:ea typeface="Calibri"/>
                <a:cs typeface="Calibri"/>
              </a:defRPr>
            </a:lvl6pPr>
            <a:lvl7pPr algn="l">
              <a:defRPr sz="2400" b="1">
                <a:solidFill>
                  <a:srgbClr val="171717"/>
                </a:solidFill>
                <a:latin typeface="Calibri"/>
                <a:ea typeface="Calibri"/>
                <a:cs typeface="Calibri"/>
              </a:defRPr>
            </a:lvl7pPr>
            <a:lvl8pPr algn="l">
              <a:defRPr sz="2400" b="1">
                <a:solidFill>
                  <a:srgbClr val="171717"/>
                </a:solidFill>
                <a:latin typeface="Calibri"/>
                <a:ea typeface="Calibri"/>
                <a:cs typeface="Calibri"/>
              </a:defRPr>
            </a:lvl8pPr>
            <a:lvl9pPr algn="l">
              <a:defRPr sz="2400" b="1">
                <a:solidFill>
                  <a:srgbClr val="171717"/>
                </a:solidFill>
                <a:latin typeface="Calibri"/>
                <a:ea typeface="Calibri"/>
                <a:cs typeface="Calibri"/>
              </a:defRPr>
            </a:lvl9pPr>
          </a:lstStyle>
          <a:p>
            <a:pPr algn="l">
              <a:defRPr sz="2400" b="1">
                <a:solidFill>
                  <a:srgbClr val="171717"/>
                </a:solidFill>
                <a:latin typeface="Calibri"/>
                <a:ea typeface="Calibri"/>
                <a:cs typeface="Calibri"/>
              </a:defRPr>
            </a:pPr>
            <a:r>
              <a:rPr sz="2400" b="1">
                <a:solidFill>
                  <a:srgbClr val="171717"/>
                </a:solidFill>
                <a:latin typeface="Calibri"/>
                <a:ea typeface="Calibri"/>
                <a:cs typeface="Calibri"/>
              </a:rPr>
              <a:t>Active computation</a:t>
            </a:r>
          </a:p>
        </p:txBody>
      </p:sp>
      <p:sp>
        <p:nvSpPr>
          <p:cNvPr id="5" name="Rectangle 4">
            <a:extLst>
              <a:ext uri="{FF2B5EF4-FFF2-40B4-BE49-F238E27FC236}">
                <a16:creationId xmlns:a16="http://schemas.microsoft.com/office/drawing/2014/main" id="{3A6ADE22-93A3-41B8-B74D-8D67D654FA7C}"/>
              </a:ext>
            </a:extLst>
          </p:cNvPr>
          <p:cNvSpPr>
            <a:spLocks noGrp="1"/>
          </p:cNvSpPr>
          <p:nvPr/>
        </p:nvSpPr>
        <p:spPr>
          <a:xfrm>
            <a:off x="857250" y="4095750"/>
            <a:ext cx="10382250" cy="7620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Top-k routing limits the expert FFNs used by each token.</a:t>
            </a:r>
          </a:p>
        </p:txBody>
      </p:sp>
      <p:sp>
        <p:nvSpPr>
          <p:cNvPr id="6" name="Rectangle 5">
            <a:extLst>
              <a:ext uri="{FF2B5EF4-FFF2-40B4-BE49-F238E27FC236}">
                <a16:creationId xmlns:a16="http://schemas.microsoft.com/office/drawing/2014/main" id="{260680A5-D931-4B04-8217-6168C6A877C7}"/>
              </a:ext>
            </a:extLst>
          </p:cNvPr>
          <p:cNvSpPr>
            <a:spLocks noGrp="1"/>
          </p:cNvSpPr>
          <p:nvPr/>
        </p:nvSpPr>
        <p:spPr>
          <a:xfrm>
            <a:off x="857250" y="5191125"/>
            <a:ext cx="9525000" cy="476250"/>
          </a:xfrm>
          <a:prstGeom prst="rect">
            <a:avLst/>
          </a:prstGeom>
          <a:noFill/>
          <a:ln w="0">
            <a:noFill/>
          </a:ln>
        </p:spPr>
        <p:txBody>
          <a:bodyPr wrap="square" lIns="0" tIns="0" rIns="0" bIns="0" anchor="t">
            <a:noAutofit/>
          </a:bodyPr>
          <a:lstStyle>
            <a:defPPr algn="l">
              <a:defRPr sz="2400" b="1">
                <a:solidFill>
                  <a:srgbClr val="171717"/>
                </a:solidFill>
                <a:latin typeface="Calibri"/>
                <a:ea typeface="Calibri"/>
                <a:cs typeface="Calibri"/>
              </a:defRPr>
            </a:defPPr>
            <a:lvl1pPr algn="l">
              <a:defRPr sz="2400" b="1">
                <a:solidFill>
                  <a:srgbClr val="171717"/>
                </a:solidFill>
                <a:latin typeface="Calibri"/>
                <a:ea typeface="Calibri"/>
                <a:cs typeface="Calibri"/>
              </a:defRPr>
            </a:lvl1pPr>
            <a:lvl2pPr algn="l">
              <a:defRPr sz="2400" b="1">
                <a:solidFill>
                  <a:srgbClr val="171717"/>
                </a:solidFill>
                <a:latin typeface="Calibri"/>
                <a:ea typeface="Calibri"/>
                <a:cs typeface="Calibri"/>
              </a:defRPr>
            </a:lvl2pPr>
            <a:lvl3pPr algn="l">
              <a:defRPr sz="2400" b="1">
                <a:solidFill>
                  <a:srgbClr val="171717"/>
                </a:solidFill>
                <a:latin typeface="Calibri"/>
                <a:ea typeface="Calibri"/>
                <a:cs typeface="Calibri"/>
              </a:defRPr>
            </a:lvl3pPr>
            <a:lvl4pPr algn="l">
              <a:defRPr sz="2400" b="1">
                <a:solidFill>
                  <a:srgbClr val="171717"/>
                </a:solidFill>
                <a:latin typeface="Calibri"/>
                <a:ea typeface="Calibri"/>
                <a:cs typeface="Calibri"/>
              </a:defRPr>
            </a:lvl4pPr>
            <a:lvl5pPr algn="l">
              <a:defRPr sz="2400" b="1">
                <a:solidFill>
                  <a:srgbClr val="171717"/>
                </a:solidFill>
                <a:latin typeface="Calibri"/>
                <a:ea typeface="Calibri"/>
                <a:cs typeface="Calibri"/>
              </a:defRPr>
            </a:lvl5pPr>
            <a:lvl6pPr algn="l">
              <a:defRPr sz="2400" b="1">
                <a:solidFill>
                  <a:srgbClr val="171717"/>
                </a:solidFill>
                <a:latin typeface="Calibri"/>
                <a:ea typeface="Calibri"/>
                <a:cs typeface="Calibri"/>
              </a:defRPr>
            </a:lvl6pPr>
            <a:lvl7pPr algn="l">
              <a:defRPr sz="2400" b="1">
                <a:solidFill>
                  <a:srgbClr val="171717"/>
                </a:solidFill>
                <a:latin typeface="Calibri"/>
                <a:ea typeface="Calibri"/>
                <a:cs typeface="Calibri"/>
              </a:defRPr>
            </a:lvl7pPr>
            <a:lvl8pPr algn="l">
              <a:defRPr sz="2400" b="1">
                <a:solidFill>
                  <a:srgbClr val="171717"/>
                </a:solidFill>
                <a:latin typeface="Calibri"/>
                <a:ea typeface="Calibri"/>
                <a:cs typeface="Calibri"/>
              </a:defRPr>
            </a:lvl8pPr>
            <a:lvl9pPr algn="l">
              <a:defRPr sz="2400" b="1">
                <a:solidFill>
                  <a:srgbClr val="171717"/>
                </a:solidFill>
                <a:latin typeface="Calibri"/>
                <a:ea typeface="Calibri"/>
                <a:cs typeface="Calibri"/>
              </a:defRPr>
            </a:lvl9pPr>
          </a:lstStyle>
          <a:p>
            <a:pPr algn="l">
              <a:defRPr sz="2400" b="1">
                <a:solidFill>
                  <a:srgbClr val="171717"/>
                </a:solidFill>
                <a:latin typeface="Calibri"/>
                <a:ea typeface="Calibri"/>
                <a:cs typeface="Calibri"/>
              </a:defRPr>
            </a:pPr>
            <a:r>
              <a:rPr sz="2400" b="1">
                <a:solidFill>
                  <a:srgbClr val="171717"/>
                </a:solidFill>
                <a:latin typeface="Calibri"/>
                <a:ea typeface="Calibri"/>
                <a:cs typeface="Calibri"/>
              </a:rPr>
              <a:t>Memory and communication</a:t>
            </a:r>
          </a:p>
        </p:txBody>
      </p:sp>
      <p:sp>
        <p:nvSpPr>
          <p:cNvPr id="7" name="Rectangle 6">
            <a:extLst>
              <a:ext uri="{FF2B5EF4-FFF2-40B4-BE49-F238E27FC236}">
                <a16:creationId xmlns:a16="http://schemas.microsoft.com/office/drawing/2014/main" id="{A2CDF789-7D0C-41AA-ABFF-46AB33D67A79}"/>
              </a:ext>
            </a:extLst>
          </p:cNvPr>
          <p:cNvSpPr>
            <a:spLocks noGrp="1"/>
          </p:cNvSpPr>
          <p:nvPr/>
        </p:nvSpPr>
        <p:spPr>
          <a:xfrm>
            <a:off x="857250" y="5791200"/>
            <a:ext cx="10382250" cy="714375"/>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All weights still need storage. Routing adds token transfers and load-balancing constraints.</a:t>
            </a:r>
          </a:p>
        </p:txBody>
      </p:sp>
      <p:sp>
        <p:nvSpPr>
          <p:cNvPr id="8" name="Slide number">
            <a:extLst>
              <a:ext uri="{FF2B5EF4-FFF2-40B4-BE49-F238E27FC236}">
                <a16:creationId xmlns:a16="http://schemas.microsoft.com/office/drawing/2014/main" id="{10C19254-D4FB-4B9F-8074-74D893B86AA9}"/>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46</a:t>
            </a:r>
          </a:p>
        </p:txBody>
      </p:sp>
    </p:spTree>
    <p:extLst>
      <p:ext uri="{BB962C8B-B14F-4D97-AF65-F5344CB8AC3E}">
        <p14:creationId xmlns:p14="http://schemas.microsoft.com/office/powerpoint/2010/main" val="14017357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E172EB20-4E1E-4FB2-85B0-035E1C77B988}"/>
              </a:ext>
            </a:extLst>
          </p:cNvPr>
          <p:cNvSpPr>
            <a:spLocks noGrp="1"/>
          </p:cNvSpPr>
          <p:nvPr/>
        </p:nvSpPr>
        <p:spPr>
          <a:xfrm>
            <a:off x="485775" y="266700"/>
            <a:ext cx="11239500" cy="619125"/>
          </a:xfrm>
          <a:prstGeom prst="rect">
            <a:avLst/>
          </a:prstGeom>
          <a:noFill/>
          <a:ln w="0">
            <a:noFill/>
          </a:ln>
        </p:spPr>
        <p:txBody>
          <a:bodyPr wrap="square" lIns="0" tIns="0" rIns="0" bIns="0" anchor="t">
            <a:noAutofit/>
          </a:bodyPr>
          <a:lstStyle>
            <a:defPPr algn="l">
              <a:defRPr sz="3150" b="1">
                <a:solidFill>
                  <a:srgbClr val="007B92"/>
                </a:solidFill>
                <a:latin typeface="Calibri"/>
                <a:ea typeface="Calibri"/>
                <a:cs typeface="Calibri"/>
              </a:defRPr>
            </a:defPPr>
            <a:lvl1pPr algn="l">
              <a:defRPr sz="3150" b="1">
                <a:solidFill>
                  <a:srgbClr val="007B92"/>
                </a:solidFill>
                <a:latin typeface="Calibri"/>
                <a:ea typeface="Calibri"/>
                <a:cs typeface="Calibri"/>
              </a:defRPr>
            </a:lvl1pPr>
            <a:lvl2pPr algn="l">
              <a:defRPr sz="3150" b="1">
                <a:solidFill>
                  <a:srgbClr val="007B92"/>
                </a:solidFill>
                <a:latin typeface="Calibri"/>
                <a:ea typeface="Calibri"/>
                <a:cs typeface="Calibri"/>
              </a:defRPr>
            </a:lvl2pPr>
            <a:lvl3pPr algn="l">
              <a:defRPr sz="3150" b="1">
                <a:solidFill>
                  <a:srgbClr val="007B92"/>
                </a:solidFill>
                <a:latin typeface="Calibri"/>
                <a:ea typeface="Calibri"/>
                <a:cs typeface="Calibri"/>
              </a:defRPr>
            </a:lvl3pPr>
            <a:lvl4pPr algn="l">
              <a:defRPr sz="3150" b="1">
                <a:solidFill>
                  <a:srgbClr val="007B92"/>
                </a:solidFill>
                <a:latin typeface="Calibri"/>
                <a:ea typeface="Calibri"/>
                <a:cs typeface="Calibri"/>
              </a:defRPr>
            </a:lvl4pPr>
            <a:lvl5pPr algn="l">
              <a:defRPr sz="3150" b="1">
                <a:solidFill>
                  <a:srgbClr val="007B92"/>
                </a:solidFill>
                <a:latin typeface="Calibri"/>
                <a:ea typeface="Calibri"/>
                <a:cs typeface="Calibri"/>
              </a:defRPr>
            </a:lvl5pPr>
            <a:lvl6pPr algn="l">
              <a:defRPr sz="3150" b="1">
                <a:solidFill>
                  <a:srgbClr val="007B92"/>
                </a:solidFill>
                <a:latin typeface="Calibri"/>
                <a:ea typeface="Calibri"/>
                <a:cs typeface="Calibri"/>
              </a:defRPr>
            </a:lvl6pPr>
            <a:lvl7pPr algn="l">
              <a:defRPr sz="3150" b="1">
                <a:solidFill>
                  <a:srgbClr val="007B92"/>
                </a:solidFill>
                <a:latin typeface="Calibri"/>
                <a:ea typeface="Calibri"/>
                <a:cs typeface="Calibri"/>
              </a:defRPr>
            </a:lvl7pPr>
            <a:lvl8pPr algn="l">
              <a:defRPr sz="3150" b="1">
                <a:solidFill>
                  <a:srgbClr val="007B92"/>
                </a:solidFill>
                <a:latin typeface="Calibri"/>
                <a:ea typeface="Calibri"/>
                <a:cs typeface="Calibri"/>
              </a:defRPr>
            </a:lvl8pPr>
            <a:lvl9pPr algn="l">
              <a:defRPr sz="3150" b="1">
                <a:solidFill>
                  <a:srgbClr val="007B92"/>
                </a:solidFill>
                <a:latin typeface="Calibri"/>
                <a:ea typeface="Calibri"/>
                <a:cs typeface="Calibri"/>
              </a:defRPr>
            </a:lvl9pPr>
          </a:lstStyle>
          <a:p>
            <a:pPr algn="l">
              <a:defRPr sz="3150" b="1">
                <a:solidFill>
                  <a:srgbClr val="007B92"/>
                </a:solidFill>
                <a:latin typeface="Calibri"/>
                <a:ea typeface="Calibri"/>
                <a:cs typeface="Calibri"/>
              </a:defRPr>
            </a:pPr>
            <a:r>
              <a:rPr sz="3150" b="1">
                <a:solidFill>
                  <a:srgbClr val="007B92"/>
                </a:solidFill>
                <a:latin typeface="Calibri"/>
                <a:ea typeface="Calibri"/>
                <a:cs typeface="Calibri"/>
              </a:rPr>
              <a:t>From architecture to execution cost</a:t>
            </a:r>
          </a:p>
        </p:txBody>
      </p:sp>
      <p:sp>
        <p:nvSpPr>
          <p:cNvPr id="2" name="Rectangle 1">
            <a:extLst>
              <a:ext uri="{FF2B5EF4-FFF2-40B4-BE49-F238E27FC236}">
                <a16:creationId xmlns:a16="http://schemas.microsoft.com/office/drawing/2014/main" id="{D503889B-DCAD-4C3F-9212-B30BF94B81D7}"/>
              </a:ext>
            </a:extLst>
          </p:cNvPr>
          <p:cNvSpPr>
            <a:spLocks noGrp="1"/>
          </p:cNvSpPr>
          <p:nvPr/>
        </p:nvSpPr>
        <p:spPr>
          <a:xfrm>
            <a:off x="857250" y="1381125"/>
            <a:ext cx="10001250" cy="476250"/>
          </a:xfrm>
          <a:prstGeom prst="rect">
            <a:avLst/>
          </a:prstGeom>
          <a:noFill/>
          <a:ln w="0">
            <a:noFill/>
          </a:ln>
        </p:spPr>
        <p:txBody>
          <a:bodyPr wrap="square" lIns="0" tIns="0" rIns="0" bIns="0" anchor="t">
            <a:noAutofit/>
          </a:bodyPr>
          <a:lstStyle>
            <a:defPPr algn="l">
              <a:defRPr sz="2400" b="1">
                <a:solidFill>
                  <a:srgbClr val="171717"/>
                </a:solidFill>
                <a:latin typeface="Calibri"/>
                <a:ea typeface="Calibri"/>
                <a:cs typeface="Calibri"/>
              </a:defRPr>
            </a:defPPr>
            <a:lvl1pPr algn="l">
              <a:defRPr sz="2400" b="1">
                <a:solidFill>
                  <a:srgbClr val="171717"/>
                </a:solidFill>
                <a:latin typeface="Calibri"/>
                <a:ea typeface="Calibri"/>
                <a:cs typeface="Calibri"/>
              </a:defRPr>
            </a:lvl1pPr>
            <a:lvl2pPr algn="l">
              <a:defRPr sz="2400" b="1">
                <a:solidFill>
                  <a:srgbClr val="171717"/>
                </a:solidFill>
                <a:latin typeface="Calibri"/>
                <a:ea typeface="Calibri"/>
                <a:cs typeface="Calibri"/>
              </a:defRPr>
            </a:lvl2pPr>
            <a:lvl3pPr algn="l">
              <a:defRPr sz="2400" b="1">
                <a:solidFill>
                  <a:srgbClr val="171717"/>
                </a:solidFill>
                <a:latin typeface="Calibri"/>
                <a:ea typeface="Calibri"/>
                <a:cs typeface="Calibri"/>
              </a:defRPr>
            </a:lvl3pPr>
            <a:lvl4pPr algn="l">
              <a:defRPr sz="2400" b="1">
                <a:solidFill>
                  <a:srgbClr val="171717"/>
                </a:solidFill>
                <a:latin typeface="Calibri"/>
                <a:ea typeface="Calibri"/>
                <a:cs typeface="Calibri"/>
              </a:defRPr>
            </a:lvl4pPr>
            <a:lvl5pPr algn="l">
              <a:defRPr sz="2400" b="1">
                <a:solidFill>
                  <a:srgbClr val="171717"/>
                </a:solidFill>
                <a:latin typeface="Calibri"/>
                <a:ea typeface="Calibri"/>
                <a:cs typeface="Calibri"/>
              </a:defRPr>
            </a:lvl5pPr>
            <a:lvl6pPr algn="l">
              <a:defRPr sz="2400" b="1">
                <a:solidFill>
                  <a:srgbClr val="171717"/>
                </a:solidFill>
                <a:latin typeface="Calibri"/>
                <a:ea typeface="Calibri"/>
                <a:cs typeface="Calibri"/>
              </a:defRPr>
            </a:lvl6pPr>
            <a:lvl7pPr algn="l">
              <a:defRPr sz="2400" b="1">
                <a:solidFill>
                  <a:srgbClr val="171717"/>
                </a:solidFill>
                <a:latin typeface="Calibri"/>
                <a:ea typeface="Calibri"/>
                <a:cs typeface="Calibri"/>
              </a:defRPr>
            </a:lvl7pPr>
            <a:lvl8pPr algn="l">
              <a:defRPr sz="2400" b="1">
                <a:solidFill>
                  <a:srgbClr val="171717"/>
                </a:solidFill>
                <a:latin typeface="Calibri"/>
                <a:ea typeface="Calibri"/>
                <a:cs typeface="Calibri"/>
              </a:defRPr>
            </a:lvl8pPr>
            <a:lvl9pPr algn="l">
              <a:defRPr sz="2400" b="1">
                <a:solidFill>
                  <a:srgbClr val="171717"/>
                </a:solidFill>
                <a:latin typeface="Calibri"/>
                <a:ea typeface="Calibri"/>
                <a:cs typeface="Calibri"/>
              </a:defRPr>
            </a:lvl9pPr>
          </a:lstStyle>
          <a:p>
            <a:pPr algn="l">
              <a:defRPr sz="2400" b="1">
                <a:solidFill>
                  <a:srgbClr val="171717"/>
                </a:solidFill>
                <a:latin typeface="Calibri"/>
                <a:ea typeface="Calibri"/>
                <a:cs typeface="Calibri"/>
              </a:defRPr>
            </a:pPr>
            <a:r>
              <a:rPr sz="2400" b="1">
                <a:solidFill>
                  <a:srgbClr val="171717"/>
                </a:solidFill>
                <a:latin typeface="Calibri"/>
                <a:ea typeface="Calibri"/>
                <a:cs typeface="Calibri"/>
              </a:rPr>
              <a:t>Block design</a:t>
            </a:r>
          </a:p>
        </p:txBody>
      </p:sp>
      <p:sp>
        <p:nvSpPr>
          <p:cNvPr id="3" name="Rectangle 2">
            <a:extLst>
              <a:ext uri="{FF2B5EF4-FFF2-40B4-BE49-F238E27FC236}">
                <a16:creationId xmlns:a16="http://schemas.microsoft.com/office/drawing/2014/main" id="{2C77B258-02C2-49D5-84C8-DCB55CBB6C1D}"/>
              </a:ext>
            </a:extLst>
          </p:cNvPr>
          <p:cNvSpPr>
            <a:spLocks noGrp="1"/>
          </p:cNvSpPr>
          <p:nvPr/>
        </p:nvSpPr>
        <p:spPr>
          <a:xfrm>
            <a:off x="857250" y="2000250"/>
            <a:ext cx="10382250" cy="85725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Normalization, residual paths and gating change training behavior and activation traffic.</a:t>
            </a:r>
          </a:p>
        </p:txBody>
      </p:sp>
      <p:sp>
        <p:nvSpPr>
          <p:cNvPr id="4" name="Rectangle 3">
            <a:extLst>
              <a:ext uri="{FF2B5EF4-FFF2-40B4-BE49-F238E27FC236}">
                <a16:creationId xmlns:a16="http://schemas.microsoft.com/office/drawing/2014/main" id="{CD5B710B-D0E5-417D-8EE1-EABAD1E0A2F8}"/>
              </a:ext>
            </a:extLst>
          </p:cNvPr>
          <p:cNvSpPr>
            <a:spLocks noGrp="1"/>
          </p:cNvSpPr>
          <p:nvPr/>
        </p:nvSpPr>
        <p:spPr>
          <a:xfrm>
            <a:off x="857250" y="3190875"/>
            <a:ext cx="10001250" cy="476250"/>
          </a:xfrm>
          <a:prstGeom prst="rect">
            <a:avLst/>
          </a:prstGeom>
          <a:noFill/>
          <a:ln w="0">
            <a:noFill/>
          </a:ln>
        </p:spPr>
        <p:txBody>
          <a:bodyPr wrap="square" lIns="0" tIns="0" rIns="0" bIns="0" anchor="t">
            <a:noAutofit/>
          </a:bodyPr>
          <a:lstStyle>
            <a:defPPr algn="l">
              <a:defRPr sz="2400" b="1">
                <a:solidFill>
                  <a:srgbClr val="171717"/>
                </a:solidFill>
                <a:latin typeface="Calibri"/>
                <a:ea typeface="Calibri"/>
                <a:cs typeface="Calibri"/>
              </a:defRPr>
            </a:defPPr>
            <a:lvl1pPr algn="l">
              <a:defRPr sz="2400" b="1">
                <a:solidFill>
                  <a:srgbClr val="171717"/>
                </a:solidFill>
                <a:latin typeface="Calibri"/>
                <a:ea typeface="Calibri"/>
                <a:cs typeface="Calibri"/>
              </a:defRPr>
            </a:lvl1pPr>
            <a:lvl2pPr algn="l">
              <a:defRPr sz="2400" b="1">
                <a:solidFill>
                  <a:srgbClr val="171717"/>
                </a:solidFill>
                <a:latin typeface="Calibri"/>
                <a:ea typeface="Calibri"/>
                <a:cs typeface="Calibri"/>
              </a:defRPr>
            </a:lvl2pPr>
            <a:lvl3pPr algn="l">
              <a:defRPr sz="2400" b="1">
                <a:solidFill>
                  <a:srgbClr val="171717"/>
                </a:solidFill>
                <a:latin typeface="Calibri"/>
                <a:ea typeface="Calibri"/>
                <a:cs typeface="Calibri"/>
              </a:defRPr>
            </a:lvl3pPr>
            <a:lvl4pPr algn="l">
              <a:defRPr sz="2400" b="1">
                <a:solidFill>
                  <a:srgbClr val="171717"/>
                </a:solidFill>
                <a:latin typeface="Calibri"/>
                <a:ea typeface="Calibri"/>
                <a:cs typeface="Calibri"/>
              </a:defRPr>
            </a:lvl4pPr>
            <a:lvl5pPr algn="l">
              <a:defRPr sz="2400" b="1">
                <a:solidFill>
                  <a:srgbClr val="171717"/>
                </a:solidFill>
                <a:latin typeface="Calibri"/>
                <a:ea typeface="Calibri"/>
                <a:cs typeface="Calibri"/>
              </a:defRPr>
            </a:lvl5pPr>
            <a:lvl6pPr algn="l">
              <a:defRPr sz="2400" b="1">
                <a:solidFill>
                  <a:srgbClr val="171717"/>
                </a:solidFill>
                <a:latin typeface="Calibri"/>
                <a:ea typeface="Calibri"/>
                <a:cs typeface="Calibri"/>
              </a:defRPr>
            </a:lvl6pPr>
            <a:lvl7pPr algn="l">
              <a:defRPr sz="2400" b="1">
                <a:solidFill>
                  <a:srgbClr val="171717"/>
                </a:solidFill>
                <a:latin typeface="Calibri"/>
                <a:ea typeface="Calibri"/>
                <a:cs typeface="Calibri"/>
              </a:defRPr>
            </a:lvl7pPr>
            <a:lvl8pPr algn="l">
              <a:defRPr sz="2400" b="1">
                <a:solidFill>
                  <a:srgbClr val="171717"/>
                </a:solidFill>
                <a:latin typeface="Calibri"/>
                <a:ea typeface="Calibri"/>
                <a:cs typeface="Calibri"/>
              </a:defRPr>
            </a:lvl8pPr>
            <a:lvl9pPr algn="l">
              <a:defRPr sz="2400" b="1">
                <a:solidFill>
                  <a:srgbClr val="171717"/>
                </a:solidFill>
                <a:latin typeface="Calibri"/>
                <a:ea typeface="Calibri"/>
                <a:cs typeface="Calibri"/>
              </a:defRPr>
            </a:lvl9pPr>
          </a:lstStyle>
          <a:p>
            <a:pPr algn="l">
              <a:defRPr sz="2400" b="1">
                <a:solidFill>
                  <a:srgbClr val="171717"/>
                </a:solidFill>
                <a:latin typeface="Calibri"/>
                <a:ea typeface="Calibri"/>
                <a:cs typeface="Calibri"/>
              </a:defRPr>
            </a:pPr>
            <a:r>
              <a:rPr sz="2400" b="1">
                <a:solidFill>
                  <a:srgbClr val="171717"/>
                </a:solidFill>
                <a:latin typeface="Calibri"/>
                <a:ea typeface="Calibri"/>
                <a:cs typeface="Calibri"/>
              </a:rPr>
              <a:t>Attention</a:t>
            </a:r>
          </a:p>
        </p:txBody>
      </p:sp>
      <p:sp>
        <p:nvSpPr>
          <p:cNvPr id="5" name="Rectangle 4">
            <a:extLst>
              <a:ext uri="{FF2B5EF4-FFF2-40B4-BE49-F238E27FC236}">
                <a16:creationId xmlns:a16="http://schemas.microsoft.com/office/drawing/2014/main" id="{8A5288E6-44BD-4B08-A3B8-CD9A26BFD54D}"/>
              </a:ext>
            </a:extLst>
          </p:cNvPr>
          <p:cNvSpPr>
            <a:spLocks noGrp="1"/>
          </p:cNvSpPr>
          <p:nvPr/>
        </p:nvSpPr>
        <p:spPr>
          <a:xfrm>
            <a:off x="857250" y="3810000"/>
            <a:ext cx="10382250" cy="952500"/>
          </a:xfrm>
          <a:prstGeom prst="rect">
            <a:avLst/>
          </a:prstGeom>
          <a:noFill/>
          <a:ln w="0">
            <a:noFill/>
          </a:ln>
        </p:spPr>
        <p:txBody>
          <a:bodyPr wrap="square" lIns="0" tIns="0" rIns="0" bIns="0" anchor="t">
            <a:noAutofit/>
          </a:bodyPr>
          <a:lstStyle>
            <a:defPPr algn="l">
              <a:defRPr sz="2250" b="0">
                <a:solidFill>
                  <a:srgbClr val="171717"/>
                </a:solidFill>
                <a:latin typeface="Calibri"/>
                <a:ea typeface="Calibri"/>
                <a:cs typeface="Calibri"/>
              </a:defRPr>
            </a:defPPr>
            <a:lvl1pPr algn="l">
              <a:defRPr sz="2250" b="0">
                <a:solidFill>
                  <a:srgbClr val="171717"/>
                </a:solidFill>
                <a:latin typeface="Calibri"/>
                <a:ea typeface="Calibri"/>
                <a:cs typeface="Calibri"/>
              </a:defRPr>
            </a:lvl1pPr>
            <a:lvl2pPr algn="l">
              <a:defRPr sz="2250" b="0">
                <a:solidFill>
                  <a:srgbClr val="171717"/>
                </a:solidFill>
                <a:latin typeface="Calibri"/>
                <a:ea typeface="Calibri"/>
                <a:cs typeface="Calibri"/>
              </a:defRPr>
            </a:lvl2pPr>
            <a:lvl3pPr algn="l">
              <a:defRPr sz="2250" b="0">
                <a:solidFill>
                  <a:srgbClr val="171717"/>
                </a:solidFill>
                <a:latin typeface="Calibri"/>
                <a:ea typeface="Calibri"/>
                <a:cs typeface="Calibri"/>
              </a:defRPr>
            </a:lvl3pPr>
            <a:lvl4pPr algn="l">
              <a:defRPr sz="2250" b="0">
                <a:solidFill>
                  <a:srgbClr val="171717"/>
                </a:solidFill>
                <a:latin typeface="Calibri"/>
                <a:ea typeface="Calibri"/>
                <a:cs typeface="Calibri"/>
              </a:defRPr>
            </a:lvl4pPr>
            <a:lvl5pPr algn="l">
              <a:defRPr sz="2250" b="0">
                <a:solidFill>
                  <a:srgbClr val="171717"/>
                </a:solidFill>
                <a:latin typeface="Calibri"/>
                <a:ea typeface="Calibri"/>
                <a:cs typeface="Calibri"/>
              </a:defRPr>
            </a:lvl5pPr>
            <a:lvl6pPr algn="l">
              <a:defRPr sz="2250" b="0">
                <a:solidFill>
                  <a:srgbClr val="171717"/>
                </a:solidFill>
                <a:latin typeface="Calibri"/>
                <a:ea typeface="Calibri"/>
                <a:cs typeface="Calibri"/>
              </a:defRPr>
            </a:lvl6pPr>
            <a:lvl7pPr algn="l">
              <a:defRPr sz="2250" b="0">
                <a:solidFill>
                  <a:srgbClr val="171717"/>
                </a:solidFill>
                <a:latin typeface="Calibri"/>
                <a:ea typeface="Calibri"/>
                <a:cs typeface="Calibri"/>
              </a:defRPr>
            </a:lvl7pPr>
            <a:lvl8pPr algn="l">
              <a:defRPr sz="2250" b="0">
                <a:solidFill>
                  <a:srgbClr val="171717"/>
                </a:solidFill>
                <a:latin typeface="Calibri"/>
                <a:ea typeface="Calibri"/>
                <a:cs typeface="Calibri"/>
              </a:defRPr>
            </a:lvl8pPr>
            <a:lvl9pPr algn="l">
              <a:defRPr sz="2250" b="0">
                <a:solidFill>
                  <a:srgbClr val="171717"/>
                </a:solidFill>
                <a:latin typeface="Calibri"/>
                <a:ea typeface="Calibri"/>
                <a:cs typeface="Calibri"/>
              </a:defRPr>
            </a:lvl9pPr>
          </a:lstStyle>
          <a:p>
            <a:pPr algn="l">
              <a:defRPr sz="2250" b="0">
                <a:solidFill>
                  <a:srgbClr val="171717"/>
                </a:solidFill>
                <a:latin typeface="Calibri"/>
                <a:ea typeface="Calibri"/>
                <a:cs typeface="Calibri"/>
              </a:defRPr>
            </a:pPr>
            <a:r>
              <a:rPr sz="2250" b="0">
                <a:solidFill>
                  <a:srgbClr val="171717"/>
                </a:solidFill>
                <a:latin typeface="Calibri"/>
                <a:ea typeface="Calibri"/>
                <a:cs typeface="Calibri"/>
              </a:rPr>
              <a:t>Positions determine how order enters the model. K/V sharing and windows change memory and attention work.</a:t>
            </a:r>
          </a:p>
        </p:txBody>
      </p:sp>
      <p:sp>
        <p:nvSpPr>
          <p:cNvPr id="6" name="Rectangle 5">
            <a:extLst>
              <a:ext uri="{FF2B5EF4-FFF2-40B4-BE49-F238E27FC236}">
                <a16:creationId xmlns:a16="http://schemas.microsoft.com/office/drawing/2014/main" id="{5B90BCCF-913C-49C5-AA75-6E640023884E}"/>
              </a:ext>
            </a:extLst>
          </p:cNvPr>
          <p:cNvSpPr>
            <a:spLocks noGrp="1"/>
          </p:cNvSpPr>
          <p:nvPr/>
        </p:nvSpPr>
        <p:spPr>
          <a:xfrm>
            <a:off x="857250" y="5143500"/>
            <a:ext cx="10001250" cy="476250"/>
          </a:xfrm>
          <a:prstGeom prst="rect">
            <a:avLst/>
          </a:prstGeom>
          <a:noFill/>
          <a:ln w="0">
            <a:noFill/>
          </a:ln>
        </p:spPr>
        <p:txBody>
          <a:bodyPr wrap="square" lIns="0" tIns="0" rIns="0" bIns="0" anchor="t">
            <a:noAutofit/>
          </a:bodyPr>
          <a:lstStyle>
            <a:defPPr algn="l">
              <a:defRPr sz="2400" b="1">
                <a:solidFill>
                  <a:srgbClr val="171717"/>
                </a:solidFill>
                <a:latin typeface="Calibri"/>
                <a:ea typeface="Calibri"/>
                <a:cs typeface="Calibri"/>
              </a:defRPr>
            </a:defPPr>
            <a:lvl1pPr algn="l">
              <a:defRPr sz="2400" b="1">
                <a:solidFill>
                  <a:srgbClr val="171717"/>
                </a:solidFill>
                <a:latin typeface="Calibri"/>
                <a:ea typeface="Calibri"/>
                <a:cs typeface="Calibri"/>
              </a:defRPr>
            </a:lvl1pPr>
            <a:lvl2pPr algn="l">
              <a:defRPr sz="2400" b="1">
                <a:solidFill>
                  <a:srgbClr val="171717"/>
                </a:solidFill>
                <a:latin typeface="Calibri"/>
                <a:ea typeface="Calibri"/>
                <a:cs typeface="Calibri"/>
              </a:defRPr>
            </a:lvl2pPr>
            <a:lvl3pPr algn="l">
              <a:defRPr sz="2400" b="1">
                <a:solidFill>
                  <a:srgbClr val="171717"/>
                </a:solidFill>
                <a:latin typeface="Calibri"/>
                <a:ea typeface="Calibri"/>
                <a:cs typeface="Calibri"/>
              </a:defRPr>
            </a:lvl3pPr>
            <a:lvl4pPr algn="l">
              <a:defRPr sz="2400" b="1">
                <a:solidFill>
                  <a:srgbClr val="171717"/>
                </a:solidFill>
                <a:latin typeface="Calibri"/>
                <a:ea typeface="Calibri"/>
                <a:cs typeface="Calibri"/>
              </a:defRPr>
            </a:lvl4pPr>
            <a:lvl5pPr algn="l">
              <a:defRPr sz="2400" b="1">
                <a:solidFill>
                  <a:srgbClr val="171717"/>
                </a:solidFill>
                <a:latin typeface="Calibri"/>
                <a:ea typeface="Calibri"/>
                <a:cs typeface="Calibri"/>
              </a:defRPr>
            </a:lvl5pPr>
            <a:lvl6pPr algn="l">
              <a:defRPr sz="2400" b="1">
                <a:solidFill>
                  <a:srgbClr val="171717"/>
                </a:solidFill>
                <a:latin typeface="Calibri"/>
                <a:ea typeface="Calibri"/>
                <a:cs typeface="Calibri"/>
              </a:defRPr>
            </a:lvl6pPr>
            <a:lvl7pPr algn="l">
              <a:defRPr sz="2400" b="1">
                <a:solidFill>
                  <a:srgbClr val="171717"/>
                </a:solidFill>
                <a:latin typeface="Calibri"/>
                <a:ea typeface="Calibri"/>
                <a:cs typeface="Calibri"/>
              </a:defRPr>
            </a:lvl7pPr>
            <a:lvl8pPr algn="l">
              <a:defRPr sz="2400" b="1">
                <a:solidFill>
                  <a:srgbClr val="171717"/>
                </a:solidFill>
                <a:latin typeface="Calibri"/>
                <a:ea typeface="Calibri"/>
                <a:cs typeface="Calibri"/>
              </a:defRPr>
            </a:lvl8pPr>
            <a:lvl9pPr algn="l">
              <a:defRPr sz="2400" b="1">
                <a:solidFill>
                  <a:srgbClr val="171717"/>
                </a:solidFill>
                <a:latin typeface="Calibri"/>
                <a:ea typeface="Calibri"/>
                <a:cs typeface="Calibri"/>
              </a:defRPr>
            </a:lvl9pPr>
          </a:lstStyle>
          <a:p>
            <a:pPr algn="l">
              <a:defRPr sz="2400" b="1">
                <a:solidFill>
                  <a:srgbClr val="171717"/>
                </a:solidFill>
                <a:latin typeface="Calibri"/>
                <a:ea typeface="Calibri"/>
                <a:cs typeface="Calibri"/>
              </a:defRPr>
            </a:pPr>
            <a:r>
              <a:rPr sz="2400" b="1">
                <a:solidFill>
                  <a:srgbClr val="171717"/>
                </a:solidFill>
                <a:latin typeface="Calibri"/>
                <a:ea typeface="Calibri"/>
                <a:cs typeface="Calibri"/>
              </a:rPr>
              <a:t>Experts</a:t>
            </a:r>
          </a:p>
        </p:txBody>
      </p:sp>
      <p:sp>
        <p:nvSpPr>
          <p:cNvPr id="7" name="Rectangle 6">
            <a:extLst>
              <a:ext uri="{FF2B5EF4-FFF2-40B4-BE49-F238E27FC236}">
                <a16:creationId xmlns:a16="http://schemas.microsoft.com/office/drawing/2014/main" id="{73547145-1A88-4965-9307-63E4AB7FF1C4}"/>
              </a:ext>
            </a:extLst>
          </p:cNvPr>
          <p:cNvSpPr>
            <a:spLocks noGrp="1"/>
          </p:cNvSpPr>
          <p:nvPr/>
        </p:nvSpPr>
        <p:spPr>
          <a:xfrm>
            <a:off x="857250" y="5762625"/>
            <a:ext cx="10382250" cy="714375"/>
          </a:xfrm>
          <a:prstGeom prst="rect">
            <a:avLst/>
          </a:prstGeom>
          <a:noFill/>
          <a:ln w="0">
            <a:noFill/>
          </a:ln>
        </p:spPr>
        <p:txBody>
          <a:bodyPr wrap="square" lIns="0" tIns="0" rIns="0" bIns="0" anchor="t">
            <a:noAutofit/>
          </a:bodyPr>
          <a:lstStyle>
            <a:defPPr algn="l">
              <a:defRPr sz="2175" b="0">
                <a:solidFill>
                  <a:srgbClr val="171717"/>
                </a:solidFill>
                <a:latin typeface="Calibri"/>
                <a:ea typeface="Calibri"/>
                <a:cs typeface="Calibri"/>
              </a:defRPr>
            </a:defPPr>
            <a:lvl1pPr algn="l">
              <a:defRPr sz="2175" b="0">
                <a:solidFill>
                  <a:srgbClr val="171717"/>
                </a:solidFill>
                <a:latin typeface="Calibri"/>
                <a:ea typeface="Calibri"/>
                <a:cs typeface="Calibri"/>
              </a:defRPr>
            </a:lvl1pPr>
            <a:lvl2pPr algn="l">
              <a:defRPr sz="2175" b="0">
                <a:solidFill>
                  <a:srgbClr val="171717"/>
                </a:solidFill>
                <a:latin typeface="Calibri"/>
                <a:ea typeface="Calibri"/>
                <a:cs typeface="Calibri"/>
              </a:defRPr>
            </a:lvl2pPr>
            <a:lvl3pPr algn="l">
              <a:defRPr sz="2175" b="0">
                <a:solidFill>
                  <a:srgbClr val="171717"/>
                </a:solidFill>
                <a:latin typeface="Calibri"/>
                <a:ea typeface="Calibri"/>
                <a:cs typeface="Calibri"/>
              </a:defRPr>
            </a:lvl3pPr>
            <a:lvl4pPr algn="l">
              <a:defRPr sz="2175" b="0">
                <a:solidFill>
                  <a:srgbClr val="171717"/>
                </a:solidFill>
                <a:latin typeface="Calibri"/>
                <a:ea typeface="Calibri"/>
                <a:cs typeface="Calibri"/>
              </a:defRPr>
            </a:lvl4pPr>
            <a:lvl5pPr algn="l">
              <a:defRPr sz="2175" b="0">
                <a:solidFill>
                  <a:srgbClr val="171717"/>
                </a:solidFill>
                <a:latin typeface="Calibri"/>
                <a:ea typeface="Calibri"/>
                <a:cs typeface="Calibri"/>
              </a:defRPr>
            </a:lvl5pPr>
            <a:lvl6pPr algn="l">
              <a:defRPr sz="2175" b="0">
                <a:solidFill>
                  <a:srgbClr val="171717"/>
                </a:solidFill>
                <a:latin typeface="Calibri"/>
                <a:ea typeface="Calibri"/>
                <a:cs typeface="Calibri"/>
              </a:defRPr>
            </a:lvl6pPr>
            <a:lvl7pPr algn="l">
              <a:defRPr sz="2175" b="0">
                <a:solidFill>
                  <a:srgbClr val="171717"/>
                </a:solidFill>
                <a:latin typeface="Calibri"/>
                <a:ea typeface="Calibri"/>
                <a:cs typeface="Calibri"/>
              </a:defRPr>
            </a:lvl7pPr>
            <a:lvl8pPr algn="l">
              <a:defRPr sz="2175" b="0">
                <a:solidFill>
                  <a:srgbClr val="171717"/>
                </a:solidFill>
                <a:latin typeface="Calibri"/>
                <a:ea typeface="Calibri"/>
                <a:cs typeface="Calibri"/>
              </a:defRPr>
            </a:lvl8pPr>
            <a:lvl9pPr algn="l">
              <a:defRPr sz="2175" b="0">
                <a:solidFill>
                  <a:srgbClr val="171717"/>
                </a:solidFill>
                <a:latin typeface="Calibri"/>
                <a:ea typeface="Calibri"/>
                <a:cs typeface="Calibri"/>
              </a:defRPr>
            </a:lvl9pPr>
          </a:lstStyle>
          <a:p>
            <a:pPr algn="l">
              <a:defRPr sz="2175" b="0">
                <a:solidFill>
                  <a:srgbClr val="171717"/>
                </a:solidFill>
                <a:latin typeface="Calibri"/>
                <a:ea typeface="Calibri"/>
                <a:cs typeface="Calibri"/>
              </a:defRPr>
            </a:pPr>
            <a:r>
              <a:rPr sz="2175" b="0">
                <a:solidFill>
                  <a:srgbClr val="171717"/>
                </a:solidFill>
                <a:latin typeface="Calibri"/>
                <a:ea typeface="Calibri"/>
                <a:cs typeface="Calibri"/>
              </a:rPr>
              <a:t>Sparse computation adds capacity, while placement and routing determine communication costs.</a:t>
            </a:r>
          </a:p>
        </p:txBody>
      </p:sp>
      <p:sp>
        <p:nvSpPr>
          <p:cNvPr id="8" name="Slide number">
            <a:extLst>
              <a:ext uri="{FF2B5EF4-FFF2-40B4-BE49-F238E27FC236}">
                <a16:creationId xmlns:a16="http://schemas.microsoft.com/office/drawing/2014/main" id="{D288795C-2448-4CC1-8E84-807E30585505}"/>
              </a:ext>
            </a:extLst>
          </p:cNvPr>
          <p:cNvSpPr>
            <a:spLocks noGrp="1"/>
          </p:cNvSpPr>
          <p:nvPr/>
        </p:nvSpPr>
        <p:spPr>
          <a:xfrm>
            <a:off x="485775" y="6477000"/>
            <a:ext cx="619125" cy="257175"/>
          </a:xfrm>
          <a:prstGeom prst="rect">
            <a:avLst/>
          </a:prstGeom>
          <a:noFill/>
          <a:ln w="0">
            <a:noFill/>
          </a:ln>
        </p:spPr>
        <p:txBody>
          <a:bodyPr wrap="square" lIns="0" tIns="0" rIns="0" bIns="0" anchor="t">
            <a:noAutofit/>
          </a:bodyPr>
          <a:lstStyle>
            <a:defPPr algn="l">
              <a:defRPr sz="1350" b="0">
                <a:solidFill>
                  <a:srgbClr val="171717"/>
                </a:solidFill>
                <a:latin typeface="Calibri"/>
                <a:ea typeface="Calibri"/>
                <a:cs typeface="Calibri"/>
              </a:defRPr>
            </a:defPPr>
            <a:lvl1pPr algn="l">
              <a:defRPr sz="1350" b="0">
                <a:solidFill>
                  <a:srgbClr val="171717"/>
                </a:solidFill>
                <a:latin typeface="Calibri"/>
                <a:ea typeface="Calibri"/>
                <a:cs typeface="Calibri"/>
              </a:defRPr>
            </a:lvl1pPr>
            <a:lvl2pPr algn="l">
              <a:defRPr sz="1350" b="0">
                <a:solidFill>
                  <a:srgbClr val="171717"/>
                </a:solidFill>
                <a:latin typeface="Calibri"/>
                <a:ea typeface="Calibri"/>
                <a:cs typeface="Calibri"/>
              </a:defRPr>
            </a:lvl2pPr>
            <a:lvl3pPr algn="l">
              <a:defRPr sz="1350" b="0">
                <a:solidFill>
                  <a:srgbClr val="171717"/>
                </a:solidFill>
                <a:latin typeface="Calibri"/>
                <a:ea typeface="Calibri"/>
                <a:cs typeface="Calibri"/>
              </a:defRPr>
            </a:lvl3pPr>
            <a:lvl4pPr algn="l">
              <a:defRPr sz="1350" b="0">
                <a:solidFill>
                  <a:srgbClr val="171717"/>
                </a:solidFill>
                <a:latin typeface="Calibri"/>
                <a:ea typeface="Calibri"/>
                <a:cs typeface="Calibri"/>
              </a:defRPr>
            </a:lvl4pPr>
            <a:lvl5pPr algn="l">
              <a:defRPr sz="1350" b="0">
                <a:solidFill>
                  <a:srgbClr val="171717"/>
                </a:solidFill>
                <a:latin typeface="Calibri"/>
                <a:ea typeface="Calibri"/>
                <a:cs typeface="Calibri"/>
              </a:defRPr>
            </a:lvl5pPr>
            <a:lvl6pPr algn="l">
              <a:defRPr sz="1350" b="0">
                <a:solidFill>
                  <a:srgbClr val="171717"/>
                </a:solidFill>
                <a:latin typeface="Calibri"/>
                <a:ea typeface="Calibri"/>
                <a:cs typeface="Calibri"/>
              </a:defRPr>
            </a:lvl6pPr>
            <a:lvl7pPr algn="l">
              <a:defRPr sz="1350" b="0">
                <a:solidFill>
                  <a:srgbClr val="171717"/>
                </a:solidFill>
                <a:latin typeface="Calibri"/>
                <a:ea typeface="Calibri"/>
                <a:cs typeface="Calibri"/>
              </a:defRPr>
            </a:lvl7pPr>
            <a:lvl8pPr algn="l">
              <a:defRPr sz="1350" b="0">
                <a:solidFill>
                  <a:srgbClr val="171717"/>
                </a:solidFill>
                <a:latin typeface="Calibri"/>
                <a:ea typeface="Calibri"/>
                <a:cs typeface="Calibri"/>
              </a:defRPr>
            </a:lvl8pPr>
            <a:lvl9pPr algn="l">
              <a:defRPr sz="1350" b="0">
                <a:solidFill>
                  <a:srgbClr val="171717"/>
                </a:solidFill>
                <a:latin typeface="Calibri"/>
                <a:ea typeface="Calibri"/>
                <a:cs typeface="Calibri"/>
              </a:defRPr>
            </a:lvl9pPr>
          </a:lstStyle>
          <a:p>
            <a:pPr algn="l">
              <a:defRPr sz="1350" b="0">
                <a:solidFill>
                  <a:srgbClr val="171717"/>
                </a:solidFill>
                <a:latin typeface="Calibri"/>
                <a:ea typeface="Calibri"/>
                <a:cs typeface="Calibri"/>
              </a:defRPr>
            </a:pPr>
            <a:r>
              <a:rPr sz="1350" b="0">
                <a:solidFill>
                  <a:srgbClr val="171717"/>
                </a:solidFill>
                <a:latin typeface="Calibri"/>
                <a:ea typeface="Calibri"/>
                <a:cs typeface="Calibri"/>
              </a:rPr>
              <a:t>47</a:t>
            </a:r>
          </a:p>
        </p:txBody>
      </p:sp>
    </p:spTree>
    <p:extLst>
      <p:ext uri="{BB962C8B-B14F-4D97-AF65-F5344CB8AC3E}">
        <p14:creationId xmlns:p14="http://schemas.microsoft.com/office/powerpoint/2010/main" val="104507500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4769</Words>
  <Application>Microsoft Office PowerPoint</Application>
  <DocSecurity>0</DocSecurity>
  <PresentationFormat>Widescreen</PresentationFormat>
  <Paragraphs>429</Paragraphs>
  <Slides>47</Slides>
  <Notes>47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Aptos</vt:lpstr>
      <vt:lpstr>Calibri</vt:lpstr>
      <vt:lpstr>Cambria Math</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Ciprian Ionut Paduraru</cp:lastModifiedBy>
  <cp:revision>1</cp:revision>
  <dcterms:created xsi:type="dcterms:W3CDTF">2026-10-18T09:41:16Z</dcterms:created>
  <dcterms:modified xsi:type="dcterms:W3CDTF">2026-10-18T09:41:19Z</dcterms:modified>
</cp:coreProperties>
</file>