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001.xml" ContentType="application/vnd.openxmlformats-officedocument.theme+xml"/>
  <Override PartName="/ppt/slideMasters/slideMaster1001.xml" ContentType="application/vnd.openxmlformats-officedocument.presentationml.slideMaster+xml"/>
  <Override PartName="/ppt/slideMasters/theme/theme1002.xml" ContentType="application/vnd.openxmlformats-officedocument.theme+xml"/>
  <Override PartName="/ppt/slideLayouts/slideLayout1001.xml" ContentType="application/vnd.openxmlformats-officedocument.presentationml.slideLayout+xml"/>
  <Override PartName="/ppt/slideLayouts/slideLayout1002.xml" ContentType="application/vnd.openxmlformats-officedocument.presentationml.slideLayout+xml"/>
  <Override PartName="/ppt/slideLayouts/slideLayout1003.xml" ContentType="application/vnd.openxmlformats-officedocument.presentationml.slideLayout+xml"/>
  <Override PartName="/ppt/slideLayouts/slideLayout1004.xml" ContentType="application/vnd.openxmlformats-officedocument.presentationml.slideLayout+xml"/>
  <Override PartName="/ppt/slideLayouts/slideLayout1005.xml" ContentType="application/vnd.openxmlformats-officedocument.presentationml.slideLayout+xml"/>
  <Override PartName="/ppt/slideLayouts/slideLayout1006.xml" ContentType="application/vnd.openxmlformats-officedocument.presentationml.slideLayout+xml"/>
  <Override PartName="/ppt/notesMasters/notesMaster1001.xml" ContentType="application/vnd.openxmlformats-officedocument.presentationml.notesMaster+xml"/>
  <Override PartName="/ppt/notesMasters/theme/theme1003.xml" ContentType="application/vnd.openxmlformats-officedocument.theme+xml"/>
  <Override PartName="/ppt/appendix_presProps.xml" ContentType="application/vnd.openxmlformats-officedocument.presentationml.presProps+xml"/>
  <Override PartName="/ppt/appendix_tableStyles.xml" ContentType="application/vnd.openxmlformats-officedocument.presentationml.tableStyles+xml"/>
  <Override PartName="/ppt/slides/slide49.xml" ContentType="application/vnd.openxmlformats-officedocument.presentationml.slide+xml"/>
  <Override PartName="/ppt/notesSlides/notesSlide1001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1002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1003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1004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1005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1006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1007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1008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1009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1010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1011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1012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1013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1014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1015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1016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1017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1018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1019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1020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1021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1022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1023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1024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1025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1026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1027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102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6000" r:id="rId1000"/>
  </p:sldMasterIdLst>
  <p:notesMasterIdLst>
    <p:notesMasterId r:id="rId1001"/>
  </p:notesMasterIdLst>
  <p:sldIdLst>
    <p:sldId id="326" r:id="rId2"/>
    <p:sldId id="258" r:id="rId3"/>
    <p:sldId id="259" r:id="rId4"/>
    <p:sldId id="274" r:id="rId5"/>
    <p:sldId id="327" r:id="rId6"/>
    <p:sldId id="328" r:id="rId7"/>
    <p:sldId id="276" r:id="rId8"/>
    <p:sldId id="277" r:id="rId9"/>
    <p:sldId id="278" r:id="rId10"/>
    <p:sldId id="279" r:id="rId11"/>
    <p:sldId id="280" r:id="rId12"/>
    <p:sldId id="281" r:id="rId13"/>
    <p:sldId id="284" r:id="rId14"/>
    <p:sldId id="285" r:id="rId15"/>
    <p:sldId id="286" r:id="rId16"/>
    <p:sldId id="287" r:id="rId17"/>
    <p:sldId id="291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9" r:id="rId1002"/>
    <p:sldId id="330" r:id="rId1003"/>
    <p:sldId id="331" r:id="rId1004"/>
    <p:sldId id="332" r:id="rId1005"/>
    <p:sldId id="333" r:id="rId1006"/>
    <p:sldId id="334" r:id="rId1007"/>
    <p:sldId id="335" r:id="rId1008"/>
    <p:sldId id="336" r:id="rId1009"/>
    <p:sldId id="337" r:id="rId1010"/>
    <p:sldId id="338" r:id="rId1011"/>
    <p:sldId id="339" r:id="rId1012"/>
    <p:sldId id="340" r:id="rId1013"/>
    <p:sldId id="341" r:id="rId1014"/>
    <p:sldId id="342" r:id="rId1015"/>
    <p:sldId id="343" r:id="rId1016"/>
    <p:sldId id="344" r:id="rId1017"/>
    <p:sldId id="345" r:id="rId1018"/>
    <p:sldId id="346" r:id="rId1019"/>
    <p:sldId id="347" r:id="rId1020"/>
    <p:sldId id="348" r:id="rId1021"/>
    <p:sldId id="349" r:id="rId1022"/>
    <p:sldId id="350" r:id="rId1023"/>
    <p:sldId id="351" r:id="rId1024"/>
    <p:sldId id="352" r:id="rId1025"/>
    <p:sldId id="353" r:id="rId1026"/>
    <p:sldId id="354" r:id="rId1027"/>
    <p:sldId id="355" r:id="rId1028"/>
    <p:sldId id="356" r:id="rId10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ppendix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appendix_tableStyles.xml><?xml version="1.0" encoding="utf-8"?>
<a:tblStyleLst xmlns:a="http://schemas.openxmlformats.org/drawingml/2006/main" def="{5C22544A-7EE6-4342-B048-85BDC9FD1C3A}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604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00" Type="http://schemas.openxmlformats.org/officeDocument/2006/relationships/slideMaster" Target="slideMasters/slideMaster1001.xml"/><Relationship Id="rId1001" Type="http://schemas.openxmlformats.org/officeDocument/2006/relationships/notesMaster" Target="notesMasters/notesMaster1001.xml"/><Relationship Id="rId1002" Type="http://schemas.openxmlformats.org/officeDocument/2006/relationships/slide" Target="slides/slide49.xml"/><Relationship Id="rId1003" Type="http://schemas.openxmlformats.org/officeDocument/2006/relationships/slide" Target="slides/slide50.xml"/><Relationship Id="rId1004" Type="http://schemas.openxmlformats.org/officeDocument/2006/relationships/slide" Target="slides/slide51.xml"/><Relationship Id="rId1005" Type="http://schemas.openxmlformats.org/officeDocument/2006/relationships/slide" Target="slides/slide52.xml"/><Relationship Id="rId1006" Type="http://schemas.openxmlformats.org/officeDocument/2006/relationships/slide" Target="slides/slide53.xml"/><Relationship Id="rId1007" Type="http://schemas.openxmlformats.org/officeDocument/2006/relationships/slide" Target="slides/slide54.xml"/><Relationship Id="rId1008" Type="http://schemas.openxmlformats.org/officeDocument/2006/relationships/slide" Target="slides/slide55.xml"/><Relationship Id="rId1009" Type="http://schemas.openxmlformats.org/officeDocument/2006/relationships/slide" Target="slides/slide56.xml"/><Relationship Id="rId1010" Type="http://schemas.openxmlformats.org/officeDocument/2006/relationships/slide" Target="slides/slide57.xml"/><Relationship Id="rId1011" Type="http://schemas.openxmlformats.org/officeDocument/2006/relationships/slide" Target="slides/slide58.xml"/><Relationship Id="rId1012" Type="http://schemas.openxmlformats.org/officeDocument/2006/relationships/slide" Target="slides/slide59.xml"/><Relationship Id="rId1013" Type="http://schemas.openxmlformats.org/officeDocument/2006/relationships/slide" Target="slides/slide60.xml"/><Relationship Id="rId1014" Type="http://schemas.openxmlformats.org/officeDocument/2006/relationships/slide" Target="slides/slide61.xml"/><Relationship Id="rId1015" Type="http://schemas.openxmlformats.org/officeDocument/2006/relationships/slide" Target="slides/slide62.xml"/><Relationship Id="rId1016" Type="http://schemas.openxmlformats.org/officeDocument/2006/relationships/slide" Target="slides/slide63.xml"/><Relationship Id="rId1017" Type="http://schemas.openxmlformats.org/officeDocument/2006/relationships/slide" Target="slides/slide64.xml"/><Relationship Id="rId1018" Type="http://schemas.openxmlformats.org/officeDocument/2006/relationships/slide" Target="slides/slide65.xml"/><Relationship Id="rId1019" Type="http://schemas.openxmlformats.org/officeDocument/2006/relationships/slide" Target="slides/slide66.xml"/><Relationship Id="rId1020" Type="http://schemas.openxmlformats.org/officeDocument/2006/relationships/slide" Target="slides/slide67.xml"/><Relationship Id="rId1021" Type="http://schemas.openxmlformats.org/officeDocument/2006/relationships/slide" Target="slides/slide68.xml"/><Relationship Id="rId1022" Type="http://schemas.openxmlformats.org/officeDocument/2006/relationships/slide" Target="slides/slide69.xml"/><Relationship Id="rId1023" Type="http://schemas.openxmlformats.org/officeDocument/2006/relationships/slide" Target="slides/slide70.xml"/><Relationship Id="rId1024" Type="http://schemas.openxmlformats.org/officeDocument/2006/relationships/slide" Target="slides/slide71.xml"/><Relationship Id="rId1025" Type="http://schemas.openxmlformats.org/officeDocument/2006/relationships/slide" Target="slides/slide72.xml"/><Relationship Id="rId1026" Type="http://schemas.openxmlformats.org/officeDocument/2006/relationships/slide" Target="slides/slide73.xml"/><Relationship Id="rId1027" Type="http://schemas.openxmlformats.org/officeDocument/2006/relationships/slide" Target="slides/slide74.xml"/><Relationship Id="rId1028" Type="http://schemas.openxmlformats.org/officeDocument/2006/relationships/slide" Target="slides/slide75.xml"/><Relationship Id="rId1029" Type="http://schemas.openxmlformats.org/officeDocument/2006/relationships/slide" Target="slides/slide76.xml"/></Relationships>
</file>

<file path=ppt/notesMasters/_rels/notesMaster1001.xml.rels><?xml version='1.0' encoding='UTF-8' standalone='yes'?>
<Relationships xmlns="http://schemas.openxmlformats.org/package/2006/relationships"><Relationship Type="http://schemas.openxmlformats.org/officeDocument/2006/relationships/theme" Target="theme/theme1003.xml" Id="Rdabd2eaed8b0429a"/></Relationships>
</file>

<file path=ppt/notesMasters/notesMaster100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00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001.xml.rels><?xml version='1.0' encoding='UTF-8' standalone='yes'?>
<Relationships xmlns="http://schemas.openxmlformats.org/package/2006/relationships"><Relationship Type="http://schemas.openxmlformats.org/officeDocument/2006/relationships/slide" Target="../slides/slide49.xml" Id="Ra87e04edcfc149fa"/><Relationship Type="http://schemas.openxmlformats.org/officeDocument/2006/relationships/notesMaster" Target="../notesMasters/notesMaster1001.xml" Id="R37a438fdcbdd4109"/></Relationships>
</file>

<file path=ppt/notesSlides/_rels/notesSlide1002.xml.rels><?xml version='1.0' encoding='UTF-8' standalone='yes'?>
<Relationships xmlns="http://schemas.openxmlformats.org/package/2006/relationships"><Relationship Type="http://schemas.openxmlformats.org/officeDocument/2006/relationships/slide" Target="../slides/slide50.xml" Id="R14cb9539e78048f4"/><Relationship Type="http://schemas.openxmlformats.org/officeDocument/2006/relationships/notesMaster" Target="../notesMasters/notesMaster1001.xml" Id="Rc23b5d062f4f472f"/></Relationships>
</file>

<file path=ppt/notesSlides/_rels/notesSlide1003.xml.rels><?xml version='1.0' encoding='UTF-8' standalone='yes'?>
<Relationships xmlns="http://schemas.openxmlformats.org/package/2006/relationships"><Relationship Type="http://schemas.openxmlformats.org/officeDocument/2006/relationships/slide" Target="../slides/slide51.xml" Id="Rdc45cdec39044894"/><Relationship Type="http://schemas.openxmlformats.org/officeDocument/2006/relationships/notesMaster" Target="../notesMasters/notesMaster1001.xml" Id="R48be4802c9c14732"/></Relationships>
</file>

<file path=ppt/notesSlides/_rels/notesSlide1004.xml.rels><?xml version='1.0' encoding='UTF-8' standalone='yes'?>
<Relationships xmlns="http://schemas.openxmlformats.org/package/2006/relationships"><Relationship Type="http://schemas.openxmlformats.org/officeDocument/2006/relationships/slide" Target="../slides/slide52.xml" Id="R317c38f5623643f0"/><Relationship Type="http://schemas.openxmlformats.org/officeDocument/2006/relationships/notesMaster" Target="../notesMasters/notesMaster1001.xml" Id="R9c9d7ed5de3a46eb"/></Relationships>
</file>

<file path=ppt/notesSlides/_rels/notesSlide1005.xml.rels><?xml version='1.0' encoding='UTF-8' standalone='yes'?>
<Relationships xmlns="http://schemas.openxmlformats.org/package/2006/relationships"><Relationship Type="http://schemas.openxmlformats.org/officeDocument/2006/relationships/slide" Target="../slides/slide53.xml" Id="R99c4fbc64d4c41d9"/><Relationship Type="http://schemas.openxmlformats.org/officeDocument/2006/relationships/notesMaster" Target="../notesMasters/notesMaster1001.xml" Id="R3d37bbdc96644ab9"/></Relationships>
</file>

<file path=ppt/notesSlides/_rels/notesSlide1006.xml.rels><?xml version='1.0' encoding='UTF-8' standalone='yes'?>
<Relationships xmlns="http://schemas.openxmlformats.org/package/2006/relationships"><Relationship Type="http://schemas.openxmlformats.org/officeDocument/2006/relationships/slide" Target="../slides/slide54.xml" Id="R61dea33a79c94429"/><Relationship Type="http://schemas.openxmlformats.org/officeDocument/2006/relationships/notesMaster" Target="../notesMasters/notesMaster1001.xml" Id="R2bf81639f4474a8a"/></Relationships>
</file>

<file path=ppt/notesSlides/_rels/notesSlide1007.xml.rels><?xml version='1.0' encoding='UTF-8' standalone='yes'?>
<Relationships xmlns="http://schemas.openxmlformats.org/package/2006/relationships"><Relationship Type="http://schemas.openxmlformats.org/officeDocument/2006/relationships/slide" Target="../slides/slide55.xml" Id="Rd6ba0d0798cb4820"/><Relationship Type="http://schemas.openxmlformats.org/officeDocument/2006/relationships/notesMaster" Target="../notesMasters/notesMaster1001.xml" Id="Rfa939a44eea44a23"/></Relationships>
</file>

<file path=ppt/notesSlides/_rels/notesSlide1008.xml.rels><?xml version='1.0' encoding='UTF-8' standalone='yes'?>
<Relationships xmlns="http://schemas.openxmlformats.org/package/2006/relationships"><Relationship Type="http://schemas.openxmlformats.org/officeDocument/2006/relationships/slide" Target="../slides/slide56.xml" Id="R7f896e7f83304397"/><Relationship Type="http://schemas.openxmlformats.org/officeDocument/2006/relationships/notesMaster" Target="../notesMasters/notesMaster1001.xml" Id="R473624a6bc384314"/></Relationships>
</file>

<file path=ppt/notesSlides/_rels/notesSlide1009.xml.rels><?xml version='1.0' encoding='UTF-8' standalone='yes'?>
<Relationships xmlns="http://schemas.openxmlformats.org/package/2006/relationships"><Relationship Type="http://schemas.openxmlformats.org/officeDocument/2006/relationships/slide" Target="../slides/slide57.xml" Id="Rb1baccf8cdfe4d77"/><Relationship Type="http://schemas.openxmlformats.org/officeDocument/2006/relationships/notesMaster" Target="../notesMasters/notesMaster1001.xml" Id="R2f08192f00cb4ec2"/></Relationships>
</file>

<file path=ppt/notesSlides/_rels/notesSlide1010.xml.rels><?xml version='1.0' encoding='UTF-8' standalone='yes'?>
<Relationships xmlns="http://schemas.openxmlformats.org/package/2006/relationships"><Relationship Type="http://schemas.openxmlformats.org/officeDocument/2006/relationships/slide" Target="../slides/slide58.xml" Id="R11e6ca7404dc43de"/><Relationship Type="http://schemas.openxmlformats.org/officeDocument/2006/relationships/notesMaster" Target="../notesMasters/notesMaster1001.xml" Id="R43237610f6314c9c"/></Relationships>
</file>

<file path=ppt/notesSlides/_rels/notesSlide1011.xml.rels><?xml version='1.0' encoding='UTF-8' standalone='yes'?>
<Relationships xmlns="http://schemas.openxmlformats.org/package/2006/relationships"><Relationship Type="http://schemas.openxmlformats.org/officeDocument/2006/relationships/slide" Target="../slides/slide59.xml" Id="Rc6054a46b7ad41f2"/><Relationship Type="http://schemas.openxmlformats.org/officeDocument/2006/relationships/notesMaster" Target="../notesMasters/notesMaster1001.xml" Id="R6e9720ac505e4144"/></Relationships>
</file>

<file path=ppt/notesSlides/_rels/notesSlide1012.xml.rels><?xml version='1.0' encoding='UTF-8' standalone='yes'?>
<Relationships xmlns="http://schemas.openxmlformats.org/package/2006/relationships"><Relationship Type="http://schemas.openxmlformats.org/officeDocument/2006/relationships/slide" Target="../slides/slide60.xml" Id="Ree01e6447b8a49fa"/><Relationship Type="http://schemas.openxmlformats.org/officeDocument/2006/relationships/notesMaster" Target="../notesMasters/notesMaster1001.xml" Id="Rb9c27fe2e6654fc6"/></Relationships>
</file>

<file path=ppt/notesSlides/_rels/notesSlide1013.xml.rels><?xml version='1.0' encoding='UTF-8' standalone='yes'?>
<Relationships xmlns="http://schemas.openxmlformats.org/package/2006/relationships"><Relationship Type="http://schemas.openxmlformats.org/officeDocument/2006/relationships/slide" Target="../slides/slide61.xml" Id="Rfb075d0faad541cc"/><Relationship Type="http://schemas.openxmlformats.org/officeDocument/2006/relationships/notesMaster" Target="../notesMasters/notesMaster1001.xml" Id="Rddcabf433f3a4f5b"/></Relationships>
</file>

<file path=ppt/notesSlides/_rels/notesSlide1014.xml.rels><?xml version='1.0' encoding='UTF-8' standalone='yes'?>
<Relationships xmlns="http://schemas.openxmlformats.org/package/2006/relationships"><Relationship Type="http://schemas.openxmlformats.org/officeDocument/2006/relationships/slide" Target="../slides/slide62.xml" Id="R9f8d297f716443d8"/><Relationship Type="http://schemas.openxmlformats.org/officeDocument/2006/relationships/notesMaster" Target="../notesMasters/notesMaster1001.xml" Id="R8f0ebc9caa6e4537"/></Relationships>
</file>

<file path=ppt/notesSlides/_rels/notesSlide1015.xml.rels><?xml version='1.0' encoding='UTF-8' standalone='yes'?>
<Relationships xmlns="http://schemas.openxmlformats.org/package/2006/relationships"><Relationship Type="http://schemas.openxmlformats.org/officeDocument/2006/relationships/slide" Target="../slides/slide63.xml" Id="Re6b706dde1734a18"/><Relationship Type="http://schemas.openxmlformats.org/officeDocument/2006/relationships/notesMaster" Target="../notesMasters/notesMaster1001.xml" Id="R55b724c657f84ce9"/></Relationships>
</file>

<file path=ppt/notesSlides/_rels/notesSlide1016.xml.rels><?xml version='1.0' encoding='UTF-8' standalone='yes'?>
<Relationships xmlns="http://schemas.openxmlformats.org/package/2006/relationships"><Relationship Type="http://schemas.openxmlformats.org/officeDocument/2006/relationships/slide" Target="../slides/slide64.xml" Id="R757432331cda4343"/><Relationship Type="http://schemas.openxmlformats.org/officeDocument/2006/relationships/notesMaster" Target="../notesMasters/notesMaster1001.xml" Id="R8f64f99a79ee4fb1"/></Relationships>
</file>

<file path=ppt/notesSlides/_rels/notesSlide1017.xml.rels><?xml version='1.0' encoding='UTF-8' standalone='yes'?>
<Relationships xmlns="http://schemas.openxmlformats.org/package/2006/relationships"><Relationship Type="http://schemas.openxmlformats.org/officeDocument/2006/relationships/slide" Target="../slides/slide65.xml" Id="R25dc94b01c354b97"/><Relationship Type="http://schemas.openxmlformats.org/officeDocument/2006/relationships/notesMaster" Target="../notesMasters/notesMaster1001.xml" Id="R12a00a2a22504b85"/></Relationships>
</file>

<file path=ppt/notesSlides/_rels/notesSlide1018.xml.rels><?xml version='1.0' encoding='UTF-8' standalone='yes'?>
<Relationships xmlns="http://schemas.openxmlformats.org/package/2006/relationships"><Relationship Type="http://schemas.openxmlformats.org/officeDocument/2006/relationships/slide" Target="../slides/slide66.xml" Id="R179fa1406ed1432b"/><Relationship Type="http://schemas.openxmlformats.org/officeDocument/2006/relationships/notesMaster" Target="../notesMasters/notesMaster1001.xml" Id="Rf5568ab6bb174e53"/></Relationships>
</file>

<file path=ppt/notesSlides/_rels/notesSlide1019.xml.rels><?xml version='1.0' encoding='UTF-8' standalone='yes'?>
<Relationships xmlns="http://schemas.openxmlformats.org/package/2006/relationships"><Relationship Type="http://schemas.openxmlformats.org/officeDocument/2006/relationships/slide" Target="../slides/slide67.xml" Id="Re6d5d027100d44ff"/><Relationship Type="http://schemas.openxmlformats.org/officeDocument/2006/relationships/notesMaster" Target="../notesMasters/notesMaster1001.xml" Id="R724ddf99e7f748b9"/></Relationships>
</file>

<file path=ppt/notesSlides/_rels/notesSlide1020.xml.rels><?xml version='1.0' encoding='UTF-8' standalone='yes'?>
<Relationships xmlns="http://schemas.openxmlformats.org/package/2006/relationships"><Relationship Type="http://schemas.openxmlformats.org/officeDocument/2006/relationships/slide" Target="../slides/slide68.xml" Id="Rd7903f0ee8bd4e0a"/><Relationship Type="http://schemas.openxmlformats.org/officeDocument/2006/relationships/notesMaster" Target="../notesMasters/notesMaster1001.xml" Id="Rc6a1bde6341449b6"/></Relationships>
</file>

<file path=ppt/notesSlides/_rels/notesSlide1021.xml.rels><?xml version='1.0' encoding='UTF-8' standalone='yes'?>
<Relationships xmlns="http://schemas.openxmlformats.org/package/2006/relationships"><Relationship Type="http://schemas.openxmlformats.org/officeDocument/2006/relationships/slide" Target="../slides/slide69.xml" Id="R930331b78bee40b9"/><Relationship Type="http://schemas.openxmlformats.org/officeDocument/2006/relationships/notesMaster" Target="../notesMasters/notesMaster1001.xml" Id="R390573aa02004cbc"/></Relationships>
</file>

<file path=ppt/notesSlides/_rels/notesSlide1022.xml.rels><?xml version='1.0' encoding='UTF-8' standalone='yes'?>
<Relationships xmlns="http://schemas.openxmlformats.org/package/2006/relationships"><Relationship Type="http://schemas.openxmlformats.org/officeDocument/2006/relationships/slide" Target="../slides/slide70.xml" Id="R2af920c87f8e42a0"/><Relationship Type="http://schemas.openxmlformats.org/officeDocument/2006/relationships/notesMaster" Target="../notesMasters/notesMaster1001.xml" Id="R6515e935b9454abe"/></Relationships>
</file>

<file path=ppt/notesSlides/_rels/notesSlide1023.xml.rels><?xml version='1.0' encoding='UTF-8' standalone='yes'?>
<Relationships xmlns="http://schemas.openxmlformats.org/package/2006/relationships"><Relationship Type="http://schemas.openxmlformats.org/officeDocument/2006/relationships/slide" Target="../slides/slide71.xml" Id="R41257ba468264a12"/><Relationship Type="http://schemas.openxmlformats.org/officeDocument/2006/relationships/notesMaster" Target="../notesMasters/notesMaster1001.xml" Id="R698b0a5d68ce4354"/></Relationships>
</file>

<file path=ppt/notesSlides/_rels/notesSlide1024.xml.rels><?xml version='1.0' encoding='UTF-8' standalone='yes'?>
<Relationships xmlns="http://schemas.openxmlformats.org/package/2006/relationships"><Relationship Type="http://schemas.openxmlformats.org/officeDocument/2006/relationships/slide" Target="../slides/slide72.xml" Id="R57ac9542c7354a68"/><Relationship Type="http://schemas.openxmlformats.org/officeDocument/2006/relationships/notesMaster" Target="../notesMasters/notesMaster1001.xml" Id="Rb6436c165836496d"/></Relationships>
</file>

<file path=ppt/notesSlides/_rels/notesSlide1025.xml.rels><?xml version='1.0' encoding='UTF-8' standalone='yes'?>
<Relationships xmlns="http://schemas.openxmlformats.org/package/2006/relationships"><Relationship Type="http://schemas.openxmlformats.org/officeDocument/2006/relationships/slide" Target="../slides/slide73.xml" Id="R79846c5efc5b4727"/><Relationship Type="http://schemas.openxmlformats.org/officeDocument/2006/relationships/notesMaster" Target="../notesMasters/notesMaster1001.xml" Id="Rbe4e486b83164426"/></Relationships>
</file>

<file path=ppt/notesSlides/_rels/notesSlide1026.xml.rels><?xml version='1.0' encoding='UTF-8' standalone='yes'?>
<Relationships xmlns="http://schemas.openxmlformats.org/package/2006/relationships"><Relationship Type="http://schemas.openxmlformats.org/officeDocument/2006/relationships/slide" Target="../slides/slide74.xml" Id="Rad6e566749df41eb"/><Relationship Type="http://schemas.openxmlformats.org/officeDocument/2006/relationships/notesMaster" Target="../notesMasters/notesMaster1001.xml" Id="R26076177249348c4"/></Relationships>
</file>

<file path=ppt/notesSlides/_rels/notesSlide1027.xml.rels><?xml version='1.0' encoding='UTF-8' standalone='yes'?>
<Relationships xmlns="http://schemas.openxmlformats.org/package/2006/relationships"><Relationship Type="http://schemas.openxmlformats.org/officeDocument/2006/relationships/slide" Target="../slides/slide75.xml" Id="Rce89a62b075f495d"/><Relationship Type="http://schemas.openxmlformats.org/officeDocument/2006/relationships/notesMaster" Target="../notesMasters/notesMaster1001.xml" Id="R74443ae4230b4516"/></Relationships>
</file>

<file path=ppt/notesSlides/_rels/notesSlide1028.xml.rels><?xml version='1.0' encoding='UTF-8' standalone='yes'?>
<Relationships xmlns="http://schemas.openxmlformats.org/package/2006/relationships"><Relationship Type="http://schemas.openxmlformats.org/officeDocument/2006/relationships/slide" Target="../slides/slide76.xml" Id="R831bf50833434da3"/><Relationship Type="http://schemas.openxmlformats.org/officeDocument/2006/relationships/notesMaster" Target="../notesMasters/notesMaster1001.xml" Id="R4a83f235fc9f43ba"/></Relationships>
</file>

<file path=ppt/notesSlides/notesSlide10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 The next 27 slides select core architectural mechanisms from the archived lecture 3 and former lecture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4.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10.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14. Original figures and mathematical artwork retained.</a:t>
            </a:r>
          </a:p>
          <a:p xmlns:a="http://schemas.openxmlformats.org/drawingml/2006/main">
            <a:r>
              <a:t>RMSNorm formula corrected to include the mean over d coordinates. Zhang and Sennrich (2019), https://arxiv.org/abs/1910.07467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16.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22.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23.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31.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32.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33. Original figures and mathematical artwork retained.</a:t>
            </a:r>
          </a:p>
          <a:p xmlns:a="http://schemas.openxmlformats.org/drawingml/2006/main">
            <a:r>
              <a:t>Figure retained from Su et al. (2021). The omitted model-specific sidebar is not needed for the paired-coordinate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34.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37.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45.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59. Original figures and mathematical artwork retained.</a:t>
            </a:r>
          </a:p>
          <a:p xmlns:a="http://schemas.openxmlformats.org/drawingml/2006/main">
            <a:r>
              <a:t>Original illustration: https://medium.com/@joaolages/kv-caching-explained-276520203249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61. Original figures and mathematical artwork retained.</a:t>
            </a:r>
          </a:p>
          <a:p xmlns:a="http://schemas.openxmlformats.org/drawingml/2006/main">
            <a:r>
              <a:t>Shazeer (2019), https://arxiv.org/abs/1911.02150. MQA shares KV heads, not a single scalar dimension. Original diagram: https://blog.fireworks.ai/multi-query-attention-is-all-you-need-db072e758055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62.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C:\Work\PPCLLM\additionals\lecture_03_lm_architecture_and_hyperparameters.pdf, PDF page 64.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4. Original figures and mathematical artwork retained.</a:t>
            </a:r>
          </a:p>
          <a:p xmlns:a="http://schemas.openxmlformats.org/drawingml/2006/main">
            <a:r>
              <a:t>This identity is exact for unnormalized linear attention; it is not an algebraic replacement for softmax attention. Kernelized variants may need a normalization state. Katharopoulos et al. (2020), https://arxiv.org/abs/2006.16236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5. Original figures and mathematical artwork retained.</a:t>
            </a:r>
          </a:p>
          <a:p xmlns:a="http://schemas.openxmlformats.org/drawingml/2006/main">
            <a:r>
              <a:t>Equations show unnormalized linear attention with column-vector q, k, v and S_0=0. Kernelized normalized attention also maintains a denominator state. https://arxiv.org/abs/2006.16236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15. Original figures and mathematical artwork retained.</a:t>
            </a:r>
          </a:p>
          <a:p xmlns:a="http://schemas.openxmlformats.org/drawingml/2006/main">
            <a:r>
              <a:t>Total parameter memory and communication may still grow. Switch Transformer, https://arxiv.org/abs/2101.03961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16. Original figures and mathematical artwork retained.</a:t>
            </a:r>
          </a:p>
          <a:p xmlns:a="http://schemas.openxmlformats.org/drawingml/2006/main">
            <a:r>
              <a:t>Empirical result in the shown Switch Transformer experiments, not a guarantee for every MoE configuration. https://arxiv.org/abs/2101.03961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27.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31. Original figures and mathematical artwork retained.</a:t>
            </a:r>
          </a:p>
          <a:p xmlns:a="http://schemas.openxmlformats.org/drawingml/2006/main">
            <a:r>
              <a:t>Preserved source equations use softmax before top-k. Other variants renormalize selected logits. Figure attributed to Dai et al. (2024) in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32.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40. Original figures and mathematical artwork retained.</a:t>
            </a:r>
          </a:p>
          <a:p xmlns:a="http://schemas.openxmlformats.org/drawingml/2006/main">
            <a:r>
              <a:t>Preserved Switch Transformer balancing loss: f_i is the fraction of tokens dispatched to expert i, P_i is its mean router probability. https://arxiv.org/abs/2101.03961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44.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45.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Adapted from C:\Work\PPCLLM\lecture_04.pdf, PDF page 60. Original figures and mathematical artwork retained.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Layouts/_rels/slideLayout100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001.xml" Id="Rf6e277ceba7c4f7e"/></Relationships>
</file>

<file path=ppt/slideLayouts/_rels/slideLayout100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001.xml" Id="R3b343fba2d154baa"/></Relationships>
</file>

<file path=ppt/slideLayouts/_rels/slideLayout100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001.xml" Id="R2935b21ca393476f"/></Relationships>
</file>

<file path=ppt/slideLayouts/_rels/slideLayout100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001.xml" Id="R9b0d8a9b4d2d45eb"/></Relationships>
</file>

<file path=ppt/slideLayouts/_rels/slideLayout100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001.xml" Id="R49d997a4c8cc4b8e"/></Relationships>
</file>

<file path=ppt/slideLayouts/_rels/slideLayout100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001.xml" Id="R088d229e48004925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07B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07B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07B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11568" y="1061608"/>
            <a:ext cx="4441825" cy="406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07B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3672" y="2370789"/>
            <a:ext cx="373301" cy="2119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0805" y="2350007"/>
            <a:ext cx="388268" cy="24522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5025" y="2350007"/>
            <a:ext cx="385893" cy="2452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6322" y="2379102"/>
            <a:ext cx="380942" cy="2161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5115" y="2715386"/>
            <a:ext cx="165354" cy="17449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5115" y="2943986"/>
            <a:ext cx="165354" cy="17449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5115" y="3181730"/>
            <a:ext cx="165354" cy="174498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5115" y="3410330"/>
            <a:ext cx="165354" cy="174498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2715768" y="2624327"/>
            <a:ext cx="365760" cy="1069975"/>
          </a:xfrm>
          <a:custGeom>
            <a:avLst/>
            <a:gdLst/>
            <a:ahLst/>
            <a:cxnLst/>
            <a:rect l="l" t="t" r="r" b="b"/>
            <a:pathLst>
              <a:path w="365760" h="1069975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08888"/>
                </a:lnTo>
                <a:lnTo>
                  <a:pt x="360967" y="1032611"/>
                </a:lnTo>
                <a:lnTo>
                  <a:pt x="347900" y="1051988"/>
                </a:lnTo>
                <a:lnTo>
                  <a:pt x="328523" y="1065055"/>
                </a:lnTo>
                <a:lnTo>
                  <a:pt x="304800" y="1069848"/>
                </a:lnTo>
                <a:lnTo>
                  <a:pt x="60959" y="1069848"/>
                </a:lnTo>
                <a:lnTo>
                  <a:pt x="37236" y="1065055"/>
                </a:lnTo>
                <a:lnTo>
                  <a:pt x="17859" y="1051988"/>
                </a:lnTo>
                <a:lnTo>
                  <a:pt x="4792" y="1032611"/>
                </a:lnTo>
                <a:lnTo>
                  <a:pt x="0" y="1008888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050">
            <a:solidFill>
              <a:srgbClr val="8B15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095744" y="1216151"/>
            <a:ext cx="1884680" cy="1993900"/>
          </a:xfrm>
          <a:custGeom>
            <a:avLst/>
            <a:gdLst/>
            <a:ahLst/>
            <a:cxnLst/>
            <a:rect l="l" t="t" r="r" b="b"/>
            <a:pathLst>
              <a:path w="1884679" h="1993900">
                <a:moveTo>
                  <a:pt x="1641221" y="1938528"/>
                </a:moveTo>
                <a:lnTo>
                  <a:pt x="1624901" y="1929003"/>
                </a:lnTo>
                <a:lnTo>
                  <a:pt x="1546352" y="1883156"/>
                </a:lnTo>
                <a:lnTo>
                  <a:pt x="1540510" y="1884680"/>
                </a:lnTo>
                <a:lnTo>
                  <a:pt x="1537843" y="1889252"/>
                </a:lnTo>
                <a:lnTo>
                  <a:pt x="1535303" y="1893824"/>
                </a:lnTo>
                <a:lnTo>
                  <a:pt x="1536827" y="1899666"/>
                </a:lnTo>
                <a:lnTo>
                  <a:pt x="1541272" y="1902333"/>
                </a:lnTo>
                <a:lnTo>
                  <a:pt x="1586979" y="1929003"/>
                </a:lnTo>
                <a:lnTo>
                  <a:pt x="0" y="1929003"/>
                </a:lnTo>
                <a:lnTo>
                  <a:pt x="0" y="1948053"/>
                </a:lnTo>
                <a:lnTo>
                  <a:pt x="1586979" y="1948053"/>
                </a:lnTo>
                <a:lnTo>
                  <a:pt x="1541272" y="1974723"/>
                </a:lnTo>
                <a:lnTo>
                  <a:pt x="1536827" y="1977390"/>
                </a:lnTo>
                <a:lnTo>
                  <a:pt x="1535303" y="1983232"/>
                </a:lnTo>
                <a:lnTo>
                  <a:pt x="1537843" y="1987804"/>
                </a:lnTo>
                <a:lnTo>
                  <a:pt x="1540510" y="1992249"/>
                </a:lnTo>
                <a:lnTo>
                  <a:pt x="1546352" y="1993773"/>
                </a:lnTo>
                <a:lnTo>
                  <a:pt x="1550924" y="1991233"/>
                </a:lnTo>
                <a:lnTo>
                  <a:pt x="1624901" y="1948053"/>
                </a:lnTo>
                <a:lnTo>
                  <a:pt x="1641221" y="1938528"/>
                </a:lnTo>
                <a:close/>
              </a:path>
              <a:path w="1884679" h="1993900">
                <a:moveTo>
                  <a:pt x="1884172" y="94742"/>
                </a:moveTo>
                <a:lnTo>
                  <a:pt x="1881505" y="90297"/>
                </a:lnTo>
                <a:lnTo>
                  <a:pt x="1839760" y="18796"/>
                </a:lnTo>
                <a:lnTo>
                  <a:pt x="1828800" y="0"/>
                </a:lnTo>
                <a:lnTo>
                  <a:pt x="1776095" y="90297"/>
                </a:lnTo>
                <a:lnTo>
                  <a:pt x="1773428" y="94742"/>
                </a:lnTo>
                <a:lnTo>
                  <a:pt x="1774952" y="100584"/>
                </a:lnTo>
                <a:lnTo>
                  <a:pt x="1784096" y="105918"/>
                </a:lnTo>
                <a:lnTo>
                  <a:pt x="1789938" y="104394"/>
                </a:lnTo>
                <a:lnTo>
                  <a:pt x="1819262" y="54114"/>
                </a:lnTo>
                <a:lnTo>
                  <a:pt x="1819275" y="18796"/>
                </a:lnTo>
                <a:lnTo>
                  <a:pt x="1819275" y="54114"/>
                </a:lnTo>
                <a:lnTo>
                  <a:pt x="1819275" y="1408938"/>
                </a:lnTo>
                <a:lnTo>
                  <a:pt x="1838325" y="1408938"/>
                </a:lnTo>
                <a:lnTo>
                  <a:pt x="1838325" y="54114"/>
                </a:lnTo>
                <a:lnTo>
                  <a:pt x="1867662" y="104394"/>
                </a:lnTo>
                <a:lnTo>
                  <a:pt x="1873504" y="105918"/>
                </a:lnTo>
                <a:lnTo>
                  <a:pt x="1882648" y="100584"/>
                </a:lnTo>
                <a:lnTo>
                  <a:pt x="1884172" y="94742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867" y="2715386"/>
            <a:ext cx="165353" cy="174498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867" y="2943986"/>
            <a:ext cx="165353" cy="174498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867" y="3181730"/>
            <a:ext cx="165353" cy="174498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867" y="3410330"/>
            <a:ext cx="165353" cy="174498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8741663" y="2624327"/>
            <a:ext cx="365760" cy="1069975"/>
          </a:xfrm>
          <a:custGeom>
            <a:avLst/>
            <a:gdLst/>
            <a:ahLst/>
            <a:cxnLst/>
            <a:rect l="l" t="t" r="r" b="b"/>
            <a:pathLst>
              <a:path w="365759" h="1069975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59" y="60960"/>
                </a:lnTo>
                <a:lnTo>
                  <a:pt x="365759" y="1008888"/>
                </a:lnTo>
                <a:lnTo>
                  <a:pt x="360967" y="1032611"/>
                </a:lnTo>
                <a:lnTo>
                  <a:pt x="347900" y="1051988"/>
                </a:lnTo>
                <a:lnTo>
                  <a:pt x="328523" y="1065055"/>
                </a:lnTo>
                <a:lnTo>
                  <a:pt x="304800" y="1069848"/>
                </a:lnTo>
                <a:lnTo>
                  <a:pt x="60959" y="1069848"/>
                </a:lnTo>
                <a:lnTo>
                  <a:pt x="37236" y="1065055"/>
                </a:lnTo>
                <a:lnTo>
                  <a:pt x="17859" y="1051988"/>
                </a:lnTo>
                <a:lnTo>
                  <a:pt x="4792" y="1032611"/>
                </a:lnTo>
                <a:lnTo>
                  <a:pt x="0" y="1008888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59" y="0"/>
                </a:lnTo>
                <a:lnTo>
                  <a:pt x="304800" y="0"/>
                </a:lnTo>
                <a:close/>
              </a:path>
            </a:pathLst>
          </a:custGeom>
          <a:ln w="19050">
            <a:solidFill>
              <a:srgbClr val="8B15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5093208" y="3099308"/>
            <a:ext cx="1641475" cy="111125"/>
          </a:xfrm>
          <a:custGeom>
            <a:avLst/>
            <a:gdLst/>
            <a:ahLst/>
            <a:cxnLst/>
            <a:rect l="l" t="t" r="r" b="b"/>
            <a:pathLst>
              <a:path w="1641475" h="111125">
                <a:moveTo>
                  <a:pt x="1603320" y="55371"/>
                </a:moveTo>
                <a:lnTo>
                  <a:pt x="1541271" y="91566"/>
                </a:lnTo>
                <a:lnTo>
                  <a:pt x="1536826" y="94233"/>
                </a:lnTo>
                <a:lnTo>
                  <a:pt x="1535302" y="100075"/>
                </a:lnTo>
                <a:lnTo>
                  <a:pt x="1537842" y="104647"/>
                </a:lnTo>
                <a:lnTo>
                  <a:pt x="1540510" y="109092"/>
                </a:lnTo>
                <a:lnTo>
                  <a:pt x="1546351" y="110616"/>
                </a:lnTo>
                <a:lnTo>
                  <a:pt x="1550923" y="108076"/>
                </a:lnTo>
                <a:lnTo>
                  <a:pt x="1624902" y="64896"/>
                </a:lnTo>
                <a:lnTo>
                  <a:pt x="1622297" y="64896"/>
                </a:lnTo>
                <a:lnTo>
                  <a:pt x="1622297" y="63626"/>
                </a:lnTo>
                <a:lnTo>
                  <a:pt x="1617471" y="63626"/>
                </a:lnTo>
                <a:lnTo>
                  <a:pt x="1603320" y="55371"/>
                </a:lnTo>
                <a:close/>
              </a:path>
              <a:path w="1641475" h="111125">
                <a:moveTo>
                  <a:pt x="1586991" y="45846"/>
                </a:moveTo>
                <a:lnTo>
                  <a:pt x="0" y="45846"/>
                </a:lnTo>
                <a:lnTo>
                  <a:pt x="0" y="64896"/>
                </a:lnTo>
                <a:lnTo>
                  <a:pt x="1586991" y="64896"/>
                </a:lnTo>
                <a:lnTo>
                  <a:pt x="1603320" y="55371"/>
                </a:lnTo>
                <a:lnTo>
                  <a:pt x="1586991" y="45846"/>
                </a:lnTo>
                <a:close/>
              </a:path>
              <a:path w="1641475" h="111125">
                <a:moveTo>
                  <a:pt x="1624902" y="45846"/>
                </a:moveTo>
                <a:lnTo>
                  <a:pt x="1622297" y="45846"/>
                </a:lnTo>
                <a:lnTo>
                  <a:pt x="1622297" y="64896"/>
                </a:lnTo>
                <a:lnTo>
                  <a:pt x="1624902" y="64896"/>
                </a:lnTo>
                <a:lnTo>
                  <a:pt x="1641220" y="55371"/>
                </a:lnTo>
                <a:lnTo>
                  <a:pt x="1624902" y="45846"/>
                </a:lnTo>
                <a:close/>
              </a:path>
              <a:path w="1641475" h="111125">
                <a:moveTo>
                  <a:pt x="1617471" y="47116"/>
                </a:moveTo>
                <a:lnTo>
                  <a:pt x="1603320" y="55371"/>
                </a:lnTo>
                <a:lnTo>
                  <a:pt x="1617471" y="63626"/>
                </a:lnTo>
                <a:lnTo>
                  <a:pt x="1617471" y="47116"/>
                </a:lnTo>
                <a:close/>
              </a:path>
              <a:path w="1641475" h="111125">
                <a:moveTo>
                  <a:pt x="1622297" y="47116"/>
                </a:moveTo>
                <a:lnTo>
                  <a:pt x="1617471" y="47116"/>
                </a:lnTo>
                <a:lnTo>
                  <a:pt x="1617471" y="63626"/>
                </a:lnTo>
                <a:lnTo>
                  <a:pt x="1622297" y="63626"/>
                </a:lnTo>
                <a:lnTo>
                  <a:pt x="1622297" y="47116"/>
                </a:lnTo>
                <a:close/>
              </a:path>
              <a:path w="1641475" h="111125">
                <a:moveTo>
                  <a:pt x="1546351" y="0"/>
                </a:moveTo>
                <a:lnTo>
                  <a:pt x="1540510" y="1524"/>
                </a:lnTo>
                <a:lnTo>
                  <a:pt x="1537842" y="6095"/>
                </a:lnTo>
                <a:lnTo>
                  <a:pt x="1535302" y="10667"/>
                </a:lnTo>
                <a:lnTo>
                  <a:pt x="1536826" y="16509"/>
                </a:lnTo>
                <a:lnTo>
                  <a:pt x="1541271" y="19176"/>
                </a:lnTo>
                <a:lnTo>
                  <a:pt x="1603320" y="55371"/>
                </a:lnTo>
                <a:lnTo>
                  <a:pt x="1617471" y="47116"/>
                </a:lnTo>
                <a:lnTo>
                  <a:pt x="1622297" y="47116"/>
                </a:lnTo>
                <a:lnTo>
                  <a:pt x="1622297" y="45846"/>
                </a:lnTo>
                <a:lnTo>
                  <a:pt x="1624902" y="45846"/>
                </a:lnTo>
                <a:lnTo>
                  <a:pt x="1546351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9331" y="2715386"/>
            <a:ext cx="165353" cy="174498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9331" y="2943986"/>
            <a:ext cx="165353" cy="174498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9331" y="3181730"/>
            <a:ext cx="165353" cy="174498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9331" y="3410330"/>
            <a:ext cx="165353" cy="174498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6729983" y="2624327"/>
            <a:ext cx="365760" cy="1069975"/>
          </a:xfrm>
          <a:custGeom>
            <a:avLst/>
            <a:gdLst/>
            <a:ahLst/>
            <a:cxnLst/>
            <a:rect l="l" t="t" r="r" b="b"/>
            <a:pathLst>
              <a:path w="365759" h="1069975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60" y="60960"/>
                </a:lnTo>
                <a:lnTo>
                  <a:pt x="365760" y="1008888"/>
                </a:lnTo>
                <a:lnTo>
                  <a:pt x="360967" y="1032611"/>
                </a:lnTo>
                <a:lnTo>
                  <a:pt x="347900" y="1051988"/>
                </a:lnTo>
                <a:lnTo>
                  <a:pt x="328523" y="1065055"/>
                </a:lnTo>
                <a:lnTo>
                  <a:pt x="304800" y="1069848"/>
                </a:lnTo>
                <a:lnTo>
                  <a:pt x="60960" y="1069848"/>
                </a:lnTo>
                <a:lnTo>
                  <a:pt x="37236" y="1065055"/>
                </a:lnTo>
                <a:lnTo>
                  <a:pt x="17859" y="1051988"/>
                </a:lnTo>
                <a:lnTo>
                  <a:pt x="4792" y="1032611"/>
                </a:lnTo>
                <a:lnTo>
                  <a:pt x="0" y="1008888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60" y="0"/>
                </a:lnTo>
                <a:lnTo>
                  <a:pt x="304800" y="0"/>
                </a:lnTo>
                <a:close/>
              </a:path>
            </a:pathLst>
          </a:custGeom>
          <a:ln w="19050">
            <a:solidFill>
              <a:srgbClr val="8B15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3081528" y="3099308"/>
            <a:ext cx="1641475" cy="111125"/>
          </a:xfrm>
          <a:custGeom>
            <a:avLst/>
            <a:gdLst/>
            <a:ahLst/>
            <a:cxnLst/>
            <a:rect l="l" t="t" r="r" b="b"/>
            <a:pathLst>
              <a:path w="1641475" h="111125">
                <a:moveTo>
                  <a:pt x="1603320" y="55371"/>
                </a:moveTo>
                <a:lnTo>
                  <a:pt x="1541272" y="91566"/>
                </a:lnTo>
                <a:lnTo>
                  <a:pt x="1536827" y="94233"/>
                </a:lnTo>
                <a:lnTo>
                  <a:pt x="1535302" y="100075"/>
                </a:lnTo>
                <a:lnTo>
                  <a:pt x="1537843" y="104647"/>
                </a:lnTo>
                <a:lnTo>
                  <a:pt x="1540510" y="109092"/>
                </a:lnTo>
                <a:lnTo>
                  <a:pt x="1546352" y="110616"/>
                </a:lnTo>
                <a:lnTo>
                  <a:pt x="1550924" y="108076"/>
                </a:lnTo>
                <a:lnTo>
                  <a:pt x="1624902" y="64896"/>
                </a:lnTo>
                <a:lnTo>
                  <a:pt x="1622298" y="64896"/>
                </a:lnTo>
                <a:lnTo>
                  <a:pt x="1622298" y="63626"/>
                </a:lnTo>
                <a:lnTo>
                  <a:pt x="1617472" y="63626"/>
                </a:lnTo>
                <a:lnTo>
                  <a:pt x="1603320" y="55371"/>
                </a:lnTo>
                <a:close/>
              </a:path>
              <a:path w="1641475" h="111125">
                <a:moveTo>
                  <a:pt x="1586991" y="45846"/>
                </a:moveTo>
                <a:lnTo>
                  <a:pt x="0" y="45846"/>
                </a:lnTo>
                <a:lnTo>
                  <a:pt x="0" y="64896"/>
                </a:lnTo>
                <a:lnTo>
                  <a:pt x="1586992" y="64896"/>
                </a:lnTo>
                <a:lnTo>
                  <a:pt x="1603320" y="55371"/>
                </a:lnTo>
                <a:lnTo>
                  <a:pt x="1586991" y="45846"/>
                </a:lnTo>
                <a:close/>
              </a:path>
              <a:path w="1641475" h="111125">
                <a:moveTo>
                  <a:pt x="1624902" y="45846"/>
                </a:moveTo>
                <a:lnTo>
                  <a:pt x="1622298" y="45846"/>
                </a:lnTo>
                <a:lnTo>
                  <a:pt x="1622298" y="64896"/>
                </a:lnTo>
                <a:lnTo>
                  <a:pt x="1624902" y="64896"/>
                </a:lnTo>
                <a:lnTo>
                  <a:pt x="1641221" y="55371"/>
                </a:lnTo>
                <a:lnTo>
                  <a:pt x="1624902" y="45846"/>
                </a:lnTo>
                <a:close/>
              </a:path>
              <a:path w="1641475" h="111125">
                <a:moveTo>
                  <a:pt x="1617472" y="47116"/>
                </a:moveTo>
                <a:lnTo>
                  <a:pt x="1603320" y="55371"/>
                </a:lnTo>
                <a:lnTo>
                  <a:pt x="1617472" y="63626"/>
                </a:lnTo>
                <a:lnTo>
                  <a:pt x="1617472" y="47116"/>
                </a:lnTo>
                <a:close/>
              </a:path>
              <a:path w="1641475" h="111125">
                <a:moveTo>
                  <a:pt x="1622298" y="47116"/>
                </a:moveTo>
                <a:lnTo>
                  <a:pt x="1617472" y="47116"/>
                </a:lnTo>
                <a:lnTo>
                  <a:pt x="1617472" y="63626"/>
                </a:lnTo>
                <a:lnTo>
                  <a:pt x="1622298" y="63626"/>
                </a:lnTo>
                <a:lnTo>
                  <a:pt x="1622298" y="47116"/>
                </a:lnTo>
                <a:close/>
              </a:path>
              <a:path w="1641475" h="111125">
                <a:moveTo>
                  <a:pt x="1546352" y="0"/>
                </a:moveTo>
                <a:lnTo>
                  <a:pt x="1540510" y="1524"/>
                </a:lnTo>
                <a:lnTo>
                  <a:pt x="1537843" y="6095"/>
                </a:lnTo>
                <a:lnTo>
                  <a:pt x="1535302" y="10667"/>
                </a:lnTo>
                <a:lnTo>
                  <a:pt x="1536827" y="16509"/>
                </a:lnTo>
                <a:lnTo>
                  <a:pt x="1541272" y="19176"/>
                </a:lnTo>
                <a:lnTo>
                  <a:pt x="1603320" y="55371"/>
                </a:lnTo>
                <a:lnTo>
                  <a:pt x="1617472" y="47116"/>
                </a:lnTo>
                <a:lnTo>
                  <a:pt x="1622298" y="47116"/>
                </a:lnTo>
                <a:lnTo>
                  <a:pt x="1622298" y="45846"/>
                </a:lnTo>
                <a:lnTo>
                  <a:pt x="1624902" y="45846"/>
                </a:lnTo>
                <a:lnTo>
                  <a:pt x="154635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27651" y="2715386"/>
            <a:ext cx="165353" cy="174498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27651" y="2943986"/>
            <a:ext cx="165353" cy="174498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27651" y="3181730"/>
            <a:ext cx="165353" cy="174498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27651" y="3410330"/>
            <a:ext cx="165353" cy="174498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4727448" y="2624327"/>
            <a:ext cx="365760" cy="1069975"/>
          </a:xfrm>
          <a:custGeom>
            <a:avLst/>
            <a:gdLst/>
            <a:ahLst/>
            <a:cxnLst/>
            <a:rect l="l" t="t" r="r" b="b"/>
            <a:pathLst>
              <a:path w="365760" h="1069975">
                <a:moveTo>
                  <a:pt x="304800" y="0"/>
                </a:moveTo>
                <a:lnTo>
                  <a:pt x="328523" y="4792"/>
                </a:lnTo>
                <a:lnTo>
                  <a:pt x="347900" y="17859"/>
                </a:lnTo>
                <a:lnTo>
                  <a:pt x="360967" y="37236"/>
                </a:lnTo>
                <a:lnTo>
                  <a:pt x="365760" y="60960"/>
                </a:lnTo>
                <a:lnTo>
                  <a:pt x="365760" y="1008888"/>
                </a:lnTo>
                <a:lnTo>
                  <a:pt x="360967" y="1032611"/>
                </a:lnTo>
                <a:lnTo>
                  <a:pt x="347900" y="1051988"/>
                </a:lnTo>
                <a:lnTo>
                  <a:pt x="328523" y="1065055"/>
                </a:lnTo>
                <a:lnTo>
                  <a:pt x="304800" y="1069848"/>
                </a:lnTo>
                <a:lnTo>
                  <a:pt x="60960" y="1069848"/>
                </a:lnTo>
                <a:lnTo>
                  <a:pt x="37236" y="1065055"/>
                </a:lnTo>
                <a:lnTo>
                  <a:pt x="17859" y="1051988"/>
                </a:lnTo>
                <a:lnTo>
                  <a:pt x="4792" y="1032611"/>
                </a:lnTo>
                <a:lnTo>
                  <a:pt x="0" y="1008888"/>
                </a:lnTo>
                <a:lnTo>
                  <a:pt x="0" y="60960"/>
                </a:lnTo>
                <a:lnTo>
                  <a:pt x="4792" y="37236"/>
                </a:lnTo>
                <a:lnTo>
                  <a:pt x="17859" y="17859"/>
                </a:lnTo>
                <a:lnTo>
                  <a:pt x="37236" y="4792"/>
                </a:lnTo>
                <a:lnTo>
                  <a:pt x="60960" y="0"/>
                </a:lnTo>
                <a:lnTo>
                  <a:pt x="304800" y="0"/>
                </a:lnTo>
                <a:close/>
              </a:path>
            </a:pathLst>
          </a:custGeom>
          <a:ln w="19050">
            <a:solidFill>
              <a:srgbClr val="8B15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bg 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51533" y="2872587"/>
            <a:ext cx="290945" cy="176936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72357" y="2872587"/>
            <a:ext cx="290945" cy="176936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83444" y="2872587"/>
            <a:ext cx="282632" cy="176936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8066" y="916893"/>
            <a:ext cx="672083" cy="270163"/>
          </a:xfrm>
          <a:prstGeom prst="rect">
            <a:avLst/>
          </a:prstGeom>
        </p:spPr>
      </p:pic>
      <p:sp>
        <p:nvSpPr>
          <p:cNvPr id="49" name="bg object 49"/>
          <p:cNvSpPr/>
          <p:nvPr/>
        </p:nvSpPr>
        <p:spPr>
          <a:xfrm>
            <a:off x="2450592" y="822959"/>
            <a:ext cx="6940550" cy="3191510"/>
          </a:xfrm>
          <a:custGeom>
            <a:avLst/>
            <a:gdLst/>
            <a:ahLst/>
            <a:cxnLst/>
            <a:rect l="l" t="t" r="r" b="b"/>
            <a:pathLst>
              <a:path w="6940550" h="3191510">
                <a:moveTo>
                  <a:pt x="896112" y="1490472"/>
                </a:moveTo>
                <a:lnTo>
                  <a:pt x="0" y="1490472"/>
                </a:lnTo>
                <a:lnTo>
                  <a:pt x="0" y="3191256"/>
                </a:lnTo>
                <a:lnTo>
                  <a:pt x="896112" y="3191256"/>
                </a:lnTo>
                <a:lnTo>
                  <a:pt x="896112" y="1490472"/>
                </a:lnTo>
                <a:close/>
              </a:path>
              <a:path w="6940550" h="3191510">
                <a:moveTo>
                  <a:pt x="6940283" y="0"/>
                </a:moveTo>
                <a:lnTo>
                  <a:pt x="5998464" y="0"/>
                </a:lnTo>
                <a:lnTo>
                  <a:pt x="5998464" y="448056"/>
                </a:lnTo>
                <a:lnTo>
                  <a:pt x="6940283" y="448056"/>
                </a:lnTo>
                <a:lnTo>
                  <a:pt x="6940283" y="0"/>
                </a:lnTo>
                <a:close/>
              </a:path>
            </a:pathLst>
          </a:custGeom>
          <a:solidFill>
            <a:srgbClr val="4285F4">
              <a:alpha val="3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8919972" y="1275588"/>
            <a:ext cx="8255" cy="1923414"/>
          </a:xfrm>
          <a:custGeom>
            <a:avLst/>
            <a:gdLst/>
            <a:ahLst/>
            <a:cxnLst/>
            <a:rect l="l" t="t" r="r" b="b"/>
            <a:pathLst>
              <a:path w="8254" h="1923414">
                <a:moveTo>
                  <a:pt x="0" y="0"/>
                </a:moveTo>
                <a:lnTo>
                  <a:pt x="8254" y="1923161"/>
                </a:lnTo>
              </a:path>
            </a:pathLst>
          </a:custGeom>
          <a:ln w="190500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3351276" y="2873502"/>
            <a:ext cx="5641340" cy="571500"/>
          </a:xfrm>
          <a:custGeom>
            <a:avLst/>
            <a:gdLst/>
            <a:ahLst/>
            <a:cxnLst/>
            <a:rect l="l" t="t" r="r" b="b"/>
            <a:pathLst>
              <a:path w="5641340" h="571500">
                <a:moveTo>
                  <a:pt x="571500" y="0"/>
                </a:moveTo>
                <a:lnTo>
                  <a:pt x="0" y="285750"/>
                </a:lnTo>
                <a:lnTo>
                  <a:pt x="571500" y="571500"/>
                </a:lnTo>
                <a:lnTo>
                  <a:pt x="571500" y="381000"/>
                </a:lnTo>
                <a:lnTo>
                  <a:pt x="476250" y="381000"/>
                </a:lnTo>
                <a:lnTo>
                  <a:pt x="476250" y="190500"/>
                </a:lnTo>
                <a:lnTo>
                  <a:pt x="571500" y="190500"/>
                </a:lnTo>
                <a:lnTo>
                  <a:pt x="571500" y="0"/>
                </a:lnTo>
                <a:close/>
              </a:path>
              <a:path w="5641340" h="571500">
                <a:moveTo>
                  <a:pt x="571500" y="190500"/>
                </a:moveTo>
                <a:lnTo>
                  <a:pt x="476250" y="190500"/>
                </a:lnTo>
                <a:lnTo>
                  <a:pt x="476250" y="381000"/>
                </a:lnTo>
                <a:lnTo>
                  <a:pt x="571500" y="381000"/>
                </a:lnTo>
                <a:lnTo>
                  <a:pt x="571500" y="190500"/>
                </a:lnTo>
                <a:close/>
              </a:path>
              <a:path w="5641340" h="571500">
                <a:moveTo>
                  <a:pt x="5641340" y="190500"/>
                </a:moveTo>
                <a:lnTo>
                  <a:pt x="571500" y="190500"/>
                </a:lnTo>
                <a:lnTo>
                  <a:pt x="571500" y="381000"/>
                </a:lnTo>
                <a:lnTo>
                  <a:pt x="5641340" y="381000"/>
                </a:lnTo>
                <a:lnTo>
                  <a:pt x="5641340" y="190500"/>
                </a:lnTo>
                <a:close/>
              </a:path>
            </a:pathLst>
          </a:custGeom>
          <a:solidFill>
            <a:srgbClr val="4285F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100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799618-9887-47E6-B386-0EBC3EC98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86D9D9-9E3B-48E5-831C-04CBF13B74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100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BBD6DC-45C1-4398-A1AB-D40994BC6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100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39CAC3-B003-4787-B049-B4C5580A3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35A206-C9D6-43F6-8B17-68FF19AD10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100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95AE85-252C-4951-BC24-1FFA1520BF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6DA662-15E5-419B-83CB-67F87B1FC3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BDA4AF-8D28-450C-BA27-9E61EEFCE6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100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36F455-9FCF-4867-B6F5-A6607C9A30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E29CFA-4D85-44FD-AF71-C7D06DFD5A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100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1001.xml.rels><?xml version='1.0' encoding='UTF-8' standalone='yes'?>
<Relationships xmlns="http://schemas.openxmlformats.org/package/2006/relationships"><Relationship Type="http://schemas.openxmlformats.org/officeDocument/2006/relationships/theme" Target="theme/theme1002.xml" Id="R88750d35b7074456"/><Relationship Type="http://schemas.openxmlformats.org/officeDocument/2006/relationships/slideLayout" Target="../slideLayouts/slideLayout1001.xml" Id="R02a2bf9e2d5d42ec"/><Relationship Type="http://schemas.openxmlformats.org/officeDocument/2006/relationships/slideLayout" Target="../slideLayouts/slideLayout1002.xml" Id="R15398645a2364878"/><Relationship Type="http://schemas.openxmlformats.org/officeDocument/2006/relationships/slideLayout" Target="../slideLayouts/slideLayout1003.xml" Id="Re6108b70c4fa42dc"/><Relationship Type="http://schemas.openxmlformats.org/officeDocument/2006/relationships/slideLayout" Target="../slideLayouts/slideLayout1004.xml" Id="Ra987c240741c444f"/><Relationship Type="http://schemas.openxmlformats.org/officeDocument/2006/relationships/slideLayout" Target="../slideLayouts/slideLayout1005.xml" Id="Ra926b048f94d4ad2"/><Relationship Type="http://schemas.openxmlformats.org/officeDocument/2006/relationships/slideLayout" Target="../slideLayouts/slideLayout1006.xml" Id="Re80414c0963344b5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495" y="274510"/>
            <a:ext cx="10328910" cy="508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07B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9456" y="1162748"/>
            <a:ext cx="5339715" cy="262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11264" y="5983293"/>
            <a:ext cx="428231" cy="769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0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a2bf9e2d5d42ec"/>
    <p:sldLayoutId xmlns:r="http://schemas.openxmlformats.org/officeDocument/2006/relationships" id="2147483650" r:id="R15398645a2364878"/>
    <p:sldLayoutId xmlns:r="http://schemas.openxmlformats.org/officeDocument/2006/relationships" id="2147483651" r:id="Re6108b70c4fa42dc"/>
    <p:sldLayoutId xmlns:r="http://schemas.openxmlformats.org/officeDocument/2006/relationships" id="2147483652" r:id="Ra987c240741c444f"/>
    <p:sldLayoutId xmlns:r="http://schemas.openxmlformats.org/officeDocument/2006/relationships" id="2147483653" r:id="Ra926b048f94d4ad2"/>
    <p:sldLayoutId xmlns:r="http://schemas.openxmlformats.org/officeDocument/2006/relationships" id="2147483654" r:id="Re80414c0963344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100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33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2.jpg"/><Relationship Id="rId17" Type="http://schemas.openxmlformats.org/officeDocument/2006/relationships/image" Target="../media/image37.jpg"/><Relationship Id="rId2" Type="http://schemas.openxmlformats.org/officeDocument/2006/relationships/image" Target="../media/image23.png"/><Relationship Id="rId16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1.jpg"/><Relationship Id="rId5" Type="http://schemas.openxmlformats.org/officeDocument/2006/relationships/image" Target="../media/image26.png"/><Relationship Id="rId15" Type="http://schemas.openxmlformats.org/officeDocument/2006/relationships/image" Target="../media/image35.jpg"/><Relationship Id="rId10" Type="http://schemas.openxmlformats.org/officeDocument/2006/relationships/image" Target="../media/image30.jp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14" Type="http://schemas.openxmlformats.org/officeDocument/2006/relationships/image" Target="../media/image3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34.jp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33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32.jpg"/><Relationship Id="rId5" Type="http://schemas.openxmlformats.org/officeDocument/2006/relationships/image" Target="../media/image40.png"/><Relationship Id="rId10" Type="http://schemas.openxmlformats.org/officeDocument/2006/relationships/image" Target="../media/image31.jpg"/><Relationship Id="rId4" Type="http://schemas.openxmlformats.org/officeDocument/2006/relationships/image" Target="../media/image39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43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hyperlink" Target="https://timodenk.com/blog/linear-relationships-in-the-transformers-positional-encoding/" TargetMode="External"/><Relationship Id="rId4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9.00383.pdf" TargetMode="External"/><Relationship Id="rId2" Type="http://schemas.openxmlformats.org/officeDocument/2006/relationships/hyperlink" Target="https://arxiv.org/abs/1803.02155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hyperlink" Target="https://arxiv.org/abs/1512.0338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712.09913.pdf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nips.cc/paper/2019/file/2f4fe03d77724a7217006e5d16728874-Paper.pdf" TargetMode="External"/><Relationship Id="rId2" Type="http://schemas.openxmlformats.org/officeDocument/2006/relationships/hyperlink" Target="https://arxiv.org/abs/1607.06450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hyperlink" Target="https://arxiv.org/pdf/1801.10198.pdf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9.00383.pdf" TargetMode="External"/><Relationship Id="rId2" Type="http://schemas.openxmlformats.org/officeDocument/2006/relationships/hyperlink" Target="https://arxiv.org/abs/1803.02155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ec5f7c136b62453f"/><Relationship Type="http://schemas.openxmlformats.org/officeDocument/2006/relationships/notesSlide" Target="../notesSlides/notesSlide1001.xml" Id="R8ef2726e6fa14373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498e5cab62214243"/><Relationship Type="http://schemas.openxmlformats.org/officeDocument/2006/relationships/image" Target="../media/appendix_image.png" Id="Rc8b7d167dfce4e31"/><Relationship Type="http://schemas.openxmlformats.org/officeDocument/2006/relationships/notesSlide" Target="../notesSlides/notesSlide1002.xml" Id="R2243f6cafb58437d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870c473d4f07412e"/><Relationship Type="http://schemas.openxmlformats.org/officeDocument/2006/relationships/image" Target="../media/image1002.png" Id="Rbeaa41095354478c"/><Relationship Type="http://schemas.openxmlformats.org/officeDocument/2006/relationships/notesSlide" Target="../notesSlides/notesSlide1003.xml" Id="R0d4ad1895b164b4e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b1616602ed364bfb"/><Relationship Type="http://schemas.openxmlformats.org/officeDocument/2006/relationships/image" Target="../media/image1003.png" Id="R52144e39289a4c95"/><Relationship Type="http://schemas.openxmlformats.org/officeDocument/2006/relationships/notesSlide" Target="../notesSlides/notesSlide1004.xml" Id="R5736abc9f2a84ea6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ca33acd989b9453a"/><Relationship Type="http://schemas.openxmlformats.org/officeDocument/2006/relationships/image" Target="../media/image1004.png" Id="R7c25c27f403b4312"/><Relationship Type="http://schemas.openxmlformats.org/officeDocument/2006/relationships/notesSlide" Target="../notesSlides/notesSlide1005.xml" Id="R54d4901e78474f3b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07b3dafc52694b8d"/><Relationship Type="http://schemas.openxmlformats.org/officeDocument/2006/relationships/image" Target="../media/image1005.png" Id="Rb26989e9d69e452e"/><Relationship Type="http://schemas.openxmlformats.org/officeDocument/2006/relationships/notesSlide" Target="../notesSlides/notesSlide1006.xml" Id="R30e6ba0710924788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5c3a3ba9484b4ad2"/><Relationship Type="http://schemas.openxmlformats.org/officeDocument/2006/relationships/image" Target="../media/image1006.png" Id="R686ecaa9af7a4f6f"/><Relationship Type="http://schemas.openxmlformats.org/officeDocument/2006/relationships/notesSlide" Target="../notesSlides/notesSlide1007.xml" Id="Rea213ce999114c1c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9d3a8b30cf214f8c"/><Relationship Type="http://schemas.openxmlformats.org/officeDocument/2006/relationships/image" Target="../media/image1007.png" Id="R06687b780d48422e"/><Relationship Type="http://schemas.openxmlformats.org/officeDocument/2006/relationships/notesSlide" Target="../notesSlides/notesSlide1008.xml" Id="R6539a5ef722d40f2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dc56324e37074c04"/><Relationship Type="http://schemas.openxmlformats.org/officeDocument/2006/relationships/image" Target="../media/image1008.png" Id="Re44b06e8824b477f"/><Relationship Type="http://schemas.openxmlformats.org/officeDocument/2006/relationships/notesSlide" Target="../notesSlides/notesSlide1009.xml" Id="R4ae7c6d204b94657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31404933dc3942ea"/><Relationship Type="http://schemas.openxmlformats.org/officeDocument/2006/relationships/image" Target="../media/image1009.png" Id="Rf831bc67cc134e34"/><Relationship Type="http://schemas.openxmlformats.org/officeDocument/2006/relationships/notesSlide" Target="../notesSlides/notesSlide1010.xml" Id="R67a5e2bdc0d348f4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edb2ce1ceb414d12"/><Relationship Type="http://schemas.openxmlformats.org/officeDocument/2006/relationships/image" Target="../media/image1010.png" Id="Rf4e7586285c24f9d"/><Relationship Type="http://schemas.openxmlformats.org/officeDocument/2006/relationships/notesSlide" Target="../notesSlides/notesSlide1011.xml" Id="Rd916559bcd154c09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b5beb2dec4424ad3"/><Relationship Type="http://schemas.openxmlformats.org/officeDocument/2006/relationships/image" Target="../media/image1011.png" Id="R74e8641340f741a3"/><Relationship Type="http://schemas.openxmlformats.org/officeDocument/2006/relationships/notesSlide" Target="../notesSlides/notesSlide1012.xml" Id="Ra4c3935878254e3c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4bd6c05226f845af"/><Relationship Type="http://schemas.openxmlformats.org/officeDocument/2006/relationships/image" Target="../media/image1012.png" Id="R86f7b1ba0b1e47a0"/><Relationship Type="http://schemas.openxmlformats.org/officeDocument/2006/relationships/notesSlide" Target="../notesSlides/notesSlide1013.xml" Id="R54f6ae24f97b4150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a6dc42bad90a4f37"/><Relationship Type="http://schemas.openxmlformats.org/officeDocument/2006/relationships/image" Target="../media/image1013.png" Id="R676263bd06dd42c6"/><Relationship Type="http://schemas.openxmlformats.org/officeDocument/2006/relationships/notesSlide" Target="../notesSlides/notesSlide1014.xml" Id="R0fdf12f6edd4446f"/></Relationships>
</file>

<file path=ppt/slides/_rels/slide6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0b709394a1044192"/><Relationship Type="http://schemas.openxmlformats.org/officeDocument/2006/relationships/image" Target="../media/image1014.png" Id="R12d1a4afcbf54be6"/><Relationship Type="http://schemas.openxmlformats.org/officeDocument/2006/relationships/notesSlide" Target="../notesSlides/notesSlide1015.xml" Id="R0f7469749d9b4b7f"/></Relationships>
</file>

<file path=ppt/slides/_rels/slide6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f5048905caf647f4"/><Relationship Type="http://schemas.openxmlformats.org/officeDocument/2006/relationships/image" Target="../media/image1015.png" Id="R1999f24f73f24a52"/><Relationship Type="http://schemas.openxmlformats.org/officeDocument/2006/relationships/notesSlide" Target="../notesSlides/notesSlide1016.xml" Id="Ra27c906f1de5482d"/></Relationships>
</file>

<file path=ppt/slides/_rels/slide6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0e04684725bd4094"/><Relationship Type="http://schemas.openxmlformats.org/officeDocument/2006/relationships/image" Target="../media/image1016.png" Id="R52913232612c434e"/><Relationship Type="http://schemas.openxmlformats.org/officeDocument/2006/relationships/notesSlide" Target="../notesSlides/notesSlide1017.xml" Id="R02bb8dbb7cc74ac3"/></Relationships>
</file>

<file path=ppt/slides/_rels/slide6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3ce06360e3e2427a"/><Relationship Type="http://schemas.openxmlformats.org/officeDocument/2006/relationships/image" Target="../media/image1017.png" Id="R628cb1cfaff24713"/><Relationship Type="http://schemas.openxmlformats.org/officeDocument/2006/relationships/notesSlide" Target="../notesSlides/notesSlide1018.xml" Id="Rf3a9c89ac311452c"/></Relationships>
</file>

<file path=ppt/slides/_rels/slide6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98306d6dbf38460c"/><Relationship Type="http://schemas.openxmlformats.org/officeDocument/2006/relationships/image" Target="../media/image1018.png" Id="R24eef7488e9c4a5d"/><Relationship Type="http://schemas.openxmlformats.org/officeDocument/2006/relationships/notesSlide" Target="../notesSlides/notesSlide1019.xml" Id="R9384adf8b746459e"/></Relationships>
</file>

<file path=ppt/slides/_rels/slide6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784eaaebc7674d59"/><Relationship Type="http://schemas.openxmlformats.org/officeDocument/2006/relationships/image" Target="../media/image1019.png" Id="R462b6381ff7847e9"/><Relationship Type="http://schemas.openxmlformats.org/officeDocument/2006/relationships/notesSlide" Target="../notesSlides/notesSlide1020.xml" Id="R90a6eb04285041e8"/></Relationships>
</file>

<file path=ppt/slides/_rels/slide6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5d1dd8fbff95428e"/><Relationship Type="http://schemas.openxmlformats.org/officeDocument/2006/relationships/image" Target="../media/image1020.png" Id="R4f4bb80ac69941b6"/><Relationship Type="http://schemas.openxmlformats.org/officeDocument/2006/relationships/notesSlide" Target="../notesSlides/notesSlide1021.xml" Id="R60e6ea93d6314a33"/></Relationships>
</file>

<file path=ppt/slides/_rels/slide7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649c83b03b8347b3"/><Relationship Type="http://schemas.openxmlformats.org/officeDocument/2006/relationships/image" Target="../media/image1021.png" Id="Ra9205c8a35c24fa9"/><Relationship Type="http://schemas.openxmlformats.org/officeDocument/2006/relationships/notesSlide" Target="../notesSlides/notesSlide1022.xml" Id="R4aa78a8aa2f34840"/></Relationships>
</file>

<file path=ppt/slides/_rels/slide7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772f6a8ff3c64aa8"/><Relationship Type="http://schemas.openxmlformats.org/officeDocument/2006/relationships/image" Target="../media/image1022.png" Id="R20e721dcc12a4c76"/><Relationship Type="http://schemas.openxmlformats.org/officeDocument/2006/relationships/notesSlide" Target="../notesSlides/notesSlide1023.xml" Id="R9d54ab7c3f7544e5"/></Relationships>
</file>

<file path=ppt/slides/_rels/slide7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2e7095835d634dd0"/><Relationship Type="http://schemas.openxmlformats.org/officeDocument/2006/relationships/image" Target="../media/image1023.png" Id="Rc0e05f09dd904b64"/><Relationship Type="http://schemas.openxmlformats.org/officeDocument/2006/relationships/notesSlide" Target="../notesSlides/notesSlide1024.xml" Id="R208fc3d3ba8748a6"/></Relationships>
</file>

<file path=ppt/slides/_rels/slide7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3b98fff3a3884d17"/><Relationship Type="http://schemas.openxmlformats.org/officeDocument/2006/relationships/image" Target="../media/image1024.png" Id="Rbf73b34a44b74241"/><Relationship Type="http://schemas.openxmlformats.org/officeDocument/2006/relationships/notesSlide" Target="../notesSlides/notesSlide1025.xml" Id="R7d6effdf1ee04d53"/></Relationships>
</file>

<file path=ppt/slides/_rels/slide7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4bfcff718e7c4f42"/><Relationship Type="http://schemas.openxmlformats.org/officeDocument/2006/relationships/image" Target="../media/image1025.png" Id="R6e55bbeff0d34bca"/><Relationship Type="http://schemas.openxmlformats.org/officeDocument/2006/relationships/notesSlide" Target="../notesSlides/notesSlide1026.xml" Id="R8493ff9fc9eb4d69"/></Relationships>
</file>

<file path=ppt/slides/_rels/slide7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c9525f2f47734864"/><Relationship Type="http://schemas.openxmlformats.org/officeDocument/2006/relationships/image" Target="../media/image1026.png" Id="R4beccd9f190c4229"/><Relationship Type="http://schemas.openxmlformats.org/officeDocument/2006/relationships/notesSlide" Target="../notesSlides/notesSlide1027.xml" Id="R82a9ee1a21014459"/></Relationships>
</file>

<file path=ppt/slides/_rels/slide7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006.xml" Id="R67fb23f42a2e4a3a"/><Relationship Type="http://schemas.openxmlformats.org/officeDocument/2006/relationships/image" Target="../media/image1027.png" Id="R32d3c0537d2d4d22"/><Relationship Type="http://schemas.openxmlformats.org/officeDocument/2006/relationships/notesSlide" Target="../notesSlides/notesSlide1028.xml" Id="R69ee7c3340a247fd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 descr="$PPTXTitle">
            <a:extLst>
              <a:ext uri="{FF2B5EF4-FFF2-40B4-BE49-F238E27FC236}">
                <a16:creationId xmlns:a16="http://schemas.microsoft.com/office/drawing/2014/main" id="{C3234C38-96B9-A389-9EB4-3C2852899FA4}"/>
              </a:ext>
            </a:extLst>
          </p:cNvPr>
          <p:cNvSpPr txBox="1">
            <a:spLocks/>
          </p:cNvSpPr>
          <p:nvPr/>
        </p:nvSpPr>
        <p:spPr>
          <a:xfrm>
            <a:off x="2362200" y="2667000"/>
            <a:ext cx="8077200" cy="50013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3150" b="1" i="0">
                <a:solidFill>
                  <a:srgbClr val="007B92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20"/>
              </a:spcBef>
            </a:pPr>
            <a:r>
              <a:rPr lang="en-US" dirty="0"/>
              <a:t>Language modeling and Transformers </a:t>
            </a:r>
            <a:r>
              <a:rPr lang="en-US" spc="-10" dirty="0"/>
              <a:t>basics</a:t>
            </a:r>
          </a:p>
        </p:txBody>
      </p:sp>
    </p:spTree>
    <p:extLst>
      <p:ext uri="{BB962C8B-B14F-4D97-AF65-F5344CB8AC3E}">
        <p14:creationId xmlns:p14="http://schemas.microsoft.com/office/powerpoint/2010/main" val="387525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495" y="3054667"/>
            <a:ext cx="6747509" cy="72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750"/>
              </a:lnSpc>
              <a:spcBef>
                <a:spcPts val="10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More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formally: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given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sequence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words</a:t>
            </a:r>
            <a:endParaRPr sz="2300" dirty="0">
              <a:latin typeface="Calibri"/>
              <a:cs typeface="Calibri"/>
            </a:endParaRPr>
          </a:p>
          <a:p>
            <a:pPr marL="35560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compute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probability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distribution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next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word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35604" y="3054667"/>
            <a:ext cx="143510" cy="72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750"/>
              </a:lnSpc>
              <a:spcBef>
                <a:spcPts val="105"/>
              </a:spcBef>
            </a:pPr>
            <a:r>
              <a:rPr sz="2300" spc="-50" dirty="0">
                <a:latin typeface="Calibri"/>
                <a:cs typeface="Calibri"/>
              </a:rPr>
              <a:t>,</a:t>
            </a:r>
            <a:endParaRPr sz="2300">
              <a:latin typeface="Calibri"/>
              <a:cs typeface="Calibri"/>
            </a:endParaRPr>
          </a:p>
          <a:p>
            <a:pPr marL="51435">
              <a:lnSpc>
                <a:spcPts val="2750"/>
              </a:lnSpc>
            </a:pP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95" y="4812157"/>
            <a:ext cx="6431280" cy="11468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10"/>
              </a:spcBef>
              <a:tabLst>
                <a:tab pos="1908175" algn="l"/>
              </a:tabLst>
            </a:pPr>
            <a:r>
              <a:rPr sz="2300" spc="-10" dirty="0">
                <a:latin typeface="Calibri"/>
                <a:cs typeface="Calibri"/>
              </a:rPr>
              <a:t>where</a:t>
            </a:r>
            <a:r>
              <a:rPr sz="2300" dirty="0">
                <a:latin typeface="Calibri"/>
                <a:cs typeface="Calibri"/>
              </a:rPr>
              <a:t>	can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any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vocabulary</a:t>
            </a:r>
            <a:endParaRPr sz="2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3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system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does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called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2FED"/>
                </a:solidFill>
                <a:latin typeface="Calibri"/>
                <a:cs typeface="Calibri"/>
              </a:rPr>
              <a:t>Language</a:t>
            </a:r>
            <a:r>
              <a:rPr sz="2300" b="1" spc="-5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FF2FED"/>
                </a:solidFill>
                <a:latin typeface="Calibri"/>
                <a:cs typeface="Calibri"/>
              </a:rPr>
              <a:t>Model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1.</a:t>
            </a:r>
            <a:r>
              <a:rPr spc="10" dirty="0"/>
              <a:t> </a:t>
            </a:r>
            <a:r>
              <a:rPr dirty="0"/>
              <a:t>Language</a:t>
            </a:r>
            <a:r>
              <a:rPr spc="80" dirty="0"/>
              <a:t> </a:t>
            </a:r>
            <a:r>
              <a:rPr spc="-10" dirty="0"/>
              <a:t>Modeling</a:t>
            </a:r>
          </a:p>
        </p:txBody>
      </p:sp>
      <p:sp>
        <p:nvSpPr>
          <p:cNvPr id="6" name="object 6"/>
          <p:cNvSpPr/>
          <p:nvPr/>
        </p:nvSpPr>
        <p:spPr>
          <a:xfrm>
            <a:off x="9180576" y="2423160"/>
            <a:ext cx="868680" cy="502920"/>
          </a:xfrm>
          <a:custGeom>
            <a:avLst/>
            <a:gdLst/>
            <a:ahLst/>
            <a:cxnLst/>
            <a:rect l="l" t="t" r="r" b="b"/>
            <a:pathLst>
              <a:path w="868679" h="502919">
                <a:moveTo>
                  <a:pt x="434340" y="0"/>
                </a:moveTo>
                <a:lnTo>
                  <a:pt x="375397" y="2294"/>
                </a:lnTo>
                <a:lnTo>
                  <a:pt x="318867" y="8978"/>
                </a:lnTo>
                <a:lnTo>
                  <a:pt x="265265" y="19752"/>
                </a:lnTo>
                <a:lnTo>
                  <a:pt x="215109" y="34318"/>
                </a:lnTo>
                <a:lnTo>
                  <a:pt x="168917" y="52376"/>
                </a:lnTo>
                <a:lnTo>
                  <a:pt x="127206" y="73628"/>
                </a:lnTo>
                <a:lnTo>
                  <a:pt x="90493" y="97774"/>
                </a:lnTo>
                <a:lnTo>
                  <a:pt x="59294" y="124516"/>
                </a:lnTo>
                <a:lnTo>
                  <a:pt x="34129" y="153554"/>
                </a:lnTo>
                <a:lnTo>
                  <a:pt x="3964" y="217325"/>
                </a:lnTo>
                <a:lnTo>
                  <a:pt x="0" y="251460"/>
                </a:lnTo>
                <a:lnTo>
                  <a:pt x="3964" y="285567"/>
                </a:lnTo>
                <a:lnTo>
                  <a:pt x="34129" y="349311"/>
                </a:lnTo>
                <a:lnTo>
                  <a:pt x="59294" y="378347"/>
                </a:lnTo>
                <a:lnTo>
                  <a:pt x="90493" y="405091"/>
                </a:lnTo>
                <a:lnTo>
                  <a:pt x="127206" y="429244"/>
                </a:lnTo>
                <a:lnTo>
                  <a:pt x="168917" y="450504"/>
                </a:lnTo>
                <a:lnTo>
                  <a:pt x="215109" y="468573"/>
                </a:lnTo>
                <a:lnTo>
                  <a:pt x="265265" y="483149"/>
                </a:lnTo>
                <a:lnTo>
                  <a:pt x="318867" y="493932"/>
                </a:lnTo>
                <a:lnTo>
                  <a:pt x="375397" y="500623"/>
                </a:lnTo>
                <a:lnTo>
                  <a:pt x="434340" y="502919"/>
                </a:lnTo>
                <a:lnTo>
                  <a:pt x="493282" y="500623"/>
                </a:lnTo>
                <a:lnTo>
                  <a:pt x="549812" y="493932"/>
                </a:lnTo>
                <a:lnTo>
                  <a:pt x="603414" y="483149"/>
                </a:lnTo>
                <a:lnTo>
                  <a:pt x="653570" y="468573"/>
                </a:lnTo>
                <a:lnTo>
                  <a:pt x="699762" y="450504"/>
                </a:lnTo>
                <a:lnTo>
                  <a:pt x="741473" y="429244"/>
                </a:lnTo>
                <a:lnTo>
                  <a:pt x="778186" y="405091"/>
                </a:lnTo>
                <a:lnTo>
                  <a:pt x="809385" y="378347"/>
                </a:lnTo>
                <a:lnTo>
                  <a:pt x="834550" y="349311"/>
                </a:lnTo>
                <a:lnTo>
                  <a:pt x="864715" y="285567"/>
                </a:lnTo>
                <a:lnTo>
                  <a:pt x="868679" y="251460"/>
                </a:lnTo>
                <a:lnTo>
                  <a:pt x="864715" y="217325"/>
                </a:lnTo>
                <a:lnTo>
                  <a:pt x="834550" y="153554"/>
                </a:lnTo>
                <a:lnTo>
                  <a:pt x="809385" y="124516"/>
                </a:lnTo>
                <a:lnTo>
                  <a:pt x="778186" y="97774"/>
                </a:lnTo>
                <a:lnTo>
                  <a:pt x="741473" y="73628"/>
                </a:lnTo>
                <a:lnTo>
                  <a:pt x="699762" y="52376"/>
                </a:lnTo>
                <a:lnTo>
                  <a:pt x="653570" y="34318"/>
                </a:lnTo>
                <a:lnTo>
                  <a:pt x="603414" y="19752"/>
                </a:lnTo>
                <a:lnTo>
                  <a:pt x="549812" y="8978"/>
                </a:lnTo>
                <a:lnTo>
                  <a:pt x="493282" y="2294"/>
                </a:lnTo>
                <a:lnTo>
                  <a:pt x="434340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32721" y="2516441"/>
            <a:ext cx="607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latin typeface="Calibri"/>
                <a:cs typeface="Calibri"/>
              </a:rPr>
              <a:t>exams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229600" y="2496057"/>
            <a:ext cx="961390" cy="786765"/>
            <a:chOff x="8229600" y="2496057"/>
            <a:chExt cx="961390" cy="786765"/>
          </a:xfrm>
        </p:grpSpPr>
        <p:sp>
          <p:nvSpPr>
            <p:cNvPr id="9" name="object 9"/>
            <p:cNvSpPr/>
            <p:nvPr/>
          </p:nvSpPr>
          <p:spPr>
            <a:xfrm>
              <a:off x="8404860" y="2496057"/>
              <a:ext cx="786130" cy="208279"/>
            </a:xfrm>
            <a:custGeom>
              <a:avLst/>
              <a:gdLst/>
              <a:ahLst/>
              <a:cxnLst/>
              <a:rect l="l" t="t" r="r" b="b"/>
              <a:pathLst>
                <a:path w="786129" h="208280">
                  <a:moveTo>
                    <a:pt x="699260" y="180218"/>
                  </a:moveTo>
                  <a:lnTo>
                    <a:pt x="693166" y="208152"/>
                  </a:lnTo>
                  <a:lnTo>
                    <a:pt x="786130" y="184403"/>
                  </a:lnTo>
                  <a:lnTo>
                    <a:pt x="784709" y="183261"/>
                  </a:lnTo>
                  <a:lnTo>
                    <a:pt x="713232" y="183261"/>
                  </a:lnTo>
                  <a:lnTo>
                    <a:pt x="699260" y="180218"/>
                  </a:lnTo>
                  <a:close/>
                </a:path>
                <a:path w="786129" h="208280">
                  <a:moveTo>
                    <a:pt x="705356" y="152278"/>
                  </a:moveTo>
                  <a:lnTo>
                    <a:pt x="699260" y="180218"/>
                  </a:lnTo>
                  <a:lnTo>
                    <a:pt x="713232" y="183261"/>
                  </a:lnTo>
                  <a:lnTo>
                    <a:pt x="719328" y="155320"/>
                  </a:lnTo>
                  <a:lnTo>
                    <a:pt x="705356" y="152278"/>
                  </a:lnTo>
                  <a:close/>
                </a:path>
                <a:path w="786129" h="208280">
                  <a:moveTo>
                    <a:pt x="711454" y="124332"/>
                  </a:moveTo>
                  <a:lnTo>
                    <a:pt x="705356" y="152278"/>
                  </a:lnTo>
                  <a:lnTo>
                    <a:pt x="719328" y="155320"/>
                  </a:lnTo>
                  <a:lnTo>
                    <a:pt x="713232" y="183261"/>
                  </a:lnTo>
                  <a:lnTo>
                    <a:pt x="784709" y="183261"/>
                  </a:lnTo>
                  <a:lnTo>
                    <a:pt x="711454" y="124332"/>
                  </a:lnTo>
                  <a:close/>
                </a:path>
                <a:path w="786129" h="208280">
                  <a:moveTo>
                    <a:pt x="6096" y="0"/>
                  </a:moveTo>
                  <a:lnTo>
                    <a:pt x="0" y="27939"/>
                  </a:lnTo>
                  <a:lnTo>
                    <a:pt x="699260" y="180218"/>
                  </a:lnTo>
                  <a:lnTo>
                    <a:pt x="705356" y="152278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FF0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29600" y="2816351"/>
              <a:ext cx="841375" cy="466725"/>
            </a:xfrm>
            <a:custGeom>
              <a:avLst/>
              <a:gdLst/>
              <a:ahLst/>
              <a:cxnLst/>
              <a:rect l="l" t="t" r="r" b="b"/>
              <a:pathLst>
                <a:path w="841375" h="466725">
                  <a:moveTo>
                    <a:pt x="420624" y="0"/>
                  </a:moveTo>
                  <a:lnTo>
                    <a:pt x="358472" y="2528"/>
                  </a:lnTo>
                  <a:lnTo>
                    <a:pt x="299149" y="9872"/>
                  </a:lnTo>
                  <a:lnTo>
                    <a:pt x="243308" y="21671"/>
                  </a:lnTo>
                  <a:lnTo>
                    <a:pt x="191599" y="37565"/>
                  </a:lnTo>
                  <a:lnTo>
                    <a:pt x="144672" y="57192"/>
                  </a:lnTo>
                  <a:lnTo>
                    <a:pt x="103179" y="80193"/>
                  </a:lnTo>
                  <a:lnTo>
                    <a:pt x="67770" y="106207"/>
                  </a:lnTo>
                  <a:lnTo>
                    <a:pt x="39097" y="134872"/>
                  </a:lnTo>
                  <a:lnTo>
                    <a:pt x="4561" y="198715"/>
                  </a:lnTo>
                  <a:lnTo>
                    <a:pt x="0" y="233172"/>
                  </a:lnTo>
                  <a:lnTo>
                    <a:pt x="4561" y="267628"/>
                  </a:lnTo>
                  <a:lnTo>
                    <a:pt x="39097" y="331471"/>
                  </a:lnTo>
                  <a:lnTo>
                    <a:pt x="67770" y="360136"/>
                  </a:lnTo>
                  <a:lnTo>
                    <a:pt x="103179" y="386150"/>
                  </a:lnTo>
                  <a:lnTo>
                    <a:pt x="144672" y="409151"/>
                  </a:lnTo>
                  <a:lnTo>
                    <a:pt x="191599" y="428778"/>
                  </a:lnTo>
                  <a:lnTo>
                    <a:pt x="243308" y="444672"/>
                  </a:lnTo>
                  <a:lnTo>
                    <a:pt x="299149" y="456471"/>
                  </a:lnTo>
                  <a:lnTo>
                    <a:pt x="358472" y="463815"/>
                  </a:lnTo>
                  <a:lnTo>
                    <a:pt x="420624" y="466344"/>
                  </a:lnTo>
                  <a:lnTo>
                    <a:pt x="482775" y="463815"/>
                  </a:lnTo>
                  <a:lnTo>
                    <a:pt x="542098" y="456471"/>
                  </a:lnTo>
                  <a:lnTo>
                    <a:pt x="597939" y="444672"/>
                  </a:lnTo>
                  <a:lnTo>
                    <a:pt x="649648" y="428778"/>
                  </a:lnTo>
                  <a:lnTo>
                    <a:pt x="696575" y="409151"/>
                  </a:lnTo>
                  <a:lnTo>
                    <a:pt x="738068" y="386150"/>
                  </a:lnTo>
                  <a:lnTo>
                    <a:pt x="773477" y="360136"/>
                  </a:lnTo>
                  <a:lnTo>
                    <a:pt x="802150" y="331471"/>
                  </a:lnTo>
                  <a:lnTo>
                    <a:pt x="836686" y="267628"/>
                  </a:lnTo>
                  <a:lnTo>
                    <a:pt x="841248" y="233172"/>
                  </a:lnTo>
                  <a:lnTo>
                    <a:pt x="836686" y="198715"/>
                  </a:lnTo>
                  <a:lnTo>
                    <a:pt x="802150" y="134872"/>
                  </a:lnTo>
                  <a:lnTo>
                    <a:pt x="773477" y="106207"/>
                  </a:lnTo>
                  <a:lnTo>
                    <a:pt x="738068" y="80193"/>
                  </a:lnTo>
                  <a:lnTo>
                    <a:pt x="696575" y="57192"/>
                  </a:lnTo>
                  <a:lnTo>
                    <a:pt x="649648" y="37565"/>
                  </a:lnTo>
                  <a:lnTo>
                    <a:pt x="597939" y="21671"/>
                  </a:lnTo>
                  <a:lnTo>
                    <a:pt x="542098" y="9872"/>
                  </a:lnTo>
                  <a:lnTo>
                    <a:pt x="482775" y="2528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66379" y="2874264"/>
            <a:ext cx="58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latin typeface="Calibri"/>
                <a:cs typeface="Calibri"/>
              </a:rPr>
              <a:t>minds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66810" y="2586482"/>
            <a:ext cx="146685" cy="294640"/>
          </a:xfrm>
          <a:custGeom>
            <a:avLst/>
            <a:gdLst/>
            <a:ahLst/>
            <a:cxnLst/>
            <a:rect l="l" t="t" r="r" b="b"/>
            <a:pathLst>
              <a:path w="146684" h="294639">
                <a:moveTo>
                  <a:pt x="94228" y="222144"/>
                </a:moveTo>
                <a:lnTo>
                  <a:pt x="68199" y="233806"/>
                </a:lnTo>
                <a:lnTo>
                  <a:pt x="142367" y="294513"/>
                </a:lnTo>
                <a:lnTo>
                  <a:pt x="144884" y="235203"/>
                </a:lnTo>
                <a:lnTo>
                  <a:pt x="100075" y="235203"/>
                </a:lnTo>
                <a:lnTo>
                  <a:pt x="94228" y="222144"/>
                </a:lnTo>
                <a:close/>
              </a:path>
              <a:path w="146684" h="294639">
                <a:moveTo>
                  <a:pt x="120376" y="210428"/>
                </a:moveTo>
                <a:lnTo>
                  <a:pt x="94228" y="222144"/>
                </a:lnTo>
                <a:lnTo>
                  <a:pt x="100075" y="235203"/>
                </a:lnTo>
                <a:lnTo>
                  <a:pt x="126238" y="223519"/>
                </a:lnTo>
                <a:lnTo>
                  <a:pt x="120376" y="210428"/>
                </a:lnTo>
                <a:close/>
              </a:path>
              <a:path w="146684" h="294639">
                <a:moveTo>
                  <a:pt x="146431" y="198754"/>
                </a:moveTo>
                <a:lnTo>
                  <a:pt x="120376" y="210428"/>
                </a:lnTo>
                <a:lnTo>
                  <a:pt x="126238" y="223519"/>
                </a:lnTo>
                <a:lnTo>
                  <a:pt x="100075" y="235203"/>
                </a:lnTo>
                <a:lnTo>
                  <a:pt x="144884" y="235203"/>
                </a:lnTo>
                <a:lnTo>
                  <a:pt x="146431" y="198754"/>
                </a:lnTo>
                <a:close/>
              </a:path>
              <a:path w="146684" h="294639">
                <a:moveTo>
                  <a:pt x="26162" y="0"/>
                </a:moveTo>
                <a:lnTo>
                  <a:pt x="0" y="11683"/>
                </a:lnTo>
                <a:lnTo>
                  <a:pt x="94228" y="222144"/>
                </a:lnTo>
                <a:lnTo>
                  <a:pt x="120376" y="210428"/>
                </a:lnTo>
                <a:lnTo>
                  <a:pt x="26162" y="0"/>
                </a:lnTo>
                <a:close/>
              </a:path>
            </a:pathLst>
          </a:custGeom>
          <a:solidFill>
            <a:srgbClr val="FF0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44583" y="1792223"/>
            <a:ext cx="1042669" cy="466725"/>
          </a:xfrm>
          <a:custGeom>
            <a:avLst/>
            <a:gdLst/>
            <a:ahLst/>
            <a:cxnLst/>
            <a:rect l="l" t="t" r="r" b="b"/>
            <a:pathLst>
              <a:path w="1042670" h="466725">
                <a:moveTo>
                  <a:pt x="521208" y="0"/>
                </a:moveTo>
                <a:lnTo>
                  <a:pt x="455818" y="1816"/>
                </a:lnTo>
                <a:lnTo>
                  <a:pt x="392855" y="7121"/>
                </a:lnTo>
                <a:lnTo>
                  <a:pt x="332807" y="15695"/>
                </a:lnTo>
                <a:lnTo>
                  <a:pt x="276161" y="27319"/>
                </a:lnTo>
                <a:lnTo>
                  <a:pt x="223407" y="41776"/>
                </a:lnTo>
                <a:lnTo>
                  <a:pt x="175031" y="58847"/>
                </a:lnTo>
                <a:lnTo>
                  <a:pt x="131522" y="78312"/>
                </a:lnTo>
                <a:lnTo>
                  <a:pt x="93368" y="99955"/>
                </a:lnTo>
                <a:lnTo>
                  <a:pt x="61057" y="123556"/>
                </a:lnTo>
                <a:lnTo>
                  <a:pt x="15914" y="175758"/>
                </a:lnTo>
                <a:lnTo>
                  <a:pt x="0" y="233172"/>
                </a:lnTo>
                <a:lnTo>
                  <a:pt x="4060" y="262420"/>
                </a:lnTo>
                <a:lnTo>
                  <a:pt x="35076" y="317447"/>
                </a:lnTo>
                <a:lnTo>
                  <a:pt x="93368" y="366388"/>
                </a:lnTo>
                <a:lnTo>
                  <a:pt x="131522" y="388031"/>
                </a:lnTo>
                <a:lnTo>
                  <a:pt x="175031" y="407496"/>
                </a:lnTo>
                <a:lnTo>
                  <a:pt x="223407" y="424567"/>
                </a:lnTo>
                <a:lnTo>
                  <a:pt x="276161" y="439024"/>
                </a:lnTo>
                <a:lnTo>
                  <a:pt x="332807" y="450648"/>
                </a:lnTo>
                <a:lnTo>
                  <a:pt x="392855" y="459222"/>
                </a:lnTo>
                <a:lnTo>
                  <a:pt x="455818" y="464527"/>
                </a:lnTo>
                <a:lnTo>
                  <a:pt x="521208" y="466343"/>
                </a:lnTo>
                <a:lnTo>
                  <a:pt x="586597" y="464527"/>
                </a:lnTo>
                <a:lnTo>
                  <a:pt x="649560" y="459222"/>
                </a:lnTo>
                <a:lnTo>
                  <a:pt x="709608" y="450648"/>
                </a:lnTo>
                <a:lnTo>
                  <a:pt x="766254" y="439024"/>
                </a:lnTo>
                <a:lnTo>
                  <a:pt x="819008" y="424567"/>
                </a:lnTo>
                <a:lnTo>
                  <a:pt x="867384" y="407496"/>
                </a:lnTo>
                <a:lnTo>
                  <a:pt x="910893" y="388031"/>
                </a:lnTo>
                <a:lnTo>
                  <a:pt x="949047" y="366388"/>
                </a:lnTo>
                <a:lnTo>
                  <a:pt x="981358" y="342787"/>
                </a:lnTo>
                <a:lnTo>
                  <a:pt x="1026501" y="290585"/>
                </a:lnTo>
                <a:lnTo>
                  <a:pt x="1042416" y="233172"/>
                </a:lnTo>
                <a:lnTo>
                  <a:pt x="1038355" y="203923"/>
                </a:lnTo>
                <a:lnTo>
                  <a:pt x="1007339" y="148896"/>
                </a:lnTo>
                <a:lnTo>
                  <a:pt x="949047" y="99955"/>
                </a:lnTo>
                <a:lnTo>
                  <a:pt x="910893" y="78312"/>
                </a:lnTo>
                <a:lnTo>
                  <a:pt x="867384" y="58847"/>
                </a:lnTo>
                <a:lnTo>
                  <a:pt x="819008" y="41776"/>
                </a:lnTo>
                <a:lnTo>
                  <a:pt x="766254" y="27319"/>
                </a:lnTo>
                <a:lnTo>
                  <a:pt x="709608" y="15695"/>
                </a:lnTo>
                <a:lnTo>
                  <a:pt x="649560" y="7121"/>
                </a:lnTo>
                <a:lnTo>
                  <a:pt x="586597" y="1816"/>
                </a:lnTo>
                <a:lnTo>
                  <a:pt x="521208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39402" y="1848294"/>
            <a:ext cx="708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latin typeface="Calibri"/>
                <a:cs typeface="Calibri"/>
              </a:rPr>
              <a:t>laptops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11895" y="1508760"/>
            <a:ext cx="899794" cy="850265"/>
            <a:chOff x="8311895" y="1508760"/>
            <a:chExt cx="899794" cy="850265"/>
          </a:xfrm>
        </p:grpSpPr>
        <p:sp>
          <p:nvSpPr>
            <p:cNvPr id="16" name="object 16"/>
            <p:cNvSpPr/>
            <p:nvPr/>
          </p:nvSpPr>
          <p:spPr>
            <a:xfrm>
              <a:off x="8347963" y="2006981"/>
              <a:ext cx="864235" cy="352425"/>
            </a:xfrm>
            <a:custGeom>
              <a:avLst/>
              <a:gdLst/>
              <a:ahLst/>
              <a:cxnLst/>
              <a:rect l="l" t="t" r="r" b="b"/>
              <a:pathLst>
                <a:path w="864234" h="352425">
                  <a:moveTo>
                    <a:pt x="778553" y="26564"/>
                  </a:moveTo>
                  <a:lnTo>
                    <a:pt x="0" y="325374"/>
                  </a:lnTo>
                  <a:lnTo>
                    <a:pt x="10159" y="352044"/>
                  </a:lnTo>
                  <a:lnTo>
                    <a:pt x="788803" y="53247"/>
                  </a:lnTo>
                  <a:lnTo>
                    <a:pt x="778553" y="26564"/>
                  </a:lnTo>
                  <a:close/>
                </a:path>
                <a:path w="864234" h="352425">
                  <a:moveTo>
                    <a:pt x="852585" y="21463"/>
                  </a:moveTo>
                  <a:lnTo>
                    <a:pt x="791844" y="21463"/>
                  </a:lnTo>
                  <a:lnTo>
                    <a:pt x="802131" y="48133"/>
                  </a:lnTo>
                  <a:lnTo>
                    <a:pt x="788803" y="53247"/>
                  </a:lnTo>
                  <a:lnTo>
                    <a:pt x="799083" y="80010"/>
                  </a:lnTo>
                  <a:lnTo>
                    <a:pt x="852585" y="21463"/>
                  </a:lnTo>
                  <a:close/>
                </a:path>
                <a:path w="864234" h="352425">
                  <a:moveTo>
                    <a:pt x="791844" y="21463"/>
                  </a:moveTo>
                  <a:lnTo>
                    <a:pt x="778553" y="26564"/>
                  </a:lnTo>
                  <a:lnTo>
                    <a:pt x="788803" y="53247"/>
                  </a:lnTo>
                  <a:lnTo>
                    <a:pt x="802131" y="48133"/>
                  </a:lnTo>
                  <a:lnTo>
                    <a:pt x="791844" y="21463"/>
                  </a:lnTo>
                  <a:close/>
                </a:path>
                <a:path w="864234" h="352425">
                  <a:moveTo>
                    <a:pt x="768350" y="0"/>
                  </a:moveTo>
                  <a:lnTo>
                    <a:pt x="778553" y="26564"/>
                  </a:lnTo>
                  <a:lnTo>
                    <a:pt x="791844" y="21463"/>
                  </a:lnTo>
                  <a:lnTo>
                    <a:pt x="852585" y="21463"/>
                  </a:lnTo>
                  <a:lnTo>
                    <a:pt x="863726" y="9271"/>
                  </a:lnTo>
                  <a:lnTo>
                    <a:pt x="768350" y="0"/>
                  </a:lnTo>
                  <a:close/>
                </a:path>
              </a:pathLst>
            </a:custGeom>
            <a:solidFill>
              <a:srgbClr val="FF0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11895" y="1508760"/>
              <a:ext cx="841375" cy="466725"/>
            </a:xfrm>
            <a:custGeom>
              <a:avLst/>
              <a:gdLst/>
              <a:ahLst/>
              <a:cxnLst/>
              <a:rect l="l" t="t" r="r" b="b"/>
              <a:pathLst>
                <a:path w="841375" h="466725">
                  <a:moveTo>
                    <a:pt x="420624" y="0"/>
                  </a:moveTo>
                  <a:lnTo>
                    <a:pt x="358472" y="2528"/>
                  </a:lnTo>
                  <a:lnTo>
                    <a:pt x="299149" y="9872"/>
                  </a:lnTo>
                  <a:lnTo>
                    <a:pt x="243308" y="21671"/>
                  </a:lnTo>
                  <a:lnTo>
                    <a:pt x="191599" y="37565"/>
                  </a:lnTo>
                  <a:lnTo>
                    <a:pt x="144672" y="57192"/>
                  </a:lnTo>
                  <a:lnTo>
                    <a:pt x="103179" y="80193"/>
                  </a:lnTo>
                  <a:lnTo>
                    <a:pt x="67770" y="106207"/>
                  </a:lnTo>
                  <a:lnTo>
                    <a:pt x="39097" y="134872"/>
                  </a:lnTo>
                  <a:lnTo>
                    <a:pt x="4561" y="198715"/>
                  </a:lnTo>
                  <a:lnTo>
                    <a:pt x="0" y="233172"/>
                  </a:lnTo>
                  <a:lnTo>
                    <a:pt x="4561" y="267628"/>
                  </a:lnTo>
                  <a:lnTo>
                    <a:pt x="39097" y="331471"/>
                  </a:lnTo>
                  <a:lnTo>
                    <a:pt x="67770" y="360136"/>
                  </a:lnTo>
                  <a:lnTo>
                    <a:pt x="103179" y="386150"/>
                  </a:lnTo>
                  <a:lnTo>
                    <a:pt x="144672" y="409151"/>
                  </a:lnTo>
                  <a:lnTo>
                    <a:pt x="191599" y="428778"/>
                  </a:lnTo>
                  <a:lnTo>
                    <a:pt x="243308" y="444672"/>
                  </a:lnTo>
                  <a:lnTo>
                    <a:pt x="299149" y="456471"/>
                  </a:lnTo>
                  <a:lnTo>
                    <a:pt x="358472" y="463815"/>
                  </a:lnTo>
                  <a:lnTo>
                    <a:pt x="420624" y="466343"/>
                  </a:lnTo>
                  <a:lnTo>
                    <a:pt x="482775" y="463815"/>
                  </a:lnTo>
                  <a:lnTo>
                    <a:pt x="542098" y="456471"/>
                  </a:lnTo>
                  <a:lnTo>
                    <a:pt x="597939" y="444672"/>
                  </a:lnTo>
                  <a:lnTo>
                    <a:pt x="649648" y="428778"/>
                  </a:lnTo>
                  <a:lnTo>
                    <a:pt x="696575" y="409151"/>
                  </a:lnTo>
                  <a:lnTo>
                    <a:pt x="738068" y="386150"/>
                  </a:lnTo>
                  <a:lnTo>
                    <a:pt x="773477" y="360136"/>
                  </a:lnTo>
                  <a:lnTo>
                    <a:pt x="802150" y="331471"/>
                  </a:lnTo>
                  <a:lnTo>
                    <a:pt x="836686" y="267628"/>
                  </a:lnTo>
                  <a:lnTo>
                    <a:pt x="841248" y="233172"/>
                  </a:lnTo>
                  <a:lnTo>
                    <a:pt x="836686" y="198715"/>
                  </a:lnTo>
                  <a:lnTo>
                    <a:pt x="802150" y="134872"/>
                  </a:lnTo>
                  <a:lnTo>
                    <a:pt x="773477" y="106207"/>
                  </a:lnTo>
                  <a:lnTo>
                    <a:pt x="738068" y="80193"/>
                  </a:lnTo>
                  <a:lnTo>
                    <a:pt x="696575" y="57192"/>
                  </a:lnTo>
                  <a:lnTo>
                    <a:pt x="649648" y="37565"/>
                  </a:lnTo>
                  <a:lnTo>
                    <a:pt x="597939" y="21671"/>
                  </a:lnTo>
                  <a:lnTo>
                    <a:pt x="542098" y="9872"/>
                  </a:lnTo>
                  <a:lnTo>
                    <a:pt x="482775" y="2528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5495" y="1083882"/>
            <a:ext cx="8540750" cy="11576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1" dirty="0">
                <a:solidFill>
                  <a:srgbClr val="FF2FED"/>
                </a:solidFill>
                <a:latin typeface="Calibri"/>
                <a:cs typeface="Calibri"/>
              </a:rPr>
              <a:t>Language</a:t>
            </a:r>
            <a:r>
              <a:rPr sz="2300" b="1" spc="-6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FF2FED"/>
                </a:solidFill>
                <a:latin typeface="Calibri"/>
                <a:cs typeface="Calibri"/>
              </a:rPr>
              <a:t>Modeling</a:t>
            </a:r>
            <a:r>
              <a:rPr sz="2300" b="1" spc="-1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task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predicting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what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comes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next</a:t>
            </a:r>
            <a:endParaRPr sz="23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465"/>
              </a:spcBef>
            </a:pPr>
            <a:r>
              <a:rPr sz="1800" i="1" spc="-10" dirty="0">
                <a:latin typeface="Calibri"/>
                <a:cs typeface="Calibri"/>
              </a:rPr>
              <a:t>books</a:t>
            </a:r>
            <a:endParaRPr sz="1800">
              <a:latin typeface="Calibri"/>
              <a:cs typeface="Calibri"/>
            </a:endParaRPr>
          </a:p>
          <a:p>
            <a:pPr marL="3672840">
              <a:lnSpc>
                <a:spcPct val="100000"/>
              </a:lnSpc>
              <a:spcBef>
                <a:spcPts val="165"/>
              </a:spcBef>
              <a:tabLst>
                <a:tab pos="7717790" algn="l"/>
              </a:tabLst>
            </a:pPr>
            <a:r>
              <a:rPr sz="2300" i="1" dirty="0">
                <a:latin typeface="Calibri"/>
                <a:cs typeface="Calibri"/>
              </a:rPr>
              <a:t>the students</a:t>
            </a:r>
            <a:r>
              <a:rPr sz="2300" i="1" spc="-1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opened their </a:t>
            </a:r>
            <a:r>
              <a:rPr sz="23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21598" y="1915667"/>
            <a:ext cx="215900" cy="375920"/>
          </a:xfrm>
          <a:custGeom>
            <a:avLst/>
            <a:gdLst/>
            <a:ahLst/>
            <a:cxnLst/>
            <a:rect l="l" t="t" r="r" b="b"/>
            <a:pathLst>
              <a:path w="215900" h="375919">
                <a:moveTo>
                  <a:pt x="161893" y="68139"/>
                </a:moveTo>
                <a:lnTo>
                  <a:pt x="0" y="362204"/>
                </a:lnTo>
                <a:lnTo>
                  <a:pt x="25146" y="375920"/>
                </a:lnTo>
                <a:lnTo>
                  <a:pt x="186932" y="81950"/>
                </a:lnTo>
                <a:lnTo>
                  <a:pt x="161893" y="68139"/>
                </a:lnTo>
                <a:close/>
              </a:path>
              <a:path w="215900" h="375919">
                <a:moveTo>
                  <a:pt x="213559" y="55626"/>
                </a:moveTo>
                <a:lnTo>
                  <a:pt x="168782" y="55626"/>
                </a:lnTo>
                <a:lnTo>
                  <a:pt x="193801" y="69469"/>
                </a:lnTo>
                <a:lnTo>
                  <a:pt x="186932" y="81950"/>
                </a:lnTo>
                <a:lnTo>
                  <a:pt x="211962" y="95758"/>
                </a:lnTo>
                <a:lnTo>
                  <a:pt x="213559" y="55626"/>
                </a:lnTo>
                <a:close/>
              </a:path>
              <a:path w="215900" h="375919">
                <a:moveTo>
                  <a:pt x="168782" y="55626"/>
                </a:moveTo>
                <a:lnTo>
                  <a:pt x="161893" y="68139"/>
                </a:lnTo>
                <a:lnTo>
                  <a:pt x="186932" y="81950"/>
                </a:lnTo>
                <a:lnTo>
                  <a:pt x="193801" y="69469"/>
                </a:lnTo>
                <a:lnTo>
                  <a:pt x="168782" y="55626"/>
                </a:lnTo>
                <a:close/>
              </a:path>
              <a:path w="215900" h="375919">
                <a:moveTo>
                  <a:pt x="215773" y="0"/>
                </a:moveTo>
                <a:lnTo>
                  <a:pt x="136905" y="54356"/>
                </a:lnTo>
                <a:lnTo>
                  <a:pt x="161893" y="68139"/>
                </a:lnTo>
                <a:lnTo>
                  <a:pt x="168782" y="55626"/>
                </a:lnTo>
                <a:lnTo>
                  <a:pt x="213559" y="55626"/>
                </a:lnTo>
                <a:lnTo>
                  <a:pt x="215773" y="0"/>
                </a:lnTo>
                <a:close/>
              </a:path>
            </a:pathLst>
          </a:custGeom>
          <a:solidFill>
            <a:srgbClr val="FF0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883" y="4010902"/>
            <a:ext cx="4017486" cy="46965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5888735" y="3017520"/>
            <a:ext cx="2194560" cy="749935"/>
            <a:chOff x="5888735" y="3017520"/>
            <a:chExt cx="2194560" cy="74993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8735" y="3017520"/>
              <a:ext cx="2167127" cy="41147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9479" y="3392424"/>
              <a:ext cx="813816" cy="374903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81316" y="4850476"/>
            <a:ext cx="2552554" cy="36160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7157" y="4843845"/>
            <a:ext cx="662671" cy="260119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876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Language</a:t>
            </a:r>
            <a:r>
              <a:rPr spc="95" dirty="0"/>
              <a:t> </a:t>
            </a:r>
            <a:r>
              <a:rPr spc="-10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0984" y="1221676"/>
            <a:ext cx="7828915" cy="19265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5600" marR="514350" indent="-343535">
              <a:lnSpc>
                <a:spcPct val="102200"/>
              </a:lnSpc>
              <a:spcBef>
                <a:spcPts val="6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50" dirty="0">
                <a:latin typeface="Calibri"/>
                <a:cs typeface="Calibri"/>
              </a:rPr>
              <a:t>You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can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also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think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Language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Model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as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system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that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assigns a</a:t>
            </a:r>
            <a:r>
              <a:rPr sz="2350" spc="8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probability</a:t>
            </a:r>
            <a:r>
              <a:rPr sz="2350" spc="1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to</a:t>
            </a:r>
            <a:r>
              <a:rPr sz="2350" spc="4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a</a:t>
            </a:r>
            <a:r>
              <a:rPr sz="2350" spc="9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piece</a:t>
            </a:r>
            <a:r>
              <a:rPr sz="2350" spc="4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of</a:t>
            </a:r>
            <a:r>
              <a:rPr sz="2350" spc="7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spc="-20" dirty="0">
                <a:solidFill>
                  <a:srgbClr val="FF2FED"/>
                </a:solidFill>
                <a:latin typeface="Calibri"/>
                <a:cs typeface="Calibri"/>
              </a:rPr>
              <a:t>text</a:t>
            </a:r>
            <a:endParaRPr sz="23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8B1515"/>
              </a:buClr>
              <a:buFont typeface="Times New Roman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  <a:tab pos="6365875" algn="l"/>
              </a:tabLst>
            </a:pPr>
            <a:r>
              <a:rPr sz="2350" dirty="0">
                <a:latin typeface="Calibri"/>
                <a:cs typeface="Calibri"/>
              </a:rPr>
              <a:t>For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example,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if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we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have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some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text</a:t>
            </a:r>
            <a:r>
              <a:rPr sz="2350" dirty="0">
                <a:latin typeface="Calibri"/>
                <a:cs typeface="Calibri"/>
              </a:rPr>
              <a:t>	,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then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the</a:t>
            </a:r>
            <a:endParaRPr sz="235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5"/>
              </a:spcBef>
            </a:pPr>
            <a:r>
              <a:rPr sz="2350" dirty="0">
                <a:latin typeface="Calibri"/>
                <a:cs typeface="Calibri"/>
              </a:rPr>
              <a:t>probability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10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this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text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(according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Language</a:t>
            </a:r>
            <a:r>
              <a:rPr sz="2350" spc="1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Model)</a:t>
            </a:r>
            <a:r>
              <a:rPr sz="2350" spc="105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is:</a:t>
            </a:r>
            <a:endParaRPr sz="23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5108" y="2471505"/>
            <a:ext cx="1554480" cy="304015"/>
          </a:xfrm>
          <a:prstGeom prst="rect">
            <a:avLst/>
          </a:prstGeom>
        </p:spPr>
      </p:pic>
      <p:pic>
        <p:nvPicPr>
          <p:cNvPr id="5" name="object 5" descr="A close up of a logo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0617" y="3737846"/>
            <a:ext cx="7754321" cy="109536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360420" y="5097779"/>
            <a:ext cx="2304415" cy="265430"/>
          </a:xfrm>
          <a:custGeom>
            <a:avLst/>
            <a:gdLst/>
            <a:ahLst/>
            <a:cxnLst/>
            <a:rect l="l" t="t" r="r" b="b"/>
            <a:pathLst>
              <a:path w="2304415" h="265429">
                <a:moveTo>
                  <a:pt x="2304288" y="0"/>
                </a:moveTo>
                <a:lnTo>
                  <a:pt x="2295124" y="51577"/>
                </a:lnTo>
                <a:lnTo>
                  <a:pt x="2270125" y="93726"/>
                </a:lnTo>
                <a:lnTo>
                  <a:pt x="2233029" y="122158"/>
                </a:lnTo>
                <a:lnTo>
                  <a:pt x="2187575" y="132588"/>
                </a:lnTo>
                <a:lnTo>
                  <a:pt x="1268856" y="132588"/>
                </a:lnTo>
                <a:lnTo>
                  <a:pt x="1223402" y="143000"/>
                </a:lnTo>
                <a:lnTo>
                  <a:pt x="1186306" y="171402"/>
                </a:lnTo>
                <a:lnTo>
                  <a:pt x="1161307" y="213544"/>
                </a:lnTo>
                <a:lnTo>
                  <a:pt x="1152143" y="265176"/>
                </a:lnTo>
                <a:lnTo>
                  <a:pt x="1142980" y="213544"/>
                </a:lnTo>
                <a:lnTo>
                  <a:pt x="1117980" y="171402"/>
                </a:lnTo>
                <a:lnTo>
                  <a:pt x="1080885" y="143000"/>
                </a:lnTo>
                <a:lnTo>
                  <a:pt x="1035430" y="132588"/>
                </a:lnTo>
                <a:lnTo>
                  <a:pt x="116712" y="132588"/>
                </a:lnTo>
                <a:lnTo>
                  <a:pt x="71258" y="122158"/>
                </a:lnTo>
                <a:lnTo>
                  <a:pt x="34162" y="93726"/>
                </a:lnTo>
                <a:lnTo>
                  <a:pt x="9163" y="51577"/>
                </a:lnTo>
                <a:lnTo>
                  <a:pt x="0" y="0"/>
                </a:lnTo>
              </a:path>
            </a:pathLst>
          </a:custGeom>
          <a:ln w="28575">
            <a:solidFill>
              <a:srgbClr val="5D4A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75710" y="5418201"/>
            <a:ext cx="2672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This</a:t>
            </a:r>
            <a:r>
              <a:rPr sz="1800" spc="1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is</a:t>
            </a:r>
            <a:r>
              <a:rPr sz="1800" spc="1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what</a:t>
            </a:r>
            <a:r>
              <a:rPr sz="1800" spc="-3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our</a:t>
            </a:r>
            <a:r>
              <a:rPr sz="1800" spc="-5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LM</a:t>
            </a:r>
            <a:r>
              <a:rPr sz="1800" spc="-3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2FED"/>
                </a:solidFill>
                <a:latin typeface="Calibri"/>
                <a:cs typeface="Calibri"/>
              </a:rPr>
              <a:t>provides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876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dirty="0"/>
              <a:t>2. </a:t>
            </a:r>
            <a:r>
              <a:rPr dirty="0"/>
              <a:t>How</a:t>
            </a:r>
            <a:r>
              <a:rPr spc="40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build</a:t>
            </a:r>
            <a:r>
              <a:rPr spc="60" dirty="0"/>
              <a:t> </a:t>
            </a:r>
            <a:r>
              <a:rPr dirty="0"/>
              <a:t>a</a:t>
            </a:r>
            <a:r>
              <a:rPr spc="110" dirty="0"/>
              <a:t> </a:t>
            </a:r>
            <a:r>
              <a:rPr i="1" dirty="0">
                <a:latin typeface="Calibri"/>
                <a:cs typeface="Calibri"/>
              </a:rPr>
              <a:t>neural</a:t>
            </a:r>
            <a:r>
              <a:rPr i="1" spc="45" dirty="0">
                <a:latin typeface="Calibri"/>
                <a:cs typeface="Calibri"/>
              </a:rPr>
              <a:t> </a:t>
            </a:r>
            <a:r>
              <a:rPr dirty="0"/>
              <a:t>language</a:t>
            </a:r>
            <a:r>
              <a:rPr spc="100" dirty="0"/>
              <a:t> </a:t>
            </a:r>
            <a:r>
              <a:rPr spc="-10" dirty="0"/>
              <a:t>model?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8458" y="1568863"/>
            <a:ext cx="2057168" cy="3005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3072" y="1983363"/>
            <a:ext cx="2853727" cy="3592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0984" y="994926"/>
            <a:ext cx="6894830" cy="31394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3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50" dirty="0">
                <a:latin typeface="Calibri"/>
                <a:cs typeface="Calibri"/>
              </a:rPr>
              <a:t>Recall</a:t>
            </a:r>
            <a:r>
              <a:rPr sz="2350" spc="13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Language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Modeling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task:</a:t>
            </a:r>
            <a:endParaRPr sz="23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640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50" dirty="0">
                <a:latin typeface="Calibri"/>
                <a:cs typeface="Calibri"/>
              </a:rPr>
              <a:t>Input: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sequence</a:t>
            </a:r>
            <a:r>
              <a:rPr sz="2350" spc="1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words</a:t>
            </a:r>
            <a:endParaRPr sz="23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645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50" dirty="0">
                <a:latin typeface="Calibri"/>
                <a:cs typeface="Calibri"/>
              </a:rPr>
              <a:t>Output: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prob.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dist.</a:t>
            </a:r>
            <a:r>
              <a:rPr sz="2350" spc="-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9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next</a:t>
            </a:r>
            <a:r>
              <a:rPr sz="2350" spc="9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word</a:t>
            </a:r>
            <a:endParaRPr sz="235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50"/>
              </a:spcBef>
              <a:buClr>
                <a:srgbClr val="007B92"/>
              </a:buClr>
              <a:buFont typeface="Times New Roman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50" dirty="0">
                <a:latin typeface="Calibri"/>
                <a:cs typeface="Calibri"/>
              </a:rPr>
              <a:t>How</a:t>
            </a:r>
            <a:r>
              <a:rPr sz="2350" spc="13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about</a:t>
            </a:r>
            <a:r>
              <a:rPr sz="2350" spc="114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95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007B92"/>
                </a:solidFill>
                <a:latin typeface="Calibri"/>
                <a:cs typeface="Calibri"/>
              </a:rPr>
              <a:t>window-based</a:t>
            </a:r>
            <a:r>
              <a:rPr sz="2350" spc="8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007B92"/>
                </a:solidFill>
                <a:latin typeface="Calibri"/>
                <a:cs typeface="Calibri"/>
              </a:rPr>
              <a:t>neural</a:t>
            </a:r>
            <a:r>
              <a:rPr sz="2350" spc="7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007B92"/>
                </a:solidFill>
                <a:latin typeface="Calibri"/>
                <a:cs typeface="Calibri"/>
              </a:rPr>
              <a:t>model</a:t>
            </a:r>
            <a:r>
              <a:rPr sz="2350" spc="-10" dirty="0">
                <a:latin typeface="Calibri"/>
                <a:cs typeface="Calibri"/>
              </a:rPr>
              <a:t>?</a:t>
            </a:r>
            <a:endParaRPr sz="235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640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lang="en-US" sz="2350" dirty="0">
                <a:latin typeface="Calibri"/>
                <a:cs typeface="Calibri"/>
              </a:rPr>
              <a:t>E.g., </a:t>
            </a:r>
            <a:r>
              <a:rPr sz="2350" dirty="0">
                <a:latin typeface="Calibri"/>
                <a:cs typeface="Calibri"/>
              </a:rPr>
              <a:t>Named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Entity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Recognition:</a:t>
            </a:r>
            <a:endParaRPr sz="2350" dirty="0">
              <a:latin typeface="Calibri"/>
              <a:cs typeface="Calibri"/>
            </a:endParaRPr>
          </a:p>
          <a:p>
            <a:pPr marL="3895725">
              <a:lnSpc>
                <a:spcPct val="100000"/>
              </a:lnSpc>
              <a:spcBef>
                <a:spcPts val="1930"/>
              </a:spcBef>
            </a:pPr>
            <a:r>
              <a:rPr sz="2000" spc="-10" dirty="0">
                <a:latin typeface="Calibri"/>
                <a:cs typeface="Calibri"/>
              </a:rPr>
              <a:t>LOCATION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5234" y="6235166"/>
            <a:ext cx="208279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-2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4964" y="6235166"/>
            <a:ext cx="5276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7301" y="6235166"/>
            <a:ext cx="170942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813435" algn="l"/>
              </a:tabLst>
            </a:pPr>
            <a:r>
              <a:rPr sz="2000" i="1" spc="-25" dirty="0">
                <a:latin typeface="Calibri"/>
                <a:cs typeface="Calibri"/>
              </a:rPr>
              <a:t>are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amazing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1339" y="4142104"/>
            <a:ext cx="5286375" cy="2071370"/>
            <a:chOff x="2331339" y="4142104"/>
            <a:chExt cx="5286375" cy="207137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1339" y="4617338"/>
              <a:ext cx="5285994" cy="159129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1768" y="5166359"/>
              <a:ext cx="347472" cy="2651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50211" y="5604827"/>
              <a:ext cx="156209" cy="1653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0523" y="5604827"/>
              <a:ext cx="156209" cy="16535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1691" y="5604827"/>
              <a:ext cx="156209" cy="16535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72003" y="5604827"/>
              <a:ext cx="156210" cy="1653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70124" y="4142104"/>
              <a:ext cx="2214245" cy="2071370"/>
            </a:xfrm>
            <a:custGeom>
              <a:avLst/>
              <a:gdLst/>
              <a:ahLst/>
              <a:cxnLst/>
              <a:rect l="l" t="t" r="r" b="b"/>
              <a:pathLst>
                <a:path w="2214245" h="2071370">
                  <a:moveTo>
                    <a:pt x="110744" y="1823085"/>
                  </a:moveTo>
                  <a:lnTo>
                    <a:pt x="66395" y="1747139"/>
                  </a:lnTo>
                  <a:lnTo>
                    <a:pt x="55372" y="1728241"/>
                  </a:lnTo>
                  <a:lnTo>
                    <a:pt x="0" y="1823085"/>
                  </a:lnTo>
                  <a:lnTo>
                    <a:pt x="1524" y="1828914"/>
                  </a:lnTo>
                  <a:lnTo>
                    <a:pt x="10668" y="1834222"/>
                  </a:lnTo>
                  <a:lnTo>
                    <a:pt x="16510" y="1832686"/>
                  </a:lnTo>
                  <a:lnTo>
                    <a:pt x="45847" y="1782419"/>
                  </a:lnTo>
                  <a:lnTo>
                    <a:pt x="45847" y="2070989"/>
                  </a:lnTo>
                  <a:lnTo>
                    <a:pt x="64897" y="2070989"/>
                  </a:lnTo>
                  <a:lnTo>
                    <a:pt x="64897" y="1782419"/>
                  </a:lnTo>
                  <a:lnTo>
                    <a:pt x="94234" y="1832686"/>
                  </a:lnTo>
                  <a:lnTo>
                    <a:pt x="100076" y="1834222"/>
                  </a:lnTo>
                  <a:lnTo>
                    <a:pt x="109220" y="1828914"/>
                  </a:lnTo>
                  <a:lnTo>
                    <a:pt x="110744" y="1823085"/>
                  </a:lnTo>
                  <a:close/>
                </a:path>
                <a:path w="2214245" h="2071370">
                  <a:moveTo>
                    <a:pt x="2213864" y="94869"/>
                  </a:moveTo>
                  <a:lnTo>
                    <a:pt x="2169528" y="18923"/>
                  </a:lnTo>
                  <a:lnTo>
                    <a:pt x="2158492" y="0"/>
                  </a:lnTo>
                  <a:lnTo>
                    <a:pt x="2103120" y="94869"/>
                  </a:lnTo>
                  <a:lnTo>
                    <a:pt x="2104644" y="100711"/>
                  </a:lnTo>
                  <a:lnTo>
                    <a:pt x="2113788" y="106045"/>
                  </a:lnTo>
                  <a:lnTo>
                    <a:pt x="2119630" y="104521"/>
                  </a:lnTo>
                  <a:lnTo>
                    <a:pt x="2148967" y="54241"/>
                  </a:lnTo>
                  <a:lnTo>
                    <a:pt x="2148967" y="494157"/>
                  </a:lnTo>
                  <a:lnTo>
                    <a:pt x="2168017" y="494157"/>
                  </a:lnTo>
                  <a:lnTo>
                    <a:pt x="2168017" y="54241"/>
                  </a:lnTo>
                  <a:lnTo>
                    <a:pt x="2197354" y="104521"/>
                  </a:lnTo>
                  <a:lnTo>
                    <a:pt x="2203196" y="106045"/>
                  </a:lnTo>
                  <a:lnTo>
                    <a:pt x="2212340" y="100711"/>
                  </a:lnTo>
                  <a:lnTo>
                    <a:pt x="2213864" y="9486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3530" y="4303986"/>
              <a:ext cx="200526" cy="1803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322829" y="6239903"/>
            <a:ext cx="101155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-10" dirty="0">
                <a:latin typeface="Calibri"/>
                <a:cs typeface="Calibri"/>
              </a:rPr>
              <a:t>museums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5495" y="6553237"/>
            <a:ext cx="208279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95"/>
              </a:lnSpc>
            </a:pPr>
            <a:r>
              <a:rPr sz="1350" spc="-25" dirty="0">
                <a:latin typeface="Calibri"/>
                <a:cs typeface="Calibri"/>
              </a:rPr>
              <a:t>4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5657" y="5632615"/>
            <a:ext cx="1669414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79780" algn="l"/>
              </a:tabLst>
            </a:pPr>
            <a:r>
              <a:rPr sz="2000" i="1" spc="-25" dirty="0">
                <a:latin typeface="Calibri"/>
                <a:cs typeface="Calibri"/>
              </a:rPr>
              <a:t>the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students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59546" y="5632615"/>
            <a:ext cx="78803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-10" dirty="0">
                <a:latin typeface="Calibri"/>
                <a:cs typeface="Calibri"/>
              </a:rPr>
              <a:t>opened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5858" y="5632615"/>
            <a:ext cx="50673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-10" dirty="0">
                <a:latin typeface="Calibri"/>
                <a:cs typeface="Calibri"/>
              </a:rPr>
              <a:t>their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0067" y="1148842"/>
            <a:ext cx="1361440" cy="4235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555"/>
              </a:lnSpc>
              <a:spcBef>
                <a:spcPts val="114"/>
              </a:spcBef>
            </a:pPr>
            <a:r>
              <a:rPr sz="1350" i="1" spc="-10" dirty="0">
                <a:solidFill>
                  <a:srgbClr val="175E53"/>
                </a:solidFill>
                <a:latin typeface="Calibri"/>
                <a:cs typeface="Calibri"/>
              </a:rPr>
              <a:t>books</a:t>
            </a:r>
            <a:endParaRPr sz="1350">
              <a:latin typeface="Calibri"/>
              <a:cs typeface="Calibri"/>
            </a:endParaRPr>
          </a:p>
          <a:p>
            <a:pPr marL="813435">
              <a:lnSpc>
                <a:spcPts val="1555"/>
              </a:lnSpc>
            </a:pPr>
            <a:r>
              <a:rPr sz="1350" i="1" spc="-10" dirty="0">
                <a:solidFill>
                  <a:srgbClr val="175E53"/>
                </a:solidFill>
                <a:latin typeface="Calibri"/>
                <a:cs typeface="Calibri"/>
              </a:rPr>
              <a:t>laptops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49440" y="1385316"/>
            <a:ext cx="2099945" cy="1122045"/>
            <a:chOff x="6949440" y="1385316"/>
            <a:chExt cx="2099945" cy="1122045"/>
          </a:xfrm>
        </p:grpSpPr>
        <p:sp>
          <p:nvSpPr>
            <p:cNvPr id="7" name="object 7"/>
            <p:cNvSpPr/>
            <p:nvPr/>
          </p:nvSpPr>
          <p:spPr>
            <a:xfrm>
              <a:off x="7327773" y="1385316"/>
              <a:ext cx="76200" cy="288925"/>
            </a:xfrm>
            <a:custGeom>
              <a:avLst/>
              <a:gdLst/>
              <a:ahLst/>
              <a:cxnLst/>
              <a:rect l="l" t="t" r="r" b="b"/>
              <a:pathLst>
                <a:path w="76200" h="288925">
                  <a:moveTo>
                    <a:pt x="31728" y="212725"/>
                  </a:moveTo>
                  <a:lnTo>
                    <a:pt x="0" y="212725"/>
                  </a:lnTo>
                  <a:lnTo>
                    <a:pt x="38226" y="288925"/>
                  </a:lnTo>
                  <a:lnTo>
                    <a:pt x="69818" y="225425"/>
                  </a:lnTo>
                  <a:lnTo>
                    <a:pt x="31750" y="225425"/>
                  </a:lnTo>
                  <a:lnTo>
                    <a:pt x="31728" y="212725"/>
                  </a:lnTo>
                  <a:close/>
                </a:path>
                <a:path w="76200" h="288925">
                  <a:moveTo>
                    <a:pt x="44069" y="0"/>
                  </a:moveTo>
                  <a:lnTo>
                    <a:pt x="31369" y="0"/>
                  </a:lnTo>
                  <a:lnTo>
                    <a:pt x="31728" y="212725"/>
                  </a:lnTo>
                  <a:lnTo>
                    <a:pt x="31750" y="225425"/>
                  </a:lnTo>
                  <a:lnTo>
                    <a:pt x="44450" y="225425"/>
                  </a:lnTo>
                  <a:lnTo>
                    <a:pt x="44069" y="0"/>
                  </a:lnTo>
                  <a:close/>
                </a:path>
                <a:path w="76200" h="288925">
                  <a:moveTo>
                    <a:pt x="76136" y="212725"/>
                  </a:moveTo>
                  <a:lnTo>
                    <a:pt x="44428" y="212725"/>
                  </a:lnTo>
                  <a:lnTo>
                    <a:pt x="44450" y="225425"/>
                  </a:lnTo>
                  <a:lnTo>
                    <a:pt x="69818" y="225425"/>
                  </a:lnTo>
                  <a:lnTo>
                    <a:pt x="76136" y="212725"/>
                  </a:lnTo>
                  <a:close/>
                </a:path>
              </a:pathLst>
            </a:custGeom>
            <a:solidFill>
              <a:srgbClr val="175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7784" y="1623060"/>
              <a:ext cx="76200" cy="2292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949440" y="2377440"/>
              <a:ext cx="2099945" cy="0"/>
            </a:xfrm>
            <a:custGeom>
              <a:avLst/>
              <a:gdLst/>
              <a:ahLst/>
              <a:cxnLst/>
              <a:rect l="l" t="t" r="r" b="b"/>
              <a:pathLst>
                <a:path w="2099945">
                  <a:moveTo>
                    <a:pt x="0" y="0"/>
                  </a:moveTo>
                  <a:lnTo>
                    <a:pt x="2099944" y="0"/>
                  </a:lnTo>
                </a:path>
              </a:pathLst>
            </a:custGeom>
            <a:ln w="19050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46036" y="2299717"/>
              <a:ext cx="146685" cy="82550"/>
            </a:xfrm>
            <a:custGeom>
              <a:avLst/>
              <a:gdLst/>
              <a:ahLst/>
              <a:cxnLst/>
              <a:rect l="l" t="t" r="r" b="b"/>
              <a:pathLst>
                <a:path w="146684" h="82550">
                  <a:moveTo>
                    <a:pt x="146303" y="0"/>
                  </a:moveTo>
                  <a:lnTo>
                    <a:pt x="0" y="0"/>
                  </a:lnTo>
                  <a:lnTo>
                    <a:pt x="0" y="82294"/>
                  </a:lnTo>
                  <a:lnTo>
                    <a:pt x="146303" y="82294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46036" y="2299717"/>
              <a:ext cx="146685" cy="82550"/>
            </a:xfrm>
            <a:custGeom>
              <a:avLst/>
              <a:gdLst/>
              <a:ahLst/>
              <a:cxnLst/>
              <a:rect l="l" t="t" r="r" b="b"/>
              <a:pathLst>
                <a:path w="146684" h="82550">
                  <a:moveTo>
                    <a:pt x="0" y="82294"/>
                  </a:moveTo>
                  <a:lnTo>
                    <a:pt x="146303" y="82294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82294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2340" y="1677936"/>
              <a:ext cx="146685" cy="704215"/>
            </a:xfrm>
            <a:custGeom>
              <a:avLst/>
              <a:gdLst/>
              <a:ahLst/>
              <a:cxnLst/>
              <a:rect l="l" t="t" r="r" b="b"/>
              <a:pathLst>
                <a:path w="146684" h="704214">
                  <a:moveTo>
                    <a:pt x="146303" y="0"/>
                  </a:moveTo>
                  <a:lnTo>
                    <a:pt x="0" y="0"/>
                  </a:lnTo>
                  <a:lnTo>
                    <a:pt x="0" y="704075"/>
                  </a:lnTo>
                  <a:lnTo>
                    <a:pt x="146303" y="704075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92340" y="1677936"/>
              <a:ext cx="146685" cy="704215"/>
            </a:xfrm>
            <a:custGeom>
              <a:avLst/>
              <a:gdLst/>
              <a:ahLst/>
              <a:cxnLst/>
              <a:rect l="l" t="t" r="r" b="b"/>
              <a:pathLst>
                <a:path w="146684" h="704214">
                  <a:moveTo>
                    <a:pt x="0" y="704075"/>
                  </a:moveTo>
                  <a:lnTo>
                    <a:pt x="146303" y="704075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704075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8644" y="2199132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59" h="182880">
                  <a:moveTo>
                    <a:pt x="13715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37159" y="18287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38644" y="2199132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59" h="182880">
                  <a:moveTo>
                    <a:pt x="0" y="182879"/>
                  </a:moveTo>
                  <a:lnTo>
                    <a:pt x="137159" y="182879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75804" y="2089404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146303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146303" y="292608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75804" y="2089404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0" y="292608"/>
                  </a:moveTo>
                  <a:lnTo>
                    <a:pt x="146303" y="292608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22108" y="2299717"/>
              <a:ext cx="137160" cy="82550"/>
            </a:xfrm>
            <a:custGeom>
              <a:avLst/>
              <a:gdLst/>
              <a:ahLst/>
              <a:cxnLst/>
              <a:rect l="l" t="t" r="r" b="b"/>
              <a:pathLst>
                <a:path w="137159" h="82550">
                  <a:moveTo>
                    <a:pt x="137159" y="0"/>
                  </a:moveTo>
                  <a:lnTo>
                    <a:pt x="0" y="0"/>
                  </a:lnTo>
                  <a:lnTo>
                    <a:pt x="0" y="82294"/>
                  </a:lnTo>
                  <a:lnTo>
                    <a:pt x="137159" y="82294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22108" y="2299717"/>
              <a:ext cx="137160" cy="82550"/>
            </a:xfrm>
            <a:custGeom>
              <a:avLst/>
              <a:gdLst/>
              <a:ahLst/>
              <a:cxnLst/>
              <a:rect l="l" t="t" r="r" b="b"/>
              <a:pathLst>
                <a:path w="137159" h="82550">
                  <a:moveTo>
                    <a:pt x="0" y="82294"/>
                  </a:moveTo>
                  <a:lnTo>
                    <a:pt x="137159" y="82294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82294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59268" y="2071116"/>
              <a:ext cx="146685" cy="311150"/>
            </a:xfrm>
            <a:custGeom>
              <a:avLst/>
              <a:gdLst/>
              <a:ahLst/>
              <a:cxnLst/>
              <a:rect l="l" t="t" r="r" b="b"/>
              <a:pathLst>
                <a:path w="146684" h="311150">
                  <a:moveTo>
                    <a:pt x="146303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146303" y="310896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59268" y="2071116"/>
              <a:ext cx="146685" cy="311150"/>
            </a:xfrm>
            <a:custGeom>
              <a:avLst/>
              <a:gdLst/>
              <a:ahLst/>
              <a:cxnLst/>
              <a:rect l="l" t="t" r="r" b="b"/>
              <a:pathLst>
                <a:path w="146684" h="311150">
                  <a:moveTo>
                    <a:pt x="0" y="310896"/>
                  </a:moveTo>
                  <a:lnTo>
                    <a:pt x="146303" y="310896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310896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05572" y="2089404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146303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146303" y="292608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05572" y="2089404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0" y="292608"/>
                  </a:moveTo>
                  <a:lnTo>
                    <a:pt x="146303" y="292608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51876" y="1851660"/>
              <a:ext cx="137160" cy="530860"/>
            </a:xfrm>
            <a:custGeom>
              <a:avLst/>
              <a:gdLst/>
              <a:ahLst/>
              <a:cxnLst/>
              <a:rect l="l" t="t" r="r" b="b"/>
              <a:pathLst>
                <a:path w="137159" h="530860">
                  <a:moveTo>
                    <a:pt x="137159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37159" y="530351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1876" y="1851660"/>
              <a:ext cx="137160" cy="530860"/>
            </a:xfrm>
            <a:custGeom>
              <a:avLst/>
              <a:gdLst/>
              <a:ahLst/>
              <a:cxnLst/>
              <a:rect l="l" t="t" r="r" b="b"/>
              <a:pathLst>
                <a:path w="137159" h="530860">
                  <a:moveTo>
                    <a:pt x="0" y="530351"/>
                  </a:moveTo>
                  <a:lnTo>
                    <a:pt x="137159" y="530351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530351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89036" y="2253996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69">
                  <a:moveTo>
                    <a:pt x="146303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146303" y="128015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89036" y="2253996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69">
                  <a:moveTo>
                    <a:pt x="0" y="128015"/>
                  </a:moveTo>
                  <a:lnTo>
                    <a:pt x="146303" y="128015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128015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35340" y="2144268"/>
              <a:ext cx="137160" cy="238125"/>
            </a:xfrm>
            <a:custGeom>
              <a:avLst/>
              <a:gdLst/>
              <a:ahLst/>
              <a:cxnLst/>
              <a:rect l="l" t="t" r="r" b="b"/>
              <a:pathLst>
                <a:path w="137159" h="238125">
                  <a:moveTo>
                    <a:pt x="137159" y="0"/>
                  </a:moveTo>
                  <a:lnTo>
                    <a:pt x="0" y="0"/>
                  </a:lnTo>
                  <a:lnTo>
                    <a:pt x="0" y="237743"/>
                  </a:lnTo>
                  <a:lnTo>
                    <a:pt x="137159" y="237743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435340" y="2144268"/>
              <a:ext cx="137160" cy="238125"/>
            </a:xfrm>
            <a:custGeom>
              <a:avLst/>
              <a:gdLst/>
              <a:ahLst/>
              <a:cxnLst/>
              <a:rect l="l" t="t" r="r" b="b"/>
              <a:pathLst>
                <a:path w="137159" h="238125">
                  <a:moveTo>
                    <a:pt x="0" y="237743"/>
                  </a:moveTo>
                  <a:lnTo>
                    <a:pt x="137159" y="237743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237743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572500" y="2061972"/>
              <a:ext cx="146685" cy="320040"/>
            </a:xfrm>
            <a:custGeom>
              <a:avLst/>
              <a:gdLst/>
              <a:ahLst/>
              <a:cxnLst/>
              <a:rect l="l" t="t" r="r" b="b"/>
              <a:pathLst>
                <a:path w="146684" h="320039">
                  <a:moveTo>
                    <a:pt x="146303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146303" y="320039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72500" y="2061972"/>
              <a:ext cx="146685" cy="320040"/>
            </a:xfrm>
            <a:custGeom>
              <a:avLst/>
              <a:gdLst/>
              <a:ahLst/>
              <a:cxnLst/>
              <a:rect l="l" t="t" r="r" b="b"/>
              <a:pathLst>
                <a:path w="146684" h="320039">
                  <a:moveTo>
                    <a:pt x="0" y="320039"/>
                  </a:moveTo>
                  <a:lnTo>
                    <a:pt x="146303" y="320039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18804" y="2327149"/>
              <a:ext cx="146685" cy="55244"/>
            </a:xfrm>
            <a:custGeom>
              <a:avLst/>
              <a:gdLst/>
              <a:ahLst/>
              <a:cxnLst/>
              <a:rect l="l" t="t" r="r" b="b"/>
              <a:pathLst>
                <a:path w="146684" h="55244">
                  <a:moveTo>
                    <a:pt x="146303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46303" y="54862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18804" y="2327149"/>
              <a:ext cx="146685" cy="55244"/>
            </a:xfrm>
            <a:custGeom>
              <a:avLst/>
              <a:gdLst/>
              <a:ahLst/>
              <a:cxnLst/>
              <a:rect l="l" t="t" r="r" b="b"/>
              <a:pathLst>
                <a:path w="146684" h="55244">
                  <a:moveTo>
                    <a:pt x="0" y="54862"/>
                  </a:moveTo>
                  <a:lnTo>
                    <a:pt x="146303" y="54862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41464" y="2430780"/>
              <a:ext cx="1713230" cy="76200"/>
            </a:xfrm>
            <a:custGeom>
              <a:avLst/>
              <a:gdLst/>
              <a:ahLst/>
              <a:cxnLst/>
              <a:rect l="l" t="t" r="r" b="b"/>
              <a:pathLst>
                <a:path w="17132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1713229" h="76200">
                  <a:moveTo>
                    <a:pt x="1636649" y="0"/>
                  </a:moveTo>
                  <a:lnTo>
                    <a:pt x="1636649" y="76200"/>
                  </a:lnTo>
                  <a:lnTo>
                    <a:pt x="1693799" y="47625"/>
                  </a:lnTo>
                  <a:lnTo>
                    <a:pt x="1649349" y="47625"/>
                  </a:lnTo>
                  <a:lnTo>
                    <a:pt x="1649349" y="28575"/>
                  </a:lnTo>
                  <a:lnTo>
                    <a:pt x="1693799" y="28575"/>
                  </a:lnTo>
                  <a:lnTo>
                    <a:pt x="1636649" y="0"/>
                  </a:lnTo>
                  <a:close/>
                </a:path>
                <a:path w="1713229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1713229" h="76200">
                  <a:moveTo>
                    <a:pt x="1636649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1636649" y="47625"/>
                  </a:lnTo>
                  <a:lnTo>
                    <a:pt x="1636649" y="28575"/>
                  </a:lnTo>
                  <a:close/>
                </a:path>
                <a:path w="1713229" h="76200">
                  <a:moveTo>
                    <a:pt x="1693799" y="28575"/>
                  </a:moveTo>
                  <a:lnTo>
                    <a:pt x="1649349" y="28575"/>
                  </a:lnTo>
                  <a:lnTo>
                    <a:pt x="1649349" y="47625"/>
                  </a:lnTo>
                  <a:lnTo>
                    <a:pt x="1693799" y="47625"/>
                  </a:lnTo>
                  <a:lnTo>
                    <a:pt x="1712849" y="38100"/>
                  </a:lnTo>
                  <a:lnTo>
                    <a:pt x="1693799" y="28575"/>
                  </a:lnTo>
                  <a:close/>
                </a:path>
              </a:pathLst>
            </a:custGeom>
            <a:solidFill>
              <a:srgbClr val="175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876679" y="4348924"/>
            <a:ext cx="3010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600058"/>
                </a:solidFill>
                <a:latin typeface="Calibri"/>
                <a:cs typeface="Calibri"/>
              </a:rPr>
              <a:t>concatenated</a:t>
            </a:r>
            <a:r>
              <a:rPr sz="1800" spc="-6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00058"/>
                </a:solidFill>
                <a:latin typeface="Calibri"/>
                <a:cs typeface="Calibri"/>
              </a:rPr>
              <a:t>word</a:t>
            </a:r>
            <a:r>
              <a:rPr sz="1800" spc="-6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00058"/>
                </a:solidFill>
                <a:latin typeface="Calibri"/>
                <a:cs typeface="Calibri"/>
              </a:rPr>
              <a:t>embeddings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33490" y="2596769"/>
            <a:ext cx="4216400" cy="3010535"/>
            <a:chOff x="5833490" y="2596769"/>
            <a:chExt cx="4216400" cy="3010535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4074" y="4608195"/>
              <a:ext cx="156210" cy="16535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5242" y="4608195"/>
              <a:ext cx="165354" cy="16535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5554" y="4608195"/>
              <a:ext cx="156210" cy="16535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5866" y="4608195"/>
              <a:ext cx="156209" cy="16535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843015" y="4507992"/>
              <a:ext cx="4197350" cy="365760"/>
            </a:xfrm>
            <a:custGeom>
              <a:avLst/>
              <a:gdLst/>
              <a:ahLst/>
              <a:cxnLst/>
              <a:rect l="l" t="t" r="r" b="b"/>
              <a:pathLst>
                <a:path w="4197350" h="365760">
                  <a:moveTo>
                    <a:pt x="0" y="60959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4136136" y="0"/>
                  </a:lnTo>
                  <a:lnTo>
                    <a:pt x="4159859" y="4792"/>
                  </a:lnTo>
                  <a:lnTo>
                    <a:pt x="4179236" y="17859"/>
                  </a:lnTo>
                  <a:lnTo>
                    <a:pt x="4192303" y="37236"/>
                  </a:lnTo>
                  <a:lnTo>
                    <a:pt x="4197095" y="60959"/>
                  </a:lnTo>
                  <a:lnTo>
                    <a:pt x="4197095" y="304799"/>
                  </a:lnTo>
                  <a:lnTo>
                    <a:pt x="4192303" y="328523"/>
                  </a:lnTo>
                  <a:lnTo>
                    <a:pt x="4179236" y="347900"/>
                  </a:lnTo>
                  <a:lnTo>
                    <a:pt x="4159859" y="360967"/>
                  </a:lnTo>
                  <a:lnTo>
                    <a:pt x="4136136" y="365759"/>
                  </a:lnTo>
                  <a:lnTo>
                    <a:pt x="60960" y="365759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799"/>
                  </a:lnTo>
                  <a:lnTo>
                    <a:pt x="0" y="60959"/>
                  </a:lnTo>
                  <a:close/>
                </a:path>
              </a:pathLst>
            </a:custGeom>
            <a:ln w="19049">
              <a:solidFill>
                <a:srgbClr val="6000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6490" y="4608195"/>
              <a:ext cx="156209" cy="16535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6802" y="4608195"/>
              <a:ext cx="156210" cy="16535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7114" y="4608195"/>
              <a:ext cx="156209" cy="16535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8282" y="4608195"/>
              <a:ext cx="156210" cy="16535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4626" y="4608195"/>
              <a:ext cx="156209" cy="16535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4938" y="4608195"/>
              <a:ext cx="156209" cy="16535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85250" y="4608195"/>
              <a:ext cx="156209" cy="16535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418" y="4608195"/>
              <a:ext cx="156209" cy="16535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619" y="4608195"/>
              <a:ext cx="156209" cy="16535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4786" y="4608195"/>
              <a:ext cx="156210" cy="16535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5098" y="4608195"/>
              <a:ext cx="156209" cy="16535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5410" y="4608195"/>
              <a:ext cx="156210" cy="16535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3132" y="3748912"/>
              <a:ext cx="3320415" cy="1858645"/>
            </a:xfrm>
            <a:custGeom>
              <a:avLst/>
              <a:gdLst/>
              <a:ahLst/>
              <a:cxnLst/>
              <a:rect l="l" t="t" r="r" b="b"/>
              <a:pathLst>
                <a:path w="3320415" h="1858645">
                  <a:moveTo>
                    <a:pt x="110744" y="1219581"/>
                  </a:moveTo>
                  <a:lnTo>
                    <a:pt x="66408" y="1143635"/>
                  </a:lnTo>
                  <a:lnTo>
                    <a:pt x="55372" y="1124712"/>
                  </a:lnTo>
                  <a:lnTo>
                    <a:pt x="0" y="1219581"/>
                  </a:lnTo>
                  <a:lnTo>
                    <a:pt x="1524" y="1225423"/>
                  </a:lnTo>
                  <a:lnTo>
                    <a:pt x="10668" y="1230757"/>
                  </a:lnTo>
                  <a:lnTo>
                    <a:pt x="16510" y="1229233"/>
                  </a:lnTo>
                  <a:lnTo>
                    <a:pt x="45847" y="1178953"/>
                  </a:lnTo>
                  <a:lnTo>
                    <a:pt x="45847" y="1858276"/>
                  </a:lnTo>
                  <a:lnTo>
                    <a:pt x="64897" y="1858276"/>
                  </a:lnTo>
                  <a:lnTo>
                    <a:pt x="64897" y="1178953"/>
                  </a:lnTo>
                  <a:lnTo>
                    <a:pt x="94234" y="1229233"/>
                  </a:lnTo>
                  <a:lnTo>
                    <a:pt x="100076" y="1230757"/>
                  </a:lnTo>
                  <a:lnTo>
                    <a:pt x="109220" y="1225423"/>
                  </a:lnTo>
                  <a:lnTo>
                    <a:pt x="110744" y="1219581"/>
                  </a:lnTo>
                  <a:close/>
                </a:path>
                <a:path w="3320415" h="1858645">
                  <a:moveTo>
                    <a:pt x="1153160" y="1219581"/>
                  </a:moveTo>
                  <a:lnTo>
                    <a:pt x="1108824" y="1143635"/>
                  </a:lnTo>
                  <a:lnTo>
                    <a:pt x="1097788" y="1124712"/>
                  </a:lnTo>
                  <a:lnTo>
                    <a:pt x="1042416" y="1219581"/>
                  </a:lnTo>
                  <a:lnTo>
                    <a:pt x="1043940" y="1225423"/>
                  </a:lnTo>
                  <a:lnTo>
                    <a:pt x="1053084" y="1230757"/>
                  </a:lnTo>
                  <a:lnTo>
                    <a:pt x="1058926" y="1229233"/>
                  </a:lnTo>
                  <a:lnTo>
                    <a:pt x="1088263" y="1178941"/>
                  </a:lnTo>
                  <a:lnTo>
                    <a:pt x="1088263" y="1858276"/>
                  </a:lnTo>
                  <a:lnTo>
                    <a:pt x="1107313" y="1858276"/>
                  </a:lnTo>
                  <a:lnTo>
                    <a:pt x="1107313" y="1178941"/>
                  </a:lnTo>
                  <a:lnTo>
                    <a:pt x="1136650" y="1229233"/>
                  </a:lnTo>
                  <a:lnTo>
                    <a:pt x="1142492" y="1230757"/>
                  </a:lnTo>
                  <a:lnTo>
                    <a:pt x="1151636" y="1225423"/>
                  </a:lnTo>
                  <a:lnTo>
                    <a:pt x="1153160" y="1219581"/>
                  </a:lnTo>
                  <a:close/>
                </a:path>
                <a:path w="3320415" h="1858645">
                  <a:moveTo>
                    <a:pt x="1731137" y="94996"/>
                  </a:moveTo>
                  <a:lnTo>
                    <a:pt x="1728470" y="90551"/>
                  </a:lnTo>
                  <a:lnTo>
                    <a:pt x="1686979" y="18923"/>
                  </a:lnTo>
                  <a:lnTo>
                    <a:pt x="1676019" y="0"/>
                  </a:lnTo>
                  <a:lnTo>
                    <a:pt x="1623060" y="90170"/>
                  </a:lnTo>
                  <a:lnTo>
                    <a:pt x="1620393" y="94742"/>
                  </a:lnTo>
                  <a:lnTo>
                    <a:pt x="1621917" y="100584"/>
                  </a:lnTo>
                  <a:lnTo>
                    <a:pt x="1631061" y="105918"/>
                  </a:lnTo>
                  <a:lnTo>
                    <a:pt x="1636903" y="104394"/>
                  </a:lnTo>
                  <a:lnTo>
                    <a:pt x="1666379" y="54063"/>
                  </a:lnTo>
                  <a:lnTo>
                    <a:pt x="1664335" y="764159"/>
                  </a:lnTo>
                  <a:lnTo>
                    <a:pt x="1683385" y="764159"/>
                  </a:lnTo>
                  <a:lnTo>
                    <a:pt x="1685290" y="106172"/>
                  </a:lnTo>
                  <a:lnTo>
                    <a:pt x="1685328" y="90170"/>
                  </a:lnTo>
                  <a:lnTo>
                    <a:pt x="1685429" y="54279"/>
                  </a:lnTo>
                  <a:lnTo>
                    <a:pt x="1711960" y="100076"/>
                  </a:lnTo>
                  <a:lnTo>
                    <a:pt x="1714627" y="104648"/>
                  </a:lnTo>
                  <a:lnTo>
                    <a:pt x="1720469" y="106172"/>
                  </a:lnTo>
                  <a:lnTo>
                    <a:pt x="1725041" y="103505"/>
                  </a:lnTo>
                  <a:lnTo>
                    <a:pt x="1729486" y="100838"/>
                  </a:lnTo>
                  <a:lnTo>
                    <a:pt x="1731137" y="94996"/>
                  </a:lnTo>
                  <a:close/>
                </a:path>
                <a:path w="3320415" h="1858645">
                  <a:moveTo>
                    <a:pt x="2259584" y="1219581"/>
                  </a:moveTo>
                  <a:lnTo>
                    <a:pt x="2215248" y="1143635"/>
                  </a:lnTo>
                  <a:lnTo>
                    <a:pt x="2204212" y="1124712"/>
                  </a:lnTo>
                  <a:lnTo>
                    <a:pt x="2148840" y="1219581"/>
                  </a:lnTo>
                  <a:lnTo>
                    <a:pt x="2150364" y="1225423"/>
                  </a:lnTo>
                  <a:lnTo>
                    <a:pt x="2159508" y="1230757"/>
                  </a:lnTo>
                  <a:lnTo>
                    <a:pt x="2165350" y="1229233"/>
                  </a:lnTo>
                  <a:lnTo>
                    <a:pt x="2194687" y="1178941"/>
                  </a:lnTo>
                  <a:lnTo>
                    <a:pt x="2194687" y="1858276"/>
                  </a:lnTo>
                  <a:lnTo>
                    <a:pt x="2213737" y="1858276"/>
                  </a:lnTo>
                  <a:lnTo>
                    <a:pt x="2213737" y="1178941"/>
                  </a:lnTo>
                  <a:lnTo>
                    <a:pt x="2243074" y="1229233"/>
                  </a:lnTo>
                  <a:lnTo>
                    <a:pt x="2248916" y="1230757"/>
                  </a:lnTo>
                  <a:lnTo>
                    <a:pt x="2258060" y="1225423"/>
                  </a:lnTo>
                  <a:lnTo>
                    <a:pt x="2259584" y="1219581"/>
                  </a:lnTo>
                  <a:close/>
                </a:path>
                <a:path w="3320415" h="1858645">
                  <a:moveTo>
                    <a:pt x="3320288" y="1219581"/>
                  </a:moveTo>
                  <a:lnTo>
                    <a:pt x="3275952" y="1143635"/>
                  </a:lnTo>
                  <a:lnTo>
                    <a:pt x="3264916" y="1124712"/>
                  </a:lnTo>
                  <a:lnTo>
                    <a:pt x="3209544" y="1219581"/>
                  </a:lnTo>
                  <a:lnTo>
                    <a:pt x="3211068" y="1225423"/>
                  </a:lnTo>
                  <a:lnTo>
                    <a:pt x="3220212" y="1230757"/>
                  </a:lnTo>
                  <a:lnTo>
                    <a:pt x="3226054" y="1229233"/>
                  </a:lnTo>
                  <a:lnTo>
                    <a:pt x="3255391" y="1178941"/>
                  </a:lnTo>
                  <a:lnTo>
                    <a:pt x="3255391" y="1858276"/>
                  </a:lnTo>
                  <a:lnTo>
                    <a:pt x="3274441" y="1858276"/>
                  </a:lnTo>
                  <a:lnTo>
                    <a:pt x="3274441" y="1178941"/>
                  </a:lnTo>
                  <a:lnTo>
                    <a:pt x="3303778" y="1229233"/>
                  </a:lnTo>
                  <a:lnTo>
                    <a:pt x="3309620" y="1230757"/>
                  </a:lnTo>
                  <a:lnTo>
                    <a:pt x="3318764" y="1225423"/>
                  </a:lnTo>
                  <a:lnTo>
                    <a:pt x="3320288" y="121958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0458" y="3474338"/>
              <a:ext cx="156210" cy="16535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0770" y="3474338"/>
              <a:ext cx="156209" cy="16535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1938" y="3474338"/>
              <a:ext cx="156209" cy="16535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42250" y="3474338"/>
              <a:ext cx="156209" cy="16535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629399" y="3383280"/>
              <a:ext cx="2624455" cy="365760"/>
            </a:xfrm>
            <a:custGeom>
              <a:avLst/>
              <a:gdLst/>
              <a:ahLst/>
              <a:cxnLst/>
              <a:rect l="l" t="t" r="r" b="b"/>
              <a:pathLst>
                <a:path w="2624454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2563368" y="0"/>
                  </a:lnTo>
                  <a:lnTo>
                    <a:pt x="2587091" y="4792"/>
                  </a:lnTo>
                  <a:lnTo>
                    <a:pt x="2606468" y="17859"/>
                  </a:lnTo>
                  <a:lnTo>
                    <a:pt x="2619535" y="37236"/>
                  </a:lnTo>
                  <a:lnTo>
                    <a:pt x="2624328" y="60960"/>
                  </a:lnTo>
                  <a:lnTo>
                    <a:pt x="2624328" y="304800"/>
                  </a:lnTo>
                  <a:lnTo>
                    <a:pt x="2619535" y="328523"/>
                  </a:lnTo>
                  <a:lnTo>
                    <a:pt x="2606468" y="347900"/>
                  </a:lnTo>
                  <a:lnTo>
                    <a:pt x="2587091" y="360967"/>
                  </a:lnTo>
                  <a:lnTo>
                    <a:pt x="2563368" y="365760"/>
                  </a:lnTo>
                  <a:lnTo>
                    <a:pt x="60959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19050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52562" y="3474338"/>
              <a:ext cx="156209" cy="16535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3730" y="3474338"/>
              <a:ext cx="156210" cy="16535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64042" y="3474338"/>
              <a:ext cx="156209" cy="16535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4354" y="3474338"/>
              <a:ext cx="156210" cy="16535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75522" y="3474338"/>
              <a:ext cx="156209" cy="16535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85834" y="3474338"/>
              <a:ext cx="156210" cy="16535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6146" y="3474338"/>
              <a:ext cx="156209" cy="16535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7314" y="3474338"/>
              <a:ext cx="156209" cy="16535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73567" y="4005072"/>
              <a:ext cx="347472" cy="27431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890763" y="2596769"/>
              <a:ext cx="111125" cy="784860"/>
            </a:xfrm>
            <a:custGeom>
              <a:avLst/>
              <a:gdLst/>
              <a:ahLst/>
              <a:cxnLst/>
              <a:rect l="l" t="t" r="r" b="b"/>
              <a:pathLst>
                <a:path w="111125" h="784860">
                  <a:moveTo>
                    <a:pt x="55372" y="37900"/>
                  </a:moveTo>
                  <a:lnTo>
                    <a:pt x="45846" y="54229"/>
                  </a:lnTo>
                  <a:lnTo>
                    <a:pt x="45846" y="784478"/>
                  </a:lnTo>
                  <a:lnTo>
                    <a:pt x="64896" y="784478"/>
                  </a:lnTo>
                  <a:lnTo>
                    <a:pt x="64896" y="54229"/>
                  </a:lnTo>
                  <a:lnTo>
                    <a:pt x="55372" y="37900"/>
                  </a:lnTo>
                  <a:close/>
                </a:path>
                <a:path w="111125" h="784860">
                  <a:moveTo>
                    <a:pt x="55371" y="0"/>
                  </a:moveTo>
                  <a:lnTo>
                    <a:pt x="0" y="94868"/>
                  </a:lnTo>
                  <a:lnTo>
                    <a:pt x="1524" y="100710"/>
                  </a:lnTo>
                  <a:lnTo>
                    <a:pt x="10667" y="106044"/>
                  </a:lnTo>
                  <a:lnTo>
                    <a:pt x="16509" y="104520"/>
                  </a:lnTo>
                  <a:lnTo>
                    <a:pt x="45846" y="54229"/>
                  </a:lnTo>
                  <a:lnTo>
                    <a:pt x="45846" y="18922"/>
                  </a:lnTo>
                  <a:lnTo>
                    <a:pt x="66417" y="18922"/>
                  </a:lnTo>
                  <a:lnTo>
                    <a:pt x="55371" y="0"/>
                  </a:lnTo>
                  <a:close/>
                </a:path>
                <a:path w="111125" h="784860">
                  <a:moveTo>
                    <a:pt x="66417" y="18922"/>
                  </a:moveTo>
                  <a:lnTo>
                    <a:pt x="64896" y="18922"/>
                  </a:lnTo>
                  <a:lnTo>
                    <a:pt x="64897" y="54229"/>
                  </a:lnTo>
                  <a:lnTo>
                    <a:pt x="94233" y="104520"/>
                  </a:lnTo>
                  <a:lnTo>
                    <a:pt x="100075" y="106044"/>
                  </a:lnTo>
                  <a:lnTo>
                    <a:pt x="109219" y="100710"/>
                  </a:lnTo>
                  <a:lnTo>
                    <a:pt x="110743" y="94868"/>
                  </a:lnTo>
                  <a:lnTo>
                    <a:pt x="66417" y="18922"/>
                  </a:lnTo>
                  <a:close/>
                </a:path>
                <a:path w="111125" h="784860">
                  <a:moveTo>
                    <a:pt x="64896" y="18922"/>
                  </a:moveTo>
                  <a:lnTo>
                    <a:pt x="45846" y="18922"/>
                  </a:lnTo>
                  <a:lnTo>
                    <a:pt x="45846" y="54229"/>
                  </a:lnTo>
                  <a:lnTo>
                    <a:pt x="55371" y="37900"/>
                  </a:lnTo>
                  <a:lnTo>
                    <a:pt x="47116" y="23748"/>
                  </a:lnTo>
                  <a:lnTo>
                    <a:pt x="64896" y="23748"/>
                  </a:lnTo>
                  <a:lnTo>
                    <a:pt x="64896" y="18922"/>
                  </a:lnTo>
                  <a:close/>
                </a:path>
                <a:path w="111125" h="784860">
                  <a:moveTo>
                    <a:pt x="64896" y="23748"/>
                  </a:moveTo>
                  <a:lnTo>
                    <a:pt x="63626" y="23748"/>
                  </a:lnTo>
                  <a:lnTo>
                    <a:pt x="55372" y="37900"/>
                  </a:lnTo>
                  <a:lnTo>
                    <a:pt x="64897" y="54229"/>
                  </a:lnTo>
                  <a:lnTo>
                    <a:pt x="64896" y="23748"/>
                  </a:lnTo>
                  <a:close/>
                </a:path>
                <a:path w="111125" h="784860">
                  <a:moveTo>
                    <a:pt x="63626" y="23748"/>
                  </a:moveTo>
                  <a:lnTo>
                    <a:pt x="47116" y="23748"/>
                  </a:lnTo>
                  <a:lnTo>
                    <a:pt x="55372" y="37900"/>
                  </a:lnTo>
                  <a:lnTo>
                    <a:pt x="63626" y="2374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91855" y="2871216"/>
              <a:ext cx="237744" cy="237743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88651" y="4684579"/>
            <a:ext cx="2468879" cy="300178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1876679" y="5567972"/>
            <a:ext cx="250380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libri"/>
                <a:cs typeface="Calibri"/>
              </a:rPr>
              <a:t>words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one-hot</a:t>
            </a:r>
            <a:r>
              <a:rPr sz="2000" spc="-10" dirty="0">
                <a:latin typeface="Calibri"/>
                <a:cs typeface="Calibri"/>
              </a:rPr>
              <a:t> vectors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3" name="object 7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99047" y="5916104"/>
            <a:ext cx="448055" cy="320040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17735" y="5916104"/>
            <a:ext cx="420624" cy="32004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29600" y="5916104"/>
            <a:ext cx="448055" cy="320040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32319" y="5916104"/>
            <a:ext cx="466344" cy="32004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47088" y="5897816"/>
            <a:ext cx="2157984" cy="347471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1910714" y="3244151"/>
            <a:ext cx="1174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1515"/>
                </a:solidFill>
                <a:latin typeface="Calibri"/>
                <a:cs typeface="Calibri"/>
              </a:rPr>
              <a:t>hidden</a:t>
            </a:r>
            <a:r>
              <a:rPr sz="1800" spc="-3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8B1515"/>
                </a:solidFill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9" name="object 7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28800" y="3520440"/>
            <a:ext cx="2103120" cy="374904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7158101" y="2455608"/>
            <a:ext cx="10922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50" dirty="0">
                <a:solidFill>
                  <a:srgbClr val="175E53"/>
                </a:solidFill>
                <a:latin typeface="Calibri"/>
                <a:cs typeface="Calibri"/>
              </a:rPr>
              <a:t>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664956" y="2459291"/>
            <a:ext cx="27305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25" dirty="0">
                <a:solidFill>
                  <a:srgbClr val="175E53"/>
                </a:solidFill>
                <a:latin typeface="Calibri"/>
                <a:cs typeface="Calibri"/>
              </a:rPr>
              <a:t>zoo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861185" y="1721802"/>
            <a:ext cx="1790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output</a:t>
            </a:r>
            <a:r>
              <a:rPr sz="1800" spc="-5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75E53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3" name="object 8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53701" y="2102288"/>
            <a:ext cx="3316032" cy="324196"/>
          </a:xfrm>
          <a:prstGeom prst="rect">
            <a:avLst/>
          </a:prstGeom>
        </p:spPr>
      </p:pic>
      <p:sp>
        <p:nvSpPr>
          <p:cNvPr id="84" name="object 8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spc="75" dirty="0"/>
              <a:t> </a:t>
            </a:r>
            <a:r>
              <a:rPr dirty="0"/>
              <a:t>fixed-window</a:t>
            </a:r>
            <a:r>
              <a:rPr spc="80" dirty="0"/>
              <a:t> </a:t>
            </a:r>
            <a:r>
              <a:rPr dirty="0"/>
              <a:t>neural</a:t>
            </a:r>
            <a:r>
              <a:rPr spc="155" dirty="0"/>
              <a:t> </a:t>
            </a:r>
            <a:r>
              <a:rPr dirty="0"/>
              <a:t>Language</a:t>
            </a:r>
            <a:r>
              <a:rPr spc="55" dirty="0"/>
              <a:t> </a:t>
            </a:r>
            <a:r>
              <a:rPr spc="-10" dirty="0"/>
              <a:t>Model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876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9233" y="5798146"/>
            <a:ext cx="1669414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79780" algn="l"/>
              </a:tabLst>
            </a:pPr>
            <a:r>
              <a:rPr sz="2000" i="1" spc="-25" dirty="0">
                <a:latin typeface="Calibri"/>
                <a:cs typeface="Calibri"/>
              </a:rPr>
              <a:t>the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students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3251" y="5798146"/>
            <a:ext cx="78803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-10" dirty="0">
                <a:latin typeface="Calibri"/>
                <a:cs typeface="Calibri"/>
              </a:rPr>
              <a:t>opened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19435" y="5798146"/>
            <a:ext cx="50673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-10" dirty="0">
                <a:latin typeface="Calibri"/>
                <a:cs typeface="Calibri"/>
              </a:rPr>
              <a:t>their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5014" y="1503616"/>
            <a:ext cx="55880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i="1" spc="-10" dirty="0">
                <a:solidFill>
                  <a:srgbClr val="175E53"/>
                </a:solidFill>
                <a:latin typeface="Calibri"/>
                <a:cs typeface="Calibri"/>
              </a:rPr>
              <a:t>laptops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882128" y="1549908"/>
            <a:ext cx="2099945" cy="1122045"/>
            <a:chOff x="7882128" y="1549908"/>
            <a:chExt cx="2099945" cy="1122045"/>
          </a:xfrm>
        </p:grpSpPr>
        <p:sp>
          <p:nvSpPr>
            <p:cNvPr id="7" name="object 7"/>
            <p:cNvSpPr/>
            <p:nvPr/>
          </p:nvSpPr>
          <p:spPr>
            <a:xfrm>
              <a:off x="8260461" y="1549908"/>
              <a:ext cx="76200" cy="288925"/>
            </a:xfrm>
            <a:custGeom>
              <a:avLst/>
              <a:gdLst/>
              <a:ahLst/>
              <a:cxnLst/>
              <a:rect l="l" t="t" r="r" b="b"/>
              <a:pathLst>
                <a:path w="76200" h="288925">
                  <a:moveTo>
                    <a:pt x="31728" y="212725"/>
                  </a:moveTo>
                  <a:lnTo>
                    <a:pt x="0" y="212725"/>
                  </a:lnTo>
                  <a:lnTo>
                    <a:pt x="38227" y="288925"/>
                  </a:lnTo>
                  <a:lnTo>
                    <a:pt x="69818" y="225425"/>
                  </a:lnTo>
                  <a:lnTo>
                    <a:pt x="31750" y="225425"/>
                  </a:lnTo>
                  <a:lnTo>
                    <a:pt x="31728" y="212725"/>
                  </a:lnTo>
                  <a:close/>
                </a:path>
                <a:path w="76200" h="288925">
                  <a:moveTo>
                    <a:pt x="44069" y="0"/>
                  </a:moveTo>
                  <a:lnTo>
                    <a:pt x="31369" y="0"/>
                  </a:lnTo>
                  <a:lnTo>
                    <a:pt x="31728" y="212725"/>
                  </a:lnTo>
                  <a:lnTo>
                    <a:pt x="31750" y="225425"/>
                  </a:lnTo>
                  <a:lnTo>
                    <a:pt x="44450" y="225425"/>
                  </a:lnTo>
                  <a:lnTo>
                    <a:pt x="44069" y="0"/>
                  </a:lnTo>
                  <a:close/>
                </a:path>
                <a:path w="76200" h="288925">
                  <a:moveTo>
                    <a:pt x="76136" y="212725"/>
                  </a:moveTo>
                  <a:lnTo>
                    <a:pt x="44428" y="212725"/>
                  </a:lnTo>
                  <a:lnTo>
                    <a:pt x="44450" y="225425"/>
                  </a:lnTo>
                  <a:lnTo>
                    <a:pt x="69818" y="225425"/>
                  </a:lnTo>
                  <a:lnTo>
                    <a:pt x="76136" y="212725"/>
                  </a:lnTo>
                  <a:close/>
                </a:path>
              </a:pathLst>
            </a:custGeom>
            <a:solidFill>
              <a:srgbClr val="175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0472" y="1787652"/>
              <a:ext cx="76200" cy="2292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882128" y="2542032"/>
              <a:ext cx="2099945" cy="0"/>
            </a:xfrm>
            <a:custGeom>
              <a:avLst/>
              <a:gdLst/>
              <a:ahLst/>
              <a:cxnLst/>
              <a:rect l="l" t="t" r="r" b="b"/>
              <a:pathLst>
                <a:path w="2099945">
                  <a:moveTo>
                    <a:pt x="0" y="0"/>
                  </a:moveTo>
                  <a:lnTo>
                    <a:pt x="2099945" y="0"/>
                  </a:lnTo>
                </a:path>
              </a:pathLst>
            </a:custGeom>
            <a:ln w="19050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78724" y="2464309"/>
              <a:ext cx="146685" cy="82550"/>
            </a:xfrm>
            <a:custGeom>
              <a:avLst/>
              <a:gdLst/>
              <a:ahLst/>
              <a:cxnLst/>
              <a:rect l="l" t="t" r="r" b="b"/>
              <a:pathLst>
                <a:path w="146684" h="82550">
                  <a:moveTo>
                    <a:pt x="146303" y="0"/>
                  </a:moveTo>
                  <a:lnTo>
                    <a:pt x="0" y="0"/>
                  </a:lnTo>
                  <a:lnTo>
                    <a:pt x="0" y="82294"/>
                  </a:lnTo>
                  <a:lnTo>
                    <a:pt x="146303" y="82294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78724" y="2464309"/>
              <a:ext cx="146685" cy="82550"/>
            </a:xfrm>
            <a:custGeom>
              <a:avLst/>
              <a:gdLst/>
              <a:ahLst/>
              <a:cxnLst/>
              <a:rect l="l" t="t" r="r" b="b"/>
              <a:pathLst>
                <a:path w="146684" h="82550">
                  <a:moveTo>
                    <a:pt x="0" y="82294"/>
                  </a:moveTo>
                  <a:lnTo>
                    <a:pt x="146303" y="82294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82294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5028" y="1842528"/>
              <a:ext cx="146685" cy="704215"/>
            </a:xfrm>
            <a:custGeom>
              <a:avLst/>
              <a:gdLst/>
              <a:ahLst/>
              <a:cxnLst/>
              <a:rect l="l" t="t" r="r" b="b"/>
              <a:pathLst>
                <a:path w="146684" h="704214">
                  <a:moveTo>
                    <a:pt x="146303" y="0"/>
                  </a:moveTo>
                  <a:lnTo>
                    <a:pt x="0" y="0"/>
                  </a:lnTo>
                  <a:lnTo>
                    <a:pt x="0" y="704075"/>
                  </a:lnTo>
                  <a:lnTo>
                    <a:pt x="146303" y="704075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25028" y="1842528"/>
              <a:ext cx="146685" cy="704215"/>
            </a:xfrm>
            <a:custGeom>
              <a:avLst/>
              <a:gdLst/>
              <a:ahLst/>
              <a:cxnLst/>
              <a:rect l="l" t="t" r="r" b="b"/>
              <a:pathLst>
                <a:path w="146684" h="704214">
                  <a:moveTo>
                    <a:pt x="0" y="704075"/>
                  </a:moveTo>
                  <a:lnTo>
                    <a:pt x="146303" y="704075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704075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71332" y="2363724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59" h="182880">
                  <a:moveTo>
                    <a:pt x="137159" y="0"/>
                  </a:moveTo>
                  <a:lnTo>
                    <a:pt x="0" y="0"/>
                  </a:lnTo>
                  <a:lnTo>
                    <a:pt x="0" y="182879"/>
                  </a:lnTo>
                  <a:lnTo>
                    <a:pt x="137159" y="18287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71332" y="2363724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59" h="182880">
                  <a:moveTo>
                    <a:pt x="0" y="182879"/>
                  </a:moveTo>
                  <a:lnTo>
                    <a:pt x="137159" y="182879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182879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08492" y="2253995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146303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146303" y="292608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08492" y="2253995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0" y="292608"/>
                  </a:moveTo>
                  <a:lnTo>
                    <a:pt x="146303" y="292608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54796" y="2464309"/>
              <a:ext cx="137160" cy="82550"/>
            </a:xfrm>
            <a:custGeom>
              <a:avLst/>
              <a:gdLst/>
              <a:ahLst/>
              <a:cxnLst/>
              <a:rect l="l" t="t" r="r" b="b"/>
              <a:pathLst>
                <a:path w="137159" h="82550">
                  <a:moveTo>
                    <a:pt x="137159" y="0"/>
                  </a:moveTo>
                  <a:lnTo>
                    <a:pt x="0" y="0"/>
                  </a:lnTo>
                  <a:lnTo>
                    <a:pt x="0" y="82294"/>
                  </a:lnTo>
                  <a:lnTo>
                    <a:pt x="137159" y="82294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54796" y="2464309"/>
              <a:ext cx="137160" cy="82550"/>
            </a:xfrm>
            <a:custGeom>
              <a:avLst/>
              <a:gdLst/>
              <a:ahLst/>
              <a:cxnLst/>
              <a:rect l="l" t="t" r="r" b="b"/>
              <a:pathLst>
                <a:path w="137159" h="82550">
                  <a:moveTo>
                    <a:pt x="0" y="82294"/>
                  </a:moveTo>
                  <a:lnTo>
                    <a:pt x="137159" y="82294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82294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91956" y="2235708"/>
              <a:ext cx="146685" cy="311150"/>
            </a:xfrm>
            <a:custGeom>
              <a:avLst/>
              <a:gdLst/>
              <a:ahLst/>
              <a:cxnLst/>
              <a:rect l="l" t="t" r="r" b="b"/>
              <a:pathLst>
                <a:path w="146684" h="311150">
                  <a:moveTo>
                    <a:pt x="146303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146303" y="310896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91956" y="2235708"/>
              <a:ext cx="146685" cy="311150"/>
            </a:xfrm>
            <a:custGeom>
              <a:avLst/>
              <a:gdLst/>
              <a:ahLst/>
              <a:cxnLst/>
              <a:rect l="l" t="t" r="r" b="b"/>
              <a:pathLst>
                <a:path w="146684" h="311150">
                  <a:moveTo>
                    <a:pt x="0" y="310896"/>
                  </a:moveTo>
                  <a:lnTo>
                    <a:pt x="146303" y="310896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310896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38260" y="2253995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146303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146303" y="292608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938260" y="2253995"/>
              <a:ext cx="146685" cy="292735"/>
            </a:xfrm>
            <a:custGeom>
              <a:avLst/>
              <a:gdLst/>
              <a:ahLst/>
              <a:cxnLst/>
              <a:rect l="l" t="t" r="r" b="b"/>
              <a:pathLst>
                <a:path w="146684" h="292735">
                  <a:moveTo>
                    <a:pt x="0" y="292608"/>
                  </a:moveTo>
                  <a:lnTo>
                    <a:pt x="146303" y="292608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84564" y="2016252"/>
              <a:ext cx="137160" cy="530860"/>
            </a:xfrm>
            <a:custGeom>
              <a:avLst/>
              <a:gdLst/>
              <a:ahLst/>
              <a:cxnLst/>
              <a:rect l="l" t="t" r="r" b="b"/>
              <a:pathLst>
                <a:path w="137159" h="530860">
                  <a:moveTo>
                    <a:pt x="137159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37159" y="530351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84564" y="2016252"/>
              <a:ext cx="137160" cy="530860"/>
            </a:xfrm>
            <a:custGeom>
              <a:avLst/>
              <a:gdLst/>
              <a:ahLst/>
              <a:cxnLst/>
              <a:rect l="l" t="t" r="r" b="b"/>
              <a:pathLst>
                <a:path w="137159" h="530860">
                  <a:moveTo>
                    <a:pt x="0" y="530351"/>
                  </a:moveTo>
                  <a:lnTo>
                    <a:pt x="137159" y="530351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530351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21724" y="2418588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69">
                  <a:moveTo>
                    <a:pt x="146303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146303" y="128015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21724" y="2418588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69">
                  <a:moveTo>
                    <a:pt x="0" y="128015"/>
                  </a:moveTo>
                  <a:lnTo>
                    <a:pt x="146303" y="128015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128015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68028" y="2308859"/>
              <a:ext cx="137160" cy="238125"/>
            </a:xfrm>
            <a:custGeom>
              <a:avLst/>
              <a:gdLst/>
              <a:ahLst/>
              <a:cxnLst/>
              <a:rect l="l" t="t" r="r" b="b"/>
              <a:pathLst>
                <a:path w="137159" h="238125">
                  <a:moveTo>
                    <a:pt x="137159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37159" y="237744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68028" y="2308859"/>
              <a:ext cx="137160" cy="238125"/>
            </a:xfrm>
            <a:custGeom>
              <a:avLst/>
              <a:gdLst/>
              <a:ahLst/>
              <a:cxnLst/>
              <a:rect l="l" t="t" r="r" b="b"/>
              <a:pathLst>
                <a:path w="137159" h="238125">
                  <a:moveTo>
                    <a:pt x="0" y="237744"/>
                  </a:moveTo>
                  <a:lnTo>
                    <a:pt x="137159" y="237744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505188" y="2226563"/>
              <a:ext cx="146685" cy="320040"/>
            </a:xfrm>
            <a:custGeom>
              <a:avLst/>
              <a:gdLst/>
              <a:ahLst/>
              <a:cxnLst/>
              <a:rect l="l" t="t" r="r" b="b"/>
              <a:pathLst>
                <a:path w="146684" h="320039">
                  <a:moveTo>
                    <a:pt x="146303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146303" y="320039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505188" y="2226563"/>
              <a:ext cx="146685" cy="320040"/>
            </a:xfrm>
            <a:custGeom>
              <a:avLst/>
              <a:gdLst/>
              <a:ahLst/>
              <a:cxnLst/>
              <a:rect l="l" t="t" r="r" b="b"/>
              <a:pathLst>
                <a:path w="146684" h="320039">
                  <a:moveTo>
                    <a:pt x="0" y="320039"/>
                  </a:moveTo>
                  <a:lnTo>
                    <a:pt x="146303" y="320039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51492" y="2491741"/>
              <a:ext cx="146685" cy="55244"/>
            </a:xfrm>
            <a:custGeom>
              <a:avLst/>
              <a:gdLst/>
              <a:ahLst/>
              <a:cxnLst/>
              <a:rect l="l" t="t" r="r" b="b"/>
              <a:pathLst>
                <a:path w="146684" h="55244">
                  <a:moveTo>
                    <a:pt x="146303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46303" y="54862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651492" y="2491741"/>
              <a:ext cx="146685" cy="55244"/>
            </a:xfrm>
            <a:custGeom>
              <a:avLst/>
              <a:gdLst/>
              <a:ahLst/>
              <a:cxnLst/>
              <a:rect l="l" t="t" r="r" b="b"/>
              <a:pathLst>
                <a:path w="146684" h="55244">
                  <a:moveTo>
                    <a:pt x="0" y="54862"/>
                  </a:moveTo>
                  <a:lnTo>
                    <a:pt x="146303" y="54862"/>
                  </a:lnTo>
                  <a:lnTo>
                    <a:pt x="146303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9525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74152" y="2595372"/>
              <a:ext cx="1713230" cy="76200"/>
            </a:xfrm>
            <a:custGeom>
              <a:avLst/>
              <a:gdLst/>
              <a:ahLst/>
              <a:cxnLst/>
              <a:rect l="l" t="t" r="r" b="b"/>
              <a:pathLst>
                <a:path w="17132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1713229" h="76200">
                  <a:moveTo>
                    <a:pt x="1636649" y="0"/>
                  </a:moveTo>
                  <a:lnTo>
                    <a:pt x="1636649" y="76200"/>
                  </a:lnTo>
                  <a:lnTo>
                    <a:pt x="1693799" y="47625"/>
                  </a:lnTo>
                  <a:lnTo>
                    <a:pt x="1649349" y="47625"/>
                  </a:lnTo>
                  <a:lnTo>
                    <a:pt x="1649349" y="28575"/>
                  </a:lnTo>
                  <a:lnTo>
                    <a:pt x="1693799" y="28575"/>
                  </a:lnTo>
                  <a:lnTo>
                    <a:pt x="1636649" y="0"/>
                  </a:lnTo>
                  <a:close/>
                </a:path>
                <a:path w="1713229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1713229" h="76200">
                  <a:moveTo>
                    <a:pt x="1636649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1636649" y="47625"/>
                  </a:lnTo>
                  <a:lnTo>
                    <a:pt x="1636649" y="28575"/>
                  </a:lnTo>
                  <a:close/>
                </a:path>
                <a:path w="1713229" h="76200">
                  <a:moveTo>
                    <a:pt x="1693799" y="28575"/>
                  </a:moveTo>
                  <a:lnTo>
                    <a:pt x="1649349" y="28575"/>
                  </a:lnTo>
                  <a:lnTo>
                    <a:pt x="1649349" y="47625"/>
                  </a:lnTo>
                  <a:lnTo>
                    <a:pt x="1693799" y="47625"/>
                  </a:lnTo>
                  <a:lnTo>
                    <a:pt x="1712849" y="38100"/>
                  </a:lnTo>
                  <a:lnTo>
                    <a:pt x="1693799" y="28575"/>
                  </a:lnTo>
                  <a:close/>
                </a:path>
              </a:pathLst>
            </a:custGeom>
            <a:solidFill>
              <a:srgbClr val="175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766179" y="2761360"/>
            <a:ext cx="4216400" cy="3010535"/>
            <a:chOff x="6766179" y="2761360"/>
            <a:chExt cx="4216400" cy="3010535"/>
          </a:xfrm>
        </p:grpSpPr>
        <p:sp>
          <p:nvSpPr>
            <p:cNvPr id="36" name="object 36"/>
            <p:cNvSpPr/>
            <p:nvPr/>
          </p:nvSpPr>
          <p:spPr>
            <a:xfrm>
              <a:off x="8816213" y="3913504"/>
              <a:ext cx="111125" cy="764540"/>
            </a:xfrm>
            <a:custGeom>
              <a:avLst/>
              <a:gdLst/>
              <a:ahLst/>
              <a:cxnLst/>
              <a:rect l="l" t="t" r="r" b="b"/>
              <a:pathLst>
                <a:path w="111125" h="764539">
                  <a:moveTo>
                    <a:pt x="55514" y="37813"/>
                  </a:moveTo>
                  <a:lnTo>
                    <a:pt x="45999" y="54056"/>
                  </a:lnTo>
                  <a:lnTo>
                    <a:pt x="43941" y="764159"/>
                  </a:lnTo>
                  <a:lnTo>
                    <a:pt x="62991" y="764159"/>
                  </a:lnTo>
                  <a:lnTo>
                    <a:pt x="64898" y="106172"/>
                  </a:lnTo>
                  <a:lnTo>
                    <a:pt x="64944" y="90170"/>
                  </a:lnTo>
                  <a:lnTo>
                    <a:pt x="65048" y="54278"/>
                  </a:lnTo>
                  <a:lnTo>
                    <a:pt x="55514" y="37813"/>
                  </a:lnTo>
                  <a:close/>
                </a:path>
                <a:path w="111125" h="764539">
                  <a:moveTo>
                    <a:pt x="66587" y="18923"/>
                  </a:moveTo>
                  <a:lnTo>
                    <a:pt x="65150" y="18923"/>
                  </a:lnTo>
                  <a:lnTo>
                    <a:pt x="65048" y="54278"/>
                  </a:lnTo>
                  <a:lnTo>
                    <a:pt x="91566" y="100076"/>
                  </a:lnTo>
                  <a:lnTo>
                    <a:pt x="94233" y="104648"/>
                  </a:lnTo>
                  <a:lnTo>
                    <a:pt x="100075" y="106172"/>
                  </a:lnTo>
                  <a:lnTo>
                    <a:pt x="104647" y="103505"/>
                  </a:lnTo>
                  <a:lnTo>
                    <a:pt x="109092" y="100838"/>
                  </a:lnTo>
                  <a:lnTo>
                    <a:pt x="110743" y="94996"/>
                  </a:lnTo>
                  <a:lnTo>
                    <a:pt x="108076" y="90551"/>
                  </a:lnTo>
                  <a:lnTo>
                    <a:pt x="66587" y="18923"/>
                  </a:lnTo>
                  <a:close/>
                </a:path>
                <a:path w="111125" h="764539">
                  <a:moveTo>
                    <a:pt x="55625" y="0"/>
                  </a:moveTo>
                  <a:lnTo>
                    <a:pt x="2666" y="90170"/>
                  </a:lnTo>
                  <a:lnTo>
                    <a:pt x="0" y="94742"/>
                  </a:lnTo>
                  <a:lnTo>
                    <a:pt x="1523" y="100584"/>
                  </a:lnTo>
                  <a:lnTo>
                    <a:pt x="10667" y="105918"/>
                  </a:lnTo>
                  <a:lnTo>
                    <a:pt x="16509" y="104394"/>
                  </a:lnTo>
                  <a:lnTo>
                    <a:pt x="45999" y="54056"/>
                  </a:lnTo>
                  <a:lnTo>
                    <a:pt x="46100" y="18923"/>
                  </a:lnTo>
                  <a:lnTo>
                    <a:pt x="66587" y="18923"/>
                  </a:lnTo>
                  <a:lnTo>
                    <a:pt x="55625" y="0"/>
                  </a:lnTo>
                  <a:close/>
                </a:path>
                <a:path w="111125" h="764539">
                  <a:moveTo>
                    <a:pt x="65137" y="23749"/>
                  </a:moveTo>
                  <a:lnTo>
                    <a:pt x="63753" y="23749"/>
                  </a:lnTo>
                  <a:lnTo>
                    <a:pt x="55514" y="37813"/>
                  </a:lnTo>
                  <a:lnTo>
                    <a:pt x="65048" y="54278"/>
                  </a:lnTo>
                  <a:lnTo>
                    <a:pt x="65137" y="23749"/>
                  </a:lnTo>
                  <a:close/>
                </a:path>
                <a:path w="111125" h="764539">
                  <a:moveTo>
                    <a:pt x="65150" y="18923"/>
                  </a:moveTo>
                  <a:lnTo>
                    <a:pt x="46100" y="18923"/>
                  </a:lnTo>
                  <a:lnTo>
                    <a:pt x="45999" y="54056"/>
                  </a:lnTo>
                  <a:lnTo>
                    <a:pt x="55514" y="37813"/>
                  </a:lnTo>
                  <a:lnTo>
                    <a:pt x="47370" y="23749"/>
                  </a:lnTo>
                  <a:lnTo>
                    <a:pt x="65137" y="23749"/>
                  </a:lnTo>
                  <a:lnTo>
                    <a:pt x="65150" y="18923"/>
                  </a:lnTo>
                  <a:close/>
                </a:path>
                <a:path w="111125" h="764539">
                  <a:moveTo>
                    <a:pt x="63753" y="23749"/>
                  </a:moveTo>
                  <a:lnTo>
                    <a:pt x="47370" y="23749"/>
                  </a:lnTo>
                  <a:lnTo>
                    <a:pt x="55514" y="37813"/>
                  </a:lnTo>
                  <a:lnTo>
                    <a:pt x="63753" y="2374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3147" y="3638930"/>
              <a:ext cx="156209" cy="16535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459" y="3638930"/>
              <a:ext cx="156210" cy="16535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4627" y="3638930"/>
              <a:ext cx="156209" cy="16535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74939" y="3638930"/>
              <a:ext cx="156209" cy="16535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562088" y="3547871"/>
              <a:ext cx="2624455" cy="365760"/>
            </a:xfrm>
            <a:custGeom>
              <a:avLst/>
              <a:gdLst/>
              <a:ahLst/>
              <a:cxnLst/>
              <a:rect l="l" t="t" r="r" b="b"/>
              <a:pathLst>
                <a:path w="2624454" h="365760">
                  <a:moveTo>
                    <a:pt x="0" y="60959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59" y="0"/>
                  </a:lnTo>
                  <a:lnTo>
                    <a:pt x="2563367" y="0"/>
                  </a:lnTo>
                  <a:lnTo>
                    <a:pt x="2587091" y="4792"/>
                  </a:lnTo>
                  <a:lnTo>
                    <a:pt x="2606468" y="17859"/>
                  </a:lnTo>
                  <a:lnTo>
                    <a:pt x="2619535" y="37236"/>
                  </a:lnTo>
                  <a:lnTo>
                    <a:pt x="2624328" y="60959"/>
                  </a:lnTo>
                  <a:lnTo>
                    <a:pt x="2624328" y="304800"/>
                  </a:lnTo>
                  <a:lnTo>
                    <a:pt x="2619535" y="328523"/>
                  </a:lnTo>
                  <a:lnTo>
                    <a:pt x="2606468" y="347900"/>
                  </a:lnTo>
                  <a:lnTo>
                    <a:pt x="2587091" y="360967"/>
                  </a:lnTo>
                  <a:lnTo>
                    <a:pt x="2563367" y="365759"/>
                  </a:lnTo>
                  <a:lnTo>
                    <a:pt x="60959" y="365759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59"/>
                  </a:lnTo>
                  <a:close/>
                </a:path>
              </a:pathLst>
            </a:custGeom>
            <a:ln w="19050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5251" y="3638930"/>
              <a:ext cx="156209" cy="16535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419" y="3638930"/>
              <a:ext cx="156209" cy="16535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6731" y="3638930"/>
              <a:ext cx="156210" cy="16535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7043" y="3638930"/>
              <a:ext cx="156209" cy="16535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08211" y="3638930"/>
              <a:ext cx="156210" cy="16535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18523" y="3638930"/>
              <a:ext cx="156209" cy="16535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8835" y="3638930"/>
              <a:ext cx="156210" cy="16535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0003" y="3638930"/>
              <a:ext cx="156210" cy="16535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823452" y="2761360"/>
              <a:ext cx="111125" cy="784860"/>
            </a:xfrm>
            <a:custGeom>
              <a:avLst/>
              <a:gdLst/>
              <a:ahLst/>
              <a:cxnLst/>
              <a:rect l="l" t="t" r="r" b="b"/>
              <a:pathLst>
                <a:path w="111125" h="784860">
                  <a:moveTo>
                    <a:pt x="55372" y="37900"/>
                  </a:moveTo>
                  <a:lnTo>
                    <a:pt x="45847" y="54229"/>
                  </a:lnTo>
                  <a:lnTo>
                    <a:pt x="45847" y="784478"/>
                  </a:lnTo>
                  <a:lnTo>
                    <a:pt x="64897" y="784478"/>
                  </a:lnTo>
                  <a:lnTo>
                    <a:pt x="64897" y="54229"/>
                  </a:lnTo>
                  <a:lnTo>
                    <a:pt x="55372" y="37900"/>
                  </a:lnTo>
                  <a:close/>
                </a:path>
                <a:path w="111125" h="784860">
                  <a:moveTo>
                    <a:pt x="55372" y="0"/>
                  </a:moveTo>
                  <a:lnTo>
                    <a:pt x="0" y="94868"/>
                  </a:lnTo>
                  <a:lnTo>
                    <a:pt x="1524" y="100711"/>
                  </a:lnTo>
                  <a:lnTo>
                    <a:pt x="10668" y="106044"/>
                  </a:lnTo>
                  <a:lnTo>
                    <a:pt x="16509" y="104521"/>
                  </a:lnTo>
                  <a:lnTo>
                    <a:pt x="45846" y="54229"/>
                  </a:lnTo>
                  <a:lnTo>
                    <a:pt x="45847" y="18923"/>
                  </a:lnTo>
                  <a:lnTo>
                    <a:pt x="66417" y="18923"/>
                  </a:lnTo>
                  <a:lnTo>
                    <a:pt x="55372" y="0"/>
                  </a:lnTo>
                  <a:close/>
                </a:path>
                <a:path w="111125" h="784860">
                  <a:moveTo>
                    <a:pt x="66417" y="18923"/>
                  </a:moveTo>
                  <a:lnTo>
                    <a:pt x="64897" y="18923"/>
                  </a:lnTo>
                  <a:lnTo>
                    <a:pt x="64897" y="54229"/>
                  </a:lnTo>
                  <a:lnTo>
                    <a:pt x="94233" y="104521"/>
                  </a:lnTo>
                  <a:lnTo>
                    <a:pt x="100075" y="106044"/>
                  </a:lnTo>
                  <a:lnTo>
                    <a:pt x="109220" y="100711"/>
                  </a:lnTo>
                  <a:lnTo>
                    <a:pt x="110744" y="94868"/>
                  </a:lnTo>
                  <a:lnTo>
                    <a:pt x="66417" y="18923"/>
                  </a:lnTo>
                  <a:close/>
                </a:path>
                <a:path w="111125" h="784860">
                  <a:moveTo>
                    <a:pt x="64897" y="18923"/>
                  </a:moveTo>
                  <a:lnTo>
                    <a:pt x="45847" y="18923"/>
                  </a:lnTo>
                  <a:lnTo>
                    <a:pt x="45847" y="54229"/>
                  </a:lnTo>
                  <a:lnTo>
                    <a:pt x="55372" y="37900"/>
                  </a:lnTo>
                  <a:lnTo>
                    <a:pt x="47117" y="23749"/>
                  </a:lnTo>
                  <a:lnTo>
                    <a:pt x="64897" y="23749"/>
                  </a:lnTo>
                  <a:lnTo>
                    <a:pt x="64897" y="18923"/>
                  </a:lnTo>
                  <a:close/>
                </a:path>
                <a:path w="111125" h="784860">
                  <a:moveTo>
                    <a:pt x="64897" y="23749"/>
                  </a:moveTo>
                  <a:lnTo>
                    <a:pt x="63626" y="23749"/>
                  </a:lnTo>
                  <a:lnTo>
                    <a:pt x="55372" y="37900"/>
                  </a:lnTo>
                  <a:lnTo>
                    <a:pt x="64897" y="54229"/>
                  </a:lnTo>
                  <a:lnTo>
                    <a:pt x="64897" y="23749"/>
                  </a:lnTo>
                  <a:close/>
                </a:path>
                <a:path w="111125" h="784860">
                  <a:moveTo>
                    <a:pt x="63626" y="23749"/>
                  </a:moveTo>
                  <a:lnTo>
                    <a:pt x="47117" y="23749"/>
                  </a:lnTo>
                  <a:lnTo>
                    <a:pt x="55372" y="37900"/>
                  </a:lnTo>
                  <a:lnTo>
                    <a:pt x="63626" y="2374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6763" y="4772786"/>
              <a:ext cx="156209" cy="16535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67931" y="4772786"/>
              <a:ext cx="165353" cy="16535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78243" y="4772786"/>
              <a:ext cx="156209" cy="16535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8555" y="4772786"/>
              <a:ext cx="156210" cy="16535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775704" y="4672583"/>
              <a:ext cx="4197350" cy="365760"/>
            </a:xfrm>
            <a:custGeom>
              <a:avLst/>
              <a:gdLst/>
              <a:ahLst/>
              <a:cxnLst/>
              <a:rect l="l" t="t" r="r" b="b"/>
              <a:pathLst>
                <a:path w="4197350" h="365760">
                  <a:moveTo>
                    <a:pt x="0" y="60960"/>
                  </a:moveTo>
                  <a:lnTo>
                    <a:pt x="4792" y="37236"/>
                  </a:lnTo>
                  <a:lnTo>
                    <a:pt x="17859" y="17859"/>
                  </a:lnTo>
                  <a:lnTo>
                    <a:pt x="37236" y="4792"/>
                  </a:lnTo>
                  <a:lnTo>
                    <a:pt x="60960" y="0"/>
                  </a:lnTo>
                  <a:lnTo>
                    <a:pt x="4136136" y="0"/>
                  </a:lnTo>
                  <a:lnTo>
                    <a:pt x="4159859" y="4792"/>
                  </a:lnTo>
                  <a:lnTo>
                    <a:pt x="4179236" y="17859"/>
                  </a:lnTo>
                  <a:lnTo>
                    <a:pt x="4192303" y="37236"/>
                  </a:lnTo>
                  <a:lnTo>
                    <a:pt x="4197096" y="60960"/>
                  </a:lnTo>
                  <a:lnTo>
                    <a:pt x="4197096" y="304800"/>
                  </a:lnTo>
                  <a:lnTo>
                    <a:pt x="4192303" y="328523"/>
                  </a:lnTo>
                  <a:lnTo>
                    <a:pt x="4179236" y="347900"/>
                  </a:lnTo>
                  <a:lnTo>
                    <a:pt x="4159859" y="360967"/>
                  </a:lnTo>
                  <a:lnTo>
                    <a:pt x="4136136" y="365760"/>
                  </a:lnTo>
                  <a:lnTo>
                    <a:pt x="60960" y="365760"/>
                  </a:lnTo>
                  <a:lnTo>
                    <a:pt x="37236" y="360967"/>
                  </a:lnTo>
                  <a:lnTo>
                    <a:pt x="17859" y="347900"/>
                  </a:lnTo>
                  <a:lnTo>
                    <a:pt x="4792" y="328523"/>
                  </a:lnTo>
                  <a:lnTo>
                    <a:pt x="0" y="304800"/>
                  </a:lnTo>
                  <a:lnTo>
                    <a:pt x="0" y="60960"/>
                  </a:lnTo>
                  <a:close/>
                </a:path>
              </a:pathLst>
            </a:custGeom>
            <a:ln w="19050">
              <a:solidFill>
                <a:srgbClr val="6000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9179" y="4772786"/>
              <a:ext cx="156210" cy="16535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19491" y="4772786"/>
              <a:ext cx="156209" cy="16535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9803" y="4772786"/>
              <a:ext cx="156210" cy="16535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0971" y="4772786"/>
              <a:ext cx="156209" cy="16535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7315" y="4772786"/>
              <a:ext cx="156209" cy="16535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07627" y="4772786"/>
              <a:ext cx="156209" cy="16535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17939" y="4772786"/>
              <a:ext cx="156209" cy="16535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19107" y="4772786"/>
              <a:ext cx="156210" cy="16535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76307" y="4772786"/>
              <a:ext cx="156210" cy="16535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77475" y="4772786"/>
              <a:ext cx="156209" cy="16535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7787" y="4772786"/>
              <a:ext cx="156210" cy="16535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8099" y="4772786"/>
              <a:ext cx="156209" cy="16535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195820" y="5038216"/>
              <a:ext cx="3320415" cy="734060"/>
            </a:xfrm>
            <a:custGeom>
              <a:avLst/>
              <a:gdLst/>
              <a:ahLst/>
              <a:cxnLst/>
              <a:rect l="l" t="t" r="r" b="b"/>
              <a:pathLst>
                <a:path w="3320415" h="734060">
                  <a:moveTo>
                    <a:pt x="110744" y="94869"/>
                  </a:moveTo>
                  <a:lnTo>
                    <a:pt x="66408" y="18923"/>
                  </a:lnTo>
                  <a:lnTo>
                    <a:pt x="55372" y="0"/>
                  </a:lnTo>
                  <a:lnTo>
                    <a:pt x="0" y="94869"/>
                  </a:lnTo>
                  <a:lnTo>
                    <a:pt x="1524" y="100711"/>
                  </a:lnTo>
                  <a:lnTo>
                    <a:pt x="10668" y="106045"/>
                  </a:lnTo>
                  <a:lnTo>
                    <a:pt x="16510" y="104521"/>
                  </a:lnTo>
                  <a:lnTo>
                    <a:pt x="45834" y="54241"/>
                  </a:lnTo>
                  <a:lnTo>
                    <a:pt x="45847" y="18923"/>
                  </a:lnTo>
                  <a:lnTo>
                    <a:pt x="45847" y="54241"/>
                  </a:lnTo>
                  <a:lnTo>
                    <a:pt x="45847" y="733564"/>
                  </a:lnTo>
                  <a:lnTo>
                    <a:pt x="64897" y="733564"/>
                  </a:lnTo>
                  <a:lnTo>
                    <a:pt x="64897" y="54241"/>
                  </a:lnTo>
                  <a:lnTo>
                    <a:pt x="94234" y="104521"/>
                  </a:lnTo>
                  <a:lnTo>
                    <a:pt x="100076" y="106045"/>
                  </a:lnTo>
                  <a:lnTo>
                    <a:pt x="109220" y="100711"/>
                  </a:lnTo>
                  <a:lnTo>
                    <a:pt x="110744" y="94869"/>
                  </a:lnTo>
                  <a:close/>
                </a:path>
                <a:path w="3320415" h="734060">
                  <a:moveTo>
                    <a:pt x="1153160" y="94869"/>
                  </a:moveTo>
                  <a:lnTo>
                    <a:pt x="1108824" y="18923"/>
                  </a:lnTo>
                  <a:lnTo>
                    <a:pt x="1097788" y="0"/>
                  </a:lnTo>
                  <a:lnTo>
                    <a:pt x="1042416" y="94869"/>
                  </a:lnTo>
                  <a:lnTo>
                    <a:pt x="1043940" y="100711"/>
                  </a:lnTo>
                  <a:lnTo>
                    <a:pt x="1053084" y="106045"/>
                  </a:lnTo>
                  <a:lnTo>
                    <a:pt x="1058926" y="104521"/>
                  </a:lnTo>
                  <a:lnTo>
                    <a:pt x="1088263" y="54241"/>
                  </a:lnTo>
                  <a:lnTo>
                    <a:pt x="1088263" y="733564"/>
                  </a:lnTo>
                  <a:lnTo>
                    <a:pt x="1107313" y="733564"/>
                  </a:lnTo>
                  <a:lnTo>
                    <a:pt x="1107313" y="54241"/>
                  </a:lnTo>
                  <a:lnTo>
                    <a:pt x="1136650" y="104521"/>
                  </a:lnTo>
                  <a:lnTo>
                    <a:pt x="1142492" y="106045"/>
                  </a:lnTo>
                  <a:lnTo>
                    <a:pt x="1151636" y="100711"/>
                  </a:lnTo>
                  <a:lnTo>
                    <a:pt x="1153160" y="94869"/>
                  </a:lnTo>
                  <a:close/>
                </a:path>
                <a:path w="3320415" h="734060">
                  <a:moveTo>
                    <a:pt x="2259584" y="94869"/>
                  </a:moveTo>
                  <a:lnTo>
                    <a:pt x="2215248" y="18923"/>
                  </a:lnTo>
                  <a:lnTo>
                    <a:pt x="2204212" y="0"/>
                  </a:lnTo>
                  <a:lnTo>
                    <a:pt x="2148840" y="94869"/>
                  </a:lnTo>
                  <a:lnTo>
                    <a:pt x="2150364" y="100711"/>
                  </a:lnTo>
                  <a:lnTo>
                    <a:pt x="2159508" y="106045"/>
                  </a:lnTo>
                  <a:lnTo>
                    <a:pt x="2165350" y="104521"/>
                  </a:lnTo>
                  <a:lnTo>
                    <a:pt x="2194687" y="54241"/>
                  </a:lnTo>
                  <a:lnTo>
                    <a:pt x="2194687" y="733564"/>
                  </a:lnTo>
                  <a:lnTo>
                    <a:pt x="2213737" y="733564"/>
                  </a:lnTo>
                  <a:lnTo>
                    <a:pt x="2213737" y="54241"/>
                  </a:lnTo>
                  <a:lnTo>
                    <a:pt x="2243074" y="104521"/>
                  </a:lnTo>
                  <a:lnTo>
                    <a:pt x="2248916" y="106045"/>
                  </a:lnTo>
                  <a:lnTo>
                    <a:pt x="2258060" y="100711"/>
                  </a:lnTo>
                  <a:lnTo>
                    <a:pt x="2259584" y="94869"/>
                  </a:lnTo>
                  <a:close/>
                </a:path>
                <a:path w="3320415" h="734060">
                  <a:moveTo>
                    <a:pt x="3320288" y="94869"/>
                  </a:moveTo>
                  <a:lnTo>
                    <a:pt x="3275952" y="18923"/>
                  </a:lnTo>
                  <a:lnTo>
                    <a:pt x="3264916" y="0"/>
                  </a:lnTo>
                  <a:lnTo>
                    <a:pt x="3209544" y="94869"/>
                  </a:lnTo>
                  <a:lnTo>
                    <a:pt x="3211068" y="100711"/>
                  </a:lnTo>
                  <a:lnTo>
                    <a:pt x="3220212" y="106045"/>
                  </a:lnTo>
                  <a:lnTo>
                    <a:pt x="3226054" y="104521"/>
                  </a:lnTo>
                  <a:lnTo>
                    <a:pt x="3255391" y="54241"/>
                  </a:lnTo>
                  <a:lnTo>
                    <a:pt x="3255391" y="733564"/>
                  </a:lnTo>
                  <a:lnTo>
                    <a:pt x="3274441" y="733564"/>
                  </a:lnTo>
                  <a:lnTo>
                    <a:pt x="3274441" y="54241"/>
                  </a:lnTo>
                  <a:lnTo>
                    <a:pt x="3303778" y="104521"/>
                  </a:lnTo>
                  <a:lnTo>
                    <a:pt x="3309620" y="106045"/>
                  </a:lnTo>
                  <a:lnTo>
                    <a:pt x="3318764" y="100711"/>
                  </a:lnTo>
                  <a:lnTo>
                    <a:pt x="3320288" y="9486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06256" y="4178807"/>
              <a:ext cx="347472" cy="26517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24544" y="3035807"/>
              <a:ext cx="237744" cy="237744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8091678" y="2621660"/>
            <a:ext cx="10922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50" dirty="0">
                <a:solidFill>
                  <a:srgbClr val="175E53"/>
                </a:solidFill>
                <a:latin typeface="Calibri"/>
                <a:cs typeface="Calibri"/>
              </a:rPr>
              <a:t>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598532" y="2625471"/>
            <a:ext cx="27305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solidFill>
                  <a:srgbClr val="175E53"/>
                </a:solidFill>
                <a:latin typeface="Calibri"/>
                <a:cs typeface="Calibri"/>
              </a:rPr>
              <a:t>zoo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73" name="object 7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31735" y="6080696"/>
            <a:ext cx="448055" cy="32003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50423" y="6080696"/>
            <a:ext cx="420624" cy="32003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162288" y="6080696"/>
            <a:ext cx="448055" cy="32003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5007" y="6080696"/>
            <a:ext cx="466344" cy="320039"/>
          </a:xfrm>
          <a:prstGeom prst="rect">
            <a:avLst/>
          </a:prstGeom>
        </p:spPr>
      </p:pic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876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6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610984" y="818197"/>
            <a:ext cx="10361295" cy="730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Approximately:</a:t>
            </a:r>
            <a:r>
              <a:rPr sz="2350" spc="3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spc="-100" dirty="0">
                <a:solidFill>
                  <a:srgbClr val="175E53"/>
                </a:solidFill>
                <a:latin typeface="Calibri"/>
                <a:cs typeface="Calibri"/>
              </a:rPr>
              <a:t>Y.</a:t>
            </a:r>
            <a:r>
              <a:rPr sz="2350" spc="3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Bengio,</a:t>
            </a:r>
            <a:r>
              <a:rPr sz="2350" spc="8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et</a:t>
            </a:r>
            <a:r>
              <a:rPr sz="2350" spc="10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al.</a:t>
            </a:r>
            <a:r>
              <a:rPr sz="2350" spc="7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(2000/2003):</a:t>
            </a:r>
            <a:r>
              <a:rPr sz="2350" spc="4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A</a:t>
            </a:r>
            <a:r>
              <a:rPr sz="2350" spc="10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Neural</a:t>
            </a:r>
            <a:r>
              <a:rPr sz="2350" spc="5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Probabilistic</a:t>
            </a:r>
            <a:r>
              <a:rPr sz="2350" spc="3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175E53"/>
                </a:solidFill>
                <a:latin typeface="Calibri"/>
                <a:cs typeface="Calibri"/>
              </a:rPr>
              <a:t>Language</a:t>
            </a:r>
            <a:r>
              <a:rPr sz="2350" spc="7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175E53"/>
                </a:solidFill>
                <a:latin typeface="Calibri"/>
                <a:cs typeface="Calibri"/>
              </a:rPr>
              <a:t>Model</a:t>
            </a:r>
            <a:endParaRPr sz="2350">
              <a:latin typeface="Calibri"/>
              <a:cs typeface="Calibri"/>
            </a:endParaRPr>
          </a:p>
          <a:p>
            <a:pPr marR="2452370" algn="r">
              <a:lnSpc>
                <a:spcPct val="100000"/>
              </a:lnSpc>
              <a:spcBef>
                <a:spcPts val="1080"/>
              </a:spcBef>
            </a:pPr>
            <a:r>
              <a:rPr sz="1350" i="1" spc="-10" dirty="0">
                <a:solidFill>
                  <a:srgbClr val="175E53"/>
                </a:solidFill>
                <a:latin typeface="Calibri"/>
                <a:cs typeface="Calibri"/>
              </a:rPr>
              <a:t>books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6051" y="1981200"/>
            <a:ext cx="4883785" cy="260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latin typeface="Calibri"/>
                <a:cs typeface="Calibri"/>
              </a:rPr>
              <a:t>Remaining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b="1" spc="-10" dirty="0">
                <a:solidFill>
                  <a:srgbClr val="C00000"/>
                </a:solidFill>
                <a:latin typeface="Calibri"/>
                <a:cs typeface="Calibri"/>
              </a:rPr>
              <a:t>problems</a:t>
            </a:r>
            <a:r>
              <a:rPr sz="2350" spc="-10" dirty="0">
                <a:latin typeface="Calibri"/>
                <a:cs typeface="Calibri"/>
              </a:rPr>
              <a:t>:</a:t>
            </a:r>
            <a:endParaRPr sz="2350" dirty="0">
              <a:latin typeface="Calibri"/>
              <a:cs typeface="Calibri"/>
            </a:endParaRPr>
          </a:p>
          <a:p>
            <a:pPr marL="335915" indent="-28511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335915" algn="l"/>
              </a:tabLst>
            </a:pPr>
            <a:r>
              <a:rPr sz="2350" dirty="0">
                <a:latin typeface="Calibri"/>
                <a:cs typeface="Calibri"/>
              </a:rPr>
              <a:t>Fixed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window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is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C00000"/>
                </a:solidFill>
                <a:latin typeface="Calibri"/>
                <a:cs typeface="Calibri"/>
              </a:rPr>
              <a:t>too</a:t>
            </a:r>
            <a:r>
              <a:rPr sz="2350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350" spc="-20" dirty="0">
                <a:solidFill>
                  <a:srgbClr val="C00000"/>
                </a:solidFill>
                <a:latin typeface="Calibri"/>
                <a:cs typeface="Calibri"/>
              </a:rPr>
              <a:t>small</a:t>
            </a:r>
            <a:endParaRPr sz="2350" dirty="0">
              <a:latin typeface="Calibri"/>
              <a:cs typeface="Calibri"/>
            </a:endParaRPr>
          </a:p>
          <a:p>
            <a:pPr marL="335915" indent="-28511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335915" algn="l"/>
              </a:tabLst>
            </a:pPr>
            <a:r>
              <a:rPr sz="2350" dirty="0">
                <a:latin typeface="Calibri"/>
                <a:cs typeface="Calibri"/>
              </a:rPr>
              <a:t>Enlarging</a:t>
            </a:r>
            <a:r>
              <a:rPr sz="2350" spc="10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window</a:t>
            </a:r>
            <a:r>
              <a:rPr sz="2350" spc="10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enlarges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spc="-50" dirty="0">
                <a:latin typeface="Cambria Math"/>
                <a:cs typeface="Cambria Math"/>
              </a:rPr>
              <a:t>𝑊</a:t>
            </a:r>
            <a:endParaRPr sz="2350" dirty="0">
              <a:latin typeface="Cambria Math"/>
              <a:cs typeface="Cambria Math"/>
            </a:endParaRPr>
          </a:p>
          <a:p>
            <a:pPr marL="335915" indent="-28511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335915" algn="l"/>
              </a:tabLst>
            </a:pPr>
            <a:r>
              <a:rPr sz="2350" dirty="0">
                <a:latin typeface="Calibri"/>
                <a:cs typeface="Calibri"/>
              </a:rPr>
              <a:t>Window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can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never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be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large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enough!</a:t>
            </a:r>
            <a:endParaRPr sz="2350" dirty="0">
              <a:latin typeface="Calibri"/>
              <a:cs typeface="Calibri"/>
            </a:endParaRPr>
          </a:p>
          <a:p>
            <a:pPr marL="335915" marR="176530" indent="-285750">
              <a:lnSpc>
                <a:spcPct val="102299"/>
              </a:lnSpc>
              <a:spcBef>
                <a:spcPts val="145"/>
              </a:spcBef>
              <a:buFont typeface="Arial"/>
              <a:buChar char="•"/>
              <a:tabLst>
                <a:tab pos="335915" algn="l"/>
              </a:tabLst>
            </a:pPr>
            <a:r>
              <a:rPr sz="2350" spc="60" dirty="0">
                <a:latin typeface="Cambria Math"/>
                <a:cs typeface="Cambria Math"/>
              </a:rPr>
              <a:t>𝑥</a:t>
            </a:r>
            <a:r>
              <a:rPr sz="2550" spc="89" baseline="29411" dirty="0">
                <a:latin typeface="Cambria Math"/>
                <a:cs typeface="Cambria Math"/>
              </a:rPr>
              <a:t>(1)</a:t>
            </a:r>
            <a:r>
              <a:rPr sz="2550" spc="434" baseline="29411" dirty="0">
                <a:latin typeface="Cambria Math"/>
                <a:cs typeface="Cambria Math"/>
              </a:rPr>
              <a:t> </a:t>
            </a:r>
            <a:r>
              <a:rPr sz="2350" dirty="0">
                <a:latin typeface="Calibri"/>
                <a:cs typeface="Calibri"/>
              </a:rPr>
              <a:t>and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spc="60" dirty="0">
                <a:latin typeface="Cambria Math"/>
                <a:cs typeface="Cambria Math"/>
              </a:rPr>
              <a:t>𝑥</a:t>
            </a:r>
            <a:r>
              <a:rPr sz="2550" spc="89" baseline="29411" dirty="0">
                <a:latin typeface="Cambria Math"/>
                <a:cs typeface="Cambria Math"/>
              </a:rPr>
              <a:t>(2)</a:t>
            </a:r>
            <a:r>
              <a:rPr sz="2550" spc="457" baseline="29411" dirty="0">
                <a:latin typeface="Cambria Math"/>
                <a:cs typeface="Cambria Math"/>
              </a:rPr>
              <a:t> </a:t>
            </a:r>
            <a:r>
              <a:rPr sz="2350" dirty="0">
                <a:latin typeface="Calibri"/>
                <a:cs typeface="Calibri"/>
              </a:rPr>
              <a:t>are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multiplied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by </a:t>
            </a:r>
            <a:r>
              <a:rPr sz="2350" dirty="0">
                <a:latin typeface="Calibri"/>
                <a:cs typeface="Calibri"/>
              </a:rPr>
              <a:t>completely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different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weights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spc="35" dirty="0">
                <a:latin typeface="Cambria Math"/>
                <a:cs typeface="Cambria Math"/>
              </a:rPr>
              <a:t>𝑊</a:t>
            </a:r>
            <a:r>
              <a:rPr sz="2350" spc="35" dirty="0">
                <a:latin typeface="Calibri"/>
                <a:cs typeface="Calibri"/>
              </a:rPr>
              <a:t>. </a:t>
            </a:r>
            <a:r>
              <a:rPr sz="2350" dirty="0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r>
              <a:rPr sz="2350" spc="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C00000"/>
                </a:solidFill>
                <a:latin typeface="Calibri"/>
                <a:cs typeface="Calibri"/>
              </a:rPr>
              <a:t>symmetry</a:t>
            </a:r>
            <a:r>
              <a:rPr sz="2350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how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1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inputs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are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14400" y="4571888"/>
            <a:ext cx="13569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10" dirty="0">
                <a:latin typeface="Calibri"/>
                <a:cs typeface="Calibri"/>
              </a:rPr>
              <a:t>processed.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427732" y="5609793"/>
            <a:ext cx="4087495" cy="768350"/>
          </a:xfrm>
          <a:prstGeom prst="rect">
            <a:avLst/>
          </a:prstGeom>
          <a:ln w="28575">
            <a:solidFill>
              <a:srgbClr val="FF2FED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68910" marR="153670" indent="158750">
              <a:lnSpc>
                <a:spcPts val="2600"/>
              </a:lnSpc>
              <a:spcBef>
                <a:spcPts val="370"/>
              </a:spcBef>
            </a:pPr>
            <a:r>
              <a:rPr sz="2200" dirty="0">
                <a:solidFill>
                  <a:srgbClr val="FF2FED"/>
                </a:solidFill>
                <a:latin typeface="Calibri"/>
                <a:cs typeface="Calibri"/>
              </a:rPr>
              <a:t>We</a:t>
            </a:r>
            <a:r>
              <a:rPr sz="2200" spc="-4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2FED"/>
                </a:solidFill>
                <a:latin typeface="Calibri"/>
                <a:cs typeface="Calibri"/>
              </a:rPr>
              <a:t>need</a:t>
            </a:r>
            <a:r>
              <a:rPr sz="2200" spc="-3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2FED"/>
                </a:solidFill>
                <a:latin typeface="Calibri"/>
                <a:cs typeface="Calibri"/>
              </a:rPr>
              <a:t>a</a:t>
            </a:r>
            <a:r>
              <a:rPr sz="2200" spc="-7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2FED"/>
                </a:solidFill>
                <a:latin typeface="Calibri"/>
                <a:cs typeface="Calibri"/>
              </a:rPr>
              <a:t>neural</a:t>
            </a:r>
            <a:r>
              <a:rPr sz="2200" spc="-2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2FED"/>
                </a:solidFill>
                <a:latin typeface="Calibri"/>
                <a:cs typeface="Calibri"/>
              </a:rPr>
              <a:t>architecture </a:t>
            </a:r>
            <a:r>
              <a:rPr sz="2200" dirty="0">
                <a:solidFill>
                  <a:srgbClr val="FF2FED"/>
                </a:solidFill>
                <a:latin typeface="Calibri"/>
                <a:cs typeface="Calibri"/>
              </a:rPr>
              <a:t>that</a:t>
            </a:r>
            <a:r>
              <a:rPr sz="2200" spc="-5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2FED"/>
                </a:solidFill>
                <a:latin typeface="Calibri"/>
                <a:cs typeface="Calibri"/>
              </a:rPr>
              <a:t>can</a:t>
            </a:r>
            <a:r>
              <a:rPr sz="2200" spc="-4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2FED"/>
                </a:solidFill>
                <a:latin typeface="Calibri"/>
                <a:cs typeface="Calibri"/>
              </a:rPr>
              <a:t>process</a:t>
            </a:r>
            <a:r>
              <a:rPr sz="2200" spc="-1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2FED"/>
                </a:solidFill>
                <a:latin typeface="Calibri"/>
                <a:cs typeface="Calibri"/>
              </a:rPr>
              <a:t>any</a:t>
            </a:r>
            <a:r>
              <a:rPr sz="2200" i="1" spc="-8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2FED"/>
                </a:solidFill>
                <a:latin typeface="Calibri"/>
                <a:cs typeface="Calibri"/>
              </a:rPr>
              <a:t>length</a:t>
            </a:r>
            <a:r>
              <a:rPr sz="2200" i="1" spc="-2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FF2FED"/>
                </a:solidFill>
                <a:latin typeface="Calibri"/>
                <a:cs typeface="Calibri"/>
              </a:rPr>
              <a:t>input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3" name="object 8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</a:t>
            </a:r>
            <a:r>
              <a:rPr spc="75" dirty="0"/>
              <a:t> </a:t>
            </a:r>
            <a:r>
              <a:rPr dirty="0"/>
              <a:t>fixed-window</a:t>
            </a:r>
            <a:r>
              <a:rPr spc="80" dirty="0"/>
              <a:t> </a:t>
            </a:r>
            <a:r>
              <a:rPr dirty="0"/>
              <a:t>neural</a:t>
            </a:r>
            <a:r>
              <a:rPr spc="155" dirty="0"/>
              <a:t> </a:t>
            </a:r>
            <a:r>
              <a:rPr dirty="0"/>
              <a:t>Language</a:t>
            </a:r>
            <a:r>
              <a:rPr spc="55" dirty="0"/>
              <a:t> </a:t>
            </a:r>
            <a:r>
              <a:rPr spc="-10" dirty="0"/>
              <a:t>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36981"/>
            <a:ext cx="10328910" cy="5086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dirty="0"/>
              <a:t>The </a:t>
            </a:r>
            <a:r>
              <a:rPr dirty="0"/>
              <a:t>bottleneck</a:t>
            </a:r>
            <a:r>
              <a:rPr spc="55" dirty="0"/>
              <a:t> </a:t>
            </a:r>
            <a:r>
              <a:rPr dirty="0"/>
              <a:t>problem</a:t>
            </a:r>
            <a:r>
              <a:rPr spc="85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spc="-20" dirty="0"/>
              <a:t>RNNs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05075" y="2301431"/>
            <a:ext cx="7051040" cy="2063750"/>
            <a:chOff x="2505075" y="2605913"/>
            <a:chExt cx="7051040" cy="2063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3346323"/>
              <a:ext cx="128778" cy="1379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7371" y="3520059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7371" y="3684651"/>
              <a:ext cx="128778" cy="1287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7371" y="3858387"/>
              <a:ext cx="128778" cy="12877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600" y="3282696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76"/>
                  </a:lnTo>
                  <a:lnTo>
                    <a:pt x="252221" y="12953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3043"/>
                  </a:lnTo>
                  <a:lnTo>
                    <a:pt x="261699" y="750236"/>
                  </a:lnTo>
                  <a:lnTo>
                    <a:pt x="252221" y="764286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3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4" y="12953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3620515"/>
              <a:ext cx="528320" cy="1049020"/>
            </a:xfrm>
            <a:custGeom>
              <a:avLst/>
              <a:gdLst/>
              <a:ahLst/>
              <a:cxnLst/>
              <a:rect l="l" t="t" r="r" b="b"/>
              <a:pathLst>
                <a:path w="528319" h="1049020">
                  <a:moveTo>
                    <a:pt x="110744" y="534162"/>
                  </a:moveTo>
                  <a:lnTo>
                    <a:pt x="66408" y="458216"/>
                  </a:lnTo>
                  <a:lnTo>
                    <a:pt x="55372" y="439293"/>
                  </a:lnTo>
                  <a:lnTo>
                    <a:pt x="0" y="534162"/>
                  </a:lnTo>
                  <a:lnTo>
                    <a:pt x="1524" y="540004"/>
                  </a:lnTo>
                  <a:lnTo>
                    <a:pt x="10668" y="545338"/>
                  </a:lnTo>
                  <a:lnTo>
                    <a:pt x="16510" y="543814"/>
                  </a:lnTo>
                  <a:lnTo>
                    <a:pt x="45834" y="493522"/>
                  </a:lnTo>
                  <a:lnTo>
                    <a:pt x="45847" y="458216"/>
                  </a:lnTo>
                  <a:lnTo>
                    <a:pt x="45847" y="493522"/>
                  </a:lnTo>
                  <a:lnTo>
                    <a:pt x="45847" y="1049020"/>
                  </a:lnTo>
                  <a:lnTo>
                    <a:pt x="64897" y="1049020"/>
                  </a:lnTo>
                  <a:lnTo>
                    <a:pt x="64897" y="493522"/>
                  </a:lnTo>
                  <a:lnTo>
                    <a:pt x="94234" y="543814"/>
                  </a:lnTo>
                  <a:lnTo>
                    <a:pt x="100076" y="545338"/>
                  </a:lnTo>
                  <a:lnTo>
                    <a:pt x="109220" y="540004"/>
                  </a:lnTo>
                  <a:lnTo>
                    <a:pt x="110744" y="534162"/>
                  </a:lnTo>
                  <a:close/>
                </a:path>
                <a:path w="528319" h="1049020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723" y="2605913"/>
              <a:ext cx="6438137" cy="20636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46804" y="3104400"/>
              <a:ext cx="649605" cy="1079500"/>
            </a:xfrm>
            <a:custGeom>
              <a:avLst/>
              <a:gdLst/>
              <a:ahLst/>
              <a:cxnLst/>
              <a:rect l="l" t="t" r="r" b="b"/>
              <a:pathLst>
                <a:path w="649604" h="1079500">
                  <a:moveTo>
                    <a:pt x="0" y="1078979"/>
                  </a:moveTo>
                  <a:lnTo>
                    <a:pt x="649224" y="1078979"/>
                  </a:lnTo>
                  <a:lnTo>
                    <a:pt x="649224" y="0"/>
                  </a:lnTo>
                  <a:lnTo>
                    <a:pt x="0" y="0"/>
                  </a:lnTo>
                  <a:lnTo>
                    <a:pt x="0" y="1078979"/>
                  </a:lnTo>
                  <a:close/>
                </a:path>
              </a:pathLst>
            </a:custGeom>
            <a:ln w="28575">
              <a:solidFill>
                <a:srgbClr val="E98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95754" y="2742538"/>
            <a:ext cx="254000" cy="1260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r>
              <a:rPr sz="18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7597" y="5033010"/>
            <a:ext cx="2235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05455" y="4770438"/>
            <a:ext cx="2432685" cy="274320"/>
          </a:xfrm>
          <a:custGeom>
            <a:avLst/>
            <a:gdLst/>
            <a:ahLst/>
            <a:cxnLst/>
            <a:rect l="l" t="t" r="r" b="b"/>
            <a:pathLst>
              <a:path w="2432685" h="274320">
                <a:moveTo>
                  <a:pt x="2432304" y="0"/>
                </a:moveTo>
                <a:lnTo>
                  <a:pt x="2423876" y="53363"/>
                </a:lnTo>
                <a:lnTo>
                  <a:pt x="2400887" y="96964"/>
                </a:lnTo>
                <a:lnTo>
                  <a:pt x="2366777" y="126372"/>
                </a:lnTo>
                <a:lnTo>
                  <a:pt x="2324989" y="137159"/>
                </a:lnTo>
                <a:lnTo>
                  <a:pt x="1323467" y="137159"/>
                </a:lnTo>
                <a:lnTo>
                  <a:pt x="1281678" y="147929"/>
                </a:lnTo>
                <a:lnTo>
                  <a:pt x="1247568" y="177307"/>
                </a:lnTo>
                <a:lnTo>
                  <a:pt x="1224579" y="220902"/>
                </a:lnTo>
                <a:lnTo>
                  <a:pt x="1216152" y="274319"/>
                </a:lnTo>
                <a:lnTo>
                  <a:pt x="1207724" y="220902"/>
                </a:lnTo>
                <a:lnTo>
                  <a:pt x="1184735" y="177307"/>
                </a:lnTo>
                <a:lnTo>
                  <a:pt x="1150625" y="147929"/>
                </a:lnTo>
                <a:lnTo>
                  <a:pt x="1108836" y="137159"/>
                </a:lnTo>
                <a:lnTo>
                  <a:pt x="107314" y="137159"/>
                </a:lnTo>
                <a:lnTo>
                  <a:pt x="65526" y="126372"/>
                </a:lnTo>
                <a:lnTo>
                  <a:pt x="31416" y="96964"/>
                </a:lnTo>
                <a:lnTo>
                  <a:pt x="8427" y="53363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83664" y="2978214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5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391658" y="4399280"/>
            <a:ext cx="110998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99794" algn="l"/>
              </a:tabLst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25" dirty="0">
                <a:latin typeface="Calibri"/>
                <a:cs typeface="Calibri"/>
              </a:rPr>
              <a:t>he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5529" y="4399280"/>
            <a:ext cx="2393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hit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30240" y="4399280"/>
            <a:ext cx="97028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88010" algn="l"/>
              </a:tabLst>
            </a:pPr>
            <a:r>
              <a:rPr sz="1550" i="1" spc="-25" dirty="0">
                <a:latin typeface="Calibri"/>
                <a:cs typeface="Calibri"/>
              </a:rPr>
              <a:t>me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20" dirty="0">
                <a:latin typeface="Calibri"/>
                <a:cs typeface="Calibri"/>
              </a:rPr>
              <a:t>with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46343" y="4399280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57915" y="4399280"/>
            <a:ext cx="2774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pie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76322" y="4408043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75380" y="4408043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5616" y="4408043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78296" y="1968246"/>
            <a:ext cx="222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he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44672" y="1968246"/>
            <a:ext cx="24828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hit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38450" y="1968246"/>
            <a:ext cx="9613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88010" algn="l"/>
              </a:tabLst>
            </a:pPr>
            <a:r>
              <a:rPr sz="1550" i="1" spc="-25" dirty="0">
                <a:latin typeface="Calibri"/>
                <a:cs typeface="Calibri"/>
              </a:rPr>
              <a:t>me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20" dirty="0">
                <a:latin typeface="Calibri"/>
                <a:cs typeface="Calibri"/>
              </a:rPr>
              <a:t>with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45890" y="196824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12064" y="1968246"/>
            <a:ext cx="1020444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48309" algn="l"/>
              </a:tabLst>
            </a:pPr>
            <a:r>
              <a:rPr sz="1550" i="1" spc="-25" dirty="0">
                <a:latin typeface="Calibri"/>
                <a:cs typeface="Calibri"/>
              </a:rPr>
              <a:t>pie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&lt;END&gt;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88012" y="2753678"/>
            <a:ext cx="254635" cy="12814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605271" y="1615757"/>
            <a:ext cx="4097020" cy="274320"/>
          </a:xfrm>
          <a:custGeom>
            <a:avLst/>
            <a:gdLst/>
            <a:ahLst/>
            <a:cxnLst/>
            <a:rect l="l" t="t" r="r" b="b"/>
            <a:pathLst>
              <a:path w="4097020" h="274319">
                <a:moveTo>
                  <a:pt x="0" y="274320"/>
                </a:moveTo>
                <a:lnTo>
                  <a:pt x="8427" y="220902"/>
                </a:lnTo>
                <a:lnTo>
                  <a:pt x="31416" y="177307"/>
                </a:lnTo>
                <a:lnTo>
                  <a:pt x="65526" y="147929"/>
                </a:lnTo>
                <a:lnTo>
                  <a:pt x="107314" y="137160"/>
                </a:lnTo>
                <a:lnTo>
                  <a:pt x="1940941" y="137160"/>
                </a:lnTo>
                <a:lnTo>
                  <a:pt x="1982729" y="126372"/>
                </a:lnTo>
                <a:lnTo>
                  <a:pt x="2016839" y="96964"/>
                </a:lnTo>
                <a:lnTo>
                  <a:pt x="2039828" y="53363"/>
                </a:lnTo>
                <a:lnTo>
                  <a:pt x="2048255" y="0"/>
                </a:lnTo>
                <a:lnTo>
                  <a:pt x="2056683" y="53363"/>
                </a:lnTo>
                <a:lnTo>
                  <a:pt x="2079672" y="96964"/>
                </a:lnTo>
                <a:lnTo>
                  <a:pt x="2113782" y="126372"/>
                </a:lnTo>
                <a:lnTo>
                  <a:pt x="2155571" y="137160"/>
                </a:lnTo>
                <a:lnTo>
                  <a:pt x="3989197" y="137160"/>
                </a:lnTo>
                <a:lnTo>
                  <a:pt x="4030985" y="147929"/>
                </a:lnTo>
                <a:lnTo>
                  <a:pt x="4065095" y="177307"/>
                </a:lnTo>
                <a:lnTo>
                  <a:pt x="4088084" y="220902"/>
                </a:lnTo>
                <a:lnTo>
                  <a:pt x="4096511" y="2743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415539" y="685800"/>
            <a:ext cx="6403975" cy="86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18380" indent="558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98300"/>
                </a:solidFill>
                <a:latin typeface="Calibri"/>
                <a:cs typeface="Calibri"/>
              </a:rPr>
              <a:t>Encoding of</a:t>
            </a:r>
            <a:r>
              <a:rPr sz="1800" spc="-55" dirty="0">
                <a:solidFill>
                  <a:srgbClr val="E983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E98300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E98300"/>
                </a:solidFill>
                <a:latin typeface="Calibri"/>
                <a:cs typeface="Calibri"/>
              </a:rPr>
              <a:t>source</a:t>
            </a:r>
            <a:r>
              <a:rPr sz="1800" spc="-90" dirty="0">
                <a:solidFill>
                  <a:srgbClr val="E983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E98300"/>
                </a:solidFill>
                <a:latin typeface="Calibri"/>
                <a:cs typeface="Calibri"/>
              </a:rPr>
              <a:t>sentence.</a:t>
            </a:r>
            <a:endParaRPr sz="1800">
              <a:latin typeface="Calibri"/>
              <a:cs typeface="Calibri"/>
            </a:endParaRPr>
          </a:p>
          <a:p>
            <a:pPr marL="409702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latin typeface="Calibri"/>
                <a:cs typeface="Calibri"/>
              </a:rPr>
              <a:t>Target </a:t>
            </a:r>
            <a:r>
              <a:rPr sz="1800" spc="-10" dirty="0">
                <a:latin typeface="Calibri"/>
                <a:cs typeface="Calibri"/>
              </a:rPr>
              <a:t>sentence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(output)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31552" y="2996502"/>
            <a:ext cx="192405" cy="786765"/>
          </a:xfrm>
          <a:custGeom>
            <a:avLst/>
            <a:gdLst/>
            <a:ahLst/>
            <a:cxnLst/>
            <a:rect l="l" t="t" r="r" b="b"/>
            <a:pathLst>
              <a:path w="192404" h="786764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8007"/>
                </a:lnTo>
                <a:lnTo>
                  <a:pt x="103548" y="347275"/>
                </a:lnTo>
                <a:lnTo>
                  <a:pt x="124110" y="371173"/>
                </a:lnTo>
                <a:lnTo>
                  <a:pt x="154626" y="387284"/>
                </a:lnTo>
                <a:lnTo>
                  <a:pt x="192024" y="393191"/>
                </a:lnTo>
                <a:lnTo>
                  <a:pt x="154626" y="399097"/>
                </a:lnTo>
                <a:lnTo>
                  <a:pt x="124110" y="415194"/>
                </a:lnTo>
                <a:lnTo>
                  <a:pt x="103548" y="439054"/>
                </a:lnTo>
                <a:lnTo>
                  <a:pt x="96012" y="468248"/>
                </a:lnTo>
                <a:lnTo>
                  <a:pt x="96012" y="711199"/>
                </a:lnTo>
                <a:lnTo>
                  <a:pt x="88475" y="740467"/>
                </a:lnTo>
                <a:lnTo>
                  <a:pt x="67913" y="764365"/>
                </a:lnTo>
                <a:lnTo>
                  <a:pt x="37397" y="780476"/>
                </a:lnTo>
                <a:lnTo>
                  <a:pt x="0" y="786383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789420" y="4981915"/>
            <a:ext cx="6250179" cy="1255472"/>
          </a:xfrm>
          <a:prstGeom prst="rect">
            <a:avLst/>
          </a:prstGeom>
          <a:ln w="28575">
            <a:solidFill>
              <a:srgbClr val="3986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250"/>
              </a:spcBef>
            </a:pPr>
            <a:r>
              <a:rPr sz="1800" b="1" dirty="0">
                <a:solidFill>
                  <a:srgbClr val="3986FF"/>
                </a:solidFill>
                <a:latin typeface="Calibri"/>
                <a:cs typeface="Calibri"/>
              </a:rPr>
              <a:t>Problems</a:t>
            </a:r>
            <a:r>
              <a:rPr sz="1800" b="1" spc="-70" dirty="0">
                <a:solidFill>
                  <a:srgbClr val="3986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986FF"/>
                </a:solidFill>
                <a:latin typeface="Calibri"/>
                <a:cs typeface="Calibri"/>
              </a:rPr>
              <a:t>with</a:t>
            </a:r>
            <a:r>
              <a:rPr sz="1800" b="1" spc="-30" dirty="0">
                <a:solidFill>
                  <a:srgbClr val="3986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986FF"/>
                </a:solidFill>
                <a:latin typeface="Calibri"/>
                <a:cs typeface="Calibri"/>
              </a:rPr>
              <a:t>this</a:t>
            </a:r>
            <a:r>
              <a:rPr sz="1800" b="1" spc="-65" dirty="0">
                <a:solidFill>
                  <a:srgbClr val="3986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986FF"/>
                </a:solidFill>
                <a:latin typeface="Calibri"/>
                <a:cs typeface="Calibri"/>
              </a:rPr>
              <a:t>architecture?</a:t>
            </a:r>
            <a:endParaRPr lang="en-US" sz="1800" b="1" spc="-10" dirty="0">
              <a:solidFill>
                <a:srgbClr val="3986FF"/>
              </a:solidFill>
              <a:latin typeface="Calibri"/>
              <a:cs typeface="Calibri"/>
            </a:endParaRPr>
          </a:p>
          <a:p>
            <a:pPr marL="580390" indent="-285750">
              <a:lnSpc>
                <a:spcPct val="100000"/>
              </a:lnSpc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b="1" spc="-10" dirty="0">
                <a:solidFill>
                  <a:srgbClr val="3986FF"/>
                </a:solidFill>
                <a:latin typeface="Calibri"/>
                <a:cs typeface="Calibri"/>
              </a:rPr>
              <a:t>Information Loss: </a:t>
            </a:r>
            <a:r>
              <a:rPr lang="en-US" sz="1400" b="1" spc="-10" dirty="0">
                <a:solidFill>
                  <a:schemeClr val="tx1"/>
                </a:solidFill>
                <a:latin typeface="Calibri"/>
                <a:cs typeface="Calibri"/>
              </a:rPr>
              <a:t>early sequence context degrades heavily</a:t>
            </a:r>
            <a:endParaRPr lang="en-US" b="1" spc="-1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80390" indent="-285750">
              <a:lnSpc>
                <a:spcPct val="100000"/>
              </a:lnSpc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b="1" spc="-10" dirty="0">
                <a:solidFill>
                  <a:srgbClr val="3986FF"/>
                </a:solidFill>
                <a:latin typeface="Calibri"/>
                <a:cs typeface="Calibri"/>
              </a:rPr>
              <a:t>Rigid capacity: </a:t>
            </a:r>
            <a:r>
              <a:rPr lang="en-US" sz="1400" b="1" spc="-10" dirty="0">
                <a:solidFill>
                  <a:schemeClr val="tx1"/>
                </a:solidFill>
                <a:latin typeface="Calibri"/>
                <a:cs typeface="Calibri"/>
              </a:rPr>
              <a:t>cannot scale naturally for longer sentences </a:t>
            </a:r>
          </a:p>
          <a:p>
            <a:pPr marL="580390" indent="-285750">
              <a:lnSpc>
                <a:spcPct val="100000"/>
              </a:lnSpc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b="1" spc="-10" dirty="0">
                <a:solidFill>
                  <a:srgbClr val="3986FF"/>
                </a:solidFill>
                <a:latin typeface="Calibri"/>
                <a:cs typeface="Calibri"/>
              </a:rPr>
              <a:t>Modern architectures bypass this vector entirely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93160" y="1304354"/>
            <a:ext cx="892175" cy="1492885"/>
          </a:xfrm>
          <a:custGeom>
            <a:avLst/>
            <a:gdLst/>
            <a:ahLst/>
            <a:cxnLst/>
            <a:rect l="l" t="t" r="r" b="b"/>
            <a:pathLst>
              <a:path w="892175" h="1492885">
                <a:moveTo>
                  <a:pt x="817445" y="1404178"/>
                </a:moveTo>
                <a:lnTo>
                  <a:pt x="784605" y="1423542"/>
                </a:lnTo>
                <a:lnTo>
                  <a:pt x="891921" y="1492885"/>
                </a:lnTo>
                <a:lnTo>
                  <a:pt x="886877" y="1420622"/>
                </a:lnTo>
                <a:lnTo>
                  <a:pt x="827151" y="1420622"/>
                </a:lnTo>
                <a:lnTo>
                  <a:pt x="817445" y="1404178"/>
                </a:lnTo>
                <a:close/>
              </a:path>
              <a:path w="892175" h="1492885">
                <a:moveTo>
                  <a:pt x="850258" y="1384829"/>
                </a:moveTo>
                <a:lnTo>
                  <a:pt x="817445" y="1404178"/>
                </a:lnTo>
                <a:lnTo>
                  <a:pt x="827151" y="1420622"/>
                </a:lnTo>
                <a:lnTo>
                  <a:pt x="859916" y="1401190"/>
                </a:lnTo>
                <a:lnTo>
                  <a:pt x="850258" y="1384829"/>
                </a:lnTo>
                <a:close/>
              </a:path>
              <a:path w="892175" h="1492885">
                <a:moveTo>
                  <a:pt x="883030" y="1365503"/>
                </a:moveTo>
                <a:lnTo>
                  <a:pt x="850258" y="1384829"/>
                </a:lnTo>
                <a:lnTo>
                  <a:pt x="859916" y="1401190"/>
                </a:lnTo>
                <a:lnTo>
                  <a:pt x="827151" y="1420622"/>
                </a:lnTo>
                <a:lnTo>
                  <a:pt x="886877" y="1420622"/>
                </a:lnTo>
                <a:lnTo>
                  <a:pt x="883030" y="1365503"/>
                </a:lnTo>
                <a:close/>
              </a:path>
              <a:path w="892175" h="1492885">
                <a:moveTo>
                  <a:pt x="32765" y="0"/>
                </a:moveTo>
                <a:lnTo>
                  <a:pt x="0" y="19303"/>
                </a:lnTo>
                <a:lnTo>
                  <a:pt x="817445" y="1404178"/>
                </a:lnTo>
                <a:lnTo>
                  <a:pt x="850258" y="1384829"/>
                </a:lnTo>
                <a:lnTo>
                  <a:pt x="32765" y="0"/>
                </a:lnTo>
                <a:close/>
              </a:path>
            </a:pathLst>
          </a:custGeom>
          <a:solidFill>
            <a:srgbClr val="E9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D2CAB-B6B3-94AE-1DCA-B7333F358FD3}"/>
              </a:ext>
            </a:extLst>
          </p:cNvPr>
          <p:cNvSpPr txBox="1"/>
          <p:nvPr/>
        </p:nvSpPr>
        <p:spPr>
          <a:xfrm>
            <a:off x="1219200" y="1761866"/>
            <a:ext cx="2108709" cy="4265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i="0" u="none" dirty="0">
                <a:solidFill>
                  <a:srgbClr val="EA580C"/>
                </a:solidFill>
                <a:latin typeface="Inter"/>
              </a:rPr>
              <a:t>All source meaning forced into one fixed-size representation.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3.</a:t>
            </a:r>
            <a:r>
              <a:rPr spc="-5" dirty="0"/>
              <a:t> </a:t>
            </a:r>
            <a:r>
              <a:rPr spc="-10" dirty="0"/>
              <a:t>Attention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495" y="1159319"/>
            <a:ext cx="10891520" cy="1633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50" b="1" dirty="0">
                <a:solidFill>
                  <a:srgbClr val="5D4A3B"/>
                </a:solidFill>
                <a:latin typeface="Calibri"/>
                <a:cs typeface="Calibri"/>
              </a:rPr>
              <a:t>Attention</a:t>
            </a:r>
            <a:r>
              <a:rPr sz="2350" b="1" spc="70" dirty="0">
                <a:solidFill>
                  <a:srgbClr val="5D4A3B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provides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1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solution</a:t>
            </a:r>
            <a:r>
              <a:rPr sz="2350" spc="9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9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bottleneck</a:t>
            </a:r>
            <a:r>
              <a:rPr sz="2350" spc="13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problem.</a:t>
            </a:r>
            <a:endParaRPr sz="2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35"/>
              </a:spcBef>
              <a:buClr>
                <a:srgbClr val="8B1515"/>
              </a:buClr>
              <a:buFont typeface="Times New Roman"/>
              <a:buChar char="•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50" b="1" dirty="0">
                <a:latin typeface="Calibri"/>
                <a:cs typeface="Calibri"/>
              </a:rPr>
              <a:t>Core</a:t>
            </a:r>
            <a:r>
              <a:rPr sz="2350" b="1" spc="12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idea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on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each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step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9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decoder,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use</a:t>
            </a:r>
            <a:r>
              <a:rPr sz="2350" spc="5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direct</a:t>
            </a:r>
            <a:r>
              <a:rPr sz="2350" i="1" spc="9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connection</a:t>
            </a:r>
            <a:r>
              <a:rPr sz="2350" i="1" spc="10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to</a:t>
            </a:r>
            <a:r>
              <a:rPr sz="2350" i="1" spc="2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the</a:t>
            </a:r>
            <a:r>
              <a:rPr sz="2350" i="1" spc="4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encoder</a:t>
            </a:r>
            <a:r>
              <a:rPr sz="2350" i="1" spc="10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i="1" spc="-10" dirty="0">
                <a:solidFill>
                  <a:srgbClr val="FF2FED"/>
                </a:solidFill>
                <a:latin typeface="Calibri"/>
                <a:cs typeface="Calibri"/>
              </a:rPr>
              <a:t>focus</a:t>
            </a:r>
            <a:endParaRPr sz="23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0"/>
              </a:spcBef>
            </a:pP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on</a:t>
            </a:r>
            <a:r>
              <a:rPr sz="2350" i="1" spc="12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a</a:t>
            </a:r>
            <a:r>
              <a:rPr sz="2350" i="1" spc="4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particular</a:t>
            </a:r>
            <a:r>
              <a:rPr sz="2350" i="1" spc="9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part</a:t>
            </a:r>
            <a:r>
              <a:rPr sz="2350" i="1" spc="5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source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sequence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95" y="5041138"/>
            <a:ext cx="1030922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50" dirty="0">
                <a:latin typeface="Calibri"/>
                <a:cs typeface="Calibri"/>
              </a:rPr>
              <a:t>First, we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will</a:t>
            </a:r>
            <a:r>
              <a:rPr sz="2350" spc="13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show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via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diagram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(no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equations),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then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we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will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show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with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equations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9363" y="3239540"/>
            <a:ext cx="1963192" cy="15061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dirty="0"/>
              <a:t>starting</a:t>
            </a:r>
            <a:r>
              <a:rPr spc="85" dirty="0"/>
              <a:t> </a:t>
            </a:r>
            <a:r>
              <a:rPr dirty="0"/>
              <a:t>point:</a:t>
            </a:r>
            <a:r>
              <a:rPr spc="145" dirty="0"/>
              <a:t> </a:t>
            </a:r>
            <a:r>
              <a:rPr dirty="0"/>
              <a:t>mean-pooling</a:t>
            </a:r>
            <a:r>
              <a:rPr spc="85" dirty="0"/>
              <a:t> </a:t>
            </a:r>
            <a:r>
              <a:rPr dirty="0"/>
              <a:t>for</a:t>
            </a:r>
            <a:r>
              <a:rPr spc="105" dirty="0"/>
              <a:t> </a:t>
            </a:r>
            <a:r>
              <a:rPr spc="-20" dirty="0"/>
              <a:t>RNNs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495" y="5212651"/>
            <a:ext cx="11116945" cy="991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7905">
              <a:lnSpc>
                <a:spcPct val="100000"/>
              </a:lnSpc>
              <a:spcBef>
                <a:spcPts val="135"/>
              </a:spcBef>
              <a:tabLst>
                <a:tab pos="3449954" algn="l"/>
                <a:tab pos="4019550" algn="l"/>
                <a:tab pos="5095875" algn="l"/>
                <a:tab pos="5893435" algn="l"/>
                <a:tab pos="6998334" algn="l"/>
                <a:tab pos="7817484" algn="l"/>
              </a:tabLst>
            </a:pPr>
            <a:r>
              <a:rPr sz="1550" i="1" spc="-10" dirty="0">
                <a:latin typeface="Calibri"/>
                <a:cs typeface="Calibri"/>
              </a:rPr>
              <a:t>overall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50" dirty="0">
                <a:latin typeface="Calibri"/>
                <a:cs typeface="Calibri"/>
              </a:rPr>
              <a:t>I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enjoyed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2325" i="1" spc="-37" baseline="1792" dirty="0">
                <a:latin typeface="Calibri"/>
                <a:cs typeface="Calibri"/>
              </a:rPr>
              <a:t>the</a:t>
            </a:r>
            <a:r>
              <a:rPr sz="2325" i="1" baseline="1792" dirty="0">
                <a:latin typeface="Calibri"/>
                <a:cs typeface="Calibri"/>
              </a:rPr>
              <a:t>	</a:t>
            </a:r>
            <a:r>
              <a:rPr sz="2325" i="1" spc="-15" baseline="1792" dirty="0">
                <a:latin typeface="Calibri"/>
                <a:cs typeface="Calibri"/>
              </a:rPr>
              <a:t>movie</a:t>
            </a:r>
            <a:r>
              <a:rPr sz="2325" i="1" baseline="1792" dirty="0">
                <a:latin typeface="Calibri"/>
                <a:cs typeface="Calibri"/>
              </a:rPr>
              <a:t>	</a:t>
            </a:r>
            <a:r>
              <a:rPr sz="2325" i="1" spc="-75" baseline="1792" dirty="0">
                <a:latin typeface="Calibri"/>
                <a:cs typeface="Calibri"/>
              </a:rPr>
              <a:t>a</a:t>
            </a:r>
            <a:r>
              <a:rPr sz="2325" i="1" baseline="1792" dirty="0">
                <a:latin typeface="Calibri"/>
                <a:cs typeface="Calibri"/>
              </a:rPr>
              <a:t>	</a:t>
            </a:r>
            <a:r>
              <a:rPr sz="2325" i="1" spc="-37" baseline="1792" dirty="0">
                <a:latin typeface="Calibri"/>
                <a:cs typeface="Calibri"/>
              </a:rPr>
              <a:t>lot</a:t>
            </a:r>
            <a:endParaRPr sz="2325" baseline="1792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50" dirty="0">
                <a:latin typeface="Calibri"/>
                <a:cs typeface="Calibri"/>
              </a:rPr>
              <a:t>Starting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point: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i="1" dirty="0">
                <a:latin typeface="Calibri"/>
                <a:cs typeface="Calibri"/>
              </a:rPr>
              <a:t>very</a:t>
            </a:r>
            <a:r>
              <a:rPr sz="2350" i="1" spc="1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basic</a:t>
            </a:r>
            <a:r>
              <a:rPr sz="2350" spc="1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way</a:t>
            </a:r>
            <a:r>
              <a:rPr sz="2350" spc="1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‘passing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information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from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encoder’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is</a:t>
            </a:r>
            <a:r>
              <a:rPr sz="2350" spc="1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i="1" spc="-10" dirty="0">
                <a:latin typeface="Calibri"/>
                <a:cs typeface="Calibri"/>
              </a:rPr>
              <a:t>average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9979" y="3821810"/>
            <a:ext cx="5679186" cy="1371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39334" y="1402778"/>
            <a:ext cx="773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positive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59171" y="2102739"/>
            <a:ext cx="330200" cy="915669"/>
            <a:chOff x="5559171" y="2102739"/>
            <a:chExt cx="330200" cy="91566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611" y="2185035"/>
              <a:ext cx="147065" cy="1470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0611" y="2377059"/>
              <a:ext cx="147065" cy="15621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611" y="2578227"/>
              <a:ext cx="147065" cy="1470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611" y="2770251"/>
              <a:ext cx="147065" cy="1470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568696" y="2112264"/>
              <a:ext cx="311150" cy="896619"/>
            </a:xfrm>
            <a:custGeom>
              <a:avLst/>
              <a:gdLst/>
              <a:ahLst/>
              <a:cxnLst/>
              <a:rect l="l" t="t" r="r" b="b"/>
              <a:pathLst>
                <a:path w="311150" h="896619">
                  <a:moveTo>
                    <a:pt x="259079" y="0"/>
                  </a:moveTo>
                  <a:lnTo>
                    <a:pt x="279231" y="4060"/>
                  </a:lnTo>
                  <a:lnTo>
                    <a:pt x="295703" y="15144"/>
                  </a:lnTo>
                  <a:lnTo>
                    <a:pt x="306818" y="31611"/>
                  </a:lnTo>
                  <a:lnTo>
                    <a:pt x="310895" y="51815"/>
                  </a:lnTo>
                  <a:lnTo>
                    <a:pt x="310895" y="844296"/>
                  </a:lnTo>
                  <a:lnTo>
                    <a:pt x="306818" y="864447"/>
                  </a:lnTo>
                  <a:lnTo>
                    <a:pt x="295703" y="880919"/>
                  </a:lnTo>
                  <a:lnTo>
                    <a:pt x="279231" y="892034"/>
                  </a:lnTo>
                  <a:lnTo>
                    <a:pt x="259079" y="896112"/>
                  </a:lnTo>
                  <a:lnTo>
                    <a:pt x="51815" y="896112"/>
                  </a:lnTo>
                  <a:lnTo>
                    <a:pt x="31664" y="892034"/>
                  </a:lnTo>
                  <a:lnTo>
                    <a:pt x="15192" y="880919"/>
                  </a:lnTo>
                  <a:lnTo>
                    <a:pt x="4077" y="864447"/>
                  </a:lnTo>
                  <a:lnTo>
                    <a:pt x="0" y="844296"/>
                  </a:lnTo>
                  <a:lnTo>
                    <a:pt x="0" y="51815"/>
                  </a:lnTo>
                  <a:lnTo>
                    <a:pt x="4077" y="31611"/>
                  </a:lnTo>
                  <a:lnTo>
                    <a:pt x="15192" y="15144"/>
                  </a:lnTo>
                  <a:lnTo>
                    <a:pt x="31664" y="4060"/>
                  </a:lnTo>
                  <a:lnTo>
                    <a:pt x="51815" y="0"/>
                  </a:lnTo>
                  <a:lnTo>
                    <a:pt x="259079" y="0"/>
                  </a:lnTo>
                  <a:close/>
                </a:path>
              </a:pathLst>
            </a:custGeom>
            <a:ln w="19049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13733" y="2373312"/>
            <a:ext cx="8794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Calibri"/>
                <a:cs typeface="Calibri"/>
              </a:rPr>
              <a:t>Sentence 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42158" y="1664207"/>
            <a:ext cx="5357495" cy="2191385"/>
          </a:xfrm>
          <a:custGeom>
            <a:avLst/>
            <a:gdLst/>
            <a:ahLst/>
            <a:cxnLst/>
            <a:rect l="l" t="t" r="r" b="b"/>
            <a:pathLst>
              <a:path w="5357495" h="2191385">
                <a:moveTo>
                  <a:pt x="2746502" y="94742"/>
                </a:moveTo>
                <a:lnTo>
                  <a:pt x="2743835" y="90297"/>
                </a:lnTo>
                <a:lnTo>
                  <a:pt x="2702090" y="18796"/>
                </a:lnTo>
                <a:lnTo>
                  <a:pt x="2691130" y="0"/>
                </a:lnTo>
                <a:lnTo>
                  <a:pt x="2638425" y="90297"/>
                </a:lnTo>
                <a:lnTo>
                  <a:pt x="2635758" y="94742"/>
                </a:lnTo>
                <a:lnTo>
                  <a:pt x="2637282" y="100584"/>
                </a:lnTo>
                <a:lnTo>
                  <a:pt x="2646426" y="105918"/>
                </a:lnTo>
                <a:lnTo>
                  <a:pt x="2652268" y="104394"/>
                </a:lnTo>
                <a:lnTo>
                  <a:pt x="2681605" y="54102"/>
                </a:lnTo>
                <a:lnTo>
                  <a:pt x="2681605" y="447675"/>
                </a:lnTo>
                <a:lnTo>
                  <a:pt x="2700655" y="447675"/>
                </a:lnTo>
                <a:lnTo>
                  <a:pt x="2700655" y="54102"/>
                </a:lnTo>
                <a:lnTo>
                  <a:pt x="2729992" y="104394"/>
                </a:lnTo>
                <a:lnTo>
                  <a:pt x="2735834" y="105918"/>
                </a:lnTo>
                <a:lnTo>
                  <a:pt x="2744978" y="100584"/>
                </a:lnTo>
                <a:lnTo>
                  <a:pt x="2746502" y="94742"/>
                </a:lnTo>
                <a:close/>
              </a:path>
              <a:path w="5357495" h="2191385">
                <a:moveTo>
                  <a:pt x="5356987" y="2164715"/>
                </a:moveTo>
                <a:lnTo>
                  <a:pt x="2754490" y="1356677"/>
                </a:lnTo>
                <a:lnTo>
                  <a:pt x="2792984" y="1353185"/>
                </a:lnTo>
                <a:lnTo>
                  <a:pt x="2796921" y="1348613"/>
                </a:lnTo>
                <a:lnTo>
                  <a:pt x="2796489" y="1344168"/>
                </a:lnTo>
                <a:lnTo>
                  <a:pt x="2796425" y="1343533"/>
                </a:lnTo>
                <a:lnTo>
                  <a:pt x="2795905" y="1338072"/>
                </a:lnTo>
                <a:lnTo>
                  <a:pt x="2794089" y="1336573"/>
                </a:lnTo>
                <a:lnTo>
                  <a:pt x="2796413" y="1332865"/>
                </a:lnTo>
                <a:lnTo>
                  <a:pt x="2795270" y="1327785"/>
                </a:lnTo>
                <a:lnTo>
                  <a:pt x="2794000" y="1322578"/>
                </a:lnTo>
                <a:lnTo>
                  <a:pt x="2788920" y="1319403"/>
                </a:lnTo>
                <a:lnTo>
                  <a:pt x="2684640" y="1343558"/>
                </a:lnTo>
                <a:lnTo>
                  <a:pt x="2671902" y="1340612"/>
                </a:lnTo>
                <a:lnTo>
                  <a:pt x="2580386" y="1319530"/>
                </a:lnTo>
                <a:lnTo>
                  <a:pt x="2575179" y="1322705"/>
                </a:lnTo>
                <a:lnTo>
                  <a:pt x="2574036" y="1327912"/>
                </a:lnTo>
                <a:lnTo>
                  <a:pt x="2572893" y="1332992"/>
                </a:lnTo>
                <a:lnTo>
                  <a:pt x="2573629" y="1334173"/>
                </a:lnTo>
                <a:lnTo>
                  <a:pt x="2571877" y="1334008"/>
                </a:lnTo>
                <a:lnTo>
                  <a:pt x="2567305" y="1337818"/>
                </a:lnTo>
                <a:lnTo>
                  <a:pt x="2566289" y="1348359"/>
                </a:lnTo>
                <a:lnTo>
                  <a:pt x="2570099" y="1352931"/>
                </a:lnTo>
                <a:lnTo>
                  <a:pt x="2613901" y="1357020"/>
                </a:lnTo>
                <a:lnTo>
                  <a:pt x="0" y="2172462"/>
                </a:lnTo>
                <a:lnTo>
                  <a:pt x="5588" y="2190623"/>
                </a:lnTo>
                <a:lnTo>
                  <a:pt x="2534856" y="1401737"/>
                </a:lnTo>
                <a:lnTo>
                  <a:pt x="876554" y="2173732"/>
                </a:lnTo>
                <a:lnTo>
                  <a:pt x="884682" y="2191004"/>
                </a:lnTo>
                <a:lnTo>
                  <a:pt x="2630259" y="1378331"/>
                </a:lnTo>
                <a:lnTo>
                  <a:pt x="2602738" y="1408430"/>
                </a:lnTo>
                <a:lnTo>
                  <a:pt x="2599817" y="1411668"/>
                </a:lnTo>
                <a:lnTo>
                  <a:pt x="1779397" y="2174621"/>
                </a:lnTo>
                <a:lnTo>
                  <a:pt x="1792351" y="2188591"/>
                </a:lnTo>
                <a:lnTo>
                  <a:pt x="2606687" y="1431290"/>
                </a:lnTo>
                <a:lnTo>
                  <a:pt x="2608326" y="1432433"/>
                </a:lnTo>
                <a:lnTo>
                  <a:pt x="2612644" y="1435354"/>
                </a:lnTo>
                <a:lnTo>
                  <a:pt x="2618613" y="1434338"/>
                </a:lnTo>
                <a:lnTo>
                  <a:pt x="2621534" y="1430020"/>
                </a:lnTo>
                <a:lnTo>
                  <a:pt x="2646210" y="1394536"/>
                </a:lnTo>
                <a:lnTo>
                  <a:pt x="2653220" y="1388008"/>
                </a:lnTo>
                <a:lnTo>
                  <a:pt x="2645524" y="1413459"/>
                </a:lnTo>
                <a:lnTo>
                  <a:pt x="2633345" y="1434084"/>
                </a:lnTo>
                <a:lnTo>
                  <a:pt x="2630678" y="1438656"/>
                </a:lnTo>
                <a:lnTo>
                  <a:pt x="2632125" y="1444244"/>
                </a:lnTo>
                <a:lnTo>
                  <a:pt x="2632202" y="1444498"/>
                </a:lnTo>
                <a:lnTo>
                  <a:pt x="2636774" y="1447165"/>
                </a:lnTo>
                <a:lnTo>
                  <a:pt x="2638983" y="1448498"/>
                </a:lnTo>
                <a:lnTo>
                  <a:pt x="2639377" y="1449197"/>
                </a:lnTo>
                <a:lnTo>
                  <a:pt x="2639720" y="1449197"/>
                </a:lnTo>
                <a:lnTo>
                  <a:pt x="2640609" y="1449476"/>
                </a:lnTo>
                <a:lnTo>
                  <a:pt x="2641219" y="1449832"/>
                </a:lnTo>
                <a:lnTo>
                  <a:pt x="2641536" y="1449755"/>
                </a:lnTo>
                <a:lnTo>
                  <a:pt x="2649347" y="1452118"/>
                </a:lnTo>
                <a:lnTo>
                  <a:pt x="2654681" y="1449197"/>
                </a:lnTo>
                <a:lnTo>
                  <a:pt x="2663126" y="1421257"/>
                </a:lnTo>
                <a:lnTo>
                  <a:pt x="2676664" y="1398308"/>
                </a:lnTo>
                <a:lnTo>
                  <a:pt x="2676791" y="1381950"/>
                </a:lnTo>
                <a:lnTo>
                  <a:pt x="2676702" y="1398308"/>
                </a:lnTo>
                <a:lnTo>
                  <a:pt x="2672448" y="2170938"/>
                </a:lnTo>
                <a:lnTo>
                  <a:pt x="2691511" y="2170938"/>
                </a:lnTo>
                <a:lnTo>
                  <a:pt x="2695752" y="1398308"/>
                </a:lnTo>
                <a:lnTo>
                  <a:pt x="2700820" y="1407121"/>
                </a:lnTo>
                <a:lnTo>
                  <a:pt x="2713393" y="1449070"/>
                </a:lnTo>
                <a:lnTo>
                  <a:pt x="2713482" y="1449324"/>
                </a:lnTo>
                <a:lnTo>
                  <a:pt x="2718816" y="1452118"/>
                </a:lnTo>
                <a:lnTo>
                  <a:pt x="2727452" y="1449501"/>
                </a:lnTo>
                <a:lnTo>
                  <a:pt x="2730627" y="1450340"/>
                </a:lnTo>
                <a:lnTo>
                  <a:pt x="2735199" y="1447673"/>
                </a:lnTo>
                <a:lnTo>
                  <a:pt x="2739771" y="1445133"/>
                </a:lnTo>
                <a:lnTo>
                  <a:pt x="2741422" y="1439291"/>
                </a:lnTo>
                <a:lnTo>
                  <a:pt x="2738755" y="1434719"/>
                </a:lnTo>
                <a:lnTo>
                  <a:pt x="2718346" y="1399286"/>
                </a:lnTo>
                <a:lnTo>
                  <a:pt x="2717025" y="1394866"/>
                </a:lnTo>
                <a:lnTo>
                  <a:pt x="2741422" y="1430147"/>
                </a:lnTo>
                <a:lnTo>
                  <a:pt x="2744343" y="1434465"/>
                </a:lnTo>
                <a:lnTo>
                  <a:pt x="2750312" y="1435608"/>
                </a:lnTo>
                <a:lnTo>
                  <a:pt x="2758948" y="1429512"/>
                </a:lnTo>
                <a:lnTo>
                  <a:pt x="2758998" y="1429181"/>
                </a:lnTo>
                <a:lnTo>
                  <a:pt x="3563620" y="2180844"/>
                </a:lnTo>
                <a:lnTo>
                  <a:pt x="3576688" y="2166874"/>
                </a:lnTo>
                <a:lnTo>
                  <a:pt x="2770073" y="1413332"/>
                </a:lnTo>
                <a:lnTo>
                  <a:pt x="2770124" y="1412240"/>
                </a:lnTo>
                <a:lnTo>
                  <a:pt x="2766568" y="1408303"/>
                </a:lnTo>
                <a:lnTo>
                  <a:pt x="2744101" y="1383804"/>
                </a:lnTo>
                <a:lnTo>
                  <a:pt x="4450080" y="2183257"/>
                </a:lnTo>
                <a:lnTo>
                  <a:pt x="4458208" y="2166112"/>
                </a:lnTo>
                <a:lnTo>
                  <a:pt x="2811145" y="1394206"/>
                </a:lnTo>
                <a:lnTo>
                  <a:pt x="5351399" y="2183003"/>
                </a:lnTo>
                <a:lnTo>
                  <a:pt x="5356987" y="2164715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13956" y="1341818"/>
            <a:ext cx="1882139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98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How</a:t>
            </a:r>
            <a:r>
              <a:rPr sz="1800" spc="-5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to</a:t>
            </a:r>
            <a:r>
              <a:rPr sz="1800" spc="-10" dirty="0">
                <a:solidFill>
                  <a:srgbClr val="FF2FED"/>
                </a:solidFill>
                <a:latin typeface="Calibri"/>
                <a:cs typeface="Calibri"/>
              </a:rPr>
              <a:t> compute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sentence</a:t>
            </a:r>
            <a:r>
              <a:rPr sz="1800" spc="-6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2FED"/>
                </a:solidFill>
                <a:latin typeface="Calibri"/>
                <a:cs typeface="Calibri"/>
              </a:rPr>
              <a:t>encoding?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7075423" y="2165794"/>
            <a:ext cx="1751964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444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2FED"/>
                </a:solidFill>
                <a:latin typeface="Calibri"/>
                <a:cs typeface="Calibri"/>
              </a:rPr>
              <a:t>Usually</a:t>
            </a:r>
            <a:r>
              <a:rPr sz="1800" b="1" spc="-10" dirty="0">
                <a:solidFill>
                  <a:srgbClr val="FF2FED"/>
                </a:solidFill>
                <a:latin typeface="Calibri"/>
                <a:cs typeface="Calibri"/>
              </a:rPr>
              <a:t> better</a:t>
            </a:r>
            <a:r>
              <a:rPr sz="1800" spc="-10" dirty="0">
                <a:solidFill>
                  <a:srgbClr val="FF2FED"/>
                </a:solidFill>
                <a:latin typeface="Calibri"/>
                <a:cs typeface="Calibri"/>
              </a:rPr>
              <a:t>: </a:t>
            </a:r>
            <a:r>
              <a:rPr sz="1800" spc="-45" dirty="0">
                <a:solidFill>
                  <a:srgbClr val="FF2FED"/>
                </a:solidFill>
                <a:latin typeface="Calibri"/>
                <a:cs typeface="Calibri"/>
              </a:rPr>
              <a:t>Take</a:t>
            </a:r>
            <a:r>
              <a:rPr sz="1800" spc="5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2FED"/>
                </a:solidFill>
                <a:latin typeface="Calibri"/>
                <a:cs typeface="Calibri"/>
              </a:rPr>
              <a:t>element-wise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max</a:t>
            </a:r>
            <a:r>
              <a:rPr sz="1800" spc="-7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or</a:t>
            </a:r>
            <a:r>
              <a:rPr sz="1800" spc="1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mean</a:t>
            </a:r>
            <a:r>
              <a:rPr sz="1800" spc="-2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2FED"/>
                </a:solidFill>
                <a:latin typeface="Calibri"/>
                <a:cs typeface="Calibri"/>
              </a:rPr>
              <a:t>all </a:t>
            </a:r>
            <a:r>
              <a:rPr sz="1800" dirty="0">
                <a:solidFill>
                  <a:srgbClr val="FF2FED"/>
                </a:solidFill>
                <a:latin typeface="Calibri"/>
                <a:cs typeface="Calibri"/>
              </a:rPr>
              <a:t>hidden</a:t>
            </a:r>
            <a:r>
              <a:rPr sz="1800" spc="-3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2FED"/>
                </a:solidFill>
                <a:latin typeface="Calibri"/>
                <a:cs typeface="Calibri"/>
              </a:rPr>
              <a:t>states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Attention</a:t>
            </a:r>
            <a:r>
              <a:rPr spc="70" dirty="0"/>
              <a:t> </a:t>
            </a:r>
            <a:r>
              <a:rPr dirty="0"/>
              <a:t>is</a:t>
            </a:r>
            <a:r>
              <a:rPr spc="120" dirty="0"/>
              <a:t> </a:t>
            </a:r>
            <a:r>
              <a:rPr i="1" dirty="0">
                <a:latin typeface="Calibri"/>
                <a:cs typeface="Calibri"/>
              </a:rPr>
              <a:t>weighted</a:t>
            </a:r>
            <a:r>
              <a:rPr i="1" spc="110" dirty="0">
                <a:latin typeface="Calibri"/>
                <a:cs typeface="Calibri"/>
              </a:rPr>
              <a:t> </a:t>
            </a:r>
            <a:r>
              <a:rPr dirty="0"/>
              <a:t>averaging,</a:t>
            </a:r>
            <a:r>
              <a:rPr spc="40" dirty="0"/>
              <a:t> </a:t>
            </a:r>
            <a:r>
              <a:rPr dirty="0"/>
              <a:t>which</a:t>
            </a:r>
            <a:r>
              <a:rPr spc="85" dirty="0"/>
              <a:t> </a:t>
            </a:r>
            <a:r>
              <a:rPr dirty="0"/>
              <a:t>lets</a:t>
            </a:r>
            <a:r>
              <a:rPr spc="90" dirty="0"/>
              <a:t> </a:t>
            </a:r>
            <a:r>
              <a:rPr dirty="0"/>
              <a:t>you</a:t>
            </a:r>
            <a:r>
              <a:rPr spc="85" dirty="0"/>
              <a:t> </a:t>
            </a:r>
            <a:r>
              <a:rPr dirty="0"/>
              <a:t>do</a:t>
            </a:r>
            <a:r>
              <a:rPr spc="85" dirty="0"/>
              <a:t> </a:t>
            </a:r>
            <a:r>
              <a:rPr spc="-10" dirty="0"/>
              <a:t>lookups!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4304" y="3099484"/>
            <a:ext cx="3903290" cy="32463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1395" y="1162748"/>
            <a:ext cx="1022350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just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weighted</a:t>
            </a:r>
            <a:r>
              <a:rPr sz="2300" b="1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average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very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powerful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weights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learned!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9295" y="1738820"/>
            <a:ext cx="4991735" cy="1082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lookup</a:t>
            </a:r>
            <a:r>
              <a:rPr sz="2300" b="1" spc="-4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table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table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b="1" spc="-20" dirty="0">
                <a:solidFill>
                  <a:srgbClr val="BA792B"/>
                </a:solidFill>
                <a:latin typeface="Calibri"/>
                <a:cs typeface="Calibri"/>
              </a:rPr>
              <a:t>keys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map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609D93"/>
                </a:solidFill>
                <a:latin typeface="Calibri"/>
                <a:cs typeface="Calibri"/>
              </a:rPr>
              <a:t>values</a:t>
            </a:r>
            <a:r>
              <a:rPr sz="2300" dirty="0">
                <a:latin typeface="Calibri"/>
                <a:cs typeface="Calibri"/>
              </a:rPr>
              <a:t>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EA7171"/>
                </a:solidFill>
                <a:latin typeface="Calibri"/>
                <a:cs typeface="Calibri"/>
              </a:rPr>
              <a:t>query</a:t>
            </a:r>
            <a:r>
              <a:rPr sz="2300" b="1" spc="-20" dirty="0">
                <a:solidFill>
                  <a:srgbClr val="EA7171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matches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keys,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returning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value.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99022" y="1892790"/>
            <a:ext cx="97790" cy="4631690"/>
            <a:chOff x="6199022" y="1892790"/>
            <a:chExt cx="97790" cy="46316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9022" y="1892790"/>
              <a:ext cx="97231" cy="463148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49923" y="1906523"/>
              <a:ext cx="0" cy="4571365"/>
            </a:xfrm>
            <a:custGeom>
              <a:avLst/>
              <a:gdLst/>
              <a:ahLst/>
              <a:cxnLst/>
              <a:rect l="l" t="t" r="r" b="b"/>
              <a:pathLst>
                <a:path h="4571365">
                  <a:moveTo>
                    <a:pt x="0" y="0"/>
                  </a:moveTo>
                  <a:lnTo>
                    <a:pt x="0" y="457097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" y="3251151"/>
            <a:ext cx="5166360" cy="32776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5267" y="1744217"/>
            <a:ext cx="5582920" cy="1082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600"/>
              </a:lnSpc>
              <a:spcBef>
                <a:spcPts val="90"/>
              </a:spcBef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attention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EA7171"/>
                </a:solidFill>
                <a:latin typeface="Calibri"/>
                <a:cs typeface="Calibri"/>
              </a:rPr>
              <a:t>query</a:t>
            </a:r>
            <a:r>
              <a:rPr sz="2300" b="1" spc="-35" dirty="0">
                <a:solidFill>
                  <a:srgbClr val="EA7171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matches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BA792B"/>
                </a:solidFill>
                <a:latin typeface="Calibri"/>
                <a:cs typeface="Calibri"/>
              </a:rPr>
              <a:t>keys</a:t>
            </a:r>
            <a:r>
              <a:rPr sz="2300" b="1" spc="-60" dirty="0">
                <a:solidFill>
                  <a:srgbClr val="BA792B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softly</a:t>
            </a:r>
            <a:r>
              <a:rPr sz="2300" spc="-10" dirty="0">
                <a:latin typeface="Calibri"/>
                <a:cs typeface="Calibri"/>
              </a:rPr>
              <a:t>,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weight</a:t>
            </a:r>
            <a:r>
              <a:rPr sz="2300" spc="-10" dirty="0">
                <a:latin typeface="Calibri"/>
                <a:cs typeface="Calibri"/>
              </a:rPr>
              <a:t> between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0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1.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keys’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609D93"/>
                </a:solidFill>
                <a:latin typeface="Calibri"/>
                <a:cs typeface="Calibri"/>
              </a:rPr>
              <a:t>values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multiplied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weights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summed.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Sequence-to-sequence</a:t>
            </a:r>
            <a:r>
              <a:rPr spc="18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spc="-1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05075" y="2014727"/>
            <a:ext cx="3402329" cy="3679190"/>
            <a:chOff x="2505075" y="2014727"/>
            <a:chExt cx="3402329" cy="3679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370451"/>
              <a:ext cx="128778" cy="1287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535042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708779"/>
              <a:ext cx="128778" cy="1287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873370"/>
              <a:ext cx="128778" cy="128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600" y="4306823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1" y="12906"/>
                  </a:lnTo>
                  <a:lnTo>
                    <a:pt x="261699" y="26949"/>
                  </a:lnTo>
                  <a:lnTo>
                    <a:pt x="265175" y="44195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1" y="764285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5"/>
                  </a:lnTo>
                  <a:lnTo>
                    <a:pt x="3476" y="26949"/>
                  </a:lnTo>
                  <a:lnTo>
                    <a:pt x="12954" y="12906"/>
                  </a:lnTo>
                  <a:lnTo>
                    <a:pt x="27003" y="3458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4635499"/>
              <a:ext cx="528320" cy="1058545"/>
            </a:xfrm>
            <a:custGeom>
              <a:avLst/>
              <a:gdLst/>
              <a:ahLst/>
              <a:cxnLst/>
              <a:rect l="l" t="t" r="r" b="b"/>
              <a:pathLst>
                <a:path w="528319" h="1058545">
                  <a:moveTo>
                    <a:pt x="110744" y="543306"/>
                  </a:moveTo>
                  <a:lnTo>
                    <a:pt x="66408" y="467360"/>
                  </a:lnTo>
                  <a:lnTo>
                    <a:pt x="55372" y="448437"/>
                  </a:lnTo>
                  <a:lnTo>
                    <a:pt x="0" y="543306"/>
                  </a:lnTo>
                  <a:lnTo>
                    <a:pt x="1524" y="549148"/>
                  </a:lnTo>
                  <a:lnTo>
                    <a:pt x="10668" y="554482"/>
                  </a:lnTo>
                  <a:lnTo>
                    <a:pt x="16510" y="552958"/>
                  </a:lnTo>
                  <a:lnTo>
                    <a:pt x="45834" y="502666"/>
                  </a:lnTo>
                  <a:lnTo>
                    <a:pt x="45847" y="467360"/>
                  </a:lnTo>
                  <a:lnTo>
                    <a:pt x="45847" y="502666"/>
                  </a:lnTo>
                  <a:lnTo>
                    <a:pt x="45847" y="1058113"/>
                  </a:lnTo>
                  <a:lnTo>
                    <a:pt x="64897" y="1058113"/>
                  </a:lnTo>
                  <a:lnTo>
                    <a:pt x="64897" y="502666"/>
                  </a:lnTo>
                  <a:lnTo>
                    <a:pt x="94234" y="552958"/>
                  </a:lnTo>
                  <a:lnTo>
                    <a:pt x="100076" y="554482"/>
                  </a:lnTo>
                  <a:lnTo>
                    <a:pt x="109220" y="549148"/>
                  </a:lnTo>
                  <a:lnTo>
                    <a:pt x="110744" y="543306"/>
                  </a:lnTo>
                  <a:close/>
                </a:path>
                <a:path w="528319" h="1058545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723" y="4288154"/>
              <a:ext cx="2789681" cy="139631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02484" y="3630041"/>
              <a:ext cx="111125" cy="675005"/>
            </a:xfrm>
            <a:custGeom>
              <a:avLst/>
              <a:gdLst/>
              <a:ahLst/>
              <a:cxnLst/>
              <a:rect l="l" t="t" r="r" b="b"/>
              <a:pathLst>
                <a:path w="111125" h="675004">
                  <a:moveTo>
                    <a:pt x="55884" y="37901"/>
                  </a:moveTo>
                  <a:lnTo>
                    <a:pt x="46240" y="54046"/>
                  </a:lnTo>
                  <a:lnTo>
                    <a:pt x="39749" y="675004"/>
                  </a:lnTo>
                  <a:lnTo>
                    <a:pt x="58801" y="675004"/>
                  </a:lnTo>
                  <a:lnTo>
                    <a:pt x="65289" y="54414"/>
                  </a:lnTo>
                  <a:lnTo>
                    <a:pt x="55884" y="37901"/>
                  </a:lnTo>
                  <a:close/>
                </a:path>
                <a:path w="111125" h="675004">
                  <a:moveTo>
                    <a:pt x="66971" y="18795"/>
                  </a:moveTo>
                  <a:lnTo>
                    <a:pt x="46609" y="18795"/>
                  </a:lnTo>
                  <a:lnTo>
                    <a:pt x="65659" y="19049"/>
                  </a:lnTo>
                  <a:lnTo>
                    <a:pt x="65293" y="54046"/>
                  </a:lnTo>
                  <a:lnTo>
                    <a:pt x="65289" y="54414"/>
                  </a:lnTo>
                  <a:lnTo>
                    <a:pt x="91440" y="100329"/>
                  </a:lnTo>
                  <a:lnTo>
                    <a:pt x="94107" y="104901"/>
                  </a:lnTo>
                  <a:lnTo>
                    <a:pt x="99949" y="106425"/>
                  </a:lnTo>
                  <a:lnTo>
                    <a:pt x="104521" y="103885"/>
                  </a:lnTo>
                  <a:lnTo>
                    <a:pt x="109093" y="101218"/>
                  </a:lnTo>
                  <a:lnTo>
                    <a:pt x="110617" y="95503"/>
                  </a:lnTo>
                  <a:lnTo>
                    <a:pt x="108077" y="90931"/>
                  </a:lnTo>
                  <a:lnTo>
                    <a:pt x="66971" y="18795"/>
                  </a:lnTo>
                  <a:close/>
                </a:path>
                <a:path w="111125" h="675004">
                  <a:moveTo>
                    <a:pt x="56261" y="0"/>
                  </a:moveTo>
                  <a:lnTo>
                    <a:pt x="2667" y="89788"/>
                  </a:lnTo>
                  <a:lnTo>
                    <a:pt x="0" y="94360"/>
                  </a:lnTo>
                  <a:lnTo>
                    <a:pt x="1427" y="100329"/>
                  </a:lnTo>
                  <a:lnTo>
                    <a:pt x="1614" y="100329"/>
                  </a:lnTo>
                  <a:lnTo>
                    <a:pt x="10541" y="105536"/>
                  </a:lnTo>
                  <a:lnTo>
                    <a:pt x="16383" y="104139"/>
                  </a:lnTo>
                  <a:lnTo>
                    <a:pt x="19050" y="99567"/>
                  </a:lnTo>
                  <a:lnTo>
                    <a:pt x="46240" y="54046"/>
                  </a:lnTo>
                  <a:lnTo>
                    <a:pt x="46555" y="23875"/>
                  </a:lnTo>
                  <a:lnTo>
                    <a:pt x="46609" y="18795"/>
                  </a:lnTo>
                  <a:lnTo>
                    <a:pt x="66971" y="18795"/>
                  </a:lnTo>
                  <a:lnTo>
                    <a:pt x="56261" y="0"/>
                  </a:lnTo>
                  <a:close/>
                </a:path>
                <a:path w="111125" h="675004">
                  <a:moveTo>
                    <a:pt x="65611" y="23621"/>
                  </a:moveTo>
                  <a:lnTo>
                    <a:pt x="47752" y="23621"/>
                  </a:lnTo>
                  <a:lnTo>
                    <a:pt x="64262" y="23875"/>
                  </a:lnTo>
                  <a:lnTo>
                    <a:pt x="55884" y="37901"/>
                  </a:lnTo>
                  <a:lnTo>
                    <a:pt x="65289" y="54414"/>
                  </a:lnTo>
                  <a:lnTo>
                    <a:pt x="65608" y="23875"/>
                  </a:lnTo>
                  <a:lnTo>
                    <a:pt x="65611" y="23621"/>
                  </a:lnTo>
                  <a:close/>
                </a:path>
                <a:path w="111125" h="675004">
                  <a:moveTo>
                    <a:pt x="46609" y="18795"/>
                  </a:moveTo>
                  <a:lnTo>
                    <a:pt x="46240" y="54046"/>
                  </a:lnTo>
                  <a:lnTo>
                    <a:pt x="55884" y="37901"/>
                  </a:lnTo>
                  <a:lnTo>
                    <a:pt x="47752" y="23621"/>
                  </a:lnTo>
                  <a:lnTo>
                    <a:pt x="65611" y="23621"/>
                  </a:lnTo>
                  <a:lnTo>
                    <a:pt x="65659" y="19049"/>
                  </a:lnTo>
                  <a:lnTo>
                    <a:pt x="46609" y="18795"/>
                  </a:lnTo>
                  <a:close/>
                </a:path>
                <a:path w="111125" h="675004">
                  <a:moveTo>
                    <a:pt x="47752" y="23621"/>
                  </a:moveTo>
                  <a:lnTo>
                    <a:pt x="55884" y="37901"/>
                  </a:lnTo>
                  <a:lnTo>
                    <a:pt x="64262" y="23875"/>
                  </a:lnTo>
                  <a:lnTo>
                    <a:pt x="47752" y="2362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371" y="3510914"/>
              <a:ext cx="137922" cy="1287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97479" y="3578352"/>
              <a:ext cx="3073400" cy="724535"/>
            </a:xfrm>
            <a:custGeom>
              <a:avLst/>
              <a:gdLst/>
              <a:ahLst/>
              <a:cxnLst/>
              <a:rect l="l" t="t" r="r" b="b"/>
              <a:pathLst>
                <a:path w="3073400" h="724535">
                  <a:moveTo>
                    <a:pt x="54766" y="35937"/>
                  </a:moveTo>
                  <a:lnTo>
                    <a:pt x="36836" y="41661"/>
                  </a:lnTo>
                  <a:lnTo>
                    <a:pt x="50681" y="54474"/>
                  </a:lnTo>
                  <a:lnTo>
                    <a:pt x="3069335" y="724408"/>
                  </a:lnTo>
                  <a:lnTo>
                    <a:pt x="3073399" y="705866"/>
                  </a:lnTo>
                  <a:lnTo>
                    <a:pt x="54766" y="35937"/>
                  </a:lnTo>
                  <a:close/>
                </a:path>
                <a:path w="3073400" h="724535">
                  <a:moveTo>
                    <a:pt x="104520" y="0"/>
                  </a:moveTo>
                  <a:lnTo>
                    <a:pt x="99568" y="1650"/>
                  </a:lnTo>
                  <a:lnTo>
                    <a:pt x="0" y="33528"/>
                  </a:lnTo>
                  <a:lnTo>
                    <a:pt x="80518" y="108077"/>
                  </a:lnTo>
                  <a:lnTo>
                    <a:pt x="86613" y="107823"/>
                  </a:lnTo>
                  <a:lnTo>
                    <a:pt x="90169" y="103886"/>
                  </a:lnTo>
                  <a:lnTo>
                    <a:pt x="93725" y="100075"/>
                  </a:lnTo>
                  <a:lnTo>
                    <a:pt x="93471" y="94106"/>
                  </a:lnTo>
                  <a:lnTo>
                    <a:pt x="50681" y="54474"/>
                  </a:lnTo>
                  <a:lnTo>
                    <a:pt x="16382" y="46862"/>
                  </a:lnTo>
                  <a:lnTo>
                    <a:pt x="20446" y="28321"/>
                  </a:lnTo>
                  <a:lnTo>
                    <a:pt x="78626" y="28321"/>
                  </a:lnTo>
                  <a:lnTo>
                    <a:pt x="110362" y="18161"/>
                  </a:lnTo>
                  <a:lnTo>
                    <a:pt x="113156" y="12826"/>
                  </a:lnTo>
                  <a:lnTo>
                    <a:pt x="111506" y="7747"/>
                  </a:lnTo>
                  <a:lnTo>
                    <a:pt x="109855" y="2794"/>
                  </a:lnTo>
                  <a:lnTo>
                    <a:pt x="104520" y="0"/>
                  </a:lnTo>
                  <a:close/>
                </a:path>
                <a:path w="3073400" h="724535">
                  <a:moveTo>
                    <a:pt x="20446" y="28321"/>
                  </a:moveTo>
                  <a:lnTo>
                    <a:pt x="16438" y="46609"/>
                  </a:lnTo>
                  <a:lnTo>
                    <a:pt x="16382" y="46862"/>
                  </a:lnTo>
                  <a:lnTo>
                    <a:pt x="50681" y="54474"/>
                  </a:lnTo>
                  <a:lnTo>
                    <a:pt x="42182" y="46609"/>
                  </a:lnTo>
                  <a:lnTo>
                    <a:pt x="21336" y="46609"/>
                  </a:lnTo>
                  <a:lnTo>
                    <a:pt x="24892" y="30606"/>
                  </a:lnTo>
                  <a:lnTo>
                    <a:pt x="30747" y="30606"/>
                  </a:lnTo>
                  <a:lnTo>
                    <a:pt x="20446" y="28321"/>
                  </a:lnTo>
                  <a:close/>
                </a:path>
                <a:path w="3073400" h="724535">
                  <a:moveTo>
                    <a:pt x="24892" y="30606"/>
                  </a:moveTo>
                  <a:lnTo>
                    <a:pt x="21336" y="46609"/>
                  </a:lnTo>
                  <a:lnTo>
                    <a:pt x="36836" y="41661"/>
                  </a:lnTo>
                  <a:lnTo>
                    <a:pt x="24892" y="30606"/>
                  </a:lnTo>
                  <a:close/>
                </a:path>
                <a:path w="3073400" h="724535">
                  <a:moveTo>
                    <a:pt x="36836" y="41661"/>
                  </a:moveTo>
                  <a:lnTo>
                    <a:pt x="21336" y="46609"/>
                  </a:lnTo>
                  <a:lnTo>
                    <a:pt x="42182" y="46609"/>
                  </a:lnTo>
                  <a:lnTo>
                    <a:pt x="36836" y="41661"/>
                  </a:lnTo>
                  <a:close/>
                </a:path>
                <a:path w="3073400" h="724535">
                  <a:moveTo>
                    <a:pt x="30747" y="30606"/>
                  </a:moveTo>
                  <a:lnTo>
                    <a:pt x="24892" y="30606"/>
                  </a:lnTo>
                  <a:lnTo>
                    <a:pt x="36836" y="41661"/>
                  </a:lnTo>
                  <a:lnTo>
                    <a:pt x="54766" y="35937"/>
                  </a:lnTo>
                  <a:lnTo>
                    <a:pt x="30747" y="30606"/>
                  </a:lnTo>
                  <a:close/>
                </a:path>
                <a:path w="3073400" h="724535">
                  <a:moveTo>
                    <a:pt x="78626" y="28321"/>
                  </a:moveTo>
                  <a:lnTo>
                    <a:pt x="20446" y="28321"/>
                  </a:lnTo>
                  <a:lnTo>
                    <a:pt x="54766" y="35937"/>
                  </a:lnTo>
                  <a:lnTo>
                    <a:pt x="78626" y="2832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51760" y="2014727"/>
              <a:ext cx="1242060" cy="1506220"/>
            </a:xfrm>
            <a:custGeom>
              <a:avLst/>
              <a:gdLst/>
              <a:ahLst/>
              <a:cxnLst/>
              <a:rect l="l" t="t" r="r" b="b"/>
              <a:pathLst>
                <a:path w="1242060" h="1506220">
                  <a:moveTo>
                    <a:pt x="19050" y="1422908"/>
                  </a:moveTo>
                  <a:lnTo>
                    <a:pt x="0" y="1505966"/>
                  </a:lnTo>
                  <a:lnTo>
                    <a:pt x="77850" y="1471295"/>
                  </a:lnTo>
                  <a:lnTo>
                    <a:pt x="67664" y="1462913"/>
                  </a:lnTo>
                  <a:lnTo>
                    <a:pt x="47751" y="1462913"/>
                  </a:lnTo>
                  <a:lnTo>
                    <a:pt x="33019" y="1450848"/>
                  </a:lnTo>
                  <a:lnTo>
                    <a:pt x="41088" y="1441043"/>
                  </a:lnTo>
                  <a:lnTo>
                    <a:pt x="19050" y="1422908"/>
                  </a:lnTo>
                  <a:close/>
                </a:path>
                <a:path w="1242060" h="1506220">
                  <a:moveTo>
                    <a:pt x="41088" y="1441043"/>
                  </a:moveTo>
                  <a:lnTo>
                    <a:pt x="33019" y="1450848"/>
                  </a:lnTo>
                  <a:lnTo>
                    <a:pt x="47751" y="1462913"/>
                  </a:lnTo>
                  <a:lnTo>
                    <a:pt x="55791" y="1453142"/>
                  </a:lnTo>
                  <a:lnTo>
                    <a:pt x="41088" y="1441043"/>
                  </a:lnTo>
                  <a:close/>
                </a:path>
                <a:path w="1242060" h="1506220">
                  <a:moveTo>
                    <a:pt x="55791" y="1453142"/>
                  </a:moveTo>
                  <a:lnTo>
                    <a:pt x="47751" y="1462913"/>
                  </a:lnTo>
                  <a:lnTo>
                    <a:pt x="67664" y="1462913"/>
                  </a:lnTo>
                  <a:lnTo>
                    <a:pt x="55791" y="1453142"/>
                  </a:lnTo>
                  <a:close/>
                </a:path>
                <a:path w="1242060" h="1506220">
                  <a:moveTo>
                    <a:pt x="1226947" y="0"/>
                  </a:moveTo>
                  <a:lnTo>
                    <a:pt x="41088" y="1441043"/>
                  </a:lnTo>
                  <a:lnTo>
                    <a:pt x="55791" y="1453142"/>
                  </a:lnTo>
                  <a:lnTo>
                    <a:pt x="1241552" y="12064"/>
                  </a:lnTo>
                  <a:lnTo>
                    <a:pt x="1226947" y="0"/>
                  </a:lnTo>
                  <a:close/>
                </a:path>
              </a:pathLst>
            </a:custGeom>
            <a:solidFill>
              <a:srgbClr val="5D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68068" y="4291744"/>
            <a:ext cx="528955" cy="791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05455" y="6098984"/>
            <a:ext cx="2432685" cy="265430"/>
          </a:xfrm>
          <a:custGeom>
            <a:avLst/>
            <a:gdLst/>
            <a:ahLst/>
            <a:cxnLst/>
            <a:rect l="l" t="t" r="r" b="b"/>
            <a:pathLst>
              <a:path w="2432685" h="265429">
                <a:moveTo>
                  <a:pt x="2432304" y="0"/>
                </a:moveTo>
                <a:lnTo>
                  <a:pt x="2424146" y="51610"/>
                </a:lnTo>
                <a:lnTo>
                  <a:pt x="2401903" y="93754"/>
                </a:lnTo>
                <a:lnTo>
                  <a:pt x="2368921" y="122168"/>
                </a:lnTo>
                <a:lnTo>
                  <a:pt x="2328545" y="132587"/>
                </a:lnTo>
                <a:lnTo>
                  <a:pt x="1319910" y="132587"/>
                </a:lnTo>
                <a:lnTo>
                  <a:pt x="1279534" y="143007"/>
                </a:lnTo>
                <a:lnTo>
                  <a:pt x="1246552" y="171421"/>
                </a:lnTo>
                <a:lnTo>
                  <a:pt x="1224309" y="213565"/>
                </a:lnTo>
                <a:lnTo>
                  <a:pt x="1216152" y="265175"/>
                </a:lnTo>
                <a:lnTo>
                  <a:pt x="1207994" y="213565"/>
                </a:lnTo>
                <a:lnTo>
                  <a:pt x="1185751" y="171421"/>
                </a:lnTo>
                <a:lnTo>
                  <a:pt x="1152769" y="143007"/>
                </a:lnTo>
                <a:lnTo>
                  <a:pt x="1112393" y="132587"/>
                </a:lnTo>
                <a:lnTo>
                  <a:pt x="103758" y="132587"/>
                </a:lnTo>
                <a:lnTo>
                  <a:pt x="63382" y="122168"/>
                </a:lnTo>
                <a:lnTo>
                  <a:pt x="30400" y="93754"/>
                </a:lnTo>
                <a:lnTo>
                  <a:pt x="8157" y="5161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39695" y="4306823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6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91658" y="5725007"/>
            <a:ext cx="7213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76322" y="5733516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5380" y="573351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95616" y="5733516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88012" y="4079113"/>
            <a:ext cx="254635" cy="1278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31552" y="4325111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4" h="777239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3436"/>
                </a:lnTo>
                <a:lnTo>
                  <a:pt x="103548" y="342703"/>
                </a:lnTo>
                <a:lnTo>
                  <a:pt x="124110" y="366601"/>
                </a:lnTo>
                <a:lnTo>
                  <a:pt x="154626" y="382712"/>
                </a:lnTo>
                <a:lnTo>
                  <a:pt x="192024" y="388619"/>
                </a:lnTo>
                <a:lnTo>
                  <a:pt x="154626" y="394507"/>
                </a:lnTo>
                <a:lnTo>
                  <a:pt x="124110" y="410575"/>
                </a:lnTo>
                <a:lnTo>
                  <a:pt x="103548" y="434429"/>
                </a:lnTo>
                <a:lnTo>
                  <a:pt x="96012" y="463676"/>
                </a:lnTo>
                <a:lnTo>
                  <a:pt x="96012" y="702056"/>
                </a:lnTo>
                <a:lnTo>
                  <a:pt x="88475" y="731323"/>
                </a:lnTo>
                <a:lnTo>
                  <a:pt x="67913" y="755221"/>
                </a:lnTo>
                <a:lnTo>
                  <a:pt x="37397" y="771332"/>
                </a:lnTo>
                <a:lnTo>
                  <a:pt x="0" y="777239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68068" y="3167062"/>
            <a:ext cx="528955" cy="90614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39695" y="3273552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298"/>
                </a:lnTo>
                <a:lnTo>
                  <a:pt x="118205" y="609933"/>
                </a:lnTo>
                <a:lnTo>
                  <a:pt x="98619" y="587162"/>
                </a:lnTo>
                <a:lnTo>
                  <a:pt x="91440" y="559308"/>
                </a:lnTo>
                <a:lnTo>
                  <a:pt x="91440" y="386969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8"/>
                </a:lnTo>
                <a:lnTo>
                  <a:pt x="35611" y="309830"/>
                </a:lnTo>
                <a:lnTo>
                  <a:pt x="64674" y="294465"/>
                </a:lnTo>
                <a:lnTo>
                  <a:pt x="84260" y="271694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19595" y="854138"/>
            <a:ext cx="11092815" cy="11150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60"/>
              </a:spcBef>
            </a:pPr>
            <a:r>
              <a:rPr sz="2350" b="1" dirty="0">
                <a:latin typeface="Calibri"/>
                <a:cs typeface="Calibri"/>
              </a:rPr>
              <a:t>Core</a:t>
            </a:r>
            <a:r>
              <a:rPr sz="2350" b="1" spc="3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idea</a:t>
            </a:r>
            <a:r>
              <a:rPr sz="2350" dirty="0">
                <a:latin typeface="Calibri"/>
                <a:cs typeface="Calibri"/>
              </a:rPr>
              <a:t>: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on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each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step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decoder,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solidFill>
                  <a:srgbClr val="FF2FED"/>
                </a:solidFill>
                <a:latin typeface="Calibri"/>
                <a:cs typeface="Calibri"/>
              </a:rPr>
              <a:t>use</a:t>
            </a:r>
            <a:r>
              <a:rPr sz="2350" spc="3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direct</a:t>
            </a:r>
            <a:r>
              <a:rPr sz="2350" i="1" spc="8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connection</a:t>
            </a:r>
            <a:r>
              <a:rPr sz="2350" i="1" spc="2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to</a:t>
            </a:r>
            <a:r>
              <a:rPr sz="2350" i="1" spc="9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the</a:t>
            </a:r>
            <a:r>
              <a:rPr sz="2350" i="1" spc="3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encoder</a:t>
            </a:r>
            <a:r>
              <a:rPr sz="2350" i="1" spc="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focus</a:t>
            </a:r>
            <a:r>
              <a:rPr sz="2350" i="1" spc="9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on</a:t>
            </a:r>
            <a:r>
              <a:rPr sz="2350" i="1" spc="15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spc="-50" dirty="0">
                <a:solidFill>
                  <a:srgbClr val="FF2FED"/>
                </a:solidFill>
                <a:latin typeface="Calibri"/>
                <a:cs typeface="Calibri"/>
              </a:rPr>
              <a:t>a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particular</a:t>
            </a:r>
            <a:r>
              <a:rPr sz="2350" i="1" spc="7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i="1" dirty="0">
                <a:solidFill>
                  <a:srgbClr val="FF2FED"/>
                </a:solidFill>
                <a:latin typeface="Calibri"/>
                <a:cs typeface="Calibri"/>
              </a:rPr>
              <a:t>part</a:t>
            </a:r>
            <a:r>
              <a:rPr sz="2350" i="1" spc="90" dirty="0">
                <a:solidFill>
                  <a:srgbClr val="FF2FED"/>
                </a:solidFill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of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source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sequence</a:t>
            </a:r>
            <a:endParaRPr sz="2350">
              <a:latin typeface="Calibri"/>
              <a:cs typeface="Calibri"/>
            </a:endParaRPr>
          </a:p>
          <a:p>
            <a:pPr marL="2921635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solidFill>
                  <a:srgbClr val="5D4A3B"/>
                </a:solidFill>
                <a:latin typeface="Calibri"/>
                <a:cs typeface="Calibri"/>
              </a:rPr>
              <a:t>dot</a:t>
            </a:r>
            <a:r>
              <a:rPr sz="1800" spc="-45" dirty="0">
                <a:solidFill>
                  <a:srgbClr val="5D4A3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D4A3B"/>
                </a:solidFill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17597" y="6415687"/>
            <a:ext cx="22358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Sequence-to-sequence</a:t>
            </a:r>
            <a:r>
              <a:rPr spc="18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spc="-1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05075" y="2017141"/>
            <a:ext cx="3402329" cy="3676650"/>
            <a:chOff x="2505075" y="2017141"/>
            <a:chExt cx="3402329" cy="3676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370451"/>
              <a:ext cx="128778" cy="1287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535042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708779"/>
              <a:ext cx="128778" cy="1287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873370"/>
              <a:ext cx="128778" cy="128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600" y="4306823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1" y="12906"/>
                  </a:lnTo>
                  <a:lnTo>
                    <a:pt x="261699" y="26949"/>
                  </a:lnTo>
                  <a:lnTo>
                    <a:pt x="265175" y="44195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1" y="764285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5"/>
                  </a:lnTo>
                  <a:lnTo>
                    <a:pt x="3476" y="26949"/>
                  </a:lnTo>
                  <a:lnTo>
                    <a:pt x="12954" y="12906"/>
                  </a:lnTo>
                  <a:lnTo>
                    <a:pt x="27003" y="3458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4635500"/>
              <a:ext cx="528320" cy="1058545"/>
            </a:xfrm>
            <a:custGeom>
              <a:avLst/>
              <a:gdLst/>
              <a:ahLst/>
              <a:cxnLst/>
              <a:rect l="l" t="t" r="r" b="b"/>
              <a:pathLst>
                <a:path w="528319" h="1058545">
                  <a:moveTo>
                    <a:pt x="110744" y="543306"/>
                  </a:moveTo>
                  <a:lnTo>
                    <a:pt x="66408" y="467360"/>
                  </a:lnTo>
                  <a:lnTo>
                    <a:pt x="55372" y="448437"/>
                  </a:lnTo>
                  <a:lnTo>
                    <a:pt x="0" y="543306"/>
                  </a:lnTo>
                  <a:lnTo>
                    <a:pt x="1524" y="549148"/>
                  </a:lnTo>
                  <a:lnTo>
                    <a:pt x="10668" y="554482"/>
                  </a:lnTo>
                  <a:lnTo>
                    <a:pt x="16510" y="552958"/>
                  </a:lnTo>
                  <a:lnTo>
                    <a:pt x="45834" y="502666"/>
                  </a:lnTo>
                  <a:lnTo>
                    <a:pt x="45847" y="467360"/>
                  </a:lnTo>
                  <a:lnTo>
                    <a:pt x="45847" y="502666"/>
                  </a:lnTo>
                  <a:lnTo>
                    <a:pt x="45847" y="1058113"/>
                  </a:lnTo>
                  <a:lnTo>
                    <a:pt x="64897" y="1058113"/>
                  </a:lnTo>
                  <a:lnTo>
                    <a:pt x="64897" y="502666"/>
                  </a:lnTo>
                  <a:lnTo>
                    <a:pt x="94234" y="552958"/>
                  </a:lnTo>
                  <a:lnTo>
                    <a:pt x="100076" y="554482"/>
                  </a:lnTo>
                  <a:lnTo>
                    <a:pt x="109220" y="549148"/>
                  </a:lnTo>
                  <a:lnTo>
                    <a:pt x="110744" y="543306"/>
                  </a:lnTo>
                  <a:close/>
                </a:path>
                <a:path w="528319" h="1058545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723" y="3510915"/>
              <a:ext cx="2789681" cy="21735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02484" y="3583812"/>
              <a:ext cx="3168015" cy="721360"/>
            </a:xfrm>
            <a:custGeom>
              <a:avLst/>
              <a:gdLst/>
              <a:ahLst/>
              <a:cxnLst/>
              <a:rect l="l" t="t" r="r" b="b"/>
              <a:pathLst>
                <a:path w="3168015" h="721360">
                  <a:moveTo>
                    <a:pt x="110617" y="141732"/>
                  </a:moveTo>
                  <a:lnTo>
                    <a:pt x="108077" y="137160"/>
                  </a:lnTo>
                  <a:lnTo>
                    <a:pt x="66967" y="65024"/>
                  </a:lnTo>
                  <a:lnTo>
                    <a:pt x="56261" y="46228"/>
                  </a:lnTo>
                  <a:lnTo>
                    <a:pt x="2667" y="136017"/>
                  </a:lnTo>
                  <a:lnTo>
                    <a:pt x="0" y="140589"/>
                  </a:lnTo>
                  <a:lnTo>
                    <a:pt x="1422" y="146558"/>
                  </a:lnTo>
                  <a:lnTo>
                    <a:pt x="1612" y="146558"/>
                  </a:lnTo>
                  <a:lnTo>
                    <a:pt x="10541" y="151765"/>
                  </a:lnTo>
                  <a:lnTo>
                    <a:pt x="16383" y="150368"/>
                  </a:lnTo>
                  <a:lnTo>
                    <a:pt x="19050" y="145796"/>
                  </a:lnTo>
                  <a:lnTo>
                    <a:pt x="46228" y="100279"/>
                  </a:lnTo>
                  <a:lnTo>
                    <a:pt x="39738" y="721233"/>
                  </a:lnTo>
                  <a:lnTo>
                    <a:pt x="58801" y="721233"/>
                  </a:lnTo>
                  <a:lnTo>
                    <a:pt x="65278" y="100647"/>
                  </a:lnTo>
                  <a:lnTo>
                    <a:pt x="65608" y="70104"/>
                  </a:lnTo>
                  <a:lnTo>
                    <a:pt x="65290" y="100279"/>
                  </a:lnTo>
                  <a:lnTo>
                    <a:pt x="65278" y="100647"/>
                  </a:lnTo>
                  <a:lnTo>
                    <a:pt x="91440" y="146558"/>
                  </a:lnTo>
                  <a:lnTo>
                    <a:pt x="94107" y="151130"/>
                  </a:lnTo>
                  <a:lnTo>
                    <a:pt x="99949" y="152654"/>
                  </a:lnTo>
                  <a:lnTo>
                    <a:pt x="104521" y="150114"/>
                  </a:lnTo>
                  <a:lnTo>
                    <a:pt x="109093" y="147447"/>
                  </a:lnTo>
                  <a:lnTo>
                    <a:pt x="110617" y="141732"/>
                  </a:lnTo>
                  <a:close/>
                </a:path>
                <a:path w="3168015" h="721360">
                  <a:moveTo>
                    <a:pt x="3168015" y="700532"/>
                  </a:moveTo>
                  <a:lnTo>
                    <a:pt x="753160" y="33261"/>
                  </a:lnTo>
                  <a:lnTo>
                    <a:pt x="788593" y="23876"/>
                  </a:lnTo>
                  <a:lnTo>
                    <a:pt x="804418" y="19685"/>
                  </a:lnTo>
                  <a:lnTo>
                    <a:pt x="809498" y="18415"/>
                  </a:lnTo>
                  <a:lnTo>
                    <a:pt x="812546" y="13220"/>
                  </a:lnTo>
                  <a:lnTo>
                    <a:pt x="811149" y="8128"/>
                  </a:lnTo>
                  <a:lnTo>
                    <a:pt x="809879" y="2933"/>
                  </a:lnTo>
                  <a:lnTo>
                    <a:pt x="804672" y="0"/>
                  </a:lnTo>
                  <a:lnTo>
                    <a:pt x="799592" y="1282"/>
                  </a:lnTo>
                  <a:lnTo>
                    <a:pt x="698500" y="28067"/>
                  </a:lnTo>
                  <a:lnTo>
                    <a:pt x="771525" y="102870"/>
                  </a:lnTo>
                  <a:lnTo>
                    <a:pt x="775322" y="106680"/>
                  </a:lnTo>
                  <a:lnTo>
                    <a:pt x="781177" y="106680"/>
                  </a:lnTo>
                  <a:lnTo>
                    <a:pt x="784987" y="102997"/>
                  </a:lnTo>
                  <a:lnTo>
                    <a:pt x="788670" y="99314"/>
                  </a:lnTo>
                  <a:lnTo>
                    <a:pt x="788797" y="93345"/>
                  </a:lnTo>
                  <a:lnTo>
                    <a:pt x="748030" y="51536"/>
                  </a:lnTo>
                  <a:lnTo>
                    <a:pt x="3162935" y="718820"/>
                  </a:lnTo>
                  <a:lnTo>
                    <a:pt x="3168015" y="70053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371" y="3510915"/>
              <a:ext cx="137922" cy="1287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97479" y="3578352"/>
              <a:ext cx="3073400" cy="724535"/>
            </a:xfrm>
            <a:custGeom>
              <a:avLst/>
              <a:gdLst/>
              <a:ahLst/>
              <a:cxnLst/>
              <a:rect l="l" t="t" r="r" b="b"/>
              <a:pathLst>
                <a:path w="3073400" h="724535">
                  <a:moveTo>
                    <a:pt x="54766" y="35937"/>
                  </a:moveTo>
                  <a:lnTo>
                    <a:pt x="36836" y="41661"/>
                  </a:lnTo>
                  <a:lnTo>
                    <a:pt x="50681" y="54474"/>
                  </a:lnTo>
                  <a:lnTo>
                    <a:pt x="3069335" y="724408"/>
                  </a:lnTo>
                  <a:lnTo>
                    <a:pt x="3073399" y="705866"/>
                  </a:lnTo>
                  <a:lnTo>
                    <a:pt x="54766" y="35937"/>
                  </a:lnTo>
                  <a:close/>
                </a:path>
                <a:path w="3073400" h="724535">
                  <a:moveTo>
                    <a:pt x="104520" y="0"/>
                  </a:moveTo>
                  <a:lnTo>
                    <a:pt x="99568" y="1650"/>
                  </a:lnTo>
                  <a:lnTo>
                    <a:pt x="0" y="33528"/>
                  </a:lnTo>
                  <a:lnTo>
                    <a:pt x="80518" y="108077"/>
                  </a:lnTo>
                  <a:lnTo>
                    <a:pt x="86613" y="107823"/>
                  </a:lnTo>
                  <a:lnTo>
                    <a:pt x="90169" y="103886"/>
                  </a:lnTo>
                  <a:lnTo>
                    <a:pt x="93725" y="100075"/>
                  </a:lnTo>
                  <a:lnTo>
                    <a:pt x="93471" y="94106"/>
                  </a:lnTo>
                  <a:lnTo>
                    <a:pt x="50681" y="54474"/>
                  </a:lnTo>
                  <a:lnTo>
                    <a:pt x="16382" y="46862"/>
                  </a:lnTo>
                  <a:lnTo>
                    <a:pt x="20446" y="28321"/>
                  </a:lnTo>
                  <a:lnTo>
                    <a:pt x="78626" y="28321"/>
                  </a:lnTo>
                  <a:lnTo>
                    <a:pt x="110362" y="18161"/>
                  </a:lnTo>
                  <a:lnTo>
                    <a:pt x="113156" y="12826"/>
                  </a:lnTo>
                  <a:lnTo>
                    <a:pt x="111506" y="7747"/>
                  </a:lnTo>
                  <a:lnTo>
                    <a:pt x="109855" y="2794"/>
                  </a:lnTo>
                  <a:lnTo>
                    <a:pt x="104520" y="0"/>
                  </a:lnTo>
                  <a:close/>
                </a:path>
                <a:path w="3073400" h="724535">
                  <a:moveTo>
                    <a:pt x="20446" y="28321"/>
                  </a:moveTo>
                  <a:lnTo>
                    <a:pt x="16438" y="46609"/>
                  </a:lnTo>
                  <a:lnTo>
                    <a:pt x="16382" y="46862"/>
                  </a:lnTo>
                  <a:lnTo>
                    <a:pt x="50681" y="54474"/>
                  </a:lnTo>
                  <a:lnTo>
                    <a:pt x="42182" y="46609"/>
                  </a:lnTo>
                  <a:lnTo>
                    <a:pt x="21336" y="46609"/>
                  </a:lnTo>
                  <a:lnTo>
                    <a:pt x="24892" y="30606"/>
                  </a:lnTo>
                  <a:lnTo>
                    <a:pt x="30747" y="30606"/>
                  </a:lnTo>
                  <a:lnTo>
                    <a:pt x="20446" y="28321"/>
                  </a:lnTo>
                  <a:close/>
                </a:path>
                <a:path w="3073400" h="724535">
                  <a:moveTo>
                    <a:pt x="24892" y="30606"/>
                  </a:moveTo>
                  <a:lnTo>
                    <a:pt x="21336" y="46609"/>
                  </a:lnTo>
                  <a:lnTo>
                    <a:pt x="36836" y="41661"/>
                  </a:lnTo>
                  <a:lnTo>
                    <a:pt x="24892" y="30606"/>
                  </a:lnTo>
                  <a:close/>
                </a:path>
                <a:path w="3073400" h="724535">
                  <a:moveTo>
                    <a:pt x="36836" y="41661"/>
                  </a:moveTo>
                  <a:lnTo>
                    <a:pt x="21336" y="46609"/>
                  </a:lnTo>
                  <a:lnTo>
                    <a:pt x="42182" y="46609"/>
                  </a:lnTo>
                  <a:lnTo>
                    <a:pt x="36836" y="41661"/>
                  </a:lnTo>
                  <a:close/>
                </a:path>
                <a:path w="3073400" h="724535">
                  <a:moveTo>
                    <a:pt x="30747" y="30606"/>
                  </a:moveTo>
                  <a:lnTo>
                    <a:pt x="24892" y="30606"/>
                  </a:lnTo>
                  <a:lnTo>
                    <a:pt x="36836" y="41661"/>
                  </a:lnTo>
                  <a:lnTo>
                    <a:pt x="54766" y="35937"/>
                  </a:lnTo>
                  <a:lnTo>
                    <a:pt x="30747" y="30606"/>
                  </a:lnTo>
                  <a:close/>
                </a:path>
                <a:path w="3073400" h="724535">
                  <a:moveTo>
                    <a:pt x="78626" y="28321"/>
                  </a:moveTo>
                  <a:lnTo>
                    <a:pt x="20446" y="28321"/>
                  </a:lnTo>
                  <a:lnTo>
                    <a:pt x="54766" y="35937"/>
                  </a:lnTo>
                  <a:lnTo>
                    <a:pt x="78626" y="2832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49676" y="2017141"/>
              <a:ext cx="644525" cy="1503680"/>
            </a:xfrm>
            <a:custGeom>
              <a:avLst/>
              <a:gdLst/>
              <a:ahLst/>
              <a:cxnLst/>
              <a:rect l="l" t="t" r="r" b="b"/>
              <a:pathLst>
                <a:path w="644525" h="1503679">
                  <a:moveTo>
                    <a:pt x="0" y="1418463"/>
                  </a:moveTo>
                  <a:lnTo>
                    <a:pt x="5587" y="1503553"/>
                  </a:lnTo>
                  <a:lnTo>
                    <a:pt x="69491" y="1448689"/>
                  </a:lnTo>
                  <a:lnTo>
                    <a:pt x="38988" y="1448689"/>
                  </a:lnTo>
                  <a:lnTo>
                    <a:pt x="21336" y="1441323"/>
                  </a:lnTo>
                  <a:lnTo>
                    <a:pt x="26286" y="1429538"/>
                  </a:lnTo>
                  <a:lnTo>
                    <a:pt x="0" y="1418463"/>
                  </a:lnTo>
                  <a:close/>
                </a:path>
                <a:path w="644525" h="1503679">
                  <a:moveTo>
                    <a:pt x="26286" y="1429538"/>
                  </a:moveTo>
                  <a:lnTo>
                    <a:pt x="21336" y="1441323"/>
                  </a:lnTo>
                  <a:lnTo>
                    <a:pt x="38988" y="1448689"/>
                  </a:lnTo>
                  <a:lnTo>
                    <a:pt x="43912" y="1436965"/>
                  </a:lnTo>
                  <a:lnTo>
                    <a:pt x="26286" y="1429538"/>
                  </a:lnTo>
                  <a:close/>
                </a:path>
                <a:path w="644525" h="1503679">
                  <a:moveTo>
                    <a:pt x="43912" y="1436965"/>
                  </a:moveTo>
                  <a:lnTo>
                    <a:pt x="38988" y="1448689"/>
                  </a:lnTo>
                  <a:lnTo>
                    <a:pt x="69491" y="1448689"/>
                  </a:lnTo>
                  <a:lnTo>
                    <a:pt x="70231" y="1448054"/>
                  </a:lnTo>
                  <a:lnTo>
                    <a:pt x="43912" y="1436965"/>
                  </a:lnTo>
                  <a:close/>
                </a:path>
                <a:path w="644525" h="1503679">
                  <a:moveTo>
                    <a:pt x="626745" y="0"/>
                  </a:moveTo>
                  <a:lnTo>
                    <a:pt x="26286" y="1429538"/>
                  </a:lnTo>
                  <a:lnTo>
                    <a:pt x="43912" y="1436965"/>
                  </a:lnTo>
                  <a:lnTo>
                    <a:pt x="644271" y="7366"/>
                  </a:lnTo>
                  <a:lnTo>
                    <a:pt x="626745" y="0"/>
                  </a:lnTo>
                  <a:close/>
                </a:path>
              </a:pathLst>
            </a:custGeom>
            <a:solidFill>
              <a:srgbClr val="5D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68068" y="4291744"/>
            <a:ext cx="528955" cy="791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05455" y="6098984"/>
            <a:ext cx="2432685" cy="265430"/>
          </a:xfrm>
          <a:custGeom>
            <a:avLst/>
            <a:gdLst/>
            <a:ahLst/>
            <a:cxnLst/>
            <a:rect l="l" t="t" r="r" b="b"/>
            <a:pathLst>
              <a:path w="2432685" h="265429">
                <a:moveTo>
                  <a:pt x="2432304" y="0"/>
                </a:moveTo>
                <a:lnTo>
                  <a:pt x="2424146" y="51610"/>
                </a:lnTo>
                <a:lnTo>
                  <a:pt x="2401903" y="93754"/>
                </a:lnTo>
                <a:lnTo>
                  <a:pt x="2368921" y="122168"/>
                </a:lnTo>
                <a:lnTo>
                  <a:pt x="2328545" y="132587"/>
                </a:lnTo>
                <a:lnTo>
                  <a:pt x="1319910" y="132587"/>
                </a:lnTo>
                <a:lnTo>
                  <a:pt x="1279534" y="143007"/>
                </a:lnTo>
                <a:lnTo>
                  <a:pt x="1246552" y="171421"/>
                </a:lnTo>
                <a:lnTo>
                  <a:pt x="1224309" y="213565"/>
                </a:lnTo>
                <a:lnTo>
                  <a:pt x="1216152" y="265175"/>
                </a:lnTo>
                <a:lnTo>
                  <a:pt x="1207994" y="213565"/>
                </a:lnTo>
                <a:lnTo>
                  <a:pt x="1185751" y="171421"/>
                </a:lnTo>
                <a:lnTo>
                  <a:pt x="1152769" y="143007"/>
                </a:lnTo>
                <a:lnTo>
                  <a:pt x="1112393" y="132587"/>
                </a:lnTo>
                <a:lnTo>
                  <a:pt x="103758" y="132587"/>
                </a:lnTo>
                <a:lnTo>
                  <a:pt x="63382" y="122168"/>
                </a:lnTo>
                <a:lnTo>
                  <a:pt x="30400" y="93754"/>
                </a:lnTo>
                <a:lnTo>
                  <a:pt x="8157" y="5161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39695" y="4306823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6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91658" y="5725007"/>
            <a:ext cx="7213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76322" y="5733516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5380" y="573351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95616" y="5733516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88012" y="4079113"/>
            <a:ext cx="254635" cy="1278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31552" y="4325111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4" h="777239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3436"/>
                </a:lnTo>
                <a:lnTo>
                  <a:pt x="103548" y="342703"/>
                </a:lnTo>
                <a:lnTo>
                  <a:pt x="124110" y="366601"/>
                </a:lnTo>
                <a:lnTo>
                  <a:pt x="154626" y="382712"/>
                </a:lnTo>
                <a:lnTo>
                  <a:pt x="192024" y="388619"/>
                </a:lnTo>
                <a:lnTo>
                  <a:pt x="154626" y="394507"/>
                </a:lnTo>
                <a:lnTo>
                  <a:pt x="124110" y="410575"/>
                </a:lnTo>
                <a:lnTo>
                  <a:pt x="103548" y="434429"/>
                </a:lnTo>
                <a:lnTo>
                  <a:pt x="96012" y="463676"/>
                </a:lnTo>
                <a:lnTo>
                  <a:pt x="96012" y="702056"/>
                </a:lnTo>
                <a:lnTo>
                  <a:pt x="88475" y="731323"/>
                </a:lnTo>
                <a:lnTo>
                  <a:pt x="67913" y="755221"/>
                </a:lnTo>
                <a:lnTo>
                  <a:pt x="37397" y="771332"/>
                </a:lnTo>
                <a:lnTo>
                  <a:pt x="0" y="777239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68068" y="3167062"/>
            <a:ext cx="528955" cy="90614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39695" y="3273552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298"/>
                </a:lnTo>
                <a:lnTo>
                  <a:pt x="118205" y="609933"/>
                </a:lnTo>
                <a:lnTo>
                  <a:pt x="98619" y="587162"/>
                </a:lnTo>
                <a:lnTo>
                  <a:pt x="91440" y="559308"/>
                </a:lnTo>
                <a:lnTo>
                  <a:pt x="91440" y="386969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8"/>
                </a:lnTo>
                <a:lnTo>
                  <a:pt x="35611" y="309830"/>
                </a:lnTo>
                <a:lnTo>
                  <a:pt x="64674" y="294465"/>
                </a:lnTo>
                <a:lnTo>
                  <a:pt x="84260" y="271694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28670" y="1668843"/>
            <a:ext cx="1125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D4A3B"/>
                </a:solidFill>
                <a:latin typeface="Calibri"/>
                <a:cs typeface="Calibri"/>
              </a:rPr>
              <a:t>dot</a:t>
            </a:r>
            <a:r>
              <a:rPr sz="1800" spc="-45" dirty="0">
                <a:solidFill>
                  <a:srgbClr val="5D4A3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D4A3B"/>
                </a:solidFill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17597" y="6415687"/>
            <a:ext cx="22358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Sequence-to-sequence</a:t>
            </a:r>
            <a:r>
              <a:rPr spc="18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spc="-1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05075" y="2285619"/>
            <a:ext cx="3402329" cy="3408045"/>
            <a:chOff x="2505075" y="2285619"/>
            <a:chExt cx="3402329" cy="3408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370451"/>
              <a:ext cx="128778" cy="1287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535042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708779"/>
              <a:ext cx="128778" cy="1287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873370"/>
              <a:ext cx="128778" cy="128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600" y="4306823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1" y="12906"/>
                  </a:lnTo>
                  <a:lnTo>
                    <a:pt x="261699" y="26949"/>
                  </a:lnTo>
                  <a:lnTo>
                    <a:pt x="265175" y="44195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1" y="764285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5"/>
                  </a:lnTo>
                  <a:lnTo>
                    <a:pt x="3476" y="26949"/>
                  </a:lnTo>
                  <a:lnTo>
                    <a:pt x="12954" y="12906"/>
                  </a:lnTo>
                  <a:lnTo>
                    <a:pt x="27003" y="3458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4635500"/>
              <a:ext cx="528320" cy="1058545"/>
            </a:xfrm>
            <a:custGeom>
              <a:avLst/>
              <a:gdLst/>
              <a:ahLst/>
              <a:cxnLst/>
              <a:rect l="l" t="t" r="r" b="b"/>
              <a:pathLst>
                <a:path w="528319" h="1058545">
                  <a:moveTo>
                    <a:pt x="110744" y="543306"/>
                  </a:moveTo>
                  <a:lnTo>
                    <a:pt x="66408" y="467360"/>
                  </a:lnTo>
                  <a:lnTo>
                    <a:pt x="55372" y="448437"/>
                  </a:lnTo>
                  <a:lnTo>
                    <a:pt x="0" y="543306"/>
                  </a:lnTo>
                  <a:lnTo>
                    <a:pt x="1524" y="549148"/>
                  </a:lnTo>
                  <a:lnTo>
                    <a:pt x="10668" y="554482"/>
                  </a:lnTo>
                  <a:lnTo>
                    <a:pt x="16510" y="552958"/>
                  </a:lnTo>
                  <a:lnTo>
                    <a:pt x="45834" y="502666"/>
                  </a:lnTo>
                  <a:lnTo>
                    <a:pt x="45847" y="467360"/>
                  </a:lnTo>
                  <a:lnTo>
                    <a:pt x="45847" y="502666"/>
                  </a:lnTo>
                  <a:lnTo>
                    <a:pt x="45847" y="1058113"/>
                  </a:lnTo>
                  <a:lnTo>
                    <a:pt x="64897" y="1058113"/>
                  </a:lnTo>
                  <a:lnTo>
                    <a:pt x="64897" y="502666"/>
                  </a:lnTo>
                  <a:lnTo>
                    <a:pt x="94234" y="552958"/>
                  </a:lnTo>
                  <a:lnTo>
                    <a:pt x="100076" y="554482"/>
                  </a:lnTo>
                  <a:lnTo>
                    <a:pt x="109220" y="549148"/>
                  </a:lnTo>
                  <a:lnTo>
                    <a:pt x="110744" y="543306"/>
                  </a:lnTo>
                  <a:close/>
                </a:path>
                <a:path w="528319" h="1058545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723" y="3510915"/>
              <a:ext cx="2789681" cy="21735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02484" y="3583812"/>
              <a:ext cx="3168015" cy="721360"/>
            </a:xfrm>
            <a:custGeom>
              <a:avLst/>
              <a:gdLst/>
              <a:ahLst/>
              <a:cxnLst/>
              <a:rect l="l" t="t" r="r" b="b"/>
              <a:pathLst>
                <a:path w="3168015" h="721360">
                  <a:moveTo>
                    <a:pt x="110617" y="141732"/>
                  </a:moveTo>
                  <a:lnTo>
                    <a:pt x="108077" y="137160"/>
                  </a:lnTo>
                  <a:lnTo>
                    <a:pt x="66967" y="65024"/>
                  </a:lnTo>
                  <a:lnTo>
                    <a:pt x="56261" y="46228"/>
                  </a:lnTo>
                  <a:lnTo>
                    <a:pt x="2667" y="136017"/>
                  </a:lnTo>
                  <a:lnTo>
                    <a:pt x="0" y="140589"/>
                  </a:lnTo>
                  <a:lnTo>
                    <a:pt x="1422" y="146558"/>
                  </a:lnTo>
                  <a:lnTo>
                    <a:pt x="1612" y="146558"/>
                  </a:lnTo>
                  <a:lnTo>
                    <a:pt x="10541" y="151765"/>
                  </a:lnTo>
                  <a:lnTo>
                    <a:pt x="16383" y="150368"/>
                  </a:lnTo>
                  <a:lnTo>
                    <a:pt x="19050" y="145796"/>
                  </a:lnTo>
                  <a:lnTo>
                    <a:pt x="46228" y="100279"/>
                  </a:lnTo>
                  <a:lnTo>
                    <a:pt x="39738" y="721233"/>
                  </a:lnTo>
                  <a:lnTo>
                    <a:pt x="58801" y="721233"/>
                  </a:lnTo>
                  <a:lnTo>
                    <a:pt x="65278" y="100647"/>
                  </a:lnTo>
                  <a:lnTo>
                    <a:pt x="65608" y="70104"/>
                  </a:lnTo>
                  <a:lnTo>
                    <a:pt x="65290" y="100279"/>
                  </a:lnTo>
                  <a:lnTo>
                    <a:pt x="65278" y="100647"/>
                  </a:lnTo>
                  <a:lnTo>
                    <a:pt x="91440" y="146558"/>
                  </a:lnTo>
                  <a:lnTo>
                    <a:pt x="94107" y="151130"/>
                  </a:lnTo>
                  <a:lnTo>
                    <a:pt x="99949" y="152654"/>
                  </a:lnTo>
                  <a:lnTo>
                    <a:pt x="104521" y="150114"/>
                  </a:lnTo>
                  <a:lnTo>
                    <a:pt x="109093" y="147447"/>
                  </a:lnTo>
                  <a:lnTo>
                    <a:pt x="110617" y="141732"/>
                  </a:lnTo>
                  <a:close/>
                </a:path>
                <a:path w="3168015" h="721360">
                  <a:moveTo>
                    <a:pt x="3168015" y="700532"/>
                  </a:moveTo>
                  <a:lnTo>
                    <a:pt x="753160" y="33261"/>
                  </a:lnTo>
                  <a:lnTo>
                    <a:pt x="788593" y="23876"/>
                  </a:lnTo>
                  <a:lnTo>
                    <a:pt x="804418" y="19685"/>
                  </a:lnTo>
                  <a:lnTo>
                    <a:pt x="809498" y="18415"/>
                  </a:lnTo>
                  <a:lnTo>
                    <a:pt x="812546" y="13220"/>
                  </a:lnTo>
                  <a:lnTo>
                    <a:pt x="811149" y="8128"/>
                  </a:lnTo>
                  <a:lnTo>
                    <a:pt x="809879" y="2933"/>
                  </a:lnTo>
                  <a:lnTo>
                    <a:pt x="804672" y="0"/>
                  </a:lnTo>
                  <a:lnTo>
                    <a:pt x="799592" y="1282"/>
                  </a:lnTo>
                  <a:lnTo>
                    <a:pt x="698500" y="28067"/>
                  </a:lnTo>
                  <a:lnTo>
                    <a:pt x="771525" y="102870"/>
                  </a:lnTo>
                  <a:lnTo>
                    <a:pt x="775322" y="106680"/>
                  </a:lnTo>
                  <a:lnTo>
                    <a:pt x="781177" y="106680"/>
                  </a:lnTo>
                  <a:lnTo>
                    <a:pt x="784987" y="102997"/>
                  </a:lnTo>
                  <a:lnTo>
                    <a:pt x="788670" y="99314"/>
                  </a:lnTo>
                  <a:lnTo>
                    <a:pt x="788797" y="93345"/>
                  </a:lnTo>
                  <a:lnTo>
                    <a:pt x="748030" y="51536"/>
                  </a:lnTo>
                  <a:lnTo>
                    <a:pt x="3162935" y="718820"/>
                  </a:lnTo>
                  <a:lnTo>
                    <a:pt x="3168015" y="70053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371" y="3510915"/>
              <a:ext cx="137922" cy="1287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97479" y="3578352"/>
              <a:ext cx="3073400" cy="724535"/>
            </a:xfrm>
            <a:custGeom>
              <a:avLst/>
              <a:gdLst/>
              <a:ahLst/>
              <a:cxnLst/>
              <a:rect l="l" t="t" r="r" b="b"/>
              <a:pathLst>
                <a:path w="3073400" h="724535">
                  <a:moveTo>
                    <a:pt x="54766" y="35937"/>
                  </a:moveTo>
                  <a:lnTo>
                    <a:pt x="36836" y="41661"/>
                  </a:lnTo>
                  <a:lnTo>
                    <a:pt x="50681" y="54474"/>
                  </a:lnTo>
                  <a:lnTo>
                    <a:pt x="3069335" y="724408"/>
                  </a:lnTo>
                  <a:lnTo>
                    <a:pt x="3073399" y="705866"/>
                  </a:lnTo>
                  <a:lnTo>
                    <a:pt x="54766" y="35937"/>
                  </a:lnTo>
                  <a:close/>
                </a:path>
                <a:path w="3073400" h="724535">
                  <a:moveTo>
                    <a:pt x="104520" y="0"/>
                  </a:moveTo>
                  <a:lnTo>
                    <a:pt x="99568" y="1650"/>
                  </a:lnTo>
                  <a:lnTo>
                    <a:pt x="0" y="33528"/>
                  </a:lnTo>
                  <a:lnTo>
                    <a:pt x="80518" y="108077"/>
                  </a:lnTo>
                  <a:lnTo>
                    <a:pt x="86613" y="107823"/>
                  </a:lnTo>
                  <a:lnTo>
                    <a:pt x="90169" y="103886"/>
                  </a:lnTo>
                  <a:lnTo>
                    <a:pt x="93725" y="100075"/>
                  </a:lnTo>
                  <a:lnTo>
                    <a:pt x="93471" y="94106"/>
                  </a:lnTo>
                  <a:lnTo>
                    <a:pt x="50681" y="54474"/>
                  </a:lnTo>
                  <a:lnTo>
                    <a:pt x="16382" y="46862"/>
                  </a:lnTo>
                  <a:lnTo>
                    <a:pt x="20446" y="28321"/>
                  </a:lnTo>
                  <a:lnTo>
                    <a:pt x="78626" y="28321"/>
                  </a:lnTo>
                  <a:lnTo>
                    <a:pt x="110362" y="18161"/>
                  </a:lnTo>
                  <a:lnTo>
                    <a:pt x="113156" y="12826"/>
                  </a:lnTo>
                  <a:lnTo>
                    <a:pt x="111506" y="7747"/>
                  </a:lnTo>
                  <a:lnTo>
                    <a:pt x="109855" y="2794"/>
                  </a:lnTo>
                  <a:lnTo>
                    <a:pt x="104520" y="0"/>
                  </a:lnTo>
                  <a:close/>
                </a:path>
                <a:path w="3073400" h="724535">
                  <a:moveTo>
                    <a:pt x="20446" y="28321"/>
                  </a:moveTo>
                  <a:lnTo>
                    <a:pt x="16438" y="46609"/>
                  </a:lnTo>
                  <a:lnTo>
                    <a:pt x="16382" y="46862"/>
                  </a:lnTo>
                  <a:lnTo>
                    <a:pt x="50681" y="54474"/>
                  </a:lnTo>
                  <a:lnTo>
                    <a:pt x="42182" y="46609"/>
                  </a:lnTo>
                  <a:lnTo>
                    <a:pt x="21336" y="46609"/>
                  </a:lnTo>
                  <a:lnTo>
                    <a:pt x="24892" y="30606"/>
                  </a:lnTo>
                  <a:lnTo>
                    <a:pt x="30747" y="30606"/>
                  </a:lnTo>
                  <a:lnTo>
                    <a:pt x="20446" y="28321"/>
                  </a:lnTo>
                  <a:close/>
                </a:path>
                <a:path w="3073400" h="724535">
                  <a:moveTo>
                    <a:pt x="24892" y="30606"/>
                  </a:moveTo>
                  <a:lnTo>
                    <a:pt x="21336" y="46609"/>
                  </a:lnTo>
                  <a:lnTo>
                    <a:pt x="36836" y="41661"/>
                  </a:lnTo>
                  <a:lnTo>
                    <a:pt x="24892" y="30606"/>
                  </a:lnTo>
                  <a:close/>
                </a:path>
                <a:path w="3073400" h="724535">
                  <a:moveTo>
                    <a:pt x="36836" y="41661"/>
                  </a:moveTo>
                  <a:lnTo>
                    <a:pt x="21336" y="46609"/>
                  </a:lnTo>
                  <a:lnTo>
                    <a:pt x="42182" y="46609"/>
                  </a:lnTo>
                  <a:lnTo>
                    <a:pt x="36836" y="41661"/>
                  </a:lnTo>
                  <a:close/>
                </a:path>
                <a:path w="3073400" h="724535">
                  <a:moveTo>
                    <a:pt x="30747" y="30606"/>
                  </a:moveTo>
                  <a:lnTo>
                    <a:pt x="24892" y="30606"/>
                  </a:lnTo>
                  <a:lnTo>
                    <a:pt x="36836" y="41661"/>
                  </a:lnTo>
                  <a:lnTo>
                    <a:pt x="54766" y="35937"/>
                  </a:lnTo>
                  <a:lnTo>
                    <a:pt x="30747" y="30606"/>
                  </a:lnTo>
                  <a:close/>
                </a:path>
                <a:path w="3073400" h="724535">
                  <a:moveTo>
                    <a:pt x="78626" y="28321"/>
                  </a:moveTo>
                  <a:lnTo>
                    <a:pt x="20446" y="28321"/>
                  </a:lnTo>
                  <a:lnTo>
                    <a:pt x="54766" y="35937"/>
                  </a:lnTo>
                  <a:lnTo>
                    <a:pt x="78626" y="2832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5455" y="277063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87752" y="2295144"/>
              <a:ext cx="137160" cy="475615"/>
            </a:xfrm>
            <a:custGeom>
              <a:avLst/>
              <a:gdLst/>
              <a:ahLst/>
              <a:cxnLst/>
              <a:rect l="l" t="t" r="r" b="b"/>
              <a:pathLst>
                <a:path w="137160" h="475614">
                  <a:moveTo>
                    <a:pt x="137160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7160" y="47548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87752" y="2295144"/>
              <a:ext cx="137160" cy="475615"/>
            </a:xfrm>
            <a:custGeom>
              <a:avLst/>
              <a:gdLst/>
              <a:ahLst/>
              <a:cxnLst/>
              <a:rect l="l" t="t" r="r" b="b"/>
              <a:pathLst>
                <a:path w="137160" h="475614">
                  <a:moveTo>
                    <a:pt x="0" y="475488"/>
                  </a:moveTo>
                  <a:lnTo>
                    <a:pt x="137160" y="47548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91255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59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59" y="45718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91255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59" y="45718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94760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60" y="4571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94760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60" y="4571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98264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60" y="4571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98264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60" y="4571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98420" y="2761360"/>
              <a:ext cx="1929130" cy="762635"/>
            </a:xfrm>
            <a:custGeom>
              <a:avLst/>
              <a:gdLst/>
              <a:ahLst/>
              <a:cxnLst/>
              <a:rect l="l" t="t" r="r" b="b"/>
              <a:pathLst>
                <a:path w="1929129" h="762635">
                  <a:moveTo>
                    <a:pt x="110617" y="104267"/>
                  </a:moveTo>
                  <a:lnTo>
                    <a:pt x="107950" y="99695"/>
                  </a:lnTo>
                  <a:lnTo>
                    <a:pt x="66624" y="28194"/>
                  </a:lnTo>
                  <a:lnTo>
                    <a:pt x="55626" y="9144"/>
                  </a:lnTo>
                  <a:lnTo>
                    <a:pt x="2667" y="99314"/>
                  </a:lnTo>
                  <a:lnTo>
                    <a:pt x="0" y="103886"/>
                  </a:lnTo>
                  <a:lnTo>
                    <a:pt x="1524" y="109728"/>
                  </a:lnTo>
                  <a:lnTo>
                    <a:pt x="6096" y="112395"/>
                  </a:lnTo>
                  <a:lnTo>
                    <a:pt x="10541" y="115062"/>
                  </a:lnTo>
                  <a:lnTo>
                    <a:pt x="16383" y="113538"/>
                  </a:lnTo>
                  <a:lnTo>
                    <a:pt x="19050" y="108966"/>
                  </a:lnTo>
                  <a:lnTo>
                    <a:pt x="45859" y="63334"/>
                  </a:lnTo>
                  <a:lnTo>
                    <a:pt x="43802" y="762127"/>
                  </a:lnTo>
                  <a:lnTo>
                    <a:pt x="62865" y="762127"/>
                  </a:lnTo>
                  <a:lnTo>
                    <a:pt x="64757" y="115316"/>
                  </a:lnTo>
                  <a:lnTo>
                    <a:pt x="64808" y="99314"/>
                  </a:lnTo>
                  <a:lnTo>
                    <a:pt x="64909" y="63334"/>
                  </a:lnTo>
                  <a:lnTo>
                    <a:pt x="91567" y="109220"/>
                  </a:lnTo>
                  <a:lnTo>
                    <a:pt x="94107" y="113792"/>
                  </a:lnTo>
                  <a:lnTo>
                    <a:pt x="99949" y="115316"/>
                  </a:lnTo>
                  <a:lnTo>
                    <a:pt x="109093" y="109982"/>
                  </a:lnTo>
                  <a:lnTo>
                    <a:pt x="110617" y="104267"/>
                  </a:lnTo>
                  <a:close/>
                </a:path>
                <a:path w="1929129" h="762635">
                  <a:moveTo>
                    <a:pt x="713613" y="94996"/>
                  </a:moveTo>
                  <a:lnTo>
                    <a:pt x="711060" y="90424"/>
                  </a:lnTo>
                  <a:lnTo>
                    <a:pt x="669493" y="18923"/>
                  </a:lnTo>
                  <a:lnTo>
                    <a:pt x="658495" y="0"/>
                  </a:lnTo>
                  <a:lnTo>
                    <a:pt x="605586" y="90424"/>
                  </a:lnTo>
                  <a:lnTo>
                    <a:pt x="602996" y="94742"/>
                  </a:lnTo>
                  <a:lnTo>
                    <a:pt x="604520" y="100584"/>
                  </a:lnTo>
                  <a:lnTo>
                    <a:pt x="613664" y="105918"/>
                  </a:lnTo>
                  <a:lnTo>
                    <a:pt x="619379" y="104394"/>
                  </a:lnTo>
                  <a:lnTo>
                    <a:pt x="622046" y="99822"/>
                  </a:lnTo>
                  <a:lnTo>
                    <a:pt x="648830" y="54229"/>
                  </a:lnTo>
                  <a:lnTo>
                    <a:pt x="648957" y="23749"/>
                  </a:lnTo>
                  <a:lnTo>
                    <a:pt x="648881" y="54229"/>
                  </a:lnTo>
                  <a:lnTo>
                    <a:pt x="647319" y="762127"/>
                  </a:lnTo>
                  <a:lnTo>
                    <a:pt x="666369" y="762127"/>
                  </a:lnTo>
                  <a:lnTo>
                    <a:pt x="667816" y="106172"/>
                  </a:lnTo>
                  <a:lnTo>
                    <a:pt x="667931" y="54229"/>
                  </a:lnTo>
                  <a:lnTo>
                    <a:pt x="697230" y="104648"/>
                  </a:lnTo>
                  <a:lnTo>
                    <a:pt x="703059" y="106172"/>
                  </a:lnTo>
                  <a:lnTo>
                    <a:pt x="707517" y="103505"/>
                  </a:lnTo>
                  <a:lnTo>
                    <a:pt x="712089" y="100838"/>
                  </a:lnTo>
                  <a:lnTo>
                    <a:pt x="713613" y="94996"/>
                  </a:lnTo>
                  <a:close/>
                </a:path>
                <a:path w="1929129" h="762635">
                  <a:moveTo>
                    <a:pt x="1325880" y="94996"/>
                  </a:moveTo>
                  <a:lnTo>
                    <a:pt x="1281633" y="18923"/>
                  </a:lnTo>
                  <a:lnTo>
                    <a:pt x="1270635" y="0"/>
                  </a:lnTo>
                  <a:lnTo>
                    <a:pt x="1215136" y="94869"/>
                  </a:lnTo>
                  <a:lnTo>
                    <a:pt x="1216685" y="100838"/>
                  </a:lnTo>
                  <a:lnTo>
                    <a:pt x="1216875" y="100838"/>
                  </a:lnTo>
                  <a:lnTo>
                    <a:pt x="1221232" y="103251"/>
                  </a:lnTo>
                  <a:lnTo>
                    <a:pt x="1225791" y="105918"/>
                  </a:lnTo>
                  <a:lnTo>
                    <a:pt x="1231646" y="104394"/>
                  </a:lnTo>
                  <a:lnTo>
                    <a:pt x="1234313" y="99949"/>
                  </a:lnTo>
                  <a:lnTo>
                    <a:pt x="1261046" y="54241"/>
                  </a:lnTo>
                  <a:lnTo>
                    <a:pt x="1259967" y="762127"/>
                  </a:lnTo>
                  <a:lnTo>
                    <a:pt x="1279017" y="762127"/>
                  </a:lnTo>
                  <a:lnTo>
                    <a:pt x="1280020" y="106045"/>
                  </a:lnTo>
                  <a:lnTo>
                    <a:pt x="1280096" y="54241"/>
                  </a:lnTo>
                  <a:lnTo>
                    <a:pt x="1309293" y="104394"/>
                  </a:lnTo>
                  <a:lnTo>
                    <a:pt x="1309370" y="104521"/>
                  </a:lnTo>
                  <a:lnTo>
                    <a:pt x="1315212" y="106045"/>
                  </a:lnTo>
                  <a:lnTo>
                    <a:pt x="1319784" y="103505"/>
                  </a:lnTo>
                  <a:lnTo>
                    <a:pt x="1324229" y="100838"/>
                  </a:lnTo>
                  <a:lnTo>
                    <a:pt x="1325880" y="94996"/>
                  </a:lnTo>
                  <a:close/>
                </a:path>
                <a:path w="1929129" h="762635">
                  <a:moveTo>
                    <a:pt x="1928876" y="94996"/>
                  </a:moveTo>
                  <a:lnTo>
                    <a:pt x="1884629" y="18923"/>
                  </a:lnTo>
                  <a:lnTo>
                    <a:pt x="1873631" y="0"/>
                  </a:lnTo>
                  <a:lnTo>
                    <a:pt x="1818132" y="94869"/>
                  </a:lnTo>
                  <a:lnTo>
                    <a:pt x="1819681" y="100838"/>
                  </a:lnTo>
                  <a:lnTo>
                    <a:pt x="1819871" y="100838"/>
                  </a:lnTo>
                  <a:lnTo>
                    <a:pt x="1828800" y="106045"/>
                  </a:lnTo>
                  <a:lnTo>
                    <a:pt x="1834642" y="104521"/>
                  </a:lnTo>
                  <a:lnTo>
                    <a:pt x="1863953" y="54267"/>
                  </a:lnTo>
                  <a:lnTo>
                    <a:pt x="1864067" y="54063"/>
                  </a:lnTo>
                  <a:lnTo>
                    <a:pt x="1863471" y="762127"/>
                  </a:lnTo>
                  <a:lnTo>
                    <a:pt x="1882521" y="762127"/>
                  </a:lnTo>
                  <a:lnTo>
                    <a:pt x="1883079" y="106045"/>
                  </a:lnTo>
                  <a:lnTo>
                    <a:pt x="1883117" y="54063"/>
                  </a:lnTo>
                  <a:lnTo>
                    <a:pt x="1883003" y="53873"/>
                  </a:lnTo>
                  <a:lnTo>
                    <a:pt x="1883130" y="37820"/>
                  </a:lnTo>
                  <a:lnTo>
                    <a:pt x="1883117" y="54063"/>
                  </a:lnTo>
                  <a:lnTo>
                    <a:pt x="1883117" y="54267"/>
                  </a:lnTo>
                  <a:lnTo>
                    <a:pt x="1912366" y="104521"/>
                  </a:lnTo>
                  <a:lnTo>
                    <a:pt x="1918208" y="106045"/>
                  </a:lnTo>
                  <a:lnTo>
                    <a:pt x="1922780" y="103378"/>
                  </a:lnTo>
                  <a:lnTo>
                    <a:pt x="1927352" y="100838"/>
                  </a:lnTo>
                  <a:lnTo>
                    <a:pt x="1928876" y="9499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68068" y="4291744"/>
            <a:ext cx="528955" cy="791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05455" y="6098984"/>
            <a:ext cx="2432685" cy="265430"/>
          </a:xfrm>
          <a:custGeom>
            <a:avLst/>
            <a:gdLst/>
            <a:ahLst/>
            <a:cxnLst/>
            <a:rect l="l" t="t" r="r" b="b"/>
            <a:pathLst>
              <a:path w="2432685" h="265429">
                <a:moveTo>
                  <a:pt x="2432304" y="0"/>
                </a:moveTo>
                <a:lnTo>
                  <a:pt x="2424146" y="51610"/>
                </a:lnTo>
                <a:lnTo>
                  <a:pt x="2401903" y="93754"/>
                </a:lnTo>
                <a:lnTo>
                  <a:pt x="2368921" y="122168"/>
                </a:lnTo>
                <a:lnTo>
                  <a:pt x="2328545" y="132587"/>
                </a:lnTo>
                <a:lnTo>
                  <a:pt x="1319910" y="132587"/>
                </a:lnTo>
                <a:lnTo>
                  <a:pt x="1279534" y="143007"/>
                </a:lnTo>
                <a:lnTo>
                  <a:pt x="1246552" y="171421"/>
                </a:lnTo>
                <a:lnTo>
                  <a:pt x="1224309" y="213565"/>
                </a:lnTo>
                <a:lnTo>
                  <a:pt x="1216152" y="265175"/>
                </a:lnTo>
                <a:lnTo>
                  <a:pt x="1207994" y="213565"/>
                </a:lnTo>
                <a:lnTo>
                  <a:pt x="1185751" y="171421"/>
                </a:lnTo>
                <a:lnTo>
                  <a:pt x="1152769" y="143007"/>
                </a:lnTo>
                <a:lnTo>
                  <a:pt x="1112393" y="132587"/>
                </a:lnTo>
                <a:lnTo>
                  <a:pt x="103758" y="132587"/>
                </a:lnTo>
                <a:lnTo>
                  <a:pt x="63382" y="122168"/>
                </a:lnTo>
                <a:lnTo>
                  <a:pt x="30400" y="93754"/>
                </a:lnTo>
                <a:lnTo>
                  <a:pt x="8157" y="5161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39695" y="4306823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6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91658" y="5725007"/>
            <a:ext cx="7213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76322" y="5733516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75380" y="573351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95616" y="5733516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88012" y="4079113"/>
            <a:ext cx="254635" cy="1278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31552" y="4325111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4" h="777239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3436"/>
                </a:lnTo>
                <a:lnTo>
                  <a:pt x="103548" y="342703"/>
                </a:lnTo>
                <a:lnTo>
                  <a:pt x="124110" y="366601"/>
                </a:lnTo>
                <a:lnTo>
                  <a:pt x="154626" y="382712"/>
                </a:lnTo>
                <a:lnTo>
                  <a:pt x="192024" y="388619"/>
                </a:lnTo>
                <a:lnTo>
                  <a:pt x="154626" y="394507"/>
                </a:lnTo>
                <a:lnTo>
                  <a:pt x="124110" y="410575"/>
                </a:lnTo>
                <a:lnTo>
                  <a:pt x="103548" y="434429"/>
                </a:lnTo>
                <a:lnTo>
                  <a:pt x="96012" y="463676"/>
                </a:lnTo>
                <a:lnTo>
                  <a:pt x="96012" y="702056"/>
                </a:lnTo>
                <a:lnTo>
                  <a:pt x="88475" y="731323"/>
                </a:lnTo>
                <a:lnTo>
                  <a:pt x="67913" y="755221"/>
                </a:lnTo>
                <a:lnTo>
                  <a:pt x="37397" y="771332"/>
                </a:lnTo>
                <a:lnTo>
                  <a:pt x="0" y="777239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568068" y="3167062"/>
            <a:ext cx="528955" cy="90614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39695" y="3273552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298"/>
                </a:lnTo>
                <a:lnTo>
                  <a:pt x="118205" y="609933"/>
                </a:lnTo>
                <a:lnTo>
                  <a:pt x="98619" y="587162"/>
                </a:lnTo>
                <a:lnTo>
                  <a:pt x="91440" y="559308"/>
                </a:lnTo>
                <a:lnTo>
                  <a:pt x="91440" y="386969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8"/>
                </a:lnTo>
                <a:lnTo>
                  <a:pt x="35611" y="309830"/>
                </a:lnTo>
                <a:lnTo>
                  <a:pt x="64674" y="294465"/>
                </a:lnTo>
                <a:lnTo>
                  <a:pt x="84260" y="271694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735323" y="1403616"/>
            <a:ext cx="3401695" cy="923925"/>
          </a:xfrm>
          <a:prstGeom prst="rect">
            <a:avLst/>
          </a:prstGeom>
          <a:ln w="28575">
            <a:solidFill>
              <a:srgbClr val="5D4A3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2075" marR="320040">
              <a:lnSpc>
                <a:spcPct val="100000"/>
              </a:lnSpc>
              <a:spcBef>
                <a:spcPts val="190"/>
              </a:spcBef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On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this</a:t>
            </a:r>
            <a:r>
              <a:rPr sz="18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decoder</a:t>
            </a:r>
            <a:r>
              <a:rPr sz="18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timestep,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we’re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mostly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focusing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on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first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encoder</a:t>
            </a:r>
            <a:r>
              <a:rPr sz="1800" spc="-9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hidden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state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 (</a:t>
            </a:r>
            <a:r>
              <a:rPr sz="1800" i="1" spc="-10" dirty="0">
                <a:solidFill>
                  <a:srgbClr val="7E7E7E"/>
                </a:solidFill>
                <a:latin typeface="Calibri"/>
                <a:cs typeface="Calibri"/>
              </a:rPr>
              <a:t>”he”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784348" y="1847976"/>
            <a:ext cx="958850" cy="483234"/>
          </a:xfrm>
          <a:custGeom>
            <a:avLst/>
            <a:gdLst/>
            <a:ahLst/>
            <a:cxnLst/>
            <a:rect l="l" t="t" r="r" b="b"/>
            <a:pathLst>
              <a:path w="958850" h="483235">
                <a:moveTo>
                  <a:pt x="57912" y="405892"/>
                </a:moveTo>
                <a:lnTo>
                  <a:pt x="0" y="482346"/>
                </a:lnTo>
                <a:lnTo>
                  <a:pt x="95884" y="482853"/>
                </a:lnTo>
                <a:lnTo>
                  <a:pt x="86360" y="463550"/>
                </a:lnTo>
                <a:lnTo>
                  <a:pt x="70357" y="463550"/>
                </a:lnTo>
                <a:lnTo>
                  <a:pt x="57784" y="437896"/>
                </a:lnTo>
                <a:lnTo>
                  <a:pt x="70588" y="431583"/>
                </a:lnTo>
                <a:lnTo>
                  <a:pt x="57912" y="405892"/>
                </a:lnTo>
                <a:close/>
              </a:path>
              <a:path w="958850" h="483235">
                <a:moveTo>
                  <a:pt x="70588" y="431583"/>
                </a:moveTo>
                <a:lnTo>
                  <a:pt x="57784" y="437896"/>
                </a:lnTo>
                <a:lnTo>
                  <a:pt x="70357" y="463550"/>
                </a:lnTo>
                <a:lnTo>
                  <a:pt x="83229" y="457204"/>
                </a:lnTo>
                <a:lnTo>
                  <a:pt x="70588" y="431583"/>
                </a:lnTo>
                <a:close/>
              </a:path>
              <a:path w="958850" h="483235">
                <a:moveTo>
                  <a:pt x="83229" y="457204"/>
                </a:moveTo>
                <a:lnTo>
                  <a:pt x="70357" y="463550"/>
                </a:lnTo>
                <a:lnTo>
                  <a:pt x="86360" y="463550"/>
                </a:lnTo>
                <a:lnTo>
                  <a:pt x="83229" y="457204"/>
                </a:lnTo>
                <a:close/>
              </a:path>
              <a:path w="958850" h="483235">
                <a:moveTo>
                  <a:pt x="946023" y="0"/>
                </a:moveTo>
                <a:lnTo>
                  <a:pt x="70588" y="431583"/>
                </a:lnTo>
                <a:lnTo>
                  <a:pt x="83229" y="457204"/>
                </a:lnTo>
                <a:lnTo>
                  <a:pt x="958596" y="25653"/>
                </a:lnTo>
                <a:lnTo>
                  <a:pt x="946023" y="0"/>
                </a:lnTo>
                <a:close/>
              </a:path>
            </a:pathLst>
          </a:custGeom>
          <a:solidFill>
            <a:srgbClr val="5D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68068" y="1906613"/>
            <a:ext cx="528955" cy="1105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0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48839" y="2139695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316"/>
                </a:lnTo>
                <a:lnTo>
                  <a:pt x="118205" y="609980"/>
                </a:lnTo>
                <a:lnTo>
                  <a:pt x="98619" y="587216"/>
                </a:lnTo>
                <a:lnTo>
                  <a:pt x="91440" y="559307"/>
                </a:lnTo>
                <a:lnTo>
                  <a:pt x="91440" y="386968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7"/>
                </a:lnTo>
                <a:lnTo>
                  <a:pt x="35611" y="309848"/>
                </a:lnTo>
                <a:lnTo>
                  <a:pt x="64674" y="294513"/>
                </a:lnTo>
                <a:lnTo>
                  <a:pt x="84260" y="271748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719571" y="2766060"/>
            <a:ext cx="3145790" cy="640080"/>
          </a:xfrm>
          <a:prstGeom prst="rect">
            <a:avLst/>
          </a:prstGeom>
          <a:ln w="28575">
            <a:solidFill>
              <a:srgbClr val="5D4A3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17804" marR="109220" indent="-95250">
              <a:lnSpc>
                <a:spcPct val="100000"/>
              </a:lnSpc>
              <a:spcBef>
                <a:spcPts val="190"/>
              </a:spcBef>
            </a:pP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Take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softmax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turn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scores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into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8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probability</a:t>
            </a:r>
            <a:r>
              <a:rPr sz="18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51476" y="3044063"/>
            <a:ext cx="772160" cy="85725"/>
          </a:xfrm>
          <a:custGeom>
            <a:avLst/>
            <a:gdLst/>
            <a:ahLst/>
            <a:cxnLst/>
            <a:rect l="l" t="t" r="r" b="b"/>
            <a:pathLst>
              <a:path w="772160" h="85725">
                <a:moveTo>
                  <a:pt x="85725" y="0"/>
                </a:moveTo>
                <a:lnTo>
                  <a:pt x="0" y="43052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374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72160" h="85725">
                <a:moveTo>
                  <a:pt x="772160" y="27686"/>
                </a:moveTo>
                <a:lnTo>
                  <a:pt x="71374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lnTo>
                  <a:pt x="772160" y="28575"/>
                </a:lnTo>
                <a:lnTo>
                  <a:pt x="772160" y="27686"/>
                </a:lnTo>
                <a:close/>
              </a:path>
              <a:path w="772160" h="85725">
                <a:moveTo>
                  <a:pt x="772160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1501" y="57150"/>
                </a:lnTo>
                <a:lnTo>
                  <a:pt x="772160" y="56261"/>
                </a:lnTo>
                <a:lnTo>
                  <a:pt x="772160" y="28575"/>
                </a:lnTo>
                <a:close/>
              </a:path>
            </a:pathLst>
          </a:custGeom>
          <a:solidFill>
            <a:srgbClr val="5D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617597" y="6415687"/>
            <a:ext cx="22358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Sequence-to-sequence</a:t>
            </a:r>
            <a:r>
              <a:rPr spc="18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spc="-1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95930" y="1096899"/>
            <a:ext cx="3411854" cy="4596765"/>
            <a:chOff x="2495930" y="1096899"/>
            <a:chExt cx="3411854" cy="4596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370451"/>
              <a:ext cx="128778" cy="1287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535043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708778"/>
              <a:ext cx="128778" cy="1287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873370"/>
              <a:ext cx="128778" cy="128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599" y="4306824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1" y="12906"/>
                  </a:lnTo>
                  <a:lnTo>
                    <a:pt x="261699" y="26949"/>
                  </a:lnTo>
                  <a:lnTo>
                    <a:pt x="265175" y="44195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1" y="764285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5"/>
                  </a:lnTo>
                  <a:lnTo>
                    <a:pt x="3476" y="26949"/>
                  </a:lnTo>
                  <a:lnTo>
                    <a:pt x="12954" y="12906"/>
                  </a:lnTo>
                  <a:lnTo>
                    <a:pt x="27003" y="3458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4635500"/>
              <a:ext cx="528320" cy="1058545"/>
            </a:xfrm>
            <a:custGeom>
              <a:avLst/>
              <a:gdLst/>
              <a:ahLst/>
              <a:cxnLst/>
              <a:rect l="l" t="t" r="r" b="b"/>
              <a:pathLst>
                <a:path w="528319" h="1058545">
                  <a:moveTo>
                    <a:pt x="110744" y="543306"/>
                  </a:moveTo>
                  <a:lnTo>
                    <a:pt x="66408" y="467360"/>
                  </a:lnTo>
                  <a:lnTo>
                    <a:pt x="55372" y="448437"/>
                  </a:lnTo>
                  <a:lnTo>
                    <a:pt x="0" y="543306"/>
                  </a:lnTo>
                  <a:lnTo>
                    <a:pt x="1524" y="549148"/>
                  </a:lnTo>
                  <a:lnTo>
                    <a:pt x="10668" y="554482"/>
                  </a:lnTo>
                  <a:lnTo>
                    <a:pt x="16510" y="552958"/>
                  </a:lnTo>
                  <a:lnTo>
                    <a:pt x="45834" y="502666"/>
                  </a:lnTo>
                  <a:lnTo>
                    <a:pt x="45847" y="467360"/>
                  </a:lnTo>
                  <a:lnTo>
                    <a:pt x="45847" y="502666"/>
                  </a:lnTo>
                  <a:lnTo>
                    <a:pt x="45847" y="1058113"/>
                  </a:lnTo>
                  <a:lnTo>
                    <a:pt x="64897" y="1058113"/>
                  </a:lnTo>
                  <a:lnTo>
                    <a:pt x="64897" y="502666"/>
                  </a:lnTo>
                  <a:lnTo>
                    <a:pt x="94234" y="552958"/>
                  </a:lnTo>
                  <a:lnTo>
                    <a:pt x="100076" y="554482"/>
                  </a:lnTo>
                  <a:lnTo>
                    <a:pt x="109220" y="549148"/>
                  </a:lnTo>
                  <a:lnTo>
                    <a:pt x="110744" y="543306"/>
                  </a:lnTo>
                  <a:close/>
                </a:path>
                <a:path w="528319" h="1058545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722" y="4288155"/>
              <a:ext cx="2789681" cy="139631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05455" y="277063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87751" y="2295144"/>
              <a:ext cx="137160" cy="475615"/>
            </a:xfrm>
            <a:custGeom>
              <a:avLst/>
              <a:gdLst/>
              <a:ahLst/>
              <a:cxnLst/>
              <a:rect l="l" t="t" r="r" b="b"/>
              <a:pathLst>
                <a:path w="137160" h="475614">
                  <a:moveTo>
                    <a:pt x="137160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7160" y="47548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87751" y="2295144"/>
              <a:ext cx="137160" cy="475615"/>
            </a:xfrm>
            <a:custGeom>
              <a:avLst/>
              <a:gdLst/>
              <a:ahLst/>
              <a:cxnLst/>
              <a:rect l="l" t="t" r="r" b="b"/>
              <a:pathLst>
                <a:path w="137160" h="475614">
                  <a:moveTo>
                    <a:pt x="0" y="475488"/>
                  </a:moveTo>
                  <a:lnTo>
                    <a:pt x="137160" y="47548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91255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59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59" y="45718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1255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59" y="45718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759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60" y="4571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94759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60" y="4571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8263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60" y="4571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98263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60" y="4571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02484" y="3630040"/>
              <a:ext cx="1921510" cy="675005"/>
            </a:xfrm>
            <a:custGeom>
              <a:avLst/>
              <a:gdLst/>
              <a:ahLst/>
              <a:cxnLst/>
              <a:rect l="l" t="t" r="r" b="b"/>
              <a:pathLst>
                <a:path w="1921510" h="675004">
                  <a:moveTo>
                    <a:pt x="110617" y="95504"/>
                  </a:moveTo>
                  <a:lnTo>
                    <a:pt x="108077" y="90932"/>
                  </a:lnTo>
                  <a:lnTo>
                    <a:pt x="66967" y="18796"/>
                  </a:lnTo>
                  <a:lnTo>
                    <a:pt x="56261" y="0"/>
                  </a:lnTo>
                  <a:lnTo>
                    <a:pt x="2667" y="89789"/>
                  </a:lnTo>
                  <a:lnTo>
                    <a:pt x="0" y="94361"/>
                  </a:lnTo>
                  <a:lnTo>
                    <a:pt x="1422" y="100330"/>
                  </a:lnTo>
                  <a:lnTo>
                    <a:pt x="1612" y="100330"/>
                  </a:lnTo>
                  <a:lnTo>
                    <a:pt x="10541" y="105537"/>
                  </a:lnTo>
                  <a:lnTo>
                    <a:pt x="16383" y="104140"/>
                  </a:lnTo>
                  <a:lnTo>
                    <a:pt x="19050" y="99568"/>
                  </a:lnTo>
                  <a:lnTo>
                    <a:pt x="46228" y="54051"/>
                  </a:lnTo>
                  <a:lnTo>
                    <a:pt x="39738" y="675005"/>
                  </a:lnTo>
                  <a:lnTo>
                    <a:pt x="58801" y="675005"/>
                  </a:lnTo>
                  <a:lnTo>
                    <a:pt x="65278" y="54419"/>
                  </a:lnTo>
                  <a:lnTo>
                    <a:pt x="65608" y="23876"/>
                  </a:lnTo>
                  <a:lnTo>
                    <a:pt x="65290" y="54051"/>
                  </a:lnTo>
                  <a:lnTo>
                    <a:pt x="65278" y="54419"/>
                  </a:lnTo>
                  <a:lnTo>
                    <a:pt x="91440" y="100330"/>
                  </a:lnTo>
                  <a:lnTo>
                    <a:pt x="94107" y="104902"/>
                  </a:lnTo>
                  <a:lnTo>
                    <a:pt x="99949" y="106426"/>
                  </a:lnTo>
                  <a:lnTo>
                    <a:pt x="104521" y="103886"/>
                  </a:lnTo>
                  <a:lnTo>
                    <a:pt x="109093" y="101219"/>
                  </a:lnTo>
                  <a:lnTo>
                    <a:pt x="110617" y="95504"/>
                  </a:lnTo>
                  <a:close/>
                </a:path>
                <a:path w="1921510" h="675004">
                  <a:moveTo>
                    <a:pt x="711327" y="95250"/>
                  </a:moveTo>
                  <a:lnTo>
                    <a:pt x="708660" y="90678"/>
                  </a:lnTo>
                  <a:lnTo>
                    <a:pt x="667524" y="19050"/>
                  </a:lnTo>
                  <a:lnTo>
                    <a:pt x="667448" y="18923"/>
                  </a:lnTo>
                  <a:lnTo>
                    <a:pt x="656590" y="0"/>
                  </a:lnTo>
                  <a:lnTo>
                    <a:pt x="603377" y="90043"/>
                  </a:lnTo>
                  <a:lnTo>
                    <a:pt x="600710" y="94615"/>
                  </a:lnTo>
                  <a:lnTo>
                    <a:pt x="602157" y="100203"/>
                  </a:lnTo>
                  <a:lnTo>
                    <a:pt x="602234" y="100457"/>
                  </a:lnTo>
                  <a:lnTo>
                    <a:pt x="606679" y="103124"/>
                  </a:lnTo>
                  <a:lnTo>
                    <a:pt x="611251" y="105791"/>
                  </a:lnTo>
                  <a:lnTo>
                    <a:pt x="617093" y="104267"/>
                  </a:lnTo>
                  <a:lnTo>
                    <a:pt x="619760" y="99695"/>
                  </a:lnTo>
                  <a:lnTo>
                    <a:pt x="646734" y="54000"/>
                  </a:lnTo>
                  <a:lnTo>
                    <a:pt x="643255" y="669036"/>
                  </a:lnTo>
                  <a:lnTo>
                    <a:pt x="662305" y="669163"/>
                  </a:lnTo>
                  <a:lnTo>
                    <a:pt x="665784" y="54343"/>
                  </a:lnTo>
                  <a:lnTo>
                    <a:pt x="692150" y="100203"/>
                  </a:lnTo>
                  <a:lnTo>
                    <a:pt x="694817" y="104648"/>
                  </a:lnTo>
                  <a:lnTo>
                    <a:pt x="700646" y="106299"/>
                  </a:lnTo>
                  <a:lnTo>
                    <a:pt x="709803" y="100965"/>
                  </a:lnTo>
                  <a:lnTo>
                    <a:pt x="711327" y="95250"/>
                  </a:lnTo>
                  <a:close/>
                </a:path>
                <a:path w="1921510" h="675004">
                  <a:moveTo>
                    <a:pt x="1313815" y="96012"/>
                  </a:moveTo>
                  <a:lnTo>
                    <a:pt x="1311275" y="91313"/>
                  </a:lnTo>
                  <a:lnTo>
                    <a:pt x="1270825" y="18796"/>
                  </a:lnTo>
                  <a:lnTo>
                    <a:pt x="1260348" y="0"/>
                  </a:lnTo>
                  <a:lnTo>
                    <a:pt x="1205865" y="89281"/>
                  </a:lnTo>
                  <a:lnTo>
                    <a:pt x="1203198" y="93726"/>
                  </a:lnTo>
                  <a:lnTo>
                    <a:pt x="1204468" y="99187"/>
                  </a:lnTo>
                  <a:lnTo>
                    <a:pt x="1204595" y="99695"/>
                  </a:lnTo>
                  <a:lnTo>
                    <a:pt x="1209040" y="102362"/>
                  </a:lnTo>
                  <a:lnTo>
                    <a:pt x="1213472" y="105168"/>
                  </a:lnTo>
                  <a:lnTo>
                    <a:pt x="1219454" y="103759"/>
                  </a:lnTo>
                  <a:lnTo>
                    <a:pt x="1222121" y="99187"/>
                  </a:lnTo>
                  <a:lnTo>
                    <a:pt x="1249743" y="53936"/>
                  </a:lnTo>
                  <a:lnTo>
                    <a:pt x="1237615" y="668909"/>
                  </a:lnTo>
                  <a:lnTo>
                    <a:pt x="1256665" y="669290"/>
                  </a:lnTo>
                  <a:lnTo>
                    <a:pt x="1268793" y="54394"/>
                  </a:lnTo>
                  <a:lnTo>
                    <a:pt x="1269390" y="23876"/>
                  </a:lnTo>
                  <a:lnTo>
                    <a:pt x="1268806" y="53936"/>
                  </a:lnTo>
                  <a:lnTo>
                    <a:pt x="1268793" y="54394"/>
                  </a:lnTo>
                  <a:lnTo>
                    <a:pt x="1294638" y="100584"/>
                  </a:lnTo>
                  <a:lnTo>
                    <a:pt x="1297178" y="105283"/>
                  </a:lnTo>
                  <a:lnTo>
                    <a:pt x="1302893" y="106934"/>
                  </a:lnTo>
                  <a:lnTo>
                    <a:pt x="1307592" y="104267"/>
                  </a:lnTo>
                  <a:lnTo>
                    <a:pt x="1312164" y="101727"/>
                  </a:lnTo>
                  <a:lnTo>
                    <a:pt x="1313815" y="96012"/>
                  </a:lnTo>
                  <a:close/>
                </a:path>
                <a:path w="1921510" h="675004">
                  <a:moveTo>
                    <a:pt x="1921256" y="95504"/>
                  </a:moveTo>
                  <a:lnTo>
                    <a:pt x="1918589" y="90932"/>
                  </a:lnTo>
                  <a:lnTo>
                    <a:pt x="1877580" y="18796"/>
                  </a:lnTo>
                  <a:lnTo>
                    <a:pt x="1866900" y="0"/>
                  </a:lnTo>
                  <a:lnTo>
                    <a:pt x="1810639" y="94234"/>
                  </a:lnTo>
                  <a:lnTo>
                    <a:pt x="1812061" y="100330"/>
                  </a:lnTo>
                  <a:lnTo>
                    <a:pt x="1812251" y="100330"/>
                  </a:lnTo>
                  <a:lnTo>
                    <a:pt x="1816608" y="102870"/>
                  </a:lnTo>
                  <a:lnTo>
                    <a:pt x="1821053" y="105537"/>
                  </a:lnTo>
                  <a:lnTo>
                    <a:pt x="1826895" y="104013"/>
                  </a:lnTo>
                  <a:lnTo>
                    <a:pt x="1829689" y="99568"/>
                  </a:lnTo>
                  <a:lnTo>
                    <a:pt x="1856867" y="54076"/>
                  </a:lnTo>
                  <a:lnTo>
                    <a:pt x="1850250" y="666242"/>
                  </a:lnTo>
                  <a:lnTo>
                    <a:pt x="1869313" y="666242"/>
                  </a:lnTo>
                  <a:lnTo>
                    <a:pt x="1875904" y="54394"/>
                  </a:lnTo>
                  <a:lnTo>
                    <a:pt x="1876234" y="23876"/>
                  </a:lnTo>
                  <a:lnTo>
                    <a:pt x="1875917" y="54076"/>
                  </a:lnTo>
                  <a:lnTo>
                    <a:pt x="1875904" y="54394"/>
                  </a:lnTo>
                  <a:lnTo>
                    <a:pt x="1902079" y="100330"/>
                  </a:lnTo>
                  <a:lnTo>
                    <a:pt x="1904619" y="104902"/>
                  </a:lnTo>
                  <a:lnTo>
                    <a:pt x="1910461" y="106553"/>
                  </a:lnTo>
                  <a:lnTo>
                    <a:pt x="1915033" y="103886"/>
                  </a:lnTo>
                  <a:lnTo>
                    <a:pt x="1919605" y="101346"/>
                  </a:lnTo>
                  <a:lnTo>
                    <a:pt x="1921256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370" y="3510915"/>
              <a:ext cx="137922" cy="1287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875" y="3510915"/>
              <a:ext cx="137922" cy="1287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4378" y="3510915"/>
              <a:ext cx="137922" cy="12877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7882" y="3510915"/>
              <a:ext cx="137921" cy="12877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598420" y="2761360"/>
              <a:ext cx="3174365" cy="1542415"/>
            </a:xfrm>
            <a:custGeom>
              <a:avLst/>
              <a:gdLst/>
              <a:ahLst/>
              <a:cxnLst/>
              <a:rect l="l" t="t" r="r" b="b"/>
              <a:pathLst>
                <a:path w="3174365" h="1542414">
                  <a:moveTo>
                    <a:pt x="110617" y="104267"/>
                  </a:moveTo>
                  <a:lnTo>
                    <a:pt x="107950" y="99695"/>
                  </a:lnTo>
                  <a:lnTo>
                    <a:pt x="66624" y="28194"/>
                  </a:lnTo>
                  <a:lnTo>
                    <a:pt x="55626" y="9144"/>
                  </a:lnTo>
                  <a:lnTo>
                    <a:pt x="2667" y="99314"/>
                  </a:lnTo>
                  <a:lnTo>
                    <a:pt x="0" y="103886"/>
                  </a:lnTo>
                  <a:lnTo>
                    <a:pt x="1524" y="109728"/>
                  </a:lnTo>
                  <a:lnTo>
                    <a:pt x="6096" y="112395"/>
                  </a:lnTo>
                  <a:lnTo>
                    <a:pt x="10541" y="115062"/>
                  </a:lnTo>
                  <a:lnTo>
                    <a:pt x="16383" y="113538"/>
                  </a:lnTo>
                  <a:lnTo>
                    <a:pt x="19050" y="108966"/>
                  </a:lnTo>
                  <a:lnTo>
                    <a:pt x="45859" y="63334"/>
                  </a:lnTo>
                  <a:lnTo>
                    <a:pt x="43802" y="762127"/>
                  </a:lnTo>
                  <a:lnTo>
                    <a:pt x="62865" y="762127"/>
                  </a:lnTo>
                  <a:lnTo>
                    <a:pt x="64757" y="115316"/>
                  </a:lnTo>
                  <a:lnTo>
                    <a:pt x="64808" y="99314"/>
                  </a:lnTo>
                  <a:lnTo>
                    <a:pt x="64909" y="63334"/>
                  </a:lnTo>
                  <a:lnTo>
                    <a:pt x="91567" y="109220"/>
                  </a:lnTo>
                  <a:lnTo>
                    <a:pt x="94107" y="113792"/>
                  </a:lnTo>
                  <a:lnTo>
                    <a:pt x="99949" y="115316"/>
                  </a:lnTo>
                  <a:lnTo>
                    <a:pt x="109093" y="109982"/>
                  </a:lnTo>
                  <a:lnTo>
                    <a:pt x="110617" y="104267"/>
                  </a:lnTo>
                  <a:close/>
                </a:path>
                <a:path w="3174365" h="1542414">
                  <a:moveTo>
                    <a:pt x="713613" y="94996"/>
                  </a:moveTo>
                  <a:lnTo>
                    <a:pt x="711060" y="90424"/>
                  </a:lnTo>
                  <a:lnTo>
                    <a:pt x="669493" y="18923"/>
                  </a:lnTo>
                  <a:lnTo>
                    <a:pt x="658495" y="0"/>
                  </a:lnTo>
                  <a:lnTo>
                    <a:pt x="605586" y="90424"/>
                  </a:lnTo>
                  <a:lnTo>
                    <a:pt x="602996" y="94742"/>
                  </a:lnTo>
                  <a:lnTo>
                    <a:pt x="604520" y="100584"/>
                  </a:lnTo>
                  <a:lnTo>
                    <a:pt x="613664" y="105918"/>
                  </a:lnTo>
                  <a:lnTo>
                    <a:pt x="619379" y="104394"/>
                  </a:lnTo>
                  <a:lnTo>
                    <a:pt x="622046" y="99822"/>
                  </a:lnTo>
                  <a:lnTo>
                    <a:pt x="648830" y="54229"/>
                  </a:lnTo>
                  <a:lnTo>
                    <a:pt x="648957" y="23749"/>
                  </a:lnTo>
                  <a:lnTo>
                    <a:pt x="648881" y="54229"/>
                  </a:lnTo>
                  <a:lnTo>
                    <a:pt x="647319" y="762127"/>
                  </a:lnTo>
                  <a:lnTo>
                    <a:pt x="666369" y="762127"/>
                  </a:lnTo>
                  <a:lnTo>
                    <a:pt x="667816" y="106172"/>
                  </a:lnTo>
                  <a:lnTo>
                    <a:pt x="667931" y="54229"/>
                  </a:lnTo>
                  <a:lnTo>
                    <a:pt x="697230" y="104648"/>
                  </a:lnTo>
                  <a:lnTo>
                    <a:pt x="703059" y="106172"/>
                  </a:lnTo>
                  <a:lnTo>
                    <a:pt x="707517" y="103505"/>
                  </a:lnTo>
                  <a:lnTo>
                    <a:pt x="712089" y="100838"/>
                  </a:lnTo>
                  <a:lnTo>
                    <a:pt x="713613" y="94996"/>
                  </a:lnTo>
                  <a:close/>
                </a:path>
                <a:path w="3174365" h="1542414">
                  <a:moveTo>
                    <a:pt x="1325880" y="94996"/>
                  </a:moveTo>
                  <a:lnTo>
                    <a:pt x="1281633" y="18923"/>
                  </a:lnTo>
                  <a:lnTo>
                    <a:pt x="1270635" y="0"/>
                  </a:lnTo>
                  <a:lnTo>
                    <a:pt x="1215136" y="94869"/>
                  </a:lnTo>
                  <a:lnTo>
                    <a:pt x="1216685" y="100838"/>
                  </a:lnTo>
                  <a:lnTo>
                    <a:pt x="1216875" y="100838"/>
                  </a:lnTo>
                  <a:lnTo>
                    <a:pt x="1221232" y="103251"/>
                  </a:lnTo>
                  <a:lnTo>
                    <a:pt x="1225791" y="105918"/>
                  </a:lnTo>
                  <a:lnTo>
                    <a:pt x="1231646" y="104394"/>
                  </a:lnTo>
                  <a:lnTo>
                    <a:pt x="1234313" y="99949"/>
                  </a:lnTo>
                  <a:lnTo>
                    <a:pt x="1261046" y="54241"/>
                  </a:lnTo>
                  <a:lnTo>
                    <a:pt x="1259967" y="762127"/>
                  </a:lnTo>
                  <a:lnTo>
                    <a:pt x="1279017" y="762127"/>
                  </a:lnTo>
                  <a:lnTo>
                    <a:pt x="1280020" y="106045"/>
                  </a:lnTo>
                  <a:lnTo>
                    <a:pt x="1280096" y="54241"/>
                  </a:lnTo>
                  <a:lnTo>
                    <a:pt x="1309293" y="104394"/>
                  </a:lnTo>
                  <a:lnTo>
                    <a:pt x="1309370" y="104521"/>
                  </a:lnTo>
                  <a:lnTo>
                    <a:pt x="1315212" y="106045"/>
                  </a:lnTo>
                  <a:lnTo>
                    <a:pt x="1319784" y="103505"/>
                  </a:lnTo>
                  <a:lnTo>
                    <a:pt x="1324229" y="100838"/>
                  </a:lnTo>
                  <a:lnTo>
                    <a:pt x="1325880" y="94996"/>
                  </a:lnTo>
                  <a:close/>
                </a:path>
                <a:path w="3174365" h="1542414">
                  <a:moveTo>
                    <a:pt x="1928876" y="94996"/>
                  </a:moveTo>
                  <a:lnTo>
                    <a:pt x="1884629" y="18923"/>
                  </a:lnTo>
                  <a:lnTo>
                    <a:pt x="1873631" y="0"/>
                  </a:lnTo>
                  <a:lnTo>
                    <a:pt x="1818132" y="94869"/>
                  </a:lnTo>
                  <a:lnTo>
                    <a:pt x="1819681" y="100838"/>
                  </a:lnTo>
                  <a:lnTo>
                    <a:pt x="1819871" y="100838"/>
                  </a:lnTo>
                  <a:lnTo>
                    <a:pt x="1828800" y="106045"/>
                  </a:lnTo>
                  <a:lnTo>
                    <a:pt x="1834642" y="104521"/>
                  </a:lnTo>
                  <a:lnTo>
                    <a:pt x="1863953" y="54267"/>
                  </a:lnTo>
                  <a:lnTo>
                    <a:pt x="1864067" y="54063"/>
                  </a:lnTo>
                  <a:lnTo>
                    <a:pt x="1863471" y="762127"/>
                  </a:lnTo>
                  <a:lnTo>
                    <a:pt x="1882521" y="762127"/>
                  </a:lnTo>
                  <a:lnTo>
                    <a:pt x="1883079" y="106045"/>
                  </a:lnTo>
                  <a:lnTo>
                    <a:pt x="1883117" y="54063"/>
                  </a:lnTo>
                  <a:lnTo>
                    <a:pt x="1883003" y="53873"/>
                  </a:lnTo>
                  <a:lnTo>
                    <a:pt x="1883130" y="37820"/>
                  </a:lnTo>
                  <a:lnTo>
                    <a:pt x="1883117" y="54063"/>
                  </a:lnTo>
                  <a:lnTo>
                    <a:pt x="1883117" y="54267"/>
                  </a:lnTo>
                  <a:lnTo>
                    <a:pt x="1912366" y="104521"/>
                  </a:lnTo>
                  <a:lnTo>
                    <a:pt x="1918208" y="106045"/>
                  </a:lnTo>
                  <a:lnTo>
                    <a:pt x="1922780" y="103378"/>
                  </a:lnTo>
                  <a:lnTo>
                    <a:pt x="1927352" y="100838"/>
                  </a:lnTo>
                  <a:lnTo>
                    <a:pt x="1928876" y="94996"/>
                  </a:lnTo>
                  <a:close/>
                </a:path>
                <a:path w="3174365" h="1542414">
                  <a:moveTo>
                    <a:pt x="3174365" y="1524889"/>
                  </a:moveTo>
                  <a:lnTo>
                    <a:pt x="3173844" y="1524596"/>
                  </a:lnTo>
                  <a:lnTo>
                    <a:pt x="3173984" y="1524254"/>
                  </a:lnTo>
                  <a:lnTo>
                    <a:pt x="3172282" y="1523619"/>
                  </a:lnTo>
                  <a:lnTo>
                    <a:pt x="3172460" y="1522857"/>
                  </a:lnTo>
                  <a:lnTo>
                    <a:pt x="3169780" y="1522272"/>
                  </a:lnTo>
                  <a:lnTo>
                    <a:pt x="1979625" y="832866"/>
                  </a:lnTo>
                  <a:lnTo>
                    <a:pt x="1960575" y="832866"/>
                  </a:lnTo>
                  <a:lnTo>
                    <a:pt x="1944243" y="832866"/>
                  </a:lnTo>
                  <a:lnTo>
                    <a:pt x="1960537" y="832827"/>
                  </a:lnTo>
                  <a:lnTo>
                    <a:pt x="1979447" y="832777"/>
                  </a:lnTo>
                  <a:lnTo>
                    <a:pt x="2037715" y="832612"/>
                  </a:lnTo>
                  <a:lnTo>
                    <a:pt x="2041906" y="828294"/>
                  </a:lnTo>
                  <a:lnTo>
                    <a:pt x="2041906" y="817753"/>
                  </a:lnTo>
                  <a:lnTo>
                    <a:pt x="2039150" y="815086"/>
                  </a:lnTo>
                  <a:lnTo>
                    <a:pt x="2037588" y="813562"/>
                  </a:lnTo>
                  <a:lnTo>
                    <a:pt x="2032381" y="813562"/>
                  </a:lnTo>
                  <a:lnTo>
                    <a:pt x="1927860" y="813943"/>
                  </a:lnTo>
                  <a:lnTo>
                    <a:pt x="1979549" y="904748"/>
                  </a:lnTo>
                  <a:lnTo>
                    <a:pt x="1982216" y="909320"/>
                  </a:lnTo>
                  <a:lnTo>
                    <a:pt x="1987931" y="910844"/>
                  </a:lnTo>
                  <a:lnTo>
                    <a:pt x="1992503" y="908304"/>
                  </a:lnTo>
                  <a:lnTo>
                    <a:pt x="1997075" y="905637"/>
                  </a:lnTo>
                  <a:lnTo>
                    <a:pt x="1998726" y="899922"/>
                  </a:lnTo>
                  <a:lnTo>
                    <a:pt x="1996059" y="895350"/>
                  </a:lnTo>
                  <a:lnTo>
                    <a:pt x="1969871" y="849249"/>
                  </a:lnTo>
                  <a:lnTo>
                    <a:pt x="3055670" y="1478178"/>
                  </a:lnTo>
                  <a:lnTo>
                    <a:pt x="1378102" y="824687"/>
                  </a:lnTo>
                  <a:lnTo>
                    <a:pt x="1430528" y="816356"/>
                  </a:lnTo>
                  <a:lnTo>
                    <a:pt x="1435735" y="815594"/>
                  </a:lnTo>
                  <a:lnTo>
                    <a:pt x="1438440" y="811911"/>
                  </a:lnTo>
                  <a:lnTo>
                    <a:pt x="1439291" y="810768"/>
                  </a:lnTo>
                  <a:lnTo>
                    <a:pt x="1438529" y="805561"/>
                  </a:lnTo>
                  <a:lnTo>
                    <a:pt x="1437640" y="800354"/>
                  </a:lnTo>
                  <a:lnTo>
                    <a:pt x="1432814" y="796810"/>
                  </a:lnTo>
                  <a:lnTo>
                    <a:pt x="1427607" y="797572"/>
                  </a:lnTo>
                  <a:lnTo>
                    <a:pt x="1324356" y="813943"/>
                  </a:lnTo>
                  <a:lnTo>
                    <a:pt x="1389380" y="895731"/>
                  </a:lnTo>
                  <a:lnTo>
                    <a:pt x="1392555" y="899922"/>
                  </a:lnTo>
                  <a:lnTo>
                    <a:pt x="1398651" y="900557"/>
                  </a:lnTo>
                  <a:lnTo>
                    <a:pt x="1402715" y="897255"/>
                  </a:lnTo>
                  <a:lnTo>
                    <a:pt x="1406779" y="894080"/>
                  </a:lnTo>
                  <a:lnTo>
                    <a:pt x="1407541" y="887984"/>
                  </a:lnTo>
                  <a:lnTo>
                    <a:pt x="1404239" y="883920"/>
                  </a:lnTo>
                  <a:lnTo>
                    <a:pt x="1371206" y="842327"/>
                  </a:lnTo>
                  <a:lnTo>
                    <a:pt x="2986417" y="1471688"/>
                  </a:lnTo>
                  <a:lnTo>
                    <a:pt x="757224" y="855713"/>
                  </a:lnTo>
                  <a:lnTo>
                    <a:pt x="792657" y="846328"/>
                  </a:lnTo>
                  <a:lnTo>
                    <a:pt x="808482" y="842137"/>
                  </a:lnTo>
                  <a:lnTo>
                    <a:pt x="813562" y="840867"/>
                  </a:lnTo>
                  <a:lnTo>
                    <a:pt x="816610" y="835672"/>
                  </a:lnTo>
                  <a:lnTo>
                    <a:pt x="815213" y="830580"/>
                  </a:lnTo>
                  <a:lnTo>
                    <a:pt x="813943" y="825385"/>
                  </a:lnTo>
                  <a:lnTo>
                    <a:pt x="808736" y="822452"/>
                  </a:lnTo>
                  <a:lnTo>
                    <a:pt x="803656" y="823734"/>
                  </a:lnTo>
                  <a:lnTo>
                    <a:pt x="702564" y="850519"/>
                  </a:lnTo>
                  <a:lnTo>
                    <a:pt x="775589" y="925322"/>
                  </a:lnTo>
                  <a:lnTo>
                    <a:pt x="779386" y="929132"/>
                  </a:lnTo>
                  <a:lnTo>
                    <a:pt x="785241" y="929132"/>
                  </a:lnTo>
                  <a:lnTo>
                    <a:pt x="789051" y="925449"/>
                  </a:lnTo>
                  <a:lnTo>
                    <a:pt x="792734" y="921766"/>
                  </a:lnTo>
                  <a:lnTo>
                    <a:pt x="792861" y="915797"/>
                  </a:lnTo>
                  <a:lnTo>
                    <a:pt x="752094" y="873988"/>
                  </a:lnTo>
                  <a:lnTo>
                    <a:pt x="2806052" y="1441551"/>
                  </a:lnTo>
                  <a:lnTo>
                    <a:pt x="153822" y="852932"/>
                  </a:lnTo>
                  <a:lnTo>
                    <a:pt x="177685" y="845312"/>
                  </a:lnTo>
                  <a:lnTo>
                    <a:pt x="209423" y="835152"/>
                  </a:lnTo>
                  <a:lnTo>
                    <a:pt x="212217" y="829818"/>
                  </a:lnTo>
                  <a:lnTo>
                    <a:pt x="210566" y="824738"/>
                  </a:lnTo>
                  <a:lnTo>
                    <a:pt x="208915" y="819797"/>
                  </a:lnTo>
                  <a:lnTo>
                    <a:pt x="203581" y="816991"/>
                  </a:lnTo>
                  <a:lnTo>
                    <a:pt x="198628" y="818642"/>
                  </a:lnTo>
                  <a:lnTo>
                    <a:pt x="99060" y="850519"/>
                  </a:lnTo>
                  <a:lnTo>
                    <a:pt x="179578" y="925068"/>
                  </a:lnTo>
                  <a:lnTo>
                    <a:pt x="185674" y="924814"/>
                  </a:lnTo>
                  <a:lnTo>
                    <a:pt x="189230" y="920877"/>
                  </a:lnTo>
                  <a:lnTo>
                    <a:pt x="192786" y="917067"/>
                  </a:lnTo>
                  <a:lnTo>
                    <a:pt x="192532" y="911098"/>
                  </a:lnTo>
                  <a:lnTo>
                    <a:pt x="149733" y="871474"/>
                  </a:lnTo>
                  <a:lnTo>
                    <a:pt x="3161271" y="1539824"/>
                  </a:lnTo>
                  <a:lnTo>
                    <a:pt x="3163747" y="1540776"/>
                  </a:lnTo>
                  <a:lnTo>
                    <a:pt x="3164840" y="1541399"/>
                  </a:lnTo>
                  <a:lnTo>
                    <a:pt x="3164929" y="1541233"/>
                  </a:lnTo>
                  <a:lnTo>
                    <a:pt x="3166999" y="1542034"/>
                  </a:lnTo>
                  <a:lnTo>
                    <a:pt x="3167329" y="1541170"/>
                  </a:lnTo>
                  <a:lnTo>
                    <a:pt x="3168396" y="1541399"/>
                  </a:lnTo>
                  <a:lnTo>
                    <a:pt x="3169843" y="1534782"/>
                  </a:lnTo>
                  <a:lnTo>
                    <a:pt x="3172383" y="1528318"/>
                  </a:lnTo>
                  <a:lnTo>
                    <a:pt x="3174365" y="152488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7347" y="1096899"/>
              <a:ext cx="1822703" cy="162204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68068" y="4291744"/>
            <a:ext cx="528955" cy="791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05455" y="6098984"/>
            <a:ext cx="2432685" cy="265430"/>
          </a:xfrm>
          <a:custGeom>
            <a:avLst/>
            <a:gdLst/>
            <a:ahLst/>
            <a:cxnLst/>
            <a:rect l="l" t="t" r="r" b="b"/>
            <a:pathLst>
              <a:path w="2432685" h="265429">
                <a:moveTo>
                  <a:pt x="2432304" y="0"/>
                </a:moveTo>
                <a:lnTo>
                  <a:pt x="2424146" y="51610"/>
                </a:lnTo>
                <a:lnTo>
                  <a:pt x="2401903" y="93754"/>
                </a:lnTo>
                <a:lnTo>
                  <a:pt x="2368921" y="122168"/>
                </a:lnTo>
                <a:lnTo>
                  <a:pt x="2328545" y="132587"/>
                </a:lnTo>
                <a:lnTo>
                  <a:pt x="1319910" y="132587"/>
                </a:lnTo>
                <a:lnTo>
                  <a:pt x="1279534" y="143007"/>
                </a:lnTo>
                <a:lnTo>
                  <a:pt x="1246552" y="171421"/>
                </a:lnTo>
                <a:lnTo>
                  <a:pt x="1224309" y="213565"/>
                </a:lnTo>
                <a:lnTo>
                  <a:pt x="1216152" y="265175"/>
                </a:lnTo>
                <a:lnTo>
                  <a:pt x="1207994" y="213565"/>
                </a:lnTo>
                <a:lnTo>
                  <a:pt x="1185751" y="171421"/>
                </a:lnTo>
                <a:lnTo>
                  <a:pt x="1152769" y="143007"/>
                </a:lnTo>
                <a:lnTo>
                  <a:pt x="1112393" y="132587"/>
                </a:lnTo>
                <a:lnTo>
                  <a:pt x="103758" y="132587"/>
                </a:lnTo>
                <a:lnTo>
                  <a:pt x="63382" y="122168"/>
                </a:lnTo>
                <a:lnTo>
                  <a:pt x="30400" y="93754"/>
                </a:lnTo>
                <a:lnTo>
                  <a:pt x="8157" y="5161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39695" y="4306823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6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91658" y="5725007"/>
            <a:ext cx="7213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76322" y="5733516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75380" y="573351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95616" y="5733516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388012" y="4079113"/>
            <a:ext cx="254635" cy="1278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31552" y="4325111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4" h="777239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3436"/>
                </a:lnTo>
                <a:lnTo>
                  <a:pt x="103548" y="342703"/>
                </a:lnTo>
                <a:lnTo>
                  <a:pt x="124110" y="366601"/>
                </a:lnTo>
                <a:lnTo>
                  <a:pt x="154626" y="382712"/>
                </a:lnTo>
                <a:lnTo>
                  <a:pt x="192024" y="388619"/>
                </a:lnTo>
                <a:lnTo>
                  <a:pt x="154626" y="394507"/>
                </a:lnTo>
                <a:lnTo>
                  <a:pt x="124110" y="410575"/>
                </a:lnTo>
                <a:lnTo>
                  <a:pt x="103548" y="434429"/>
                </a:lnTo>
                <a:lnTo>
                  <a:pt x="96012" y="463676"/>
                </a:lnTo>
                <a:lnTo>
                  <a:pt x="96012" y="702056"/>
                </a:lnTo>
                <a:lnTo>
                  <a:pt x="88475" y="731323"/>
                </a:lnTo>
                <a:lnTo>
                  <a:pt x="67913" y="755221"/>
                </a:lnTo>
                <a:lnTo>
                  <a:pt x="37397" y="771332"/>
                </a:lnTo>
                <a:lnTo>
                  <a:pt x="0" y="777239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68068" y="1906613"/>
            <a:ext cx="528955" cy="1105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0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48839" y="2139695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316"/>
                </a:lnTo>
                <a:lnTo>
                  <a:pt x="118205" y="609980"/>
                </a:lnTo>
                <a:lnTo>
                  <a:pt x="98619" y="587216"/>
                </a:lnTo>
                <a:lnTo>
                  <a:pt x="91440" y="559307"/>
                </a:lnTo>
                <a:lnTo>
                  <a:pt x="91440" y="386968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7"/>
                </a:lnTo>
                <a:lnTo>
                  <a:pt x="35611" y="309848"/>
                </a:lnTo>
                <a:lnTo>
                  <a:pt x="64674" y="294513"/>
                </a:lnTo>
                <a:lnTo>
                  <a:pt x="84260" y="271748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568068" y="3167062"/>
            <a:ext cx="528955" cy="90614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139695" y="3273552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298"/>
                </a:lnTo>
                <a:lnTo>
                  <a:pt x="118205" y="609933"/>
                </a:lnTo>
                <a:lnTo>
                  <a:pt x="98619" y="587162"/>
                </a:lnTo>
                <a:lnTo>
                  <a:pt x="91440" y="559308"/>
                </a:lnTo>
                <a:lnTo>
                  <a:pt x="91440" y="386969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8"/>
                </a:lnTo>
                <a:lnTo>
                  <a:pt x="35611" y="309830"/>
                </a:lnTo>
                <a:lnTo>
                  <a:pt x="64674" y="294465"/>
                </a:lnTo>
                <a:lnTo>
                  <a:pt x="84260" y="271694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906646" y="1171638"/>
            <a:ext cx="90614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04203" y="1248155"/>
            <a:ext cx="4490085" cy="2368550"/>
          </a:xfrm>
          <a:prstGeom prst="rect">
            <a:avLst/>
          </a:prstGeom>
          <a:ln w="28575">
            <a:solidFill>
              <a:srgbClr val="5D4A3B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60"/>
              </a:spcBef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Use</a:t>
            </a:r>
            <a:r>
              <a:rPr sz="18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285F4"/>
                </a:solidFill>
                <a:latin typeface="Calibri"/>
                <a:cs typeface="Calibri"/>
              </a:rPr>
              <a:t>attention</a:t>
            </a:r>
            <a:r>
              <a:rPr sz="1800" spc="-90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285F4"/>
                </a:solidFill>
                <a:latin typeface="Calibri"/>
                <a:cs typeface="Calibri"/>
              </a:rPr>
              <a:t>distribution</a:t>
            </a:r>
            <a:r>
              <a:rPr sz="1800" spc="-45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take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8763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4285F4"/>
                </a:solidFill>
                <a:latin typeface="Calibri"/>
                <a:cs typeface="Calibri"/>
              </a:rPr>
              <a:t>weighted</a:t>
            </a:r>
            <a:r>
              <a:rPr sz="1800" b="1" spc="-45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285F4"/>
                </a:solidFill>
                <a:latin typeface="Calibri"/>
                <a:cs typeface="Calibri"/>
              </a:rPr>
              <a:t>sum</a:t>
            </a:r>
            <a:r>
              <a:rPr sz="1800" b="1" spc="-5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8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r>
              <a:rPr sz="18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hidden</a:t>
            </a:r>
            <a:r>
              <a:rPr sz="1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states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1800">
              <a:latin typeface="Calibri"/>
              <a:cs typeface="Calibri"/>
            </a:endParaRPr>
          </a:p>
          <a:p>
            <a:pPr marL="87630" marR="701040">
              <a:lnSpc>
                <a:spcPct val="100000"/>
              </a:lnSpc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8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285F4"/>
                </a:solidFill>
                <a:latin typeface="Calibri"/>
                <a:cs typeface="Calibri"/>
              </a:rPr>
              <a:t>attention</a:t>
            </a:r>
            <a:r>
              <a:rPr sz="1800" spc="-70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285F4"/>
                </a:solidFill>
                <a:latin typeface="Calibri"/>
                <a:cs typeface="Calibri"/>
              </a:rPr>
              <a:t>output</a:t>
            </a:r>
            <a:r>
              <a:rPr sz="1800" spc="-35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mostly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contains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information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from</a:t>
            </a:r>
            <a:r>
              <a:rPr sz="1800" spc="-8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hidden</a:t>
            </a:r>
            <a:r>
              <a:rPr sz="18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states</a:t>
            </a:r>
            <a:r>
              <a:rPr sz="18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that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received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285F4"/>
                </a:solidFill>
                <a:latin typeface="Calibri"/>
                <a:cs typeface="Calibri"/>
              </a:rPr>
              <a:t>high</a:t>
            </a:r>
            <a:r>
              <a:rPr sz="1800" spc="-55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285F4"/>
                </a:solidFill>
                <a:latin typeface="Calibri"/>
                <a:cs typeface="Calibri"/>
              </a:rPr>
              <a:t>attention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942332" y="1378966"/>
            <a:ext cx="1261110" cy="85725"/>
          </a:xfrm>
          <a:custGeom>
            <a:avLst/>
            <a:gdLst/>
            <a:ahLst/>
            <a:cxnLst/>
            <a:rect l="l" t="t" r="r" b="b"/>
            <a:pathLst>
              <a:path w="1261110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1261110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1261110" h="85725">
                <a:moveTo>
                  <a:pt x="1261109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1261109" y="57150"/>
                </a:lnTo>
                <a:lnTo>
                  <a:pt x="1261109" y="28575"/>
                </a:lnTo>
                <a:close/>
              </a:path>
            </a:pathLst>
          </a:custGeom>
          <a:solidFill>
            <a:srgbClr val="5D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617597" y="6415687"/>
            <a:ext cx="22358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Sequence-to-sequence</a:t>
            </a:r>
            <a:r>
              <a:rPr spc="18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spc="-1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95930" y="1096899"/>
            <a:ext cx="3411854" cy="4596765"/>
            <a:chOff x="2495930" y="1096899"/>
            <a:chExt cx="3411854" cy="4596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370451"/>
              <a:ext cx="128778" cy="1287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535043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708778"/>
              <a:ext cx="128778" cy="1287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873370"/>
              <a:ext cx="128778" cy="128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599" y="4306824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1" y="12906"/>
                  </a:lnTo>
                  <a:lnTo>
                    <a:pt x="261699" y="26949"/>
                  </a:lnTo>
                  <a:lnTo>
                    <a:pt x="265175" y="44195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1" y="764285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5"/>
                  </a:lnTo>
                  <a:lnTo>
                    <a:pt x="3476" y="26949"/>
                  </a:lnTo>
                  <a:lnTo>
                    <a:pt x="12954" y="12906"/>
                  </a:lnTo>
                  <a:lnTo>
                    <a:pt x="27003" y="3458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4635500"/>
              <a:ext cx="528320" cy="1058545"/>
            </a:xfrm>
            <a:custGeom>
              <a:avLst/>
              <a:gdLst/>
              <a:ahLst/>
              <a:cxnLst/>
              <a:rect l="l" t="t" r="r" b="b"/>
              <a:pathLst>
                <a:path w="528319" h="1058545">
                  <a:moveTo>
                    <a:pt x="110744" y="543306"/>
                  </a:moveTo>
                  <a:lnTo>
                    <a:pt x="66408" y="467360"/>
                  </a:lnTo>
                  <a:lnTo>
                    <a:pt x="55372" y="448437"/>
                  </a:lnTo>
                  <a:lnTo>
                    <a:pt x="0" y="543306"/>
                  </a:lnTo>
                  <a:lnTo>
                    <a:pt x="1524" y="549148"/>
                  </a:lnTo>
                  <a:lnTo>
                    <a:pt x="10668" y="554482"/>
                  </a:lnTo>
                  <a:lnTo>
                    <a:pt x="16510" y="552958"/>
                  </a:lnTo>
                  <a:lnTo>
                    <a:pt x="45834" y="502666"/>
                  </a:lnTo>
                  <a:lnTo>
                    <a:pt x="45847" y="467360"/>
                  </a:lnTo>
                  <a:lnTo>
                    <a:pt x="45847" y="502666"/>
                  </a:lnTo>
                  <a:lnTo>
                    <a:pt x="45847" y="1058113"/>
                  </a:lnTo>
                  <a:lnTo>
                    <a:pt x="64897" y="1058113"/>
                  </a:lnTo>
                  <a:lnTo>
                    <a:pt x="64897" y="502666"/>
                  </a:lnTo>
                  <a:lnTo>
                    <a:pt x="94234" y="552958"/>
                  </a:lnTo>
                  <a:lnTo>
                    <a:pt x="100076" y="554482"/>
                  </a:lnTo>
                  <a:lnTo>
                    <a:pt x="109220" y="549148"/>
                  </a:lnTo>
                  <a:lnTo>
                    <a:pt x="110744" y="543306"/>
                  </a:lnTo>
                  <a:close/>
                </a:path>
                <a:path w="528319" h="1058545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722" y="4288155"/>
              <a:ext cx="2789681" cy="139631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05455" y="277063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87751" y="2295144"/>
              <a:ext cx="137160" cy="475615"/>
            </a:xfrm>
            <a:custGeom>
              <a:avLst/>
              <a:gdLst/>
              <a:ahLst/>
              <a:cxnLst/>
              <a:rect l="l" t="t" r="r" b="b"/>
              <a:pathLst>
                <a:path w="137160" h="475614">
                  <a:moveTo>
                    <a:pt x="137160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7160" y="47548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87751" y="2295144"/>
              <a:ext cx="137160" cy="475615"/>
            </a:xfrm>
            <a:custGeom>
              <a:avLst/>
              <a:gdLst/>
              <a:ahLst/>
              <a:cxnLst/>
              <a:rect l="l" t="t" r="r" b="b"/>
              <a:pathLst>
                <a:path w="137160" h="475614">
                  <a:moveTo>
                    <a:pt x="0" y="475488"/>
                  </a:moveTo>
                  <a:lnTo>
                    <a:pt x="137160" y="47548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91255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59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59" y="45718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1255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59" y="45718"/>
                  </a:lnTo>
                  <a:lnTo>
                    <a:pt x="137159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759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60" y="4571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94759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60" y="4571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8263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37160" y="4571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98263" y="2715769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18"/>
                  </a:moveTo>
                  <a:lnTo>
                    <a:pt x="137160" y="45718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02484" y="3630040"/>
              <a:ext cx="1921510" cy="675005"/>
            </a:xfrm>
            <a:custGeom>
              <a:avLst/>
              <a:gdLst/>
              <a:ahLst/>
              <a:cxnLst/>
              <a:rect l="l" t="t" r="r" b="b"/>
              <a:pathLst>
                <a:path w="1921510" h="675004">
                  <a:moveTo>
                    <a:pt x="110617" y="95504"/>
                  </a:moveTo>
                  <a:lnTo>
                    <a:pt x="108077" y="90932"/>
                  </a:lnTo>
                  <a:lnTo>
                    <a:pt x="66967" y="18796"/>
                  </a:lnTo>
                  <a:lnTo>
                    <a:pt x="56261" y="0"/>
                  </a:lnTo>
                  <a:lnTo>
                    <a:pt x="2667" y="89789"/>
                  </a:lnTo>
                  <a:lnTo>
                    <a:pt x="0" y="94361"/>
                  </a:lnTo>
                  <a:lnTo>
                    <a:pt x="1422" y="100330"/>
                  </a:lnTo>
                  <a:lnTo>
                    <a:pt x="1612" y="100330"/>
                  </a:lnTo>
                  <a:lnTo>
                    <a:pt x="10541" y="105537"/>
                  </a:lnTo>
                  <a:lnTo>
                    <a:pt x="16383" y="104140"/>
                  </a:lnTo>
                  <a:lnTo>
                    <a:pt x="19050" y="99568"/>
                  </a:lnTo>
                  <a:lnTo>
                    <a:pt x="46228" y="54051"/>
                  </a:lnTo>
                  <a:lnTo>
                    <a:pt x="39738" y="675005"/>
                  </a:lnTo>
                  <a:lnTo>
                    <a:pt x="58801" y="675005"/>
                  </a:lnTo>
                  <a:lnTo>
                    <a:pt x="65278" y="54419"/>
                  </a:lnTo>
                  <a:lnTo>
                    <a:pt x="65608" y="23876"/>
                  </a:lnTo>
                  <a:lnTo>
                    <a:pt x="65290" y="54051"/>
                  </a:lnTo>
                  <a:lnTo>
                    <a:pt x="65278" y="54419"/>
                  </a:lnTo>
                  <a:lnTo>
                    <a:pt x="91440" y="100330"/>
                  </a:lnTo>
                  <a:lnTo>
                    <a:pt x="94107" y="104902"/>
                  </a:lnTo>
                  <a:lnTo>
                    <a:pt x="99949" y="106426"/>
                  </a:lnTo>
                  <a:lnTo>
                    <a:pt x="104521" y="103886"/>
                  </a:lnTo>
                  <a:lnTo>
                    <a:pt x="109093" y="101219"/>
                  </a:lnTo>
                  <a:lnTo>
                    <a:pt x="110617" y="95504"/>
                  </a:lnTo>
                  <a:close/>
                </a:path>
                <a:path w="1921510" h="675004">
                  <a:moveTo>
                    <a:pt x="711327" y="95250"/>
                  </a:moveTo>
                  <a:lnTo>
                    <a:pt x="708660" y="90678"/>
                  </a:lnTo>
                  <a:lnTo>
                    <a:pt x="667524" y="19050"/>
                  </a:lnTo>
                  <a:lnTo>
                    <a:pt x="667448" y="18923"/>
                  </a:lnTo>
                  <a:lnTo>
                    <a:pt x="656590" y="0"/>
                  </a:lnTo>
                  <a:lnTo>
                    <a:pt x="603377" y="90043"/>
                  </a:lnTo>
                  <a:lnTo>
                    <a:pt x="600710" y="94615"/>
                  </a:lnTo>
                  <a:lnTo>
                    <a:pt x="602157" y="100203"/>
                  </a:lnTo>
                  <a:lnTo>
                    <a:pt x="602234" y="100457"/>
                  </a:lnTo>
                  <a:lnTo>
                    <a:pt x="606679" y="103124"/>
                  </a:lnTo>
                  <a:lnTo>
                    <a:pt x="611251" y="105791"/>
                  </a:lnTo>
                  <a:lnTo>
                    <a:pt x="617093" y="104267"/>
                  </a:lnTo>
                  <a:lnTo>
                    <a:pt x="619760" y="99695"/>
                  </a:lnTo>
                  <a:lnTo>
                    <a:pt x="646734" y="54000"/>
                  </a:lnTo>
                  <a:lnTo>
                    <a:pt x="643255" y="669036"/>
                  </a:lnTo>
                  <a:lnTo>
                    <a:pt x="662305" y="669163"/>
                  </a:lnTo>
                  <a:lnTo>
                    <a:pt x="665784" y="54343"/>
                  </a:lnTo>
                  <a:lnTo>
                    <a:pt x="692150" y="100203"/>
                  </a:lnTo>
                  <a:lnTo>
                    <a:pt x="694817" y="104648"/>
                  </a:lnTo>
                  <a:lnTo>
                    <a:pt x="700646" y="106299"/>
                  </a:lnTo>
                  <a:lnTo>
                    <a:pt x="709803" y="100965"/>
                  </a:lnTo>
                  <a:lnTo>
                    <a:pt x="711327" y="95250"/>
                  </a:lnTo>
                  <a:close/>
                </a:path>
                <a:path w="1921510" h="675004">
                  <a:moveTo>
                    <a:pt x="1313815" y="96012"/>
                  </a:moveTo>
                  <a:lnTo>
                    <a:pt x="1311275" y="91313"/>
                  </a:lnTo>
                  <a:lnTo>
                    <a:pt x="1270825" y="18796"/>
                  </a:lnTo>
                  <a:lnTo>
                    <a:pt x="1260348" y="0"/>
                  </a:lnTo>
                  <a:lnTo>
                    <a:pt x="1205865" y="89281"/>
                  </a:lnTo>
                  <a:lnTo>
                    <a:pt x="1203198" y="93726"/>
                  </a:lnTo>
                  <a:lnTo>
                    <a:pt x="1204468" y="99187"/>
                  </a:lnTo>
                  <a:lnTo>
                    <a:pt x="1204595" y="99695"/>
                  </a:lnTo>
                  <a:lnTo>
                    <a:pt x="1209040" y="102362"/>
                  </a:lnTo>
                  <a:lnTo>
                    <a:pt x="1213472" y="105168"/>
                  </a:lnTo>
                  <a:lnTo>
                    <a:pt x="1219454" y="103759"/>
                  </a:lnTo>
                  <a:lnTo>
                    <a:pt x="1222121" y="99187"/>
                  </a:lnTo>
                  <a:lnTo>
                    <a:pt x="1249743" y="53936"/>
                  </a:lnTo>
                  <a:lnTo>
                    <a:pt x="1237615" y="668909"/>
                  </a:lnTo>
                  <a:lnTo>
                    <a:pt x="1256665" y="669290"/>
                  </a:lnTo>
                  <a:lnTo>
                    <a:pt x="1268793" y="54394"/>
                  </a:lnTo>
                  <a:lnTo>
                    <a:pt x="1269390" y="23876"/>
                  </a:lnTo>
                  <a:lnTo>
                    <a:pt x="1268806" y="53936"/>
                  </a:lnTo>
                  <a:lnTo>
                    <a:pt x="1268793" y="54394"/>
                  </a:lnTo>
                  <a:lnTo>
                    <a:pt x="1294638" y="100584"/>
                  </a:lnTo>
                  <a:lnTo>
                    <a:pt x="1297178" y="105283"/>
                  </a:lnTo>
                  <a:lnTo>
                    <a:pt x="1302893" y="106934"/>
                  </a:lnTo>
                  <a:lnTo>
                    <a:pt x="1307592" y="104267"/>
                  </a:lnTo>
                  <a:lnTo>
                    <a:pt x="1312164" y="101727"/>
                  </a:lnTo>
                  <a:lnTo>
                    <a:pt x="1313815" y="96012"/>
                  </a:lnTo>
                  <a:close/>
                </a:path>
                <a:path w="1921510" h="675004">
                  <a:moveTo>
                    <a:pt x="1921256" y="95504"/>
                  </a:moveTo>
                  <a:lnTo>
                    <a:pt x="1918589" y="90932"/>
                  </a:lnTo>
                  <a:lnTo>
                    <a:pt x="1877580" y="18796"/>
                  </a:lnTo>
                  <a:lnTo>
                    <a:pt x="1866900" y="0"/>
                  </a:lnTo>
                  <a:lnTo>
                    <a:pt x="1810639" y="94234"/>
                  </a:lnTo>
                  <a:lnTo>
                    <a:pt x="1812061" y="100330"/>
                  </a:lnTo>
                  <a:lnTo>
                    <a:pt x="1812251" y="100330"/>
                  </a:lnTo>
                  <a:lnTo>
                    <a:pt x="1816608" y="102870"/>
                  </a:lnTo>
                  <a:lnTo>
                    <a:pt x="1821053" y="105537"/>
                  </a:lnTo>
                  <a:lnTo>
                    <a:pt x="1826895" y="104013"/>
                  </a:lnTo>
                  <a:lnTo>
                    <a:pt x="1829689" y="99568"/>
                  </a:lnTo>
                  <a:lnTo>
                    <a:pt x="1856867" y="54076"/>
                  </a:lnTo>
                  <a:lnTo>
                    <a:pt x="1850250" y="666242"/>
                  </a:lnTo>
                  <a:lnTo>
                    <a:pt x="1869313" y="666242"/>
                  </a:lnTo>
                  <a:lnTo>
                    <a:pt x="1875904" y="54394"/>
                  </a:lnTo>
                  <a:lnTo>
                    <a:pt x="1876234" y="23876"/>
                  </a:lnTo>
                  <a:lnTo>
                    <a:pt x="1875917" y="54076"/>
                  </a:lnTo>
                  <a:lnTo>
                    <a:pt x="1875904" y="54394"/>
                  </a:lnTo>
                  <a:lnTo>
                    <a:pt x="1902079" y="100330"/>
                  </a:lnTo>
                  <a:lnTo>
                    <a:pt x="1904619" y="104902"/>
                  </a:lnTo>
                  <a:lnTo>
                    <a:pt x="1910461" y="106553"/>
                  </a:lnTo>
                  <a:lnTo>
                    <a:pt x="1915033" y="103886"/>
                  </a:lnTo>
                  <a:lnTo>
                    <a:pt x="1919605" y="101346"/>
                  </a:lnTo>
                  <a:lnTo>
                    <a:pt x="1921256" y="955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370" y="3510915"/>
              <a:ext cx="137922" cy="1287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875" y="3510915"/>
              <a:ext cx="137922" cy="1287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4378" y="3510915"/>
              <a:ext cx="137922" cy="12877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7882" y="3510915"/>
              <a:ext cx="137921" cy="12877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598420" y="2761360"/>
              <a:ext cx="3174365" cy="1542415"/>
            </a:xfrm>
            <a:custGeom>
              <a:avLst/>
              <a:gdLst/>
              <a:ahLst/>
              <a:cxnLst/>
              <a:rect l="l" t="t" r="r" b="b"/>
              <a:pathLst>
                <a:path w="3174365" h="1542414">
                  <a:moveTo>
                    <a:pt x="110617" y="104267"/>
                  </a:moveTo>
                  <a:lnTo>
                    <a:pt x="107950" y="99695"/>
                  </a:lnTo>
                  <a:lnTo>
                    <a:pt x="66624" y="28194"/>
                  </a:lnTo>
                  <a:lnTo>
                    <a:pt x="55626" y="9144"/>
                  </a:lnTo>
                  <a:lnTo>
                    <a:pt x="2667" y="99314"/>
                  </a:lnTo>
                  <a:lnTo>
                    <a:pt x="0" y="103886"/>
                  </a:lnTo>
                  <a:lnTo>
                    <a:pt x="1524" y="109728"/>
                  </a:lnTo>
                  <a:lnTo>
                    <a:pt x="6096" y="112395"/>
                  </a:lnTo>
                  <a:lnTo>
                    <a:pt x="10541" y="115062"/>
                  </a:lnTo>
                  <a:lnTo>
                    <a:pt x="16383" y="113538"/>
                  </a:lnTo>
                  <a:lnTo>
                    <a:pt x="19050" y="108966"/>
                  </a:lnTo>
                  <a:lnTo>
                    <a:pt x="45859" y="63334"/>
                  </a:lnTo>
                  <a:lnTo>
                    <a:pt x="43802" y="762127"/>
                  </a:lnTo>
                  <a:lnTo>
                    <a:pt x="62865" y="762127"/>
                  </a:lnTo>
                  <a:lnTo>
                    <a:pt x="64757" y="115316"/>
                  </a:lnTo>
                  <a:lnTo>
                    <a:pt x="64808" y="99314"/>
                  </a:lnTo>
                  <a:lnTo>
                    <a:pt x="64909" y="63334"/>
                  </a:lnTo>
                  <a:lnTo>
                    <a:pt x="91567" y="109220"/>
                  </a:lnTo>
                  <a:lnTo>
                    <a:pt x="94107" y="113792"/>
                  </a:lnTo>
                  <a:lnTo>
                    <a:pt x="99949" y="115316"/>
                  </a:lnTo>
                  <a:lnTo>
                    <a:pt x="109093" y="109982"/>
                  </a:lnTo>
                  <a:lnTo>
                    <a:pt x="110617" y="104267"/>
                  </a:lnTo>
                  <a:close/>
                </a:path>
                <a:path w="3174365" h="1542414">
                  <a:moveTo>
                    <a:pt x="713613" y="94996"/>
                  </a:moveTo>
                  <a:lnTo>
                    <a:pt x="711060" y="90424"/>
                  </a:lnTo>
                  <a:lnTo>
                    <a:pt x="669493" y="18923"/>
                  </a:lnTo>
                  <a:lnTo>
                    <a:pt x="658495" y="0"/>
                  </a:lnTo>
                  <a:lnTo>
                    <a:pt x="605586" y="90424"/>
                  </a:lnTo>
                  <a:lnTo>
                    <a:pt x="602996" y="94742"/>
                  </a:lnTo>
                  <a:lnTo>
                    <a:pt x="604520" y="100584"/>
                  </a:lnTo>
                  <a:lnTo>
                    <a:pt x="613664" y="105918"/>
                  </a:lnTo>
                  <a:lnTo>
                    <a:pt x="619379" y="104394"/>
                  </a:lnTo>
                  <a:lnTo>
                    <a:pt x="622046" y="99822"/>
                  </a:lnTo>
                  <a:lnTo>
                    <a:pt x="648830" y="54229"/>
                  </a:lnTo>
                  <a:lnTo>
                    <a:pt x="648957" y="23749"/>
                  </a:lnTo>
                  <a:lnTo>
                    <a:pt x="648881" y="54229"/>
                  </a:lnTo>
                  <a:lnTo>
                    <a:pt x="647319" y="762127"/>
                  </a:lnTo>
                  <a:lnTo>
                    <a:pt x="666369" y="762127"/>
                  </a:lnTo>
                  <a:lnTo>
                    <a:pt x="667816" y="106172"/>
                  </a:lnTo>
                  <a:lnTo>
                    <a:pt x="667931" y="54229"/>
                  </a:lnTo>
                  <a:lnTo>
                    <a:pt x="697230" y="104648"/>
                  </a:lnTo>
                  <a:lnTo>
                    <a:pt x="703059" y="106172"/>
                  </a:lnTo>
                  <a:lnTo>
                    <a:pt x="707517" y="103505"/>
                  </a:lnTo>
                  <a:lnTo>
                    <a:pt x="712089" y="100838"/>
                  </a:lnTo>
                  <a:lnTo>
                    <a:pt x="713613" y="94996"/>
                  </a:lnTo>
                  <a:close/>
                </a:path>
                <a:path w="3174365" h="1542414">
                  <a:moveTo>
                    <a:pt x="1325880" y="94996"/>
                  </a:moveTo>
                  <a:lnTo>
                    <a:pt x="1281633" y="18923"/>
                  </a:lnTo>
                  <a:lnTo>
                    <a:pt x="1270635" y="0"/>
                  </a:lnTo>
                  <a:lnTo>
                    <a:pt x="1215136" y="94869"/>
                  </a:lnTo>
                  <a:lnTo>
                    <a:pt x="1216685" y="100838"/>
                  </a:lnTo>
                  <a:lnTo>
                    <a:pt x="1216875" y="100838"/>
                  </a:lnTo>
                  <a:lnTo>
                    <a:pt x="1221232" y="103251"/>
                  </a:lnTo>
                  <a:lnTo>
                    <a:pt x="1225791" y="105918"/>
                  </a:lnTo>
                  <a:lnTo>
                    <a:pt x="1231646" y="104394"/>
                  </a:lnTo>
                  <a:lnTo>
                    <a:pt x="1234313" y="99949"/>
                  </a:lnTo>
                  <a:lnTo>
                    <a:pt x="1261046" y="54241"/>
                  </a:lnTo>
                  <a:lnTo>
                    <a:pt x="1259967" y="762127"/>
                  </a:lnTo>
                  <a:lnTo>
                    <a:pt x="1279017" y="762127"/>
                  </a:lnTo>
                  <a:lnTo>
                    <a:pt x="1280020" y="106045"/>
                  </a:lnTo>
                  <a:lnTo>
                    <a:pt x="1280096" y="54241"/>
                  </a:lnTo>
                  <a:lnTo>
                    <a:pt x="1309293" y="104394"/>
                  </a:lnTo>
                  <a:lnTo>
                    <a:pt x="1309370" y="104521"/>
                  </a:lnTo>
                  <a:lnTo>
                    <a:pt x="1315212" y="106045"/>
                  </a:lnTo>
                  <a:lnTo>
                    <a:pt x="1319784" y="103505"/>
                  </a:lnTo>
                  <a:lnTo>
                    <a:pt x="1324229" y="100838"/>
                  </a:lnTo>
                  <a:lnTo>
                    <a:pt x="1325880" y="94996"/>
                  </a:lnTo>
                  <a:close/>
                </a:path>
                <a:path w="3174365" h="1542414">
                  <a:moveTo>
                    <a:pt x="1928876" y="94996"/>
                  </a:moveTo>
                  <a:lnTo>
                    <a:pt x="1884629" y="18923"/>
                  </a:lnTo>
                  <a:lnTo>
                    <a:pt x="1873631" y="0"/>
                  </a:lnTo>
                  <a:lnTo>
                    <a:pt x="1818132" y="94869"/>
                  </a:lnTo>
                  <a:lnTo>
                    <a:pt x="1819681" y="100838"/>
                  </a:lnTo>
                  <a:lnTo>
                    <a:pt x="1819871" y="100838"/>
                  </a:lnTo>
                  <a:lnTo>
                    <a:pt x="1828800" y="106045"/>
                  </a:lnTo>
                  <a:lnTo>
                    <a:pt x="1834642" y="104521"/>
                  </a:lnTo>
                  <a:lnTo>
                    <a:pt x="1863953" y="54267"/>
                  </a:lnTo>
                  <a:lnTo>
                    <a:pt x="1864067" y="54063"/>
                  </a:lnTo>
                  <a:lnTo>
                    <a:pt x="1863471" y="762127"/>
                  </a:lnTo>
                  <a:lnTo>
                    <a:pt x="1882521" y="762127"/>
                  </a:lnTo>
                  <a:lnTo>
                    <a:pt x="1883079" y="106045"/>
                  </a:lnTo>
                  <a:lnTo>
                    <a:pt x="1883117" y="54063"/>
                  </a:lnTo>
                  <a:lnTo>
                    <a:pt x="1883003" y="53873"/>
                  </a:lnTo>
                  <a:lnTo>
                    <a:pt x="1883130" y="37820"/>
                  </a:lnTo>
                  <a:lnTo>
                    <a:pt x="1883117" y="54063"/>
                  </a:lnTo>
                  <a:lnTo>
                    <a:pt x="1883117" y="54267"/>
                  </a:lnTo>
                  <a:lnTo>
                    <a:pt x="1912366" y="104521"/>
                  </a:lnTo>
                  <a:lnTo>
                    <a:pt x="1918208" y="106045"/>
                  </a:lnTo>
                  <a:lnTo>
                    <a:pt x="1922780" y="103378"/>
                  </a:lnTo>
                  <a:lnTo>
                    <a:pt x="1927352" y="100838"/>
                  </a:lnTo>
                  <a:lnTo>
                    <a:pt x="1928876" y="94996"/>
                  </a:lnTo>
                  <a:close/>
                </a:path>
                <a:path w="3174365" h="1542414">
                  <a:moveTo>
                    <a:pt x="3174365" y="1524889"/>
                  </a:moveTo>
                  <a:lnTo>
                    <a:pt x="3173844" y="1524596"/>
                  </a:lnTo>
                  <a:lnTo>
                    <a:pt x="3173984" y="1524254"/>
                  </a:lnTo>
                  <a:lnTo>
                    <a:pt x="3172282" y="1523619"/>
                  </a:lnTo>
                  <a:lnTo>
                    <a:pt x="3172460" y="1522857"/>
                  </a:lnTo>
                  <a:lnTo>
                    <a:pt x="3169780" y="1522272"/>
                  </a:lnTo>
                  <a:lnTo>
                    <a:pt x="1979625" y="832866"/>
                  </a:lnTo>
                  <a:lnTo>
                    <a:pt x="1960575" y="832866"/>
                  </a:lnTo>
                  <a:lnTo>
                    <a:pt x="1944243" y="832866"/>
                  </a:lnTo>
                  <a:lnTo>
                    <a:pt x="1960537" y="832827"/>
                  </a:lnTo>
                  <a:lnTo>
                    <a:pt x="1979447" y="832777"/>
                  </a:lnTo>
                  <a:lnTo>
                    <a:pt x="2037715" y="832612"/>
                  </a:lnTo>
                  <a:lnTo>
                    <a:pt x="2041906" y="828294"/>
                  </a:lnTo>
                  <a:lnTo>
                    <a:pt x="2041906" y="817753"/>
                  </a:lnTo>
                  <a:lnTo>
                    <a:pt x="2039150" y="815086"/>
                  </a:lnTo>
                  <a:lnTo>
                    <a:pt x="2037588" y="813562"/>
                  </a:lnTo>
                  <a:lnTo>
                    <a:pt x="2032381" y="813562"/>
                  </a:lnTo>
                  <a:lnTo>
                    <a:pt x="1927860" y="813943"/>
                  </a:lnTo>
                  <a:lnTo>
                    <a:pt x="1979549" y="904748"/>
                  </a:lnTo>
                  <a:lnTo>
                    <a:pt x="1982216" y="909320"/>
                  </a:lnTo>
                  <a:lnTo>
                    <a:pt x="1987931" y="910844"/>
                  </a:lnTo>
                  <a:lnTo>
                    <a:pt x="1992503" y="908304"/>
                  </a:lnTo>
                  <a:lnTo>
                    <a:pt x="1997075" y="905637"/>
                  </a:lnTo>
                  <a:lnTo>
                    <a:pt x="1998726" y="899922"/>
                  </a:lnTo>
                  <a:lnTo>
                    <a:pt x="1996059" y="895350"/>
                  </a:lnTo>
                  <a:lnTo>
                    <a:pt x="1969871" y="849249"/>
                  </a:lnTo>
                  <a:lnTo>
                    <a:pt x="3055670" y="1478178"/>
                  </a:lnTo>
                  <a:lnTo>
                    <a:pt x="1378102" y="824687"/>
                  </a:lnTo>
                  <a:lnTo>
                    <a:pt x="1430528" y="816356"/>
                  </a:lnTo>
                  <a:lnTo>
                    <a:pt x="1435735" y="815594"/>
                  </a:lnTo>
                  <a:lnTo>
                    <a:pt x="1438440" y="811911"/>
                  </a:lnTo>
                  <a:lnTo>
                    <a:pt x="1439291" y="810768"/>
                  </a:lnTo>
                  <a:lnTo>
                    <a:pt x="1438529" y="805561"/>
                  </a:lnTo>
                  <a:lnTo>
                    <a:pt x="1437640" y="800354"/>
                  </a:lnTo>
                  <a:lnTo>
                    <a:pt x="1432814" y="796810"/>
                  </a:lnTo>
                  <a:lnTo>
                    <a:pt x="1427607" y="797572"/>
                  </a:lnTo>
                  <a:lnTo>
                    <a:pt x="1324356" y="813943"/>
                  </a:lnTo>
                  <a:lnTo>
                    <a:pt x="1389380" y="895731"/>
                  </a:lnTo>
                  <a:lnTo>
                    <a:pt x="1392555" y="899922"/>
                  </a:lnTo>
                  <a:lnTo>
                    <a:pt x="1398651" y="900557"/>
                  </a:lnTo>
                  <a:lnTo>
                    <a:pt x="1402715" y="897255"/>
                  </a:lnTo>
                  <a:lnTo>
                    <a:pt x="1406779" y="894080"/>
                  </a:lnTo>
                  <a:lnTo>
                    <a:pt x="1407541" y="887984"/>
                  </a:lnTo>
                  <a:lnTo>
                    <a:pt x="1404239" y="883920"/>
                  </a:lnTo>
                  <a:lnTo>
                    <a:pt x="1371206" y="842327"/>
                  </a:lnTo>
                  <a:lnTo>
                    <a:pt x="2986417" y="1471688"/>
                  </a:lnTo>
                  <a:lnTo>
                    <a:pt x="757224" y="855713"/>
                  </a:lnTo>
                  <a:lnTo>
                    <a:pt x="792657" y="846328"/>
                  </a:lnTo>
                  <a:lnTo>
                    <a:pt x="808482" y="842137"/>
                  </a:lnTo>
                  <a:lnTo>
                    <a:pt x="813562" y="840867"/>
                  </a:lnTo>
                  <a:lnTo>
                    <a:pt x="816610" y="835672"/>
                  </a:lnTo>
                  <a:lnTo>
                    <a:pt x="815213" y="830580"/>
                  </a:lnTo>
                  <a:lnTo>
                    <a:pt x="813943" y="825385"/>
                  </a:lnTo>
                  <a:lnTo>
                    <a:pt x="808736" y="822452"/>
                  </a:lnTo>
                  <a:lnTo>
                    <a:pt x="803656" y="823734"/>
                  </a:lnTo>
                  <a:lnTo>
                    <a:pt x="702564" y="850519"/>
                  </a:lnTo>
                  <a:lnTo>
                    <a:pt x="775589" y="925322"/>
                  </a:lnTo>
                  <a:lnTo>
                    <a:pt x="779386" y="929132"/>
                  </a:lnTo>
                  <a:lnTo>
                    <a:pt x="785241" y="929132"/>
                  </a:lnTo>
                  <a:lnTo>
                    <a:pt x="789051" y="925449"/>
                  </a:lnTo>
                  <a:lnTo>
                    <a:pt x="792734" y="921766"/>
                  </a:lnTo>
                  <a:lnTo>
                    <a:pt x="792861" y="915797"/>
                  </a:lnTo>
                  <a:lnTo>
                    <a:pt x="752094" y="873988"/>
                  </a:lnTo>
                  <a:lnTo>
                    <a:pt x="2806052" y="1441551"/>
                  </a:lnTo>
                  <a:lnTo>
                    <a:pt x="153822" y="852932"/>
                  </a:lnTo>
                  <a:lnTo>
                    <a:pt x="177685" y="845312"/>
                  </a:lnTo>
                  <a:lnTo>
                    <a:pt x="209423" y="835152"/>
                  </a:lnTo>
                  <a:lnTo>
                    <a:pt x="212217" y="829818"/>
                  </a:lnTo>
                  <a:lnTo>
                    <a:pt x="210566" y="824738"/>
                  </a:lnTo>
                  <a:lnTo>
                    <a:pt x="208915" y="819797"/>
                  </a:lnTo>
                  <a:lnTo>
                    <a:pt x="203581" y="816991"/>
                  </a:lnTo>
                  <a:lnTo>
                    <a:pt x="198628" y="818642"/>
                  </a:lnTo>
                  <a:lnTo>
                    <a:pt x="99060" y="850519"/>
                  </a:lnTo>
                  <a:lnTo>
                    <a:pt x="179578" y="925068"/>
                  </a:lnTo>
                  <a:lnTo>
                    <a:pt x="185674" y="924814"/>
                  </a:lnTo>
                  <a:lnTo>
                    <a:pt x="189230" y="920877"/>
                  </a:lnTo>
                  <a:lnTo>
                    <a:pt x="192786" y="917067"/>
                  </a:lnTo>
                  <a:lnTo>
                    <a:pt x="192532" y="911098"/>
                  </a:lnTo>
                  <a:lnTo>
                    <a:pt x="149733" y="871474"/>
                  </a:lnTo>
                  <a:lnTo>
                    <a:pt x="3161271" y="1539824"/>
                  </a:lnTo>
                  <a:lnTo>
                    <a:pt x="3163747" y="1540776"/>
                  </a:lnTo>
                  <a:lnTo>
                    <a:pt x="3164840" y="1541399"/>
                  </a:lnTo>
                  <a:lnTo>
                    <a:pt x="3164929" y="1541233"/>
                  </a:lnTo>
                  <a:lnTo>
                    <a:pt x="3166999" y="1542034"/>
                  </a:lnTo>
                  <a:lnTo>
                    <a:pt x="3167329" y="1541170"/>
                  </a:lnTo>
                  <a:lnTo>
                    <a:pt x="3168396" y="1541399"/>
                  </a:lnTo>
                  <a:lnTo>
                    <a:pt x="3169843" y="1534782"/>
                  </a:lnTo>
                  <a:lnTo>
                    <a:pt x="3172383" y="1528318"/>
                  </a:lnTo>
                  <a:lnTo>
                    <a:pt x="3174365" y="152488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7347" y="1096899"/>
              <a:ext cx="1822703" cy="162204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68068" y="4291744"/>
            <a:ext cx="528955" cy="791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05455" y="6098984"/>
            <a:ext cx="2432685" cy="265430"/>
          </a:xfrm>
          <a:custGeom>
            <a:avLst/>
            <a:gdLst/>
            <a:ahLst/>
            <a:cxnLst/>
            <a:rect l="l" t="t" r="r" b="b"/>
            <a:pathLst>
              <a:path w="2432685" h="265429">
                <a:moveTo>
                  <a:pt x="2432304" y="0"/>
                </a:moveTo>
                <a:lnTo>
                  <a:pt x="2424146" y="51610"/>
                </a:lnTo>
                <a:lnTo>
                  <a:pt x="2401903" y="93754"/>
                </a:lnTo>
                <a:lnTo>
                  <a:pt x="2368921" y="122168"/>
                </a:lnTo>
                <a:lnTo>
                  <a:pt x="2328545" y="132587"/>
                </a:lnTo>
                <a:lnTo>
                  <a:pt x="1319910" y="132587"/>
                </a:lnTo>
                <a:lnTo>
                  <a:pt x="1279534" y="143007"/>
                </a:lnTo>
                <a:lnTo>
                  <a:pt x="1246552" y="171421"/>
                </a:lnTo>
                <a:lnTo>
                  <a:pt x="1224309" y="213565"/>
                </a:lnTo>
                <a:lnTo>
                  <a:pt x="1216152" y="265175"/>
                </a:lnTo>
                <a:lnTo>
                  <a:pt x="1207994" y="213565"/>
                </a:lnTo>
                <a:lnTo>
                  <a:pt x="1185751" y="171421"/>
                </a:lnTo>
                <a:lnTo>
                  <a:pt x="1152769" y="143007"/>
                </a:lnTo>
                <a:lnTo>
                  <a:pt x="1112393" y="132587"/>
                </a:lnTo>
                <a:lnTo>
                  <a:pt x="103758" y="132587"/>
                </a:lnTo>
                <a:lnTo>
                  <a:pt x="63382" y="122168"/>
                </a:lnTo>
                <a:lnTo>
                  <a:pt x="30400" y="93754"/>
                </a:lnTo>
                <a:lnTo>
                  <a:pt x="8157" y="5161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39695" y="4306823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6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91658" y="5725007"/>
            <a:ext cx="7213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76322" y="5733516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75380" y="573351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95616" y="5733516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388012" y="4079113"/>
            <a:ext cx="254635" cy="1278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131552" y="4325111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4" h="777239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3436"/>
                </a:lnTo>
                <a:lnTo>
                  <a:pt x="103548" y="342703"/>
                </a:lnTo>
                <a:lnTo>
                  <a:pt x="124110" y="366601"/>
                </a:lnTo>
                <a:lnTo>
                  <a:pt x="154626" y="382712"/>
                </a:lnTo>
                <a:lnTo>
                  <a:pt x="192024" y="388619"/>
                </a:lnTo>
                <a:lnTo>
                  <a:pt x="154626" y="394507"/>
                </a:lnTo>
                <a:lnTo>
                  <a:pt x="124110" y="410575"/>
                </a:lnTo>
                <a:lnTo>
                  <a:pt x="103548" y="434429"/>
                </a:lnTo>
                <a:lnTo>
                  <a:pt x="96012" y="463676"/>
                </a:lnTo>
                <a:lnTo>
                  <a:pt x="96012" y="702056"/>
                </a:lnTo>
                <a:lnTo>
                  <a:pt x="88475" y="731323"/>
                </a:lnTo>
                <a:lnTo>
                  <a:pt x="67913" y="755221"/>
                </a:lnTo>
                <a:lnTo>
                  <a:pt x="37397" y="771332"/>
                </a:lnTo>
                <a:lnTo>
                  <a:pt x="0" y="777239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68068" y="1906613"/>
            <a:ext cx="528955" cy="1105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0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48839" y="2139695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316"/>
                </a:lnTo>
                <a:lnTo>
                  <a:pt x="118205" y="609980"/>
                </a:lnTo>
                <a:lnTo>
                  <a:pt x="98619" y="587216"/>
                </a:lnTo>
                <a:lnTo>
                  <a:pt x="91440" y="559307"/>
                </a:lnTo>
                <a:lnTo>
                  <a:pt x="91440" y="386968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7"/>
                </a:lnTo>
                <a:lnTo>
                  <a:pt x="35611" y="309848"/>
                </a:lnTo>
                <a:lnTo>
                  <a:pt x="64674" y="294513"/>
                </a:lnTo>
                <a:lnTo>
                  <a:pt x="84260" y="271748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568068" y="3167062"/>
            <a:ext cx="528955" cy="90614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139695" y="3273552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298"/>
                </a:lnTo>
                <a:lnTo>
                  <a:pt x="118205" y="609933"/>
                </a:lnTo>
                <a:lnTo>
                  <a:pt x="98619" y="587162"/>
                </a:lnTo>
                <a:lnTo>
                  <a:pt x="91440" y="559308"/>
                </a:lnTo>
                <a:lnTo>
                  <a:pt x="91440" y="386969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8"/>
                </a:lnTo>
                <a:lnTo>
                  <a:pt x="35611" y="309830"/>
                </a:lnTo>
                <a:lnTo>
                  <a:pt x="64674" y="294465"/>
                </a:lnTo>
                <a:lnTo>
                  <a:pt x="84260" y="271694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906646" y="1171638"/>
            <a:ext cx="90614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object 41"/>
              <p:cNvSpPr txBox="1"/>
              <p:nvPr/>
            </p:nvSpPr>
            <p:spPr>
              <a:xfrm>
                <a:off x="6707123" y="1623072"/>
                <a:ext cx="3424429" cy="854080"/>
              </a:xfrm>
              <a:prstGeom prst="rect">
                <a:avLst/>
              </a:prstGeom>
              <a:ln w="28575">
                <a:solidFill>
                  <a:srgbClr val="5D4A3B"/>
                </a:solidFill>
              </a:ln>
            </p:spPr>
            <p:txBody>
              <a:bodyPr vert="horz" wrap="square" lIns="0" tIns="22860" rIns="0" bIns="0" rtlCol="0">
                <a:spAutoFit/>
              </a:bodyPr>
              <a:lstStyle/>
              <a:p>
                <a:pPr marL="95885" marR="123825">
                  <a:lnSpc>
                    <a:spcPct val="100000"/>
                  </a:lnSpc>
                  <a:spcBef>
                    <a:spcPts val="180"/>
                  </a:spcBef>
                </a:pPr>
                <a:r>
                  <a:rPr sz="1800" spc="-10" dirty="0">
                    <a:solidFill>
                      <a:srgbClr val="7E7E7E"/>
                    </a:solidFill>
                    <a:latin typeface="Calibri"/>
                    <a:cs typeface="Calibri"/>
                  </a:rPr>
                  <a:t>Concatenate</a:t>
                </a:r>
                <a:r>
                  <a:rPr sz="1800" dirty="0">
                    <a:solidFill>
                      <a:srgbClr val="7E7E7E"/>
                    </a:solidFill>
                    <a:latin typeface="Calibri"/>
                    <a:cs typeface="Calibri"/>
                  </a:rPr>
                  <a:t> </a:t>
                </a:r>
                <a:r>
                  <a:rPr sz="1800" spc="-10" dirty="0">
                    <a:solidFill>
                      <a:srgbClr val="4285F4"/>
                    </a:solidFill>
                    <a:latin typeface="Calibri"/>
                    <a:cs typeface="Calibri"/>
                  </a:rPr>
                  <a:t>attention</a:t>
                </a:r>
                <a:r>
                  <a:rPr sz="1800" spc="-90" dirty="0">
                    <a:solidFill>
                      <a:srgbClr val="4285F4"/>
                    </a:solidFill>
                    <a:latin typeface="Calibri"/>
                    <a:cs typeface="Calibri"/>
                  </a:rPr>
                  <a:t> </a:t>
                </a:r>
                <a:r>
                  <a:rPr sz="1800" spc="-10" dirty="0">
                    <a:solidFill>
                      <a:srgbClr val="4285F4"/>
                    </a:solidFill>
                    <a:latin typeface="Calibri"/>
                    <a:cs typeface="Calibri"/>
                  </a:rPr>
                  <a:t>output </a:t>
                </a:r>
                <a:r>
                  <a:rPr sz="1800" dirty="0">
                    <a:solidFill>
                      <a:srgbClr val="7E7E7E"/>
                    </a:solidFill>
                    <a:latin typeface="Calibri"/>
                    <a:cs typeface="Calibri"/>
                  </a:rPr>
                  <a:t>with</a:t>
                </a:r>
                <a:r>
                  <a:rPr sz="1800" spc="-50" dirty="0">
                    <a:solidFill>
                      <a:srgbClr val="7E7E7E"/>
                    </a:solidFill>
                    <a:latin typeface="Calibri"/>
                    <a:cs typeface="Calibri"/>
                  </a:rPr>
                  <a:t> </a:t>
                </a:r>
                <a:r>
                  <a:rPr sz="1800" dirty="0">
                    <a:solidFill>
                      <a:srgbClr val="00AF50"/>
                    </a:solidFill>
                    <a:latin typeface="Calibri"/>
                    <a:cs typeface="Calibri"/>
                  </a:rPr>
                  <a:t>decoder</a:t>
                </a:r>
                <a:r>
                  <a:rPr sz="1800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1800" dirty="0">
                    <a:solidFill>
                      <a:srgbClr val="00AF50"/>
                    </a:solidFill>
                    <a:latin typeface="Calibri"/>
                    <a:cs typeface="Calibri"/>
                  </a:rPr>
                  <a:t>hidden</a:t>
                </a:r>
                <a:r>
                  <a:rPr sz="1800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1800" dirty="0">
                    <a:solidFill>
                      <a:srgbClr val="00AF50"/>
                    </a:solidFill>
                    <a:latin typeface="Calibri"/>
                    <a:cs typeface="Calibri"/>
                  </a:rPr>
                  <a:t>state</a:t>
                </a:r>
                <a:r>
                  <a:rPr sz="1800" dirty="0">
                    <a:solidFill>
                      <a:srgbClr val="7E7E7E"/>
                    </a:solidFill>
                    <a:latin typeface="Calibri"/>
                    <a:cs typeface="Calibri"/>
                  </a:rPr>
                  <a:t>,</a:t>
                </a:r>
                <a:r>
                  <a:rPr sz="1800" spc="-45" dirty="0">
                    <a:solidFill>
                      <a:srgbClr val="7E7E7E"/>
                    </a:solidFill>
                    <a:latin typeface="Calibri"/>
                    <a:cs typeface="Calibri"/>
                  </a:rPr>
                  <a:t> </a:t>
                </a:r>
                <a:r>
                  <a:rPr sz="1800" spc="-20" dirty="0">
                    <a:solidFill>
                      <a:srgbClr val="7E7E7E"/>
                    </a:solidFill>
                    <a:latin typeface="Calibri"/>
                    <a:cs typeface="Calibri"/>
                  </a:rPr>
                  <a:t>then </a:t>
                </a:r>
                <a:r>
                  <a:rPr sz="1800" dirty="0">
                    <a:solidFill>
                      <a:srgbClr val="7E7E7E"/>
                    </a:solidFill>
                    <a:latin typeface="Calibri"/>
                    <a:cs typeface="Calibri"/>
                  </a:rPr>
                  <a:t>use</a:t>
                </a:r>
                <a:r>
                  <a:rPr sz="1800" spc="-70" dirty="0">
                    <a:solidFill>
                      <a:srgbClr val="7E7E7E"/>
                    </a:solidFill>
                    <a:latin typeface="Calibri"/>
                    <a:cs typeface="Calibri"/>
                  </a:rPr>
                  <a:t> </a:t>
                </a:r>
                <a:r>
                  <a:rPr sz="1800" dirty="0">
                    <a:solidFill>
                      <a:srgbClr val="7E7E7E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1800" dirty="0">
                    <a:solidFill>
                      <a:srgbClr val="7E7E7E"/>
                    </a:solidFill>
                    <a:latin typeface="Calibri"/>
                    <a:cs typeface="Calibri"/>
                  </a:rPr>
                  <a:t>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7E7E7E"/>
                    </a:solidFill>
                    <a:latin typeface="Calibri"/>
                    <a:cs typeface="Calibri"/>
                  </a:rPr>
                  <a:t>  as before</a:t>
                </a:r>
                <a:endParaRPr sz="1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1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123" y="1623072"/>
                <a:ext cx="3424429" cy="854080"/>
              </a:xfrm>
              <a:prstGeom prst="rect">
                <a:avLst/>
              </a:prstGeom>
              <a:blipFill>
                <a:blip r:embed="rId6"/>
                <a:stretch>
                  <a:fillRect l="-882" t="-4828" b="-13793"/>
                </a:stretch>
              </a:blipFill>
              <a:ln w="28575">
                <a:solidFill>
                  <a:srgbClr val="5D4A3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bject 42"/>
          <p:cNvSpPr/>
          <p:nvPr/>
        </p:nvSpPr>
        <p:spPr>
          <a:xfrm>
            <a:off x="5997067" y="2053970"/>
            <a:ext cx="700405" cy="85725"/>
          </a:xfrm>
          <a:custGeom>
            <a:avLst/>
            <a:gdLst/>
            <a:ahLst/>
            <a:cxnLst/>
            <a:rect l="l" t="t" r="r" b="b"/>
            <a:pathLst>
              <a:path w="700404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374" y="57150"/>
                </a:lnTo>
                <a:lnTo>
                  <a:pt x="71374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00404" h="85725">
                <a:moveTo>
                  <a:pt x="85725" y="28575"/>
                </a:moveTo>
                <a:lnTo>
                  <a:pt x="71374" y="28575"/>
                </a:lnTo>
                <a:lnTo>
                  <a:pt x="71374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00404" h="85725">
                <a:moveTo>
                  <a:pt x="699897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699897" y="57150"/>
                </a:lnTo>
                <a:lnTo>
                  <a:pt x="699897" y="28575"/>
                </a:lnTo>
                <a:close/>
              </a:path>
            </a:pathLst>
          </a:custGeom>
          <a:solidFill>
            <a:srgbClr val="5D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20795" y="1782825"/>
            <a:ext cx="2004695" cy="2513965"/>
          </a:xfrm>
          <a:custGeom>
            <a:avLst/>
            <a:gdLst/>
            <a:ahLst/>
            <a:cxnLst/>
            <a:rect l="l" t="t" r="r" b="b"/>
            <a:pathLst>
              <a:path w="2004695" h="2513965">
                <a:moveTo>
                  <a:pt x="1713992" y="263779"/>
                </a:moveTo>
                <a:lnTo>
                  <a:pt x="1632458" y="198374"/>
                </a:lnTo>
                <a:lnTo>
                  <a:pt x="1628267" y="195072"/>
                </a:lnTo>
                <a:lnTo>
                  <a:pt x="1622298" y="195834"/>
                </a:lnTo>
                <a:lnTo>
                  <a:pt x="1615694" y="203962"/>
                </a:lnTo>
                <a:lnTo>
                  <a:pt x="1616456" y="210058"/>
                </a:lnTo>
                <a:lnTo>
                  <a:pt x="1620520" y="213233"/>
                </a:lnTo>
                <a:lnTo>
                  <a:pt x="1661845" y="246418"/>
                </a:lnTo>
                <a:lnTo>
                  <a:pt x="2794" y="0"/>
                </a:lnTo>
                <a:lnTo>
                  <a:pt x="0" y="18796"/>
                </a:lnTo>
                <a:lnTo>
                  <a:pt x="1659013" y="265328"/>
                </a:lnTo>
                <a:lnTo>
                  <a:pt x="1605026" y="286893"/>
                </a:lnTo>
                <a:lnTo>
                  <a:pt x="1602613" y="292481"/>
                </a:lnTo>
                <a:lnTo>
                  <a:pt x="1604518" y="297307"/>
                </a:lnTo>
                <a:lnTo>
                  <a:pt x="1606550" y="302260"/>
                </a:lnTo>
                <a:lnTo>
                  <a:pt x="1612011" y="304546"/>
                </a:lnTo>
                <a:lnTo>
                  <a:pt x="1616964" y="302641"/>
                </a:lnTo>
                <a:lnTo>
                  <a:pt x="1697177" y="270510"/>
                </a:lnTo>
                <a:lnTo>
                  <a:pt x="1713992" y="263779"/>
                </a:lnTo>
                <a:close/>
              </a:path>
              <a:path w="2004695" h="2513965">
                <a:moveTo>
                  <a:pt x="2004441" y="607060"/>
                </a:moveTo>
                <a:lnTo>
                  <a:pt x="2001774" y="602615"/>
                </a:lnTo>
                <a:lnTo>
                  <a:pt x="1960092" y="531114"/>
                </a:lnTo>
                <a:lnTo>
                  <a:pt x="1949069" y="512191"/>
                </a:lnTo>
                <a:lnTo>
                  <a:pt x="1896364" y="602615"/>
                </a:lnTo>
                <a:lnTo>
                  <a:pt x="1893697" y="607060"/>
                </a:lnTo>
                <a:lnTo>
                  <a:pt x="1895221" y="612902"/>
                </a:lnTo>
                <a:lnTo>
                  <a:pt x="1904365" y="618236"/>
                </a:lnTo>
                <a:lnTo>
                  <a:pt x="1910207" y="616712"/>
                </a:lnTo>
                <a:lnTo>
                  <a:pt x="1939544" y="566420"/>
                </a:lnTo>
                <a:lnTo>
                  <a:pt x="1939544" y="2513457"/>
                </a:lnTo>
                <a:lnTo>
                  <a:pt x="1958594" y="2513457"/>
                </a:lnTo>
                <a:lnTo>
                  <a:pt x="1958594" y="566420"/>
                </a:lnTo>
                <a:lnTo>
                  <a:pt x="1987931" y="616712"/>
                </a:lnTo>
                <a:lnTo>
                  <a:pt x="1993773" y="618236"/>
                </a:lnTo>
                <a:lnTo>
                  <a:pt x="2002917" y="612902"/>
                </a:lnTo>
                <a:lnTo>
                  <a:pt x="2004441" y="60706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24016" y="1563624"/>
            <a:ext cx="111125" cy="347345"/>
          </a:xfrm>
          <a:custGeom>
            <a:avLst/>
            <a:gdLst/>
            <a:ahLst/>
            <a:cxnLst/>
            <a:rect l="l" t="t" r="r" b="b"/>
            <a:pathLst>
              <a:path w="111125" h="347344">
                <a:moveTo>
                  <a:pt x="55126" y="37684"/>
                </a:moveTo>
                <a:lnTo>
                  <a:pt x="45715" y="54087"/>
                </a:lnTo>
                <a:lnTo>
                  <a:pt x="46736" y="346963"/>
                </a:lnTo>
                <a:lnTo>
                  <a:pt x="65786" y="346963"/>
                </a:lnTo>
                <a:lnTo>
                  <a:pt x="64947" y="106045"/>
                </a:lnTo>
                <a:lnTo>
                  <a:pt x="64891" y="90042"/>
                </a:lnTo>
                <a:lnTo>
                  <a:pt x="64765" y="54087"/>
                </a:lnTo>
                <a:lnTo>
                  <a:pt x="55126" y="37684"/>
                </a:lnTo>
                <a:close/>
              </a:path>
              <a:path w="111125" h="347344">
                <a:moveTo>
                  <a:pt x="54991" y="0"/>
                </a:moveTo>
                <a:lnTo>
                  <a:pt x="2667" y="90424"/>
                </a:lnTo>
                <a:lnTo>
                  <a:pt x="0" y="94996"/>
                </a:lnTo>
                <a:lnTo>
                  <a:pt x="1424" y="100456"/>
                </a:lnTo>
                <a:lnTo>
                  <a:pt x="1524" y="100837"/>
                </a:lnTo>
                <a:lnTo>
                  <a:pt x="6096" y="103504"/>
                </a:lnTo>
                <a:lnTo>
                  <a:pt x="10668" y="106045"/>
                </a:lnTo>
                <a:lnTo>
                  <a:pt x="16510" y="104521"/>
                </a:lnTo>
                <a:lnTo>
                  <a:pt x="19177" y="99949"/>
                </a:lnTo>
                <a:lnTo>
                  <a:pt x="45656" y="54087"/>
                </a:lnTo>
                <a:lnTo>
                  <a:pt x="45593" y="18923"/>
                </a:lnTo>
                <a:lnTo>
                  <a:pt x="66120" y="18923"/>
                </a:lnTo>
                <a:lnTo>
                  <a:pt x="54991" y="0"/>
                </a:lnTo>
                <a:close/>
              </a:path>
              <a:path w="111125" h="347344">
                <a:moveTo>
                  <a:pt x="66120" y="18923"/>
                </a:moveTo>
                <a:lnTo>
                  <a:pt x="64643" y="18923"/>
                </a:lnTo>
                <a:lnTo>
                  <a:pt x="64765" y="54087"/>
                </a:lnTo>
                <a:lnTo>
                  <a:pt x="91567" y="99695"/>
                </a:lnTo>
                <a:lnTo>
                  <a:pt x="94234" y="104266"/>
                </a:lnTo>
                <a:lnTo>
                  <a:pt x="100075" y="105790"/>
                </a:lnTo>
                <a:lnTo>
                  <a:pt x="109220" y="100456"/>
                </a:lnTo>
                <a:lnTo>
                  <a:pt x="110525" y="94996"/>
                </a:lnTo>
                <a:lnTo>
                  <a:pt x="110617" y="94614"/>
                </a:lnTo>
                <a:lnTo>
                  <a:pt x="107950" y="90042"/>
                </a:lnTo>
                <a:lnTo>
                  <a:pt x="66120" y="18923"/>
                </a:lnTo>
                <a:close/>
              </a:path>
              <a:path w="111125" h="347344">
                <a:moveTo>
                  <a:pt x="64643" y="18923"/>
                </a:moveTo>
                <a:lnTo>
                  <a:pt x="45593" y="18923"/>
                </a:lnTo>
                <a:lnTo>
                  <a:pt x="45715" y="54087"/>
                </a:lnTo>
                <a:lnTo>
                  <a:pt x="55126" y="37684"/>
                </a:lnTo>
                <a:lnTo>
                  <a:pt x="46862" y="23622"/>
                </a:lnTo>
                <a:lnTo>
                  <a:pt x="64659" y="23622"/>
                </a:lnTo>
                <a:lnTo>
                  <a:pt x="64643" y="18923"/>
                </a:lnTo>
                <a:close/>
              </a:path>
              <a:path w="111125" h="347344">
                <a:moveTo>
                  <a:pt x="64659" y="23622"/>
                </a:moveTo>
                <a:lnTo>
                  <a:pt x="63246" y="23622"/>
                </a:lnTo>
                <a:lnTo>
                  <a:pt x="55126" y="37684"/>
                </a:lnTo>
                <a:lnTo>
                  <a:pt x="64765" y="54087"/>
                </a:lnTo>
                <a:lnTo>
                  <a:pt x="64659" y="23622"/>
                </a:lnTo>
                <a:close/>
              </a:path>
              <a:path w="111125" h="347344">
                <a:moveTo>
                  <a:pt x="63246" y="23622"/>
                </a:moveTo>
                <a:lnTo>
                  <a:pt x="46862" y="23622"/>
                </a:lnTo>
                <a:lnTo>
                  <a:pt x="55126" y="37684"/>
                </a:lnTo>
                <a:lnTo>
                  <a:pt x="63246" y="23622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665723" y="1248917"/>
            <a:ext cx="22034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-25" dirty="0">
                <a:latin typeface="Calibri"/>
                <a:cs typeface="Calibri"/>
              </a:rPr>
              <a:t>he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17597" y="6415687"/>
            <a:ext cx="22358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5200CEE-622F-2ADA-5EED-8E81438BB810}"/>
                  </a:ext>
                </a:extLst>
              </p:cNvPr>
              <p:cNvSpPr txBox="1"/>
              <p:nvPr/>
            </p:nvSpPr>
            <p:spPr>
              <a:xfrm>
                <a:off x="5671389" y="1946534"/>
                <a:ext cx="2889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5200CEE-622F-2ADA-5EED-8E81438BB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389" y="1946534"/>
                <a:ext cx="288990" cy="276999"/>
              </a:xfrm>
              <a:prstGeom prst="rect">
                <a:avLst/>
              </a:prstGeom>
              <a:blipFill>
                <a:blip r:embed="rId7"/>
                <a:stretch>
                  <a:fillRect l="-18750" t="-21739" r="-5208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Sequence-to-sequence</a:t>
            </a:r>
            <a:r>
              <a:rPr spc="18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spc="-1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95930" y="1096899"/>
            <a:ext cx="4006215" cy="4596765"/>
            <a:chOff x="2495930" y="1096899"/>
            <a:chExt cx="4006215" cy="4596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370451"/>
              <a:ext cx="128778" cy="1287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535043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708778"/>
              <a:ext cx="128778" cy="1287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0" y="4873370"/>
              <a:ext cx="128778" cy="128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599" y="4306824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1" y="12906"/>
                  </a:lnTo>
                  <a:lnTo>
                    <a:pt x="261699" y="26949"/>
                  </a:lnTo>
                  <a:lnTo>
                    <a:pt x="265175" y="44195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1" y="764285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5"/>
                  </a:lnTo>
                  <a:lnTo>
                    <a:pt x="3476" y="26949"/>
                  </a:lnTo>
                  <a:lnTo>
                    <a:pt x="12954" y="12906"/>
                  </a:lnTo>
                  <a:lnTo>
                    <a:pt x="27003" y="3458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4635500"/>
              <a:ext cx="528320" cy="1058545"/>
            </a:xfrm>
            <a:custGeom>
              <a:avLst/>
              <a:gdLst/>
              <a:ahLst/>
              <a:cxnLst/>
              <a:rect l="l" t="t" r="r" b="b"/>
              <a:pathLst>
                <a:path w="528319" h="1058545">
                  <a:moveTo>
                    <a:pt x="110744" y="543306"/>
                  </a:moveTo>
                  <a:lnTo>
                    <a:pt x="66408" y="467360"/>
                  </a:lnTo>
                  <a:lnTo>
                    <a:pt x="55372" y="448437"/>
                  </a:lnTo>
                  <a:lnTo>
                    <a:pt x="0" y="543306"/>
                  </a:lnTo>
                  <a:lnTo>
                    <a:pt x="1524" y="549148"/>
                  </a:lnTo>
                  <a:lnTo>
                    <a:pt x="10668" y="554482"/>
                  </a:lnTo>
                  <a:lnTo>
                    <a:pt x="16510" y="552958"/>
                  </a:lnTo>
                  <a:lnTo>
                    <a:pt x="45834" y="502666"/>
                  </a:lnTo>
                  <a:lnTo>
                    <a:pt x="45847" y="467360"/>
                  </a:lnTo>
                  <a:lnTo>
                    <a:pt x="45847" y="502666"/>
                  </a:lnTo>
                  <a:lnTo>
                    <a:pt x="45847" y="1058113"/>
                  </a:lnTo>
                  <a:lnTo>
                    <a:pt x="64897" y="1058113"/>
                  </a:lnTo>
                  <a:lnTo>
                    <a:pt x="64897" y="502666"/>
                  </a:lnTo>
                  <a:lnTo>
                    <a:pt x="94234" y="552958"/>
                  </a:lnTo>
                  <a:lnTo>
                    <a:pt x="100076" y="554482"/>
                  </a:lnTo>
                  <a:lnTo>
                    <a:pt x="109220" y="549148"/>
                  </a:lnTo>
                  <a:lnTo>
                    <a:pt x="110744" y="543306"/>
                  </a:lnTo>
                  <a:close/>
                </a:path>
                <a:path w="528319" h="1058545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722" y="3510915"/>
              <a:ext cx="3250818" cy="21735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02483" y="3630041"/>
              <a:ext cx="111125" cy="675005"/>
            </a:xfrm>
            <a:custGeom>
              <a:avLst/>
              <a:gdLst/>
              <a:ahLst/>
              <a:cxnLst/>
              <a:rect l="l" t="t" r="r" b="b"/>
              <a:pathLst>
                <a:path w="111125" h="675004">
                  <a:moveTo>
                    <a:pt x="55884" y="37901"/>
                  </a:moveTo>
                  <a:lnTo>
                    <a:pt x="46240" y="54046"/>
                  </a:lnTo>
                  <a:lnTo>
                    <a:pt x="39749" y="675004"/>
                  </a:lnTo>
                  <a:lnTo>
                    <a:pt x="58801" y="675004"/>
                  </a:lnTo>
                  <a:lnTo>
                    <a:pt x="65289" y="54414"/>
                  </a:lnTo>
                  <a:lnTo>
                    <a:pt x="55884" y="37901"/>
                  </a:lnTo>
                  <a:close/>
                </a:path>
                <a:path w="111125" h="675004">
                  <a:moveTo>
                    <a:pt x="66971" y="18795"/>
                  </a:moveTo>
                  <a:lnTo>
                    <a:pt x="46609" y="18795"/>
                  </a:lnTo>
                  <a:lnTo>
                    <a:pt x="65659" y="19049"/>
                  </a:lnTo>
                  <a:lnTo>
                    <a:pt x="65293" y="54046"/>
                  </a:lnTo>
                  <a:lnTo>
                    <a:pt x="65289" y="54414"/>
                  </a:lnTo>
                  <a:lnTo>
                    <a:pt x="91440" y="100329"/>
                  </a:lnTo>
                  <a:lnTo>
                    <a:pt x="94107" y="104901"/>
                  </a:lnTo>
                  <a:lnTo>
                    <a:pt x="99949" y="106425"/>
                  </a:lnTo>
                  <a:lnTo>
                    <a:pt x="104521" y="103885"/>
                  </a:lnTo>
                  <a:lnTo>
                    <a:pt x="109093" y="101218"/>
                  </a:lnTo>
                  <a:lnTo>
                    <a:pt x="110617" y="95503"/>
                  </a:lnTo>
                  <a:lnTo>
                    <a:pt x="108077" y="90931"/>
                  </a:lnTo>
                  <a:lnTo>
                    <a:pt x="66971" y="18795"/>
                  </a:lnTo>
                  <a:close/>
                </a:path>
                <a:path w="111125" h="675004">
                  <a:moveTo>
                    <a:pt x="56261" y="0"/>
                  </a:moveTo>
                  <a:lnTo>
                    <a:pt x="2667" y="89788"/>
                  </a:lnTo>
                  <a:lnTo>
                    <a:pt x="0" y="94360"/>
                  </a:lnTo>
                  <a:lnTo>
                    <a:pt x="1427" y="100329"/>
                  </a:lnTo>
                  <a:lnTo>
                    <a:pt x="1614" y="100329"/>
                  </a:lnTo>
                  <a:lnTo>
                    <a:pt x="10541" y="105536"/>
                  </a:lnTo>
                  <a:lnTo>
                    <a:pt x="16383" y="104139"/>
                  </a:lnTo>
                  <a:lnTo>
                    <a:pt x="19050" y="99567"/>
                  </a:lnTo>
                  <a:lnTo>
                    <a:pt x="46240" y="54046"/>
                  </a:lnTo>
                  <a:lnTo>
                    <a:pt x="46555" y="23875"/>
                  </a:lnTo>
                  <a:lnTo>
                    <a:pt x="46609" y="18795"/>
                  </a:lnTo>
                  <a:lnTo>
                    <a:pt x="66971" y="18795"/>
                  </a:lnTo>
                  <a:lnTo>
                    <a:pt x="56261" y="0"/>
                  </a:lnTo>
                  <a:close/>
                </a:path>
                <a:path w="111125" h="675004">
                  <a:moveTo>
                    <a:pt x="65611" y="23621"/>
                  </a:moveTo>
                  <a:lnTo>
                    <a:pt x="47752" y="23621"/>
                  </a:lnTo>
                  <a:lnTo>
                    <a:pt x="64262" y="23875"/>
                  </a:lnTo>
                  <a:lnTo>
                    <a:pt x="55884" y="37901"/>
                  </a:lnTo>
                  <a:lnTo>
                    <a:pt x="65289" y="54414"/>
                  </a:lnTo>
                  <a:lnTo>
                    <a:pt x="65608" y="23875"/>
                  </a:lnTo>
                  <a:lnTo>
                    <a:pt x="65611" y="23621"/>
                  </a:lnTo>
                  <a:close/>
                </a:path>
                <a:path w="111125" h="675004">
                  <a:moveTo>
                    <a:pt x="46609" y="18795"/>
                  </a:moveTo>
                  <a:lnTo>
                    <a:pt x="46240" y="54046"/>
                  </a:lnTo>
                  <a:lnTo>
                    <a:pt x="55884" y="37901"/>
                  </a:lnTo>
                  <a:lnTo>
                    <a:pt x="47752" y="23621"/>
                  </a:lnTo>
                  <a:lnTo>
                    <a:pt x="65611" y="23621"/>
                  </a:lnTo>
                  <a:lnTo>
                    <a:pt x="65659" y="19049"/>
                  </a:lnTo>
                  <a:lnTo>
                    <a:pt x="46609" y="18795"/>
                  </a:lnTo>
                  <a:close/>
                </a:path>
                <a:path w="111125" h="675004">
                  <a:moveTo>
                    <a:pt x="47752" y="23621"/>
                  </a:moveTo>
                  <a:lnTo>
                    <a:pt x="55884" y="37901"/>
                  </a:lnTo>
                  <a:lnTo>
                    <a:pt x="64262" y="23875"/>
                  </a:lnTo>
                  <a:lnTo>
                    <a:pt x="47752" y="2362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370" y="3510915"/>
              <a:ext cx="137922" cy="1287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97480" y="3549014"/>
              <a:ext cx="3671570" cy="755015"/>
            </a:xfrm>
            <a:custGeom>
              <a:avLst/>
              <a:gdLst/>
              <a:ahLst/>
              <a:cxnLst/>
              <a:rect l="l" t="t" r="r" b="b"/>
              <a:pathLst>
                <a:path w="3671570" h="755014">
                  <a:moveTo>
                    <a:pt x="3671189" y="736346"/>
                  </a:moveTo>
                  <a:lnTo>
                    <a:pt x="3669881" y="735977"/>
                  </a:lnTo>
                  <a:lnTo>
                    <a:pt x="3670046" y="735076"/>
                  </a:lnTo>
                  <a:lnTo>
                    <a:pt x="3663454" y="733856"/>
                  </a:lnTo>
                  <a:lnTo>
                    <a:pt x="3660394" y="733171"/>
                  </a:lnTo>
                  <a:lnTo>
                    <a:pt x="1279728" y="32385"/>
                  </a:lnTo>
                  <a:lnTo>
                    <a:pt x="1319974" y="22491"/>
                  </a:lnTo>
                  <a:lnTo>
                    <a:pt x="1336421" y="18415"/>
                  </a:lnTo>
                  <a:lnTo>
                    <a:pt x="1339596" y="13335"/>
                  </a:lnTo>
                  <a:lnTo>
                    <a:pt x="1338326" y="8128"/>
                  </a:lnTo>
                  <a:lnTo>
                    <a:pt x="1337056" y="3048"/>
                  </a:lnTo>
                  <a:lnTo>
                    <a:pt x="1331849" y="0"/>
                  </a:lnTo>
                  <a:lnTo>
                    <a:pt x="1225296" y="26289"/>
                  </a:lnTo>
                  <a:lnTo>
                    <a:pt x="1297051" y="102235"/>
                  </a:lnTo>
                  <a:lnTo>
                    <a:pt x="1300607" y="106045"/>
                  </a:lnTo>
                  <a:lnTo>
                    <a:pt x="1306703" y="106299"/>
                  </a:lnTo>
                  <a:lnTo>
                    <a:pt x="1310513" y="102616"/>
                  </a:lnTo>
                  <a:lnTo>
                    <a:pt x="1314323" y="99060"/>
                  </a:lnTo>
                  <a:lnTo>
                    <a:pt x="1314450" y="92964"/>
                  </a:lnTo>
                  <a:lnTo>
                    <a:pt x="1310894" y="89154"/>
                  </a:lnTo>
                  <a:lnTo>
                    <a:pt x="1274635" y="50774"/>
                  </a:lnTo>
                  <a:lnTo>
                    <a:pt x="3383686" y="671614"/>
                  </a:lnTo>
                  <a:lnTo>
                    <a:pt x="658228" y="65290"/>
                  </a:lnTo>
                  <a:lnTo>
                    <a:pt x="682129" y="57658"/>
                  </a:lnTo>
                  <a:lnTo>
                    <a:pt x="713867" y="47498"/>
                  </a:lnTo>
                  <a:lnTo>
                    <a:pt x="716661" y="42164"/>
                  </a:lnTo>
                  <a:lnTo>
                    <a:pt x="715010" y="37211"/>
                  </a:lnTo>
                  <a:lnTo>
                    <a:pt x="713359" y="32143"/>
                  </a:lnTo>
                  <a:lnTo>
                    <a:pt x="708025" y="29464"/>
                  </a:lnTo>
                  <a:lnTo>
                    <a:pt x="703072" y="30988"/>
                  </a:lnTo>
                  <a:lnTo>
                    <a:pt x="623938" y="56324"/>
                  </a:lnTo>
                  <a:lnTo>
                    <a:pt x="623938" y="57658"/>
                  </a:lnTo>
                  <a:lnTo>
                    <a:pt x="619937" y="75946"/>
                  </a:lnTo>
                  <a:lnTo>
                    <a:pt x="619874" y="76200"/>
                  </a:lnTo>
                  <a:lnTo>
                    <a:pt x="623938" y="57658"/>
                  </a:lnTo>
                  <a:lnTo>
                    <a:pt x="623938" y="56324"/>
                  </a:lnTo>
                  <a:lnTo>
                    <a:pt x="603504" y="62865"/>
                  </a:lnTo>
                  <a:lnTo>
                    <a:pt x="684022" y="137414"/>
                  </a:lnTo>
                  <a:lnTo>
                    <a:pt x="690118" y="137160"/>
                  </a:lnTo>
                  <a:lnTo>
                    <a:pt x="693674" y="133350"/>
                  </a:lnTo>
                  <a:lnTo>
                    <a:pt x="697230" y="129413"/>
                  </a:lnTo>
                  <a:lnTo>
                    <a:pt x="696976" y="123444"/>
                  </a:lnTo>
                  <a:lnTo>
                    <a:pt x="654202" y="83845"/>
                  </a:lnTo>
                  <a:lnTo>
                    <a:pt x="3132759" y="635241"/>
                  </a:lnTo>
                  <a:lnTo>
                    <a:pt x="54876" y="63322"/>
                  </a:lnTo>
                  <a:lnTo>
                    <a:pt x="72809" y="56896"/>
                  </a:lnTo>
                  <a:lnTo>
                    <a:pt x="109728" y="43688"/>
                  </a:lnTo>
                  <a:lnTo>
                    <a:pt x="112268" y="38227"/>
                  </a:lnTo>
                  <a:lnTo>
                    <a:pt x="108712" y="28321"/>
                  </a:lnTo>
                  <a:lnTo>
                    <a:pt x="103378" y="25793"/>
                  </a:lnTo>
                  <a:lnTo>
                    <a:pt x="0" y="62865"/>
                  </a:lnTo>
                  <a:lnTo>
                    <a:pt x="83058" y="134493"/>
                  </a:lnTo>
                  <a:lnTo>
                    <a:pt x="89154" y="134112"/>
                  </a:lnTo>
                  <a:lnTo>
                    <a:pt x="92583" y="130175"/>
                  </a:lnTo>
                  <a:lnTo>
                    <a:pt x="96012" y="126111"/>
                  </a:lnTo>
                  <a:lnTo>
                    <a:pt x="95504" y="120142"/>
                  </a:lnTo>
                  <a:lnTo>
                    <a:pt x="51511" y="82156"/>
                  </a:lnTo>
                  <a:lnTo>
                    <a:pt x="3657142" y="752119"/>
                  </a:lnTo>
                  <a:lnTo>
                    <a:pt x="3665728" y="754634"/>
                  </a:lnTo>
                  <a:lnTo>
                    <a:pt x="3665982" y="753757"/>
                  </a:lnTo>
                  <a:lnTo>
                    <a:pt x="3666617" y="753872"/>
                  </a:lnTo>
                  <a:lnTo>
                    <a:pt x="3667645" y="748182"/>
                  </a:lnTo>
                  <a:lnTo>
                    <a:pt x="3671189" y="73634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8978" y="4361307"/>
              <a:ext cx="119634" cy="12877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8978" y="4525899"/>
              <a:ext cx="119634" cy="1379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8978" y="4699634"/>
              <a:ext cx="119634" cy="1287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8978" y="4864227"/>
              <a:ext cx="119634" cy="12877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27064" y="4297680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29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2" y="12906"/>
                  </a:lnTo>
                  <a:lnTo>
                    <a:pt x="261699" y="26949"/>
                  </a:lnTo>
                  <a:lnTo>
                    <a:pt x="265175" y="44196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2" y="764286"/>
                  </a:lnTo>
                  <a:lnTo>
                    <a:pt x="238172" y="773763"/>
                  </a:lnTo>
                  <a:lnTo>
                    <a:pt x="220980" y="777240"/>
                  </a:lnTo>
                  <a:lnTo>
                    <a:pt x="44196" y="777240"/>
                  </a:lnTo>
                  <a:lnTo>
                    <a:pt x="27003" y="773763"/>
                  </a:lnTo>
                  <a:lnTo>
                    <a:pt x="12954" y="764286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6"/>
                  </a:lnTo>
                  <a:lnTo>
                    <a:pt x="3476" y="26949"/>
                  </a:lnTo>
                  <a:lnTo>
                    <a:pt x="12953" y="12906"/>
                  </a:lnTo>
                  <a:lnTo>
                    <a:pt x="27003" y="3458"/>
                  </a:lnTo>
                  <a:lnTo>
                    <a:pt x="44196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175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08852" y="5074793"/>
              <a:ext cx="111125" cy="610235"/>
            </a:xfrm>
            <a:custGeom>
              <a:avLst/>
              <a:gdLst/>
              <a:ahLst/>
              <a:cxnLst/>
              <a:rect l="l" t="t" r="r" b="b"/>
              <a:pathLst>
                <a:path w="111125" h="610235">
                  <a:moveTo>
                    <a:pt x="55372" y="37900"/>
                  </a:moveTo>
                  <a:lnTo>
                    <a:pt x="45847" y="54228"/>
                  </a:lnTo>
                  <a:lnTo>
                    <a:pt x="45847" y="609676"/>
                  </a:lnTo>
                  <a:lnTo>
                    <a:pt x="64897" y="609676"/>
                  </a:lnTo>
                  <a:lnTo>
                    <a:pt x="64897" y="54228"/>
                  </a:lnTo>
                  <a:lnTo>
                    <a:pt x="55372" y="37900"/>
                  </a:lnTo>
                  <a:close/>
                </a:path>
                <a:path w="111125" h="610235">
                  <a:moveTo>
                    <a:pt x="55372" y="0"/>
                  </a:moveTo>
                  <a:lnTo>
                    <a:pt x="0" y="94868"/>
                  </a:lnTo>
                  <a:lnTo>
                    <a:pt x="1524" y="100710"/>
                  </a:lnTo>
                  <a:lnTo>
                    <a:pt x="10668" y="106044"/>
                  </a:lnTo>
                  <a:lnTo>
                    <a:pt x="16510" y="104520"/>
                  </a:lnTo>
                  <a:lnTo>
                    <a:pt x="45847" y="54228"/>
                  </a:lnTo>
                  <a:lnTo>
                    <a:pt x="45847" y="18922"/>
                  </a:lnTo>
                  <a:lnTo>
                    <a:pt x="66417" y="18922"/>
                  </a:lnTo>
                  <a:lnTo>
                    <a:pt x="55372" y="0"/>
                  </a:lnTo>
                  <a:close/>
                </a:path>
                <a:path w="111125" h="610235">
                  <a:moveTo>
                    <a:pt x="66417" y="18922"/>
                  </a:moveTo>
                  <a:lnTo>
                    <a:pt x="64897" y="18922"/>
                  </a:lnTo>
                  <a:lnTo>
                    <a:pt x="64897" y="54228"/>
                  </a:lnTo>
                  <a:lnTo>
                    <a:pt x="94234" y="104520"/>
                  </a:lnTo>
                  <a:lnTo>
                    <a:pt x="100075" y="106044"/>
                  </a:lnTo>
                  <a:lnTo>
                    <a:pt x="109220" y="100710"/>
                  </a:lnTo>
                  <a:lnTo>
                    <a:pt x="110744" y="94868"/>
                  </a:lnTo>
                  <a:lnTo>
                    <a:pt x="66417" y="18922"/>
                  </a:lnTo>
                  <a:close/>
                </a:path>
                <a:path w="111125" h="610235">
                  <a:moveTo>
                    <a:pt x="64897" y="18922"/>
                  </a:moveTo>
                  <a:lnTo>
                    <a:pt x="45847" y="18922"/>
                  </a:lnTo>
                  <a:lnTo>
                    <a:pt x="45847" y="54228"/>
                  </a:lnTo>
                  <a:lnTo>
                    <a:pt x="55372" y="37900"/>
                  </a:lnTo>
                  <a:lnTo>
                    <a:pt x="47117" y="23748"/>
                  </a:lnTo>
                  <a:lnTo>
                    <a:pt x="64897" y="23748"/>
                  </a:lnTo>
                  <a:lnTo>
                    <a:pt x="64897" y="18922"/>
                  </a:lnTo>
                  <a:close/>
                </a:path>
                <a:path w="111125" h="610235">
                  <a:moveTo>
                    <a:pt x="64897" y="23748"/>
                  </a:moveTo>
                  <a:lnTo>
                    <a:pt x="63626" y="23748"/>
                  </a:lnTo>
                  <a:lnTo>
                    <a:pt x="55372" y="37900"/>
                  </a:lnTo>
                  <a:lnTo>
                    <a:pt x="64897" y="54228"/>
                  </a:lnTo>
                  <a:lnTo>
                    <a:pt x="64897" y="23748"/>
                  </a:lnTo>
                  <a:close/>
                </a:path>
                <a:path w="111125" h="610235">
                  <a:moveTo>
                    <a:pt x="63626" y="23748"/>
                  </a:moveTo>
                  <a:lnTo>
                    <a:pt x="47117" y="23748"/>
                  </a:lnTo>
                  <a:lnTo>
                    <a:pt x="55372" y="37900"/>
                  </a:lnTo>
                  <a:lnTo>
                    <a:pt x="63626" y="2374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5455" y="277063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78226" y="1096899"/>
              <a:ext cx="1966722" cy="242658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568068" y="4291744"/>
            <a:ext cx="528955" cy="791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05455" y="6098984"/>
            <a:ext cx="2432685" cy="265430"/>
          </a:xfrm>
          <a:custGeom>
            <a:avLst/>
            <a:gdLst/>
            <a:ahLst/>
            <a:cxnLst/>
            <a:rect l="l" t="t" r="r" b="b"/>
            <a:pathLst>
              <a:path w="2432685" h="265429">
                <a:moveTo>
                  <a:pt x="2432304" y="0"/>
                </a:moveTo>
                <a:lnTo>
                  <a:pt x="2424146" y="51610"/>
                </a:lnTo>
                <a:lnTo>
                  <a:pt x="2401903" y="93754"/>
                </a:lnTo>
                <a:lnTo>
                  <a:pt x="2368921" y="122168"/>
                </a:lnTo>
                <a:lnTo>
                  <a:pt x="2328545" y="132587"/>
                </a:lnTo>
                <a:lnTo>
                  <a:pt x="1319910" y="132587"/>
                </a:lnTo>
                <a:lnTo>
                  <a:pt x="1279534" y="143007"/>
                </a:lnTo>
                <a:lnTo>
                  <a:pt x="1246552" y="171421"/>
                </a:lnTo>
                <a:lnTo>
                  <a:pt x="1224309" y="213565"/>
                </a:lnTo>
                <a:lnTo>
                  <a:pt x="1216152" y="265175"/>
                </a:lnTo>
                <a:lnTo>
                  <a:pt x="1207994" y="213565"/>
                </a:lnTo>
                <a:lnTo>
                  <a:pt x="1185751" y="171421"/>
                </a:lnTo>
                <a:lnTo>
                  <a:pt x="1152769" y="143007"/>
                </a:lnTo>
                <a:lnTo>
                  <a:pt x="1112393" y="132587"/>
                </a:lnTo>
                <a:lnTo>
                  <a:pt x="103758" y="132587"/>
                </a:lnTo>
                <a:lnTo>
                  <a:pt x="63382" y="122168"/>
                </a:lnTo>
                <a:lnTo>
                  <a:pt x="30400" y="93754"/>
                </a:lnTo>
                <a:lnTo>
                  <a:pt x="8157" y="5161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39695" y="4306823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6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391658" y="5725007"/>
            <a:ext cx="109347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85190" algn="l"/>
              </a:tabLst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25" dirty="0">
                <a:latin typeface="Calibri"/>
                <a:cs typeface="Calibri"/>
              </a:rPr>
              <a:t>he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76322" y="5733516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75380" y="573351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95616" y="5733516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88012" y="4079113"/>
            <a:ext cx="254635" cy="1278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131552" y="4325111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4" h="777239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3436"/>
                </a:lnTo>
                <a:lnTo>
                  <a:pt x="103548" y="342703"/>
                </a:lnTo>
                <a:lnTo>
                  <a:pt x="124110" y="366601"/>
                </a:lnTo>
                <a:lnTo>
                  <a:pt x="154626" y="382712"/>
                </a:lnTo>
                <a:lnTo>
                  <a:pt x="192024" y="388619"/>
                </a:lnTo>
                <a:lnTo>
                  <a:pt x="154626" y="394507"/>
                </a:lnTo>
                <a:lnTo>
                  <a:pt x="124110" y="410575"/>
                </a:lnTo>
                <a:lnTo>
                  <a:pt x="103548" y="434429"/>
                </a:lnTo>
                <a:lnTo>
                  <a:pt x="96012" y="463676"/>
                </a:lnTo>
                <a:lnTo>
                  <a:pt x="96012" y="702056"/>
                </a:lnTo>
                <a:lnTo>
                  <a:pt x="88475" y="731323"/>
                </a:lnTo>
                <a:lnTo>
                  <a:pt x="67913" y="755221"/>
                </a:lnTo>
                <a:lnTo>
                  <a:pt x="37397" y="771332"/>
                </a:lnTo>
                <a:lnTo>
                  <a:pt x="0" y="777239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568068" y="3167062"/>
            <a:ext cx="528955" cy="90614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39695" y="3273552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298"/>
                </a:lnTo>
                <a:lnTo>
                  <a:pt x="118205" y="609933"/>
                </a:lnTo>
                <a:lnTo>
                  <a:pt x="98619" y="587162"/>
                </a:lnTo>
                <a:lnTo>
                  <a:pt x="91440" y="559308"/>
                </a:lnTo>
                <a:lnTo>
                  <a:pt x="91440" y="386969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8"/>
                </a:lnTo>
                <a:lnTo>
                  <a:pt x="35611" y="309830"/>
                </a:lnTo>
                <a:lnTo>
                  <a:pt x="64674" y="294465"/>
                </a:lnTo>
                <a:lnTo>
                  <a:pt x="84260" y="271694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568068" y="1906613"/>
            <a:ext cx="528955" cy="1105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0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48839" y="2139695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316"/>
                </a:lnTo>
                <a:lnTo>
                  <a:pt x="118205" y="609980"/>
                </a:lnTo>
                <a:lnTo>
                  <a:pt x="98619" y="587216"/>
                </a:lnTo>
                <a:lnTo>
                  <a:pt x="91440" y="559307"/>
                </a:lnTo>
                <a:lnTo>
                  <a:pt x="91440" y="386968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7"/>
                </a:lnTo>
                <a:lnTo>
                  <a:pt x="35611" y="309848"/>
                </a:lnTo>
                <a:lnTo>
                  <a:pt x="64674" y="294513"/>
                </a:lnTo>
                <a:lnTo>
                  <a:pt x="84260" y="271748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906646" y="1171638"/>
            <a:ext cx="90614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21049" y="1782698"/>
            <a:ext cx="2599055" cy="2513330"/>
          </a:xfrm>
          <a:custGeom>
            <a:avLst/>
            <a:gdLst/>
            <a:ahLst/>
            <a:cxnLst/>
            <a:rect l="l" t="t" r="r" b="b"/>
            <a:pathLst>
              <a:path w="2599054" h="2513329">
                <a:moveTo>
                  <a:pt x="2311019" y="299212"/>
                </a:moveTo>
                <a:lnTo>
                  <a:pt x="2223770" y="232537"/>
                </a:lnTo>
                <a:lnTo>
                  <a:pt x="2217801" y="233299"/>
                </a:lnTo>
                <a:lnTo>
                  <a:pt x="2211451" y="241681"/>
                </a:lnTo>
                <a:lnTo>
                  <a:pt x="2212213" y="247650"/>
                </a:lnTo>
                <a:lnTo>
                  <a:pt x="2258504" y="283019"/>
                </a:lnTo>
                <a:lnTo>
                  <a:pt x="2286" y="0"/>
                </a:lnTo>
                <a:lnTo>
                  <a:pt x="0" y="18923"/>
                </a:lnTo>
                <a:lnTo>
                  <a:pt x="2256155" y="301955"/>
                </a:lnTo>
                <a:lnTo>
                  <a:pt x="2207387" y="322707"/>
                </a:lnTo>
                <a:lnTo>
                  <a:pt x="2202561" y="324866"/>
                </a:lnTo>
                <a:lnTo>
                  <a:pt x="2200275" y="330454"/>
                </a:lnTo>
                <a:lnTo>
                  <a:pt x="2202434" y="335280"/>
                </a:lnTo>
                <a:lnTo>
                  <a:pt x="2204466" y="340106"/>
                </a:lnTo>
                <a:lnTo>
                  <a:pt x="2210054" y="342392"/>
                </a:lnTo>
                <a:lnTo>
                  <a:pt x="2214880" y="340233"/>
                </a:lnTo>
                <a:lnTo>
                  <a:pt x="2294344" y="306324"/>
                </a:lnTo>
                <a:lnTo>
                  <a:pt x="2311019" y="299212"/>
                </a:lnTo>
                <a:close/>
              </a:path>
              <a:path w="2599054" h="2513329">
                <a:moveTo>
                  <a:pt x="2598509" y="561594"/>
                </a:moveTo>
                <a:lnTo>
                  <a:pt x="2595943" y="557022"/>
                </a:lnTo>
                <a:lnTo>
                  <a:pt x="2554211" y="485521"/>
                </a:lnTo>
                <a:lnTo>
                  <a:pt x="2543175" y="466598"/>
                </a:lnTo>
                <a:lnTo>
                  <a:pt x="2487930" y="561594"/>
                </a:lnTo>
                <a:lnTo>
                  <a:pt x="2489454" y="567436"/>
                </a:lnTo>
                <a:lnTo>
                  <a:pt x="2494026" y="569976"/>
                </a:lnTo>
                <a:lnTo>
                  <a:pt x="2498598" y="572643"/>
                </a:lnTo>
                <a:lnTo>
                  <a:pt x="2504440" y="571119"/>
                </a:lnTo>
                <a:lnTo>
                  <a:pt x="2506980" y="566547"/>
                </a:lnTo>
                <a:lnTo>
                  <a:pt x="2533662" y="520801"/>
                </a:lnTo>
                <a:lnTo>
                  <a:pt x="2535428" y="2512949"/>
                </a:lnTo>
                <a:lnTo>
                  <a:pt x="2554478" y="2512949"/>
                </a:lnTo>
                <a:lnTo>
                  <a:pt x="2552776" y="572643"/>
                </a:lnTo>
                <a:lnTo>
                  <a:pt x="2552725" y="520801"/>
                </a:lnTo>
                <a:lnTo>
                  <a:pt x="2582164" y="571119"/>
                </a:lnTo>
                <a:lnTo>
                  <a:pt x="2588006" y="572643"/>
                </a:lnTo>
                <a:lnTo>
                  <a:pt x="2592578" y="569976"/>
                </a:lnTo>
                <a:lnTo>
                  <a:pt x="2596807" y="567436"/>
                </a:lnTo>
                <a:lnTo>
                  <a:pt x="2596985" y="567436"/>
                </a:lnTo>
                <a:lnTo>
                  <a:pt x="2598509" y="561594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11772" y="1563624"/>
            <a:ext cx="111125" cy="347345"/>
          </a:xfrm>
          <a:custGeom>
            <a:avLst/>
            <a:gdLst/>
            <a:ahLst/>
            <a:cxnLst/>
            <a:rect l="l" t="t" r="r" b="b"/>
            <a:pathLst>
              <a:path w="111125" h="347344">
                <a:moveTo>
                  <a:pt x="55987" y="37773"/>
                </a:moveTo>
                <a:lnTo>
                  <a:pt x="46212" y="54109"/>
                </a:lnTo>
                <a:lnTo>
                  <a:pt x="42925" y="347090"/>
                </a:lnTo>
                <a:lnTo>
                  <a:pt x="61975" y="347345"/>
                </a:lnTo>
                <a:lnTo>
                  <a:pt x="65264" y="54109"/>
                </a:lnTo>
                <a:lnTo>
                  <a:pt x="55987" y="37773"/>
                </a:lnTo>
                <a:close/>
              </a:path>
              <a:path w="111125" h="347344">
                <a:moveTo>
                  <a:pt x="67159" y="18923"/>
                </a:moveTo>
                <a:lnTo>
                  <a:pt x="65659" y="18923"/>
                </a:lnTo>
                <a:lnTo>
                  <a:pt x="65264" y="54109"/>
                </a:lnTo>
                <a:lnTo>
                  <a:pt x="91439" y="100202"/>
                </a:lnTo>
                <a:lnTo>
                  <a:pt x="94106" y="104775"/>
                </a:lnTo>
                <a:lnTo>
                  <a:pt x="99949" y="106425"/>
                </a:lnTo>
                <a:lnTo>
                  <a:pt x="104521" y="103886"/>
                </a:lnTo>
                <a:lnTo>
                  <a:pt x="109092" y="101218"/>
                </a:lnTo>
                <a:lnTo>
                  <a:pt x="110616" y="95376"/>
                </a:lnTo>
                <a:lnTo>
                  <a:pt x="108076" y="90804"/>
                </a:lnTo>
                <a:lnTo>
                  <a:pt x="67159" y="18923"/>
                </a:lnTo>
                <a:close/>
              </a:path>
              <a:path w="111125" h="347344">
                <a:moveTo>
                  <a:pt x="56387" y="0"/>
                </a:moveTo>
                <a:lnTo>
                  <a:pt x="0" y="94106"/>
                </a:lnTo>
                <a:lnTo>
                  <a:pt x="1524" y="99949"/>
                </a:lnTo>
                <a:lnTo>
                  <a:pt x="5968" y="102742"/>
                </a:lnTo>
                <a:lnTo>
                  <a:pt x="10540" y="105410"/>
                </a:lnTo>
                <a:lnTo>
                  <a:pt x="16382" y="103886"/>
                </a:lnTo>
                <a:lnTo>
                  <a:pt x="46201" y="54109"/>
                </a:lnTo>
                <a:lnTo>
                  <a:pt x="46553" y="23749"/>
                </a:lnTo>
                <a:lnTo>
                  <a:pt x="46607" y="18923"/>
                </a:lnTo>
                <a:lnTo>
                  <a:pt x="67159" y="18923"/>
                </a:lnTo>
                <a:lnTo>
                  <a:pt x="56387" y="0"/>
                </a:lnTo>
                <a:close/>
              </a:path>
              <a:path w="111125" h="347344">
                <a:moveTo>
                  <a:pt x="65659" y="18923"/>
                </a:moveTo>
                <a:lnTo>
                  <a:pt x="46607" y="18923"/>
                </a:lnTo>
                <a:lnTo>
                  <a:pt x="46212" y="54109"/>
                </a:lnTo>
                <a:lnTo>
                  <a:pt x="55987" y="37773"/>
                </a:lnTo>
                <a:lnTo>
                  <a:pt x="47878" y="23495"/>
                </a:lnTo>
                <a:lnTo>
                  <a:pt x="65607" y="23495"/>
                </a:lnTo>
                <a:lnTo>
                  <a:pt x="65659" y="18923"/>
                </a:lnTo>
                <a:close/>
              </a:path>
              <a:path w="111125" h="347344">
                <a:moveTo>
                  <a:pt x="65607" y="23495"/>
                </a:moveTo>
                <a:lnTo>
                  <a:pt x="47878" y="23495"/>
                </a:lnTo>
                <a:lnTo>
                  <a:pt x="64388" y="23749"/>
                </a:lnTo>
                <a:lnTo>
                  <a:pt x="55987" y="37773"/>
                </a:lnTo>
                <a:lnTo>
                  <a:pt x="65264" y="54109"/>
                </a:lnTo>
                <a:lnTo>
                  <a:pt x="65604" y="23749"/>
                </a:lnTo>
                <a:lnTo>
                  <a:pt x="65607" y="23495"/>
                </a:lnTo>
                <a:close/>
              </a:path>
              <a:path w="111125" h="347344">
                <a:moveTo>
                  <a:pt x="47878" y="23495"/>
                </a:moveTo>
                <a:lnTo>
                  <a:pt x="55987" y="37773"/>
                </a:lnTo>
                <a:lnTo>
                  <a:pt x="64388" y="23749"/>
                </a:lnTo>
                <a:lnTo>
                  <a:pt x="47878" y="23495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247765" y="1248917"/>
            <a:ext cx="240029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-25" dirty="0">
                <a:latin typeface="Calibri"/>
                <a:cs typeface="Calibri"/>
              </a:rPr>
              <a:t>hit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99731" y="4494212"/>
            <a:ext cx="2615565" cy="1746885"/>
          </a:xfrm>
          <a:prstGeom prst="rect">
            <a:avLst/>
          </a:prstGeom>
          <a:ln w="28575">
            <a:solidFill>
              <a:srgbClr val="5D4A3B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0805" marR="109220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Sometimes</a:t>
            </a:r>
            <a:r>
              <a:rPr sz="1800" spc="-9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we</a:t>
            </a:r>
            <a:r>
              <a:rPr sz="18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take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4285F4"/>
                </a:solidFill>
                <a:latin typeface="Calibri"/>
                <a:cs typeface="Calibri"/>
              </a:rPr>
              <a:t>attention</a:t>
            </a:r>
            <a:r>
              <a:rPr sz="1800" spc="-75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285F4"/>
                </a:solidFill>
                <a:latin typeface="Calibri"/>
                <a:cs typeface="Calibri"/>
              </a:rPr>
              <a:t>output</a:t>
            </a:r>
            <a:r>
              <a:rPr sz="1800" spc="-25" dirty="0">
                <a:solidFill>
                  <a:srgbClr val="4285F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from</a:t>
            </a:r>
            <a:r>
              <a:rPr sz="18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previous</a:t>
            </a:r>
            <a:r>
              <a:rPr sz="18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step,</a:t>
            </a:r>
            <a:r>
              <a:rPr sz="1800" spc="-7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also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feed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it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into</a:t>
            </a:r>
            <a:r>
              <a:rPr sz="1800" spc="-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decoder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(along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with the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 usual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decoder</a:t>
            </a:r>
            <a:r>
              <a:rPr sz="1800" spc="-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input).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597395" y="5354446"/>
            <a:ext cx="414655" cy="556895"/>
          </a:xfrm>
          <a:custGeom>
            <a:avLst/>
            <a:gdLst/>
            <a:ahLst/>
            <a:cxnLst/>
            <a:rect l="l" t="t" r="r" b="b"/>
            <a:pathLst>
              <a:path w="414654" h="556895">
                <a:moveTo>
                  <a:pt x="16128" y="462368"/>
                </a:moveTo>
                <a:lnTo>
                  <a:pt x="0" y="556831"/>
                </a:lnTo>
                <a:lnTo>
                  <a:pt x="85344" y="513105"/>
                </a:lnTo>
                <a:lnTo>
                  <a:pt x="77980" y="507707"/>
                </a:lnTo>
                <a:lnTo>
                  <a:pt x="53848" y="507707"/>
                </a:lnTo>
                <a:lnTo>
                  <a:pt x="30733" y="490791"/>
                </a:lnTo>
                <a:lnTo>
                  <a:pt x="39191" y="479274"/>
                </a:lnTo>
                <a:lnTo>
                  <a:pt x="16128" y="462368"/>
                </a:lnTo>
                <a:close/>
              </a:path>
              <a:path w="414654" h="556895">
                <a:moveTo>
                  <a:pt x="39191" y="479274"/>
                </a:moveTo>
                <a:lnTo>
                  <a:pt x="30733" y="490791"/>
                </a:lnTo>
                <a:lnTo>
                  <a:pt x="53848" y="507707"/>
                </a:lnTo>
                <a:lnTo>
                  <a:pt x="62290" y="496206"/>
                </a:lnTo>
                <a:lnTo>
                  <a:pt x="39191" y="479274"/>
                </a:lnTo>
                <a:close/>
              </a:path>
              <a:path w="414654" h="556895">
                <a:moveTo>
                  <a:pt x="62290" y="496206"/>
                </a:moveTo>
                <a:lnTo>
                  <a:pt x="53848" y="507707"/>
                </a:lnTo>
                <a:lnTo>
                  <a:pt x="77980" y="507707"/>
                </a:lnTo>
                <a:lnTo>
                  <a:pt x="62290" y="496206"/>
                </a:lnTo>
                <a:close/>
              </a:path>
              <a:path w="414654" h="556895">
                <a:moveTo>
                  <a:pt x="391159" y="0"/>
                </a:moveTo>
                <a:lnTo>
                  <a:pt x="39191" y="479274"/>
                </a:lnTo>
                <a:lnTo>
                  <a:pt x="62290" y="496206"/>
                </a:lnTo>
                <a:lnTo>
                  <a:pt x="414147" y="16890"/>
                </a:lnTo>
                <a:lnTo>
                  <a:pt x="391159" y="0"/>
                </a:lnTo>
                <a:close/>
              </a:path>
            </a:pathLst>
          </a:custGeom>
          <a:solidFill>
            <a:srgbClr val="5D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617597" y="6415687"/>
            <a:ext cx="22358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4B329FD-0903-67F3-DA93-F1102920BB30}"/>
                  </a:ext>
                </a:extLst>
              </p:cNvPr>
              <p:cNvSpPr txBox="1"/>
              <p:nvPr/>
            </p:nvSpPr>
            <p:spPr>
              <a:xfrm>
                <a:off x="6247765" y="1917835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4B329FD-0903-67F3-DA93-F1102920B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765" y="1917835"/>
                <a:ext cx="294311" cy="276999"/>
              </a:xfrm>
              <a:prstGeom prst="rect">
                <a:avLst/>
              </a:prstGeom>
              <a:blipFill>
                <a:blip r:embed="rId8"/>
                <a:stretch>
                  <a:fillRect l="-18750" t="-24444" r="-52083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Sequence-to-sequence</a:t>
            </a:r>
            <a:r>
              <a:rPr spc="18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spc="-10" dirty="0"/>
              <a:t>attention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05075" y="1096899"/>
            <a:ext cx="6300470" cy="4596765"/>
            <a:chOff x="2505075" y="1096899"/>
            <a:chExt cx="6300470" cy="4596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370451"/>
              <a:ext cx="128778" cy="1287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535043"/>
              <a:ext cx="128778" cy="128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708778"/>
              <a:ext cx="128778" cy="1287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7371" y="4873370"/>
              <a:ext cx="128778" cy="128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4600" y="4306824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30" h="777239">
                  <a:moveTo>
                    <a:pt x="220980" y="0"/>
                  </a:moveTo>
                  <a:lnTo>
                    <a:pt x="238172" y="3458"/>
                  </a:lnTo>
                  <a:lnTo>
                    <a:pt x="252221" y="12906"/>
                  </a:lnTo>
                  <a:lnTo>
                    <a:pt x="261699" y="26949"/>
                  </a:lnTo>
                  <a:lnTo>
                    <a:pt x="265175" y="44195"/>
                  </a:lnTo>
                  <a:lnTo>
                    <a:pt x="265175" y="733044"/>
                  </a:lnTo>
                  <a:lnTo>
                    <a:pt x="261699" y="750236"/>
                  </a:lnTo>
                  <a:lnTo>
                    <a:pt x="252221" y="764285"/>
                  </a:lnTo>
                  <a:lnTo>
                    <a:pt x="238172" y="773763"/>
                  </a:lnTo>
                  <a:lnTo>
                    <a:pt x="220980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4" y="764285"/>
                  </a:lnTo>
                  <a:lnTo>
                    <a:pt x="3476" y="750236"/>
                  </a:lnTo>
                  <a:lnTo>
                    <a:pt x="0" y="733044"/>
                  </a:lnTo>
                  <a:lnTo>
                    <a:pt x="0" y="44195"/>
                  </a:lnTo>
                  <a:lnTo>
                    <a:pt x="3476" y="26949"/>
                  </a:lnTo>
                  <a:lnTo>
                    <a:pt x="12954" y="12906"/>
                  </a:lnTo>
                  <a:lnTo>
                    <a:pt x="27003" y="3458"/>
                  </a:lnTo>
                  <a:lnTo>
                    <a:pt x="44195" y="0"/>
                  </a:lnTo>
                  <a:lnTo>
                    <a:pt x="220980" y="0"/>
                  </a:lnTo>
                  <a:close/>
                </a:path>
              </a:pathLst>
            </a:custGeom>
            <a:ln w="19049">
              <a:solidFill>
                <a:srgbClr val="8B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6388" y="4635500"/>
              <a:ext cx="528320" cy="1058545"/>
            </a:xfrm>
            <a:custGeom>
              <a:avLst/>
              <a:gdLst/>
              <a:ahLst/>
              <a:cxnLst/>
              <a:rect l="l" t="t" r="r" b="b"/>
              <a:pathLst>
                <a:path w="528319" h="1058545">
                  <a:moveTo>
                    <a:pt x="110744" y="543306"/>
                  </a:moveTo>
                  <a:lnTo>
                    <a:pt x="66408" y="467360"/>
                  </a:lnTo>
                  <a:lnTo>
                    <a:pt x="55372" y="448437"/>
                  </a:lnTo>
                  <a:lnTo>
                    <a:pt x="0" y="543306"/>
                  </a:lnTo>
                  <a:lnTo>
                    <a:pt x="1524" y="549148"/>
                  </a:lnTo>
                  <a:lnTo>
                    <a:pt x="10668" y="554482"/>
                  </a:lnTo>
                  <a:lnTo>
                    <a:pt x="16510" y="552958"/>
                  </a:lnTo>
                  <a:lnTo>
                    <a:pt x="45834" y="502666"/>
                  </a:lnTo>
                  <a:lnTo>
                    <a:pt x="45847" y="467360"/>
                  </a:lnTo>
                  <a:lnTo>
                    <a:pt x="45847" y="502666"/>
                  </a:lnTo>
                  <a:lnTo>
                    <a:pt x="45847" y="1058113"/>
                  </a:lnTo>
                  <a:lnTo>
                    <a:pt x="64897" y="1058113"/>
                  </a:lnTo>
                  <a:lnTo>
                    <a:pt x="64897" y="502666"/>
                  </a:lnTo>
                  <a:lnTo>
                    <a:pt x="94234" y="552958"/>
                  </a:lnTo>
                  <a:lnTo>
                    <a:pt x="100076" y="554482"/>
                  </a:lnTo>
                  <a:lnTo>
                    <a:pt x="109220" y="549148"/>
                  </a:lnTo>
                  <a:lnTo>
                    <a:pt x="110744" y="543306"/>
                  </a:lnTo>
                  <a:close/>
                </a:path>
                <a:path w="528319" h="1058545">
                  <a:moveTo>
                    <a:pt x="528066" y="55372"/>
                  </a:moveTo>
                  <a:lnTo>
                    <a:pt x="511746" y="45847"/>
                  </a:lnTo>
                  <a:lnTo>
                    <a:pt x="437769" y="2667"/>
                  </a:lnTo>
                  <a:lnTo>
                    <a:pt x="433324" y="0"/>
                  </a:lnTo>
                  <a:lnTo>
                    <a:pt x="427482" y="1524"/>
                  </a:lnTo>
                  <a:lnTo>
                    <a:pt x="422148" y="10668"/>
                  </a:lnTo>
                  <a:lnTo>
                    <a:pt x="423672" y="16510"/>
                  </a:lnTo>
                  <a:lnTo>
                    <a:pt x="428244" y="19050"/>
                  </a:lnTo>
                  <a:lnTo>
                    <a:pt x="474167" y="45847"/>
                  </a:lnTo>
                  <a:lnTo>
                    <a:pt x="183388" y="45847"/>
                  </a:lnTo>
                  <a:lnTo>
                    <a:pt x="183388" y="64897"/>
                  </a:lnTo>
                  <a:lnTo>
                    <a:pt x="473964" y="64897"/>
                  </a:lnTo>
                  <a:lnTo>
                    <a:pt x="423672" y="94234"/>
                  </a:lnTo>
                  <a:lnTo>
                    <a:pt x="422148" y="100076"/>
                  </a:lnTo>
                  <a:lnTo>
                    <a:pt x="424815" y="104521"/>
                  </a:lnTo>
                  <a:lnTo>
                    <a:pt x="427482" y="109093"/>
                  </a:lnTo>
                  <a:lnTo>
                    <a:pt x="433324" y="110617"/>
                  </a:lnTo>
                  <a:lnTo>
                    <a:pt x="437769" y="107950"/>
                  </a:lnTo>
                  <a:lnTo>
                    <a:pt x="511695" y="64897"/>
                  </a:lnTo>
                  <a:lnTo>
                    <a:pt x="528066" y="5537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723" y="3510915"/>
              <a:ext cx="3124835" cy="21735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02484" y="3630041"/>
              <a:ext cx="111125" cy="675005"/>
            </a:xfrm>
            <a:custGeom>
              <a:avLst/>
              <a:gdLst/>
              <a:ahLst/>
              <a:cxnLst/>
              <a:rect l="l" t="t" r="r" b="b"/>
              <a:pathLst>
                <a:path w="111125" h="675004">
                  <a:moveTo>
                    <a:pt x="55884" y="37901"/>
                  </a:moveTo>
                  <a:lnTo>
                    <a:pt x="46240" y="54046"/>
                  </a:lnTo>
                  <a:lnTo>
                    <a:pt x="39749" y="675004"/>
                  </a:lnTo>
                  <a:lnTo>
                    <a:pt x="58801" y="675004"/>
                  </a:lnTo>
                  <a:lnTo>
                    <a:pt x="65289" y="54414"/>
                  </a:lnTo>
                  <a:lnTo>
                    <a:pt x="55884" y="37901"/>
                  </a:lnTo>
                  <a:close/>
                </a:path>
                <a:path w="111125" h="675004">
                  <a:moveTo>
                    <a:pt x="66971" y="18795"/>
                  </a:moveTo>
                  <a:lnTo>
                    <a:pt x="46609" y="18795"/>
                  </a:lnTo>
                  <a:lnTo>
                    <a:pt x="65659" y="19049"/>
                  </a:lnTo>
                  <a:lnTo>
                    <a:pt x="65293" y="54046"/>
                  </a:lnTo>
                  <a:lnTo>
                    <a:pt x="65289" y="54414"/>
                  </a:lnTo>
                  <a:lnTo>
                    <a:pt x="91440" y="100329"/>
                  </a:lnTo>
                  <a:lnTo>
                    <a:pt x="94107" y="104901"/>
                  </a:lnTo>
                  <a:lnTo>
                    <a:pt x="99949" y="106425"/>
                  </a:lnTo>
                  <a:lnTo>
                    <a:pt x="104521" y="103885"/>
                  </a:lnTo>
                  <a:lnTo>
                    <a:pt x="109093" y="101218"/>
                  </a:lnTo>
                  <a:lnTo>
                    <a:pt x="110617" y="95503"/>
                  </a:lnTo>
                  <a:lnTo>
                    <a:pt x="108077" y="90931"/>
                  </a:lnTo>
                  <a:lnTo>
                    <a:pt x="66971" y="18795"/>
                  </a:lnTo>
                  <a:close/>
                </a:path>
                <a:path w="111125" h="675004">
                  <a:moveTo>
                    <a:pt x="56261" y="0"/>
                  </a:moveTo>
                  <a:lnTo>
                    <a:pt x="2667" y="89788"/>
                  </a:lnTo>
                  <a:lnTo>
                    <a:pt x="0" y="94360"/>
                  </a:lnTo>
                  <a:lnTo>
                    <a:pt x="1427" y="100329"/>
                  </a:lnTo>
                  <a:lnTo>
                    <a:pt x="1614" y="100329"/>
                  </a:lnTo>
                  <a:lnTo>
                    <a:pt x="10541" y="105536"/>
                  </a:lnTo>
                  <a:lnTo>
                    <a:pt x="16383" y="104139"/>
                  </a:lnTo>
                  <a:lnTo>
                    <a:pt x="19050" y="99567"/>
                  </a:lnTo>
                  <a:lnTo>
                    <a:pt x="46240" y="54046"/>
                  </a:lnTo>
                  <a:lnTo>
                    <a:pt x="46555" y="23875"/>
                  </a:lnTo>
                  <a:lnTo>
                    <a:pt x="46609" y="18795"/>
                  </a:lnTo>
                  <a:lnTo>
                    <a:pt x="66971" y="18795"/>
                  </a:lnTo>
                  <a:lnTo>
                    <a:pt x="56261" y="0"/>
                  </a:lnTo>
                  <a:close/>
                </a:path>
                <a:path w="111125" h="675004">
                  <a:moveTo>
                    <a:pt x="65611" y="23621"/>
                  </a:moveTo>
                  <a:lnTo>
                    <a:pt x="47752" y="23621"/>
                  </a:lnTo>
                  <a:lnTo>
                    <a:pt x="64262" y="23875"/>
                  </a:lnTo>
                  <a:lnTo>
                    <a:pt x="55884" y="37901"/>
                  </a:lnTo>
                  <a:lnTo>
                    <a:pt x="65289" y="54414"/>
                  </a:lnTo>
                  <a:lnTo>
                    <a:pt x="65608" y="23875"/>
                  </a:lnTo>
                  <a:lnTo>
                    <a:pt x="65611" y="23621"/>
                  </a:lnTo>
                  <a:close/>
                </a:path>
                <a:path w="111125" h="675004">
                  <a:moveTo>
                    <a:pt x="46609" y="18795"/>
                  </a:moveTo>
                  <a:lnTo>
                    <a:pt x="46240" y="54046"/>
                  </a:lnTo>
                  <a:lnTo>
                    <a:pt x="55884" y="37901"/>
                  </a:lnTo>
                  <a:lnTo>
                    <a:pt x="47752" y="23621"/>
                  </a:lnTo>
                  <a:lnTo>
                    <a:pt x="65611" y="23621"/>
                  </a:lnTo>
                  <a:lnTo>
                    <a:pt x="65659" y="19049"/>
                  </a:lnTo>
                  <a:lnTo>
                    <a:pt x="46609" y="18795"/>
                  </a:lnTo>
                  <a:close/>
                </a:path>
                <a:path w="111125" h="675004">
                  <a:moveTo>
                    <a:pt x="47752" y="23621"/>
                  </a:moveTo>
                  <a:lnTo>
                    <a:pt x="55884" y="37901"/>
                  </a:lnTo>
                  <a:lnTo>
                    <a:pt x="64262" y="23875"/>
                  </a:lnTo>
                  <a:lnTo>
                    <a:pt x="47752" y="2362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7371" y="3510915"/>
              <a:ext cx="137922" cy="1287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98420" y="2761360"/>
              <a:ext cx="6207125" cy="1530350"/>
            </a:xfrm>
            <a:custGeom>
              <a:avLst/>
              <a:gdLst/>
              <a:ahLst/>
              <a:cxnLst/>
              <a:rect l="l" t="t" r="r" b="b"/>
              <a:pathLst>
                <a:path w="6207125" h="1530350">
                  <a:moveTo>
                    <a:pt x="110617" y="104267"/>
                  </a:moveTo>
                  <a:lnTo>
                    <a:pt x="107950" y="99695"/>
                  </a:lnTo>
                  <a:lnTo>
                    <a:pt x="66548" y="28067"/>
                  </a:lnTo>
                  <a:lnTo>
                    <a:pt x="55626" y="9144"/>
                  </a:lnTo>
                  <a:lnTo>
                    <a:pt x="2667" y="99314"/>
                  </a:lnTo>
                  <a:lnTo>
                    <a:pt x="0" y="103886"/>
                  </a:lnTo>
                  <a:lnTo>
                    <a:pt x="1524" y="109728"/>
                  </a:lnTo>
                  <a:lnTo>
                    <a:pt x="6096" y="112395"/>
                  </a:lnTo>
                  <a:lnTo>
                    <a:pt x="10541" y="115062"/>
                  </a:lnTo>
                  <a:lnTo>
                    <a:pt x="16383" y="113538"/>
                  </a:lnTo>
                  <a:lnTo>
                    <a:pt x="19050" y="108966"/>
                  </a:lnTo>
                  <a:lnTo>
                    <a:pt x="45859" y="63334"/>
                  </a:lnTo>
                  <a:lnTo>
                    <a:pt x="43802" y="762127"/>
                  </a:lnTo>
                  <a:lnTo>
                    <a:pt x="62865" y="762127"/>
                  </a:lnTo>
                  <a:lnTo>
                    <a:pt x="64757" y="115316"/>
                  </a:lnTo>
                  <a:lnTo>
                    <a:pt x="64808" y="99314"/>
                  </a:lnTo>
                  <a:lnTo>
                    <a:pt x="64909" y="63334"/>
                  </a:lnTo>
                  <a:lnTo>
                    <a:pt x="91567" y="109220"/>
                  </a:lnTo>
                  <a:lnTo>
                    <a:pt x="94107" y="113792"/>
                  </a:lnTo>
                  <a:lnTo>
                    <a:pt x="99949" y="115316"/>
                  </a:lnTo>
                  <a:lnTo>
                    <a:pt x="109093" y="109982"/>
                  </a:lnTo>
                  <a:lnTo>
                    <a:pt x="110617" y="104267"/>
                  </a:lnTo>
                  <a:close/>
                </a:path>
                <a:path w="6207125" h="1530350">
                  <a:moveTo>
                    <a:pt x="713613" y="94996"/>
                  </a:moveTo>
                  <a:lnTo>
                    <a:pt x="711060" y="90424"/>
                  </a:lnTo>
                  <a:lnTo>
                    <a:pt x="669493" y="18923"/>
                  </a:lnTo>
                  <a:lnTo>
                    <a:pt x="658495" y="0"/>
                  </a:lnTo>
                  <a:lnTo>
                    <a:pt x="605586" y="90424"/>
                  </a:lnTo>
                  <a:lnTo>
                    <a:pt x="602996" y="94742"/>
                  </a:lnTo>
                  <a:lnTo>
                    <a:pt x="604520" y="100584"/>
                  </a:lnTo>
                  <a:lnTo>
                    <a:pt x="613664" y="105918"/>
                  </a:lnTo>
                  <a:lnTo>
                    <a:pt x="619379" y="104394"/>
                  </a:lnTo>
                  <a:lnTo>
                    <a:pt x="622046" y="99822"/>
                  </a:lnTo>
                  <a:lnTo>
                    <a:pt x="648830" y="54229"/>
                  </a:lnTo>
                  <a:lnTo>
                    <a:pt x="648957" y="23749"/>
                  </a:lnTo>
                  <a:lnTo>
                    <a:pt x="648881" y="54229"/>
                  </a:lnTo>
                  <a:lnTo>
                    <a:pt x="647319" y="762127"/>
                  </a:lnTo>
                  <a:lnTo>
                    <a:pt x="666369" y="762127"/>
                  </a:lnTo>
                  <a:lnTo>
                    <a:pt x="667816" y="106172"/>
                  </a:lnTo>
                  <a:lnTo>
                    <a:pt x="667931" y="54229"/>
                  </a:lnTo>
                  <a:lnTo>
                    <a:pt x="697230" y="104648"/>
                  </a:lnTo>
                  <a:lnTo>
                    <a:pt x="703059" y="106172"/>
                  </a:lnTo>
                  <a:lnTo>
                    <a:pt x="707517" y="103505"/>
                  </a:lnTo>
                  <a:lnTo>
                    <a:pt x="712089" y="100838"/>
                  </a:lnTo>
                  <a:lnTo>
                    <a:pt x="713613" y="94996"/>
                  </a:lnTo>
                  <a:close/>
                </a:path>
                <a:path w="6207125" h="1530350">
                  <a:moveTo>
                    <a:pt x="1325880" y="94996"/>
                  </a:moveTo>
                  <a:lnTo>
                    <a:pt x="1281633" y="18923"/>
                  </a:lnTo>
                  <a:lnTo>
                    <a:pt x="1270635" y="0"/>
                  </a:lnTo>
                  <a:lnTo>
                    <a:pt x="1215136" y="94869"/>
                  </a:lnTo>
                  <a:lnTo>
                    <a:pt x="1216685" y="100838"/>
                  </a:lnTo>
                  <a:lnTo>
                    <a:pt x="1216875" y="100838"/>
                  </a:lnTo>
                  <a:lnTo>
                    <a:pt x="1221232" y="103251"/>
                  </a:lnTo>
                  <a:lnTo>
                    <a:pt x="1225791" y="105918"/>
                  </a:lnTo>
                  <a:lnTo>
                    <a:pt x="1231646" y="104394"/>
                  </a:lnTo>
                  <a:lnTo>
                    <a:pt x="1234313" y="99949"/>
                  </a:lnTo>
                  <a:lnTo>
                    <a:pt x="1261046" y="54241"/>
                  </a:lnTo>
                  <a:lnTo>
                    <a:pt x="1259967" y="762127"/>
                  </a:lnTo>
                  <a:lnTo>
                    <a:pt x="1279017" y="762127"/>
                  </a:lnTo>
                  <a:lnTo>
                    <a:pt x="1280020" y="106045"/>
                  </a:lnTo>
                  <a:lnTo>
                    <a:pt x="1280096" y="54241"/>
                  </a:lnTo>
                  <a:lnTo>
                    <a:pt x="1309293" y="104394"/>
                  </a:lnTo>
                  <a:lnTo>
                    <a:pt x="1309370" y="104521"/>
                  </a:lnTo>
                  <a:lnTo>
                    <a:pt x="1315212" y="106045"/>
                  </a:lnTo>
                  <a:lnTo>
                    <a:pt x="1319784" y="103505"/>
                  </a:lnTo>
                  <a:lnTo>
                    <a:pt x="1324229" y="100838"/>
                  </a:lnTo>
                  <a:lnTo>
                    <a:pt x="1325880" y="94996"/>
                  </a:lnTo>
                  <a:close/>
                </a:path>
                <a:path w="6207125" h="1530350">
                  <a:moveTo>
                    <a:pt x="1928876" y="94996"/>
                  </a:moveTo>
                  <a:lnTo>
                    <a:pt x="1884629" y="18923"/>
                  </a:lnTo>
                  <a:lnTo>
                    <a:pt x="1873631" y="0"/>
                  </a:lnTo>
                  <a:lnTo>
                    <a:pt x="1818132" y="94869"/>
                  </a:lnTo>
                  <a:lnTo>
                    <a:pt x="1819681" y="100838"/>
                  </a:lnTo>
                  <a:lnTo>
                    <a:pt x="1819871" y="100838"/>
                  </a:lnTo>
                  <a:lnTo>
                    <a:pt x="1828800" y="106045"/>
                  </a:lnTo>
                  <a:lnTo>
                    <a:pt x="1834642" y="104521"/>
                  </a:lnTo>
                  <a:lnTo>
                    <a:pt x="1863953" y="54267"/>
                  </a:lnTo>
                  <a:lnTo>
                    <a:pt x="1864067" y="54063"/>
                  </a:lnTo>
                  <a:lnTo>
                    <a:pt x="1863471" y="762127"/>
                  </a:lnTo>
                  <a:lnTo>
                    <a:pt x="1882521" y="762127"/>
                  </a:lnTo>
                  <a:lnTo>
                    <a:pt x="1883079" y="106045"/>
                  </a:lnTo>
                  <a:lnTo>
                    <a:pt x="1883117" y="54063"/>
                  </a:lnTo>
                  <a:lnTo>
                    <a:pt x="1883003" y="53873"/>
                  </a:lnTo>
                  <a:lnTo>
                    <a:pt x="1883130" y="37820"/>
                  </a:lnTo>
                  <a:lnTo>
                    <a:pt x="1883117" y="54063"/>
                  </a:lnTo>
                  <a:lnTo>
                    <a:pt x="1883117" y="54267"/>
                  </a:lnTo>
                  <a:lnTo>
                    <a:pt x="1912366" y="104521"/>
                  </a:lnTo>
                  <a:lnTo>
                    <a:pt x="1918208" y="106045"/>
                  </a:lnTo>
                  <a:lnTo>
                    <a:pt x="1922780" y="103378"/>
                  </a:lnTo>
                  <a:lnTo>
                    <a:pt x="1927352" y="100838"/>
                  </a:lnTo>
                  <a:lnTo>
                    <a:pt x="1928876" y="94996"/>
                  </a:lnTo>
                  <a:close/>
                </a:path>
                <a:path w="6207125" h="1530350">
                  <a:moveTo>
                    <a:pt x="6207125" y="1511427"/>
                  </a:moveTo>
                  <a:lnTo>
                    <a:pt x="6206629" y="1511363"/>
                  </a:lnTo>
                  <a:lnTo>
                    <a:pt x="6206744" y="1510411"/>
                  </a:lnTo>
                  <a:lnTo>
                    <a:pt x="6198959" y="1509560"/>
                  </a:lnTo>
                  <a:lnTo>
                    <a:pt x="6184455" y="1507794"/>
                  </a:lnTo>
                  <a:lnTo>
                    <a:pt x="1982787" y="813346"/>
                  </a:lnTo>
                  <a:lnTo>
                    <a:pt x="1997875" y="807593"/>
                  </a:lnTo>
                  <a:lnTo>
                    <a:pt x="2037207" y="792607"/>
                  </a:lnTo>
                  <a:lnTo>
                    <a:pt x="2039620" y="787019"/>
                  </a:lnTo>
                  <a:lnTo>
                    <a:pt x="2037842" y="782193"/>
                  </a:lnTo>
                  <a:lnTo>
                    <a:pt x="2035937" y="777240"/>
                  </a:lnTo>
                  <a:lnTo>
                    <a:pt x="2030476" y="774827"/>
                  </a:lnTo>
                  <a:lnTo>
                    <a:pt x="2025523" y="776605"/>
                  </a:lnTo>
                  <a:lnTo>
                    <a:pt x="1927860" y="813943"/>
                  </a:lnTo>
                  <a:lnTo>
                    <a:pt x="2008378" y="880618"/>
                  </a:lnTo>
                  <a:lnTo>
                    <a:pt x="2012315" y="883920"/>
                  </a:lnTo>
                  <a:lnTo>
                    <a:pt x="2018411" y="883412"/>
                  </a:lnTo>
                  <a:lnTo>
                    <a:pt x="2021713" y="879348"/>
                  </a:lnTo>
                  <a:lnTo>
                    <a:pt x="2025142" y="875284"/>
                  </a:lnTo>
                  <a:lnTo>
                    <a:pt x="2024507" y="869315"/>
                  </a:lnTo>
                  <a:lnTo>
                    <a:pt x="2020443" y="865886"/>
                  </a:lnTo>
                  <a:lnTo>
                    <a:pt x="1979650" y="832129"/>
                  </a:lnTo>
                  <a:lnTo>
                    <a:pt x="5258028" y="1373987"/>
                  </a:lnTo>
                  <a:lnTo>
                    <a:pt x="1379220" y="812279"/>
                  </a:lnTo>
                  <a:lnTo>
                    <a:pt x="1391704" y="807212"/>
                  </a:lnTo>
                  <a:lnTo>
                    <a:pt x="1428369" y="792353"/>
                  </a:lnTo>
                  <a:lnTo>
                    <a:pt x="1433195" y="790460"/>
                  </a:lnTo>
                  <a:lnTo>
                    <a:pt x="1435608" y="784872"/>
                  </a:lnTo>
                  <a:lnTo>
                    <a:pt x="1433576" y="779907"/>
                  </a:lnTo>
                  <a:lnTo>
                    <a:pt x="1431671" y="775081"/>
                  </a:lnTo>
                  <a:lnTo>
                    <a:pt x="1426083" y="772795"/>
                  </a:lnTo>
                  <a:lnTo>
                    <a:pt x="1421257" y="774700"/>
                  </a:lnTo>
                  <a:lnTo>
                    <a:pt x="1324356" y="813943"/>
                  </a:lnTo>
                  <a:lnTo>
                    <a:pt x="1406144" y="878967"/>
                  </a:lnTo>
                  <a:lnTo>
                    <a:pt x="1410208" y="882269"/>
                  </a:lnTo>
                  <a:lnTo>
                    <a:pt x="1416304" y="881507"/>
                  </a:lnTo>
                  <a:lnTo>
                    <a:pt x="1419479" y="877443"/>
                  </a:lnTo>
                  <a:lnTo>
                    <a:pt x="1422781" y="873379"/>
                  </a:lnTo>
                  <a:lnTo>
                    <a:pt x="1422146" y="867283"/>
                  </a:lnTo>
                  <a:lnTo>
                    <a:pt x="1417955" y="864108"/>
                  </a:lnTo>
                  <a:lnTo>
                    <a:pt x="1376540" y="831088"/>
                  </a:lnTo>
                  <a:lnTo>
                    <a:pt x="5335270" y="1404493"/>
                  </a:lnTo>
                  <a:lnTo>
                    <a:pt x="4602886" y="1315402"/>
                  </a:lnTo>
                  <a:lnTo>
                    <a:pt x="4602886" y="1334592"/>
                  </a:lnTo>
                  <a:lnTo>
                    <a:pt x="790829" y="916698"/>
                  </a:lnTo>
                  <a:lnTo>
                    <a:pt x="795909" y="916051"/>
                  </a:lnTo>
                  <a:lnTo>
                    <a:pt x="799211" y="911860"/>
                  </a:lnTo>
                  <a:lnTo>
                    <a:pt x="802386" y="907669"/>
                  </a:lnTo>
                  <a:lnTo>
                    <a:pt x="801497" y="901700"/>
                  </a:lnTo>
                  <a:lnTo>
                    <a:pt x="755116" y="866482"/>
                  </a:lnTo>
                  <a:lnTo>
                    <a:pt x="4602886" y="1334592"/>
                  </a:lnTo>
                  <a:lnTo>
                    <a:pt x="4602886" y="1315402"/>
                  </a:lnTo>
                  <a:lnTo>
                    <a:pt x="757516" y="847572"/>
                  </a:lnTo>
                  <a:lnTo>
                    <a:pt x="767461" y="843280"/>
                  </a:lnTo>
                  <a:lnTo>
                    <a:pt x="806069" y="826643"/>
                  </a:lnTo>
                  <a:lnTo>
                    <a:pt x="810895" y="824496"/>
                  </a:lnTo>
                  <a:lnTo>
                    <a:pt x="813181" y="818908"/>
                  </a:lnTo>
                  <a:lnTo>
                    <a:pt x="811022" y="814070"/>
                  </a:lnTo>
                  <a:lnTo>
                    <a:pt x="808990" y="809244"/>
                  </a:lnTo>
                  <a:lnTo>
                    <a:pt x="803402" y="806970"/>
                  </a:lnTo>
                  <a:lnTo>
                    <a:pt x="798271" y="809244"/>
                  </a:lnTo>
                  <a:lnTo>
                    <a:pt x="702564" y="850519"/>
                  </a:lnTo>
                  <a:lnTo>
                    <a:pt x="789609" y="916571"/>
                  </a:lnTo>
                  <a:lnTo>
                    <a:pt x="153898" y="846874"/>
                  </a:lnTo>
                  <a:lnTo>
                    <a:pt x="162560" y="843026"/>
                  </a:lnTo>
                  <a:lnTo>
                    <a:pt x="207137" y="823214"/>
                  </a:lnTo>
                  <a:lnTo>
                    <a:pt x="209296" y="817626"/>
                  </a:lnTo>
                  <a:lnTo>
                    <a:pt x="204978" y="807974"/>
                  </a:lnTo>
                  <a:lnTo>
                    <a:pt x="199390" y="805815"/>
                  </a:lnTo>
                  <a:lnTo>
                    <a:pt x="99060" y="850519"/>
                  </a:lnTo>
                  <a:lnTo>
                    <a:pt x="187325" y="915797"/>
                  </a:lnTo>
                  <a:lnTo>
                    <a:pt x="193294" y="914908"/>
                  </a:lnTo>
                  <a:lnTo>
                    <a:pt x="196342" y="910717"/>
                  </a:lnTo>
                  <a:lnTo>
                    <a:pt x="199517" y="906526"/>
                  </a:lnTo>
                  <a:lnTo>
                    <a:pt x="198628" y="900557"/>
                  </a:lnTo>
                  <a:lnTo>
                    <a:pt x="194437" y="897382"/>
                  </a:lnTo>
                  <a:lnTo>
                    <a:pt x="151638" y="865771"/>
                  </a:lnTo>
                  <a:lnTo>
                    <a:pt x="6174270" y="1526019"/>
                  </a:lnTo>
                  <a:lnTo>
                    <a:pt x="6202324" y="1530070"/>
                  </a:lnTo>
                  <a:lnTo>
                    <a:pt x="6203315" y="1530223"/>
                  </a:lnTo>
                  <a:lnTo>
                    <a:pt x="6204331" y="1530350"/>
                  </a:lnTo>
                  <a:lnTo>
                    <a:pt x="6204470" y="1529334"/>
                  </a:lnTo>
                  <a:lnTo>
                    <a:pt x="6204928" y="1526235"/>
                  </a:lnTo>
                  <a:lnTo>
                    <a:pt x="6207125" y="151142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0642" y="1170051"/>
              <a:ext cx="128778" cy="12877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0642" y="1343787"/>
              <a:ext cx="128778" cy="12877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0642" y="1508379"/>
              <a:ext cx="128778" cy="1287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0642" y="1672971"/>
              <a:ext cx="128778" cy="1379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47872" y="1106424"/>
              <a:ext cx="265430" cy="777240"/>
            </a:xfrm>
            <a:custGeom>
              <a:avLst/>
              <a:gdLst/>
              <a:ahLst/>
              <a:cxnLst/>
              <a:rect l="l" t="t" r="r" b="b"/>
              <a:pathLst>
                <a:path w="265429" h="777239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3"/>
                  </a:lnTo>
                  <a:lnTo>
                    <a:pt x="261699" y="27003"/>
                  </a:lnTo>
                  <a:lnTo>
                    <a:pt x="265175" y="44196"/>
                  </a:lnTo>
                  <a:lnTo>
                    <a:pt x="265175" y="733043"/>
                  </a:lnTo>
                  <a:lnTo>
                    <a:pt x="261699" y="750236"/>
                  </a:lnTo>
                  <a:lnTo>
                    <a:pt x="252222" y="764285"/>
                  </a:lnTo>
                  <a:lnTo>
                    <a:pt x="238172" y="773763"/>
                  </a:lnTo>
                  <a:lnTo>
                    <a:pt x="220979" y="777239"/>
                  </a:lnTo>
                  <a:lnTo>
                    <a:pt x="44195" y="777239"/>
                  </a:lnTo>
                  <a:lnTo>
                    <a:pt x="27003" y="773763"/>
                  </a:lnTo>
                  <a:lnTo>
                    <a:pt x="12953" y="764286"/>
                  </a:lnTo>
                  <a:lnTo>
                    <a:pt x="3476" y="750236"/>
                  </a:lnTo>
                  <a:lnTo>
                    <a:pt x="0" y="733043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3" y="12954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220979" y="0"/>
                  </a:lnTo>
                  <a:close/>
                </a:path>
              </a:pathLst>
            </a:custGeom>
            <a:ln w="19049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68068" y="4291744"/>
            <a:ext cx="528955" cy="791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05455" y="6098984"/>
            <a:ext cx="2432685" cy="265430"/>
          </a:xfrm>
          <a:custGeom>
            <a:avLst/>
            <a:gdLst/>
            <a:ahLst/>
            <a:cxnLst/>
            <a:rect l="l" t="t" r="r" b="b"/>
            <a:pathLst>
              <a:path w="2432685" h="265429">
                <a:moveTo>
                  <a:pt x="2432304" y="0"/>
                </a:moveTo>
                <a:lnTo>
                  <a:pt x="2424146" y="51610"/>
                </a:lnTo>
                <a:lnTo>
                  <a:pt x="2401903" y="93754"/>
                </a:lnTo>
                <a:lnTo>
                  <a:pt x="2368921" y="122168"/>
                </a:lnTo>
                <a:lnTo>
                  <a:pt x="2328545" y="132587"/>
                </a:lnTo>
                <a:lnTo>
                  <a:pt x="1319910" y="132587"/>
                </a:lnTo>
                <a:lnTo>
                  <a:pt x="1279534" y="143007"/>
                </a:lnTo>
                <a:lnTo>
                  <a:pt x="1246552" y="171421"/>
                </a:lnTo>
                <a:lnTo>
                  <a:pt x="1224309" y="213565"/>
                </a:lnTo>
                <a:lnTo>
                  <a:pt x="1216152" y="265175"/>
                </a:lnTo>
                <a:lnTo>
                  <a:pt x="1207994" y="213565"/>
                </a:lnTo>
                <a:lnTo>
                  <a:pt x="1185751" y="171421"/>
                </a:lnTo>
                <a:lnTo>
                  <a:pt x="1152769" y="143007"/>
                </a:lnTo>
                <a:lnTo>
                  <a:pt x="1112393" y="132587"/>
                </a:lnTo>
                <a:lnTo>
                  <a:pt x="103758" y="132587"/>
                </a:lnTo>
                <a:lnTo>
                  <a:pt x="63382" y="122168"/>
                </a:lnTo>
                <a:lnTo>
                  <a:pt x="30400" y="93754"/>
                </a:lnTo>
                <a:lnTo>
                  <a:pt x="8157" y="51610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39695" y="4306823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5" h="777239">
                <a:moveTo>
                  <a:pt x="192024" y="777239"/>
                </a:moveTo>
                <a:lnTo>
                  <a:pt x="154626" y="771332"/>
                </a:lnTo>
                <a:lnTo>
                  <a:pt x="124110" y="755221"/>
                </a:lnTo>
                <a:lnTo>
                  <a:pt x="103548" y="731323"/>
                </a:lnTo>
                <a:lnTo>
                  <a:pt x="96012" y="702056"/>
                </a:lnTo>
                <a:lnTo>
                  <a:pt x="96012" y="463676"/>
                </a:lnTo>
                <a:lnTo>
                  <a:pt x="88475" y="434482"/>
                </a:lnTo>
                <a:lnTo>
                  <a:pt x="67913" y="410622"/>
                </a:lnTo>
                <a:lnTo>
                  <a:pt x="37397" y="394525"/>
                </a:lnTo>
                <a:lnTo>
                  <a:pt x="0" y="388619"/>
                </a:lnTo>
                <a:lnTo>
                  <a:pt x="37397" y="382712"/>
                </a:lnTo>
                <a:lnTo>
                  <a:pt x="67913" y="366601"/>
                </a:lnTo>
                <a:lnTo>
                  <a:pt x="88475" y="342703"/>
                </a:lnTo>
                <a:lnTo>
                  <a:pt x="96012" y="313436"/>
                </a:lnTo>
                <a:lnTo>
                  <a:pt x="96012" y="75056"/>
                </a:lnTo>
                <a:lnTo>
                  <a:pt x="103548" y="45862"/>
                </a:lnTo>
                <a:lnTo>
                  <a:pt x="124110" y="22002"/>
                </a:lnTo>
                <a:lnTo>
                  <a:pt x="154626" y="5905"/>
                </a:lnTo>
                <a:lnTo>
                  <a:pt x="192024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391658" y="5725007"/>
            <a:ext cx="109347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85190" algn="l"/>
              </a:tabLst>
            </a:pPr>
            <a:r>
              <a:rPr sz="1550" i="1" spc="-10" dirty="0">
                <a:latin typeface="Calibri"/>
                <a:cs typeface="Calibri"/>
              </a:rPr>
              <a:t>&lt;START&gt;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25" dirty="0">
                <a:latin typeface="Calibri"/>
                <a:cs typeface="Calibri"/>
              </a:rPr>
              <a:t>he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6322" y="5733516"/>
            <a:ext cx="1168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il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5380" y="5733516"/>
            <a:ext cx="12953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95616" y="5733516"/>
            <a:ext cx="11112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99109" algn="l"/>
              </a:tabLst>
            </a:pPr>
            <a:r>
              <a:rPr sz="1550" i="1" spc="-25" dirty="0">
                <a:latin typeface="Calibri"/>
                <a:cs typeface="Calibri"/>
              </a:rPr>
              <a:t>m’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10" dirty="0">
                <a:latin typeface="Calibri"/>
                <a:cs typeface="Calibri"/>
              </a:rPr>
              <a:t>entarté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88012" y="4079113"/>
            <a:ext cx="254635" cy="12788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Decoder</a:t>
            </a:r>
            <a:r>
              <a:rPr sz="18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131552" y="4325111"/>
            <a:ext cx="192405" cy="777240"/>
          </a:xfrm>
          <a:custGeom>
            <a:avLst/>
            <a:gdLst/>
            <a:ahLst/>
            <a:cxnLst/>
            <a:rect l="l" t="t" r="r" b="b"/>
            <a:pathLst>
              <a:path w="192404" h="777239">
                <a:moveTo>
                  <a:pt x="0" y="0"/>
                </a:moveTo>
                <a:lnTo>
                  <a:pt x="37397" y="5905"/>
                </a:lnTo>
                <a:lnTo>
                  <a:pt x="67913" y="22002"/>
                </a:lnTo>
                <a:lnTo>
                  <a:pt x="88475" y="45862"/>
                </a:lnTo>
                <a:lnTo>
                  <a:pt x="96012" y="75056"/>
                </a:lnTo>
                <a:lnTo>
                  <a:pt x="96012" y="313436"/>
                </a:lnTo>
                <a:lnTo>
                  <a:pt x="103548" y="342703"/>
                </a:lnTo>
                <a:lnTo>
                  <a:pt x="124110" y="366601"/>
                </a:lnTo>
                <a:lnTo>
                  <a:pt x="154626" y="382712"/>
                </a:lnTo>
                <a:lnTo>
                  <a:pt x="192024" y="388619"/>
                </a:lnTo>
                <a:lnTo>
                  <a:pt x="154626" y="394507"/>
                </a:lnTo>
                <a:lnTo>
                  <a:pt x="124110" y="410575"/>
                </a:lnTo>
                <a:lnTo>
                  <a:pt x="103548" y="434429"/>
                </a:lnTo>
                <a:lnTo>
                  <a:pt x="96012" y="463676"/>
                </a:lnTo>
                <a:lnTo>
                  <a:pt x="96012" y="702056"/>
                </a:lnTo>
                <a:lnTo>
                  <a:pt x="88475" y="731323"/>
                </a:lnTo>
                <a:lnTo>
                  <a:pt x="67913" y="755221"/>
                </a:lnTo>
                <a:lnTo>
                  <a:pt x="37397" y="771332"/>
                </a:lnTo>
                <a:lnTo>
                  <a:pt x="0" y="777239"/>
                </a:lnTo>
              </a:path>
            </a:pathLst>
          </a:custGeom>
          <a:ln w="1905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68068" y="3167062"/>
            <a:ext cx="528955" cy="90614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39695" y="3273552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298"/>
                </a:lnTo>
                <a:lnTo>
                  <a:pt x="118205" y="609933"/>
                </a:lnTo>
                <a:lnTo>
                  <a:pt x="98619" y="587162"/>
                </a:lnTo>
                <a:lnTo>
                  <a:pt x="91440" y="559308"/>
                </a:lnTo>
                <a:lnTo>
                  <a:pt x="91440" y="386969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8"/>
                </a:lnTo>
                <a:lnTo>
                  <a:pt x="35611" y="309830"/>
                </a:lnTo>
                <a:lnTo>
                  <a:pt x="64674" y="294465"/>
                </a:lnTo>
                <a:lnTo>
                  <a:pt x="84260" y="271694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68068" y="1906613"/>
            <a:ext cx="528955" cy="1105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4300">
              <a:lnSpc>
                <a:spcPts val="181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48839" y="2139695"/>
            <a:ext cx="182880" cy="631190"/>
          </a:xfrm>
          <a:custGeom>
            <a:avLst/>
            <a:gdLst/>
            <a:ahLst/>
            <a:cxnLst/>
            <a:rect l="l" t="t" r="r" b="b"/>
            <a:pathLst>
              <a:path w="182880" h="631189">
                <a:moveTo>
                  <a:pt x="182880" y="630936"/>
                </a:moveTo>
                <a:lnTo>
                  <a:pt x="147268" y="625316"/>
                </a:lnTo>
                <a:lnTo>
                  <a:pt x="118205" y="609980"/>
                </a:lnTo>
                <a:lnTo>
                  <a:pt x="98619" y="587216"/>
                </a:lnTo>
                <a:lnTo>
                  <a:pt x="91440" y="559307"/>
                </a:lnTo>
                <a:lnTo>
                  <a:pt x="91440" y="386968"/>
                </a:lnTo>
                <a:lnTo>
                  <a:pt x="84260" y="359134"/>
                </a:lnTo>
                <a:lnTo>
                  <a:pt x="64674" y="336407"/>
                </a:lnTo>
                <a:lnTo>
                  <a:pt x="35611" y="321085"/>
                </a:lnTo>
                <a:lnTo>
                  <a:pt x="0" y="315467"/>
                </a:lnTo>
                <a:lnTo>
                  <a:pt x="35611" y="309848"/>
                </a:lnTo>
                <a:lnTo>
                  <a:pt x="64674" y="294513"/>
                </a:lnTo>
                <a:lnTo>
                  <a:pt x="84260" y="271748"/>
                </a:lnTo>
                <a:lnTo>
                  <a:pt x="91440" y="243839"/>
                </a:lnTo>
                <a:lnTo>
                  <a:pt x="91440" y="71500"/>
                </a:lnTo>
                <a:lnTo>
                  <a:pt x="98619" y="43666"/>
                </a:lnTo>
                <a:lnTo>
                  <a:pt x="118205" y="20939"/>
                </a:lnTo>
                <a:lnTo>
                  <a:pt x="147268" y="5617"/>
                </a:lnTo>
                <a:lnTo>
                  <a:pt x="182880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906646" y="1171638"/>
            <a:ext cx="90614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3986FF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05455" y="1782698"/>
            <a:ext cx="6438265" cy="3902075"/>
            <a:chOff x="2505455" y="1782698"/>
            <a:chExt cx="6438265" cy="3902075"/>
          </a:xfrm>
        </p:grpSpPr>
        <p:sp>
          <p:nvSpPr>
            <p:cNvPr id="34" name="object 34"/>
            <p:cNvSpPr/>
            <p:nvPr/>
          </p:nvSpPr>
          <p:spPr>
            <a:xfrm>
              <a:off x="3821683" y="1782698"/>
              <a:ext cx="4749165" cy="337185"/>
            </a:xfrm>
            <a:custGeom>
              <a:avLst/>
              <a:gdLst/>
              <a:ahLst/>
              <a:cxnLst/>
              <a:rect l="l" t="t" r="r" b="b"/>
              <a:pathLst>
                <a:path w="4749165" h="337185">
                  <a:moveTo>
                    <a:pt x="4693943" y="293332"/>
                  </a:moveTo>
                  <a:lnTo>
                    <a:pt x="4642104" y="319659"/>
                  </a:lnTo>
                  <a:lnTo>
                    <a:pt x="4640198" y="325374"/>
                  </a:lnTo>
                  <a:lnTo>
                    <a:pt x="4645024" y="334772"/>
                  </a:lnTo>
                  <a:lnTo>
                    <a:pt x="4650740" y="336676"/>
                  </a:lnTo>
                  <a:lnTo>
                    <a:pt x="4732118" y="295401"/>
                  </a:lnTo>
                  <a:lnTo>
                    <a:pt x="4729352" y="295401"/>
                  </a:lnTo>
                  <a:lnTo>
                    <a:pt x="4693943" y="293332"/>
                  </a:lnTo>
                  <a:close/>
                </a:path>
                <a:path w="4749165" h="337185">
                  <a:moveTo>
                    <a:pt x="4710915" y="284723"/>
                  </a:moveTo>
                  <a:lnTo>
                    <a:pt x="4693943" y="293332"/>
                  </a:lnTo>
                  <a:lnTo>
                    <a:pt x="4729352" y="295401"/>
                  </a:lnTo>
                  <a:lnTo>
                    <a:pt x="4729452" y="293750"/>
                  </a:lnTo>
                  <a:lnTo>
                    <a:pt x="4724526" y="293750"/>
                  </a:lnTo>
                  <a:lnTo>
                    <a:pt x="4710915" y="284723"/>
                  </a:lnTo>
                  <a:close/>
                </a:path>
                <a:path w="4749165" h="337185">
                  <a:moveTo>
                    <a:pt x="4657217" y="226187"/>
                  </a:moveTo>
                  <a:lnTo>
                    <a:pt x="4651247" y="227329"/>
                  </a:lnTo>
                  <a:lnTo>
                    <a:pt x="4648326" y="231775"/>
                  </a:lnTo>
                  <a:lnTo>
                    <a:pt x="4645406" y="236092"/>
                  </a:lnTo>
                  <a:lnTo>
                    <a:pt x="4646675" y="242062"/>
                  </a:lnTo>
                  <a:lnTo>
                    <a:pt x="4650994" y="244983"/>
                  </a:lnTo>
                  <a:lnTo>
                    <a:pt x="4695181" y="274288"/>
                  </a:lnTo>
                  <a:lnTo>
                    <a:pt x="4730495" y="276351"/>
                  </a:lnTo>
                  <a:lnTo>
                    <a:pt x="4729477" y="293332"/>
                  </a:lnTo>
                  <a:lnTo>
                    <a:pt x="4729352" y="295401"/>
                  </a:lnTo>
                  <a:lnTo>
                    <a:pt x="4732118" y="295401"/>
                  </a:lnTo>
                  <a:lnTo>
                    <a:pt x="4748657" y="287020"/>
                  </a:lnTo>
                  <a:lnTo>
                    <a:pt x="4661535" y="229108"/>
                  </a:lnTo>
                  <a:lnTo>
                    <a:pt x="4657217" y="226187"/>
                  </a:lnTo>
                  <a:close/>
                </a:path>
                <a:path w="4749165" h="337185">
                  <a:moveTo>
                    <a:pt x="4725416" y="277367"/>
                  </a:moveTo>
                  <a:lnTo>
                    <a:pt x="4710915" y="284723"/>
                  </a:lnTo>
                  <a:lnTo>
                    <a:pt x="4724526" y="293750"/>
                  </a:lnTo>
                  <a:lnTo>
                    <a:pt x="4725416" y="277367"/>
                  </a:lnTo>
                  <a:close/>
                </a:path>
                <a:path w="4749165" h="337185">
                  <a:moveTo>
                    <a:pt x="4730435" y="277367"/>
                  </a:moveTo>
                  <a:lnTo>
                    <a:pt x="4725416" y="277367"/>
                  </a:lnTo>
                  <a:lnTo>
                    <a:pt x="4724549" y="293332"/>
                  </a:lnTo>
                  <a:lnTo>
                    <a:pt x="4724526" y="293750"/>
                  </a:lnTo>
                  <a:lnTo>
                    <a:pt x="4729452" y="293750"/>
                  </a:lnTo>
                  <a:lnTo>
                    <a:pt x="4730435" y="277367"/>
                  </a:lnTo>
                  <a:close/>
                </a:path>
                <a:path w="4749165" h="337185">
                  <a:moveTo>
                    <a:pt x="1015" y="0"/>
                  </a:moveTo>
                  <a:lnTo>
                    <a:pt x="0" y="19050"/>
                  </a:lnTo>
                  <a:lnTo>
                    <a:pt x="4693943" y="293332"/>
                  </a:lnTo>
                  <a:lnTo>
                    <a:pt x="4710915" y="284723"/>
                  </a:lnTo>
                  <a:lnTo>
                    <a:pt x="4695181" y="274288"/>
                  </a:lnTo>
                  <a:lnTo>
                    <a:pt x="1015" y="0"/>
                  </a:lnTo>
                  <a:close/>
                </a:path>
                <a:path w="4749165" h="337185">
                  <a:moveTo>
                    <a:pt x="4695181" y="274288"/>
                  </a:moveTo>
                  <a:lnTo>
                    <a:pt x="4710915" y="284723"/>
                  </a:lnTo>
                  <a:lnTo>
                    <a:pt x="4725416" y="277367"/>
                  </a:lnTo>
                  <a:lnTo>
                    <a:pt x="4730435" y="277367"/>
                  </a:lnTo>
                  <a:lnTo>
                    <a:pt x="4730495" y="276351"/>
                  </a:lnTo>
                  <a:lnTo>
                    <a:pt x="4695181" y="27428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7539" y="4269866"/>
              <a:ext cx="2725674" cy="141460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741283" y="2231008"/>
              <a:ext cx="111125" cy="2046605"/>
            </a:xfrm>
            <a:custGeom>
              <a:avLst/>
              <a:gdLst/>
              <a:ahLst/>
              <a:cxnLst/>
              <a:rect l="l" t="t" r="r" b="b"/>
              <a:pathLst>
                <a:path w="111125" h="2046604">
                  <a:moveTo>
                    <a:pt x="55256" y="37881"/>
                  </a:moveTo>
                  <a:lnTo>
                    <a:pt x="45750" y="54199"/>
                  </a:lnTo>
                  <a:lnTo>
                    <a:pt x="47498" y="2046351"/>
                  </a:lnTo>
                  <a:lnTo>
                    <a:pt x="66548" y="2046351"/>
                  </a:lnTo>
                  <a:lnTo>
                    <a:pt x="64846" y="106044"/>
                  </a:lnTo>
                  <a:lnTo>
                    <a:pt x="64800" y="54199"/>
                  </a:lnTo>
                  <a:lnTo>
                    <a:pt x="55256" y="37881"/>
                  </a:lnTo>
                  <a:close/>
                </a:path>
                <a:path w="111125" h="2046604">
                  <a:moveTo>
                    <a:pt x="55245" y="0"/>
                  </a:moveTo>
                  <a:lnTo>
                    <a:pt x="0" y="94995"/>
                  </a:lnTo>
                  <a:lnTo>
                    <a:pt x="1524" y="100837"/>
                  </a:lnTo>
                  <a:lnTo>
                    <a:pt x="6096" y="103377"/>
                  </a:lnTo>
                  <a:lnTo>
                    <a:pt x="10668" y="106044"/>
                  </a:lnTo>
                  <a:lnTo>
                    <a:pt x="16510" y="104520"/>
                  </a:lnTo>
                  <a:lnTo>
                    <a:pt x="19050" y="99949"/>
                  </a:lnTo>
                  <a:lnTo>
                    <a:pt x="45736" y="54199"/>
                  </a:lnTo>
                  <a:lnTo>
                    <a:pt x="45720" y="18923"/>
                  </a:lnTo>
                  <a:lnTo>
                    <a:pt x="66289" y="18923"/>
                  </a:lnTo>
                  <a:lnTo>
                    <a:pt x="55245" y="0"/>
                  </a:lnTo>
                  <a:close/>
                </a:path>
                <a:path w="111125" h="2046604">
                  <a:moveTo>
                    <a:pt x="66289" y="18923"/>
                  </a:moveTo>
                  <a:lnTo>
                    <a:pt x="64770" y="18923"/>
                  </a:lnTo>
                  <a:lnTo>
                    <a:pt x="64800" y="54199"/>
                  </a:lnTo>
                  <a:lnTo>
                    <a:pt x="94234" y="104520"/>
                  </a:lnTo>
                  <a:lnTo>
                    <a:pt x="100075" y="106044"/>
                  </a:lnTo>
                  <a:lnTo>
                    <a:pt x="104648" y="103377"/>
                  </a:lnTo>
                  <a:lnTo>
                    <a:pt x="108881" y="100837"/>
                  </a:lnTo>
                  <a:lnTo>
                    <a:pt x="109059" y="100837"/>
                  </a:lnTo>
                  <a:lnTo>
                    <a:pt x="110583" y="94995"/>
                  </a:lnTo>
                  <a:lnTo>
                    <a:pt x="108022" y="90424"/>
                  </a:lnTo>
                  <a:lnTo>
                    <a:pt x="66289" y="18923"/>
                  </a:lnTo>
                  <a:close/>
                </a:path>
                <a:path w="111125" h="2046604">
                  <a:moveTo>
                    <a:pt x="64770" y="18923"/>
                  </a:moveTo>
                  <a:lnTo>
                    <a:pt x="45720" y="18923"/>
                  </a:lnTo>
                  <a:lnTo>
                    <a:pt x="45750" y="54199"/>
                  </a:lnTo>
                  <a:lnTo>
                    <a:pt x="55256" y="37881"/>
                  </a:lnTo>
                  <a:lnTo>
                    <a:pt x="46990" y="23749"/>
                  </a:lnTo>
                  <a:lnTo>
                    <a:pt x="64774" y="23749"/>
                  </a:lnTo>
                  <a:lnTo>
                    <a:pt x="64770" y="18923"/>
                  </a:lnTo>
                  <a:close/>
                </a:path>
                <a:path w="111125" h="2046604">
                  <a:moveTo>
                    <a:pt x="64774" y="23749"/>
                  </a:moveTo>
                  <a:lnTo>
                    <a:pt x="63500" y="23749"/>
                  </a:lnTo>
                  <a:lnTo>
                    <a:pt x="55256" y="37881"/>
                  </a:lnTo>
                  <a:lnTo>
                    <a:pt x="64800" y="54199"/>
                  </a:lnTo>
                  <a:lnTo>
                    <a:pt x="64774" y="23749"/>
                  </a:lnTo>
                  <a:close/>
                </a:path>
                <a:path w="111125" h="2046604">
                  <a:moveTo>
                    <a:pt x="63500" y="23749"/>
                  </a:moveTo>
                  <a:lnTo>
                    <a:pt x="46990" y="23749"/>
                  </a:lnTo>
                  <a:lnTo>
                    <a:pt x="55256" y="37881"/>
                  </a:lnTo>
                  <a:lnTo>
                    <a:pt x="63500" y="2374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05455" y="277063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87751" y="2715769"/>
              <a:ext cx="137160" cy="55244"/>
            </a:xfrm>
            <a:custGeom>
              <a:avLst/>
              <a:gdLst/>
              <a:ahLst/>
              <a:cxnLst/>
              <a:rect l="l" t="t" r="r" b="b"/>
              <a:pathLst>
                <a:path w="137160" h="55244">
                  <a:moveTo>
                    <a:pt x="137160" y="0"/>
                  </a:moveTo>
                  <a:lnTo>
                    <a:pt x="0" y="0"/>
                  </a:lnTo>
                  <a:lnTo>
                    <a:pt x="0" y="54862"/>
                  </a:lnTo>
                  <a:lnTo>
                    <a:pt x="137160" y="5486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87751" y="2715769"/>
              <a:ext cx="137160" cy="55244"/>
            </a:xfrm>
            <a:custGeom>
              <a:avLst/>
              <a:gdLst/>
              <a:ahLst/>
              <a:cxnLst/>
              <a:rect l="l" t="t" r="r" b="b"/>
              <a:pathLst>
                <a:path w="137160" h="55244">
                  <a:moveTo>
                    <a:pt x="0" y="54862"/>
                  </a:moveTo>
                  <a:lnTo>
                    <a:pt x="137160" y="54862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54862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91255" y="2715769"/>
              <a:ext cx="146685" cy="45720"/>
            </a:xfrm>
            <a:custGeom>
              <a:avLst/>
              <a:gdLst/>
              <a:ahLst/>
              <a:cxnLst/>
              <a:rect l="l" t="t" r="r" b="b"/>
              <a:pathLst>
                <a:path w="146685" h="45719">
                  <a:moveTo>
                    <a:pt x="14630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46304" y="45718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91255" y="2715769"/>
              <a:ext cx="146685" cy="45720"/>
            </a:xfrm>
            <a:custGeom>
              <a:avLst/>
              <a:gdLst/>
              <a:ahLst/>
              <a:cxnLst/>
              <a:rect l="l" t="t" r="r" b="b"/>
              <a:pathLst>
                <a:path w="146685" h="45719">
                  <a:moveTo>
                    <a:pt x="0" y="45718"/>
                  </a:moveTo>
                  <a:lnTo>
                    <a:pt x="146304" y="45718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794759" y="2715769"/>
              <a:ext cx="128270" cy="45720"/>
            </a:xfrm>
            <a:custGeom>
              <a:avLst/>
              <a:gdLst/>
              <a:ahLst/>
              <a:cxnLst/>
              <a:rect l="l" t="t" r="r" b="b"/>
              <a:pathLst>
                <a:path w="128270" h="45719">
                  <a:moveTo>
                    <a:pt x="128015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8015" y="45718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94759" y="2715769"/>
              <a:ext cx="128270" cy="45720"/>
            </a:xfrm>
            <a:custGeom>
              <a:avLst/>
              <a:gdLst/>
              <a:ahLst/>
              <a:cxnLst/>
              <a:rect l="l" t="t" r="r" b="b"/>
              <a:pathLst>
                <a:path w="128270" h="45719">
                  <a:moveTo>
                    <a:pt x="0" y="45718"/>
                  </a:moveTo>
                  <a:lnTo>
                    <a:pt x="128015" y="45718"/>
                  </a:lnTo>
                  <a:lnTo>
                    <a:pt x="128015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98263" y="2084844"/>
              <a:ext cx="128270" cy="676910"/>
            </a:xfrm>
            <a:custGeom>
              <a:avLst/>
              <a:gdLst/>
              <a:ahLst/>
              <a:cxnLst/>
              <a:rect l="l" t="t" r="r" b="b"/>
              <a:pathLst>
                <a:path w="128270" h="676910">
                  <a:moveTo>
                    <a:pt x="128015" y="0"/>
                  </a:moveTo>
                  <a:lnTo>
                    <a:pt x="0" y="0"/>
                  </a:lnTo>
                  <a:lnTo>
                    <a:pt x="0" y="676643"/>
                  </a:lnTo>
                  <a:lnTo>
                    <a:pt x="128015" y="676643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98263" y="2084844"/>
              <a:ext cx="128270" cy="676910"/>
            </a:xfrm>
            <a:custGeom>
              <a:avLst/>
              <a:gdLst/>
              <a:ahLst/>
              <a:cxnLst/>
              <a:rect l="l" t="t" r="r" b="b"/>
              <a:pathLst>
                <a:path w="128270" h="676910">
                  <a:moveTo>
                    <a:pt x="0" y="676643"/>
                  </a:moveTo>
                  <a:lnTo>
                    <a:pt x="128015" y="676643"/>
                  </a:lnTo>
                  <a:lnTo>
                    <a:pt x="128015" y="0"/>
                  </a:lnTo>
                  <a:lnTo>
                    <a:pt x="0" y="0"/>
                  </a:lnTo>
                  <a:lnTo>
                    <a:pt x="0" y="676643"/>
                  </a:lnTo>
                  <a:close/>
                </a:path>
              </a:pathLst>
            </a:custGeom>
            <a:ln w="19050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54935" y="1853310"/>
              <a:ext cx="1814830" cy="866775"/>
            </a:xfrm>
            <a:custGeom>
              <a:avLst/>
              <a:gdLst/>
              <a:ahLst/>
              <a:cxnLst/>
              <a:rect l="l" t="t" r="r" b="b"/>
              <a:pathLst>
                <a:path w="1814829" h="866775">
                  <a:moveTo>
                    <a:pt x="26797" y="854456"/>
                  </a:moveTo>
                  <a:lnTo>
                    <a:pt x="14732" y="839724"/>
                  </a:lnTo>
                  <a:lnTo>
                    <a:pt x="0" y="851662"/>
                  </a:lnTo>
                  <a:lnTo>
                    <a:pt x="11938" y="866394"/>
                  </a:lnTo>
                  <a:lnTo>
                    <a:pt x="26797" y="854456"/>
                  </a:lnTo>
                  <a:close/>
                </a:path>
                <a:path w="1814829" h="866775">
                  <a:moveTo>
                    <a:pt x="56388" y="830453"/>
                  </a:moveTo>
                  <a:lnTo>
                    <a:pt x="44323" y="815721"/>
                  </a:lnTo>
                  <a:lnTo>
                    <a:pt x="29591" y="827659"/>
                  </a:lnTo>
                  <a:lnTo>
                    <a:pt x="41529" y="842518"/>
                  </a:lnTo>
                  <a:lnTo>
                    <a:pt x="56388" y="830453"/>
                  </a:lnTo>
                  <a:close/>
                </a:path>
                <a:path w="1814829" h="866775">
                  <a:moveTo>
                    <a:pt x="85979" y="806450"/>
                  </a:moveTo>
                  <a:lnTo>
                    <a:pt x="74041" y="791718"/>
                  </a:lnTo>
                  <a:lnTo>
                    <a:pt x="59182" y="803656"/>
                  </a:lnTo>
                  <a:lnTo>
                    <a:pt x="71120" y="818515"/>
                  </a:lnTo>
                  <a:lnTo>
                    <a:pt x="85979" y="806450"/>
                  </a:lnTo>
                  <a:close/>
                </a:path>
                <a:path w="1814829" h="866775">
                  <a:moveTo>
                    <a:pt x="115570" y="782574"/>
                  </a:moveTo>
                  <a:lnTo>
                    <a:pt x="103632" y="767715"/>
                  </a:lnTo>
                  <a:lnTo>
                    <a:pt x="88773" y="779653"/>
                  </a:lnTo>
                  <a:lnTo>
                    <a:pt x="100838" y="794512"/>
                  </a:lnTo>
                  <a:lnTo>
                    <a:pt x="115570" y="782574"/>
                  </a:lnTo>
                  <a:close/>
                </a:path>
                <a:path w="1814829" h="866775">
                  <a:moveTo>
                    <a:pt x="145161" y="758571"/>
                  </a:moveTo>
                  <a:lnTo>
                    <a:pt x="133223" y="743712"/>
                  </a:lnTo>
                  <a:lnTo>
                    <a:pt x="118364" y="755777"/>
                  </a:lnTo>
                  <a:lnTo>
                    <a:pt x="130429" y="770509"/>
                  </a:lnTo>
                  <a:lnTo>
                    <a:pt x="145161" y="758571"/>
                  </a:lnTo>
                  <a:close/>
                </a:path>
                <a:path w="1814829" h="866775">
                  <a:moveTo>
                    <a:pt x="174752" y="734568"/>
                  </a:moveTo>
                  <a:lnTo>
                    <a:pt x="162814" y="719709"/>
                  </a:lnTo>
                  <a:lnTo>
                    <a:pt x="147955" y="731774"/>
                  </a:lnTo>
                  <a:lnTo>
                    <a:pt x="160020" y="746506"/>
                  </a:lnTo>
                  <a:lnTo>
                    <a:pt x="174752" y="734568"/>
                  </a:lnTo>
                  <a:close/>
                </a:path>
                <a:path w="1814829" h="866775">
                  <a:moveTo>
                    <a:pt x="204470" y="710565"/>
                  </a:moveTo>
                  <a:lnTo>
                    <a:pt x="192405" y="695833"/>
                  </a:lnTo>
                  <a:lnTo>
                    <a:pt x="177673" y="707771"/>
                  </a:lnTo>
                  <a:lnTo>
                    <a:pt x="189611" y="722630"/>
                  </a:lnTo>
                  <a:lnTo>
                    <a:pt x="204470" y="710565"/>
                  </a:lnTo>
                  <a:close/>
                </a:path>
                <a:path w="1814829" h="866775">
                  <a:moveTo>
                    <a:pt x="234061" y="686562"/>
                  </a:moveTo>
                  <a:lnTo>
                    <a:pt x="221996" y="671830"/>
                  </a:lnTo>
                  <a:lnTo>
                    <a:pt x="207264" y="683768"/>
                  </a:lnTo>
                  <a:lnTo>
                    <a:pt x="219202" y="698627"/>
                  </a:lnTo>
                  <a:lnTo>
                    <a:pt x="234061" y="686562"/>
                  </a:lnTo>
                  <a:close/>
                </a:path>
                <a:path w="1814829" h="866775">
                  <a:moveTo>
                    <a:pt x="263652" y="662686"/>
                  </a:moveTo>
                  <a:lnTo>
                    <a:pt x="251587" y="647827"/>
                  </a:lnTo>
                  <a:lnTo>
                    <a:pt x="236855" y="659765"/>
                  </a:lnTo>
                  <a:lnTo>
                    <a:pt x="248793" y="674624"/>
                  </a:lnTo>
                  <a:lnTo>
                    <a:pt x="263652" y="662686"/>
                  </a:lnTo>
                  <a:close/>
                </a:path>
                <a:path w="1814829" h="866775">
                  <a:moveTo>
                    <a:pt x="293243" y="638683"/>
                  </a:moveTo>
                  <a:lnTo>
                    <a:pt x="281305" y="623824"/>
                  </a:lnTo>
                  <a:lnTo>
                    <a:pt x="266446" y="635889"/>
                  </a:lnTo>
                  <a:lnTo>
                    <a:pt x="278384" y="650621"/>
                  </a:lnTo>
                  <a:lnTo>
                    <a:pt x="293243" y="638683"/>
                  </a:lnTo>
                  <a:close/>
                </a:path>
                <a:path w="1814829" h="866775">
                  <a:moveTo>
                    <a:pt x="322834" y="614680"/>
                  </a:moveTo>
                  <a:lnTo>
                    <a:pt x="310896" y="599821"/>
                  </a:lnTo>
                  <a:lnTo>
                    <a:pt x="296037" y="611886"/>
                  </a:lnTo>
                  <a:lnTo>
                    <a:pt x="308102" y="626618"/>
                  </a:lnTo>
                  <a:lnTo>
                    <a:pt x="322834" y="614680"/>
                  </a:lnTo>
                  <a:close/>
                </a:path>
                <a:path w="1814829" h="866775">
                  <a:moveTo>
                    <a:pt x="352425" y="590677"/>
                  </a:moveTo>
                  <a:lnTo>
                    <a:pt x="340487" y="575945"/>
                  </a:lnTo>
                  <a:lnTo>
                    <a:pt x="325628" y="587883"/>
                  </a:lnTo>
                  <a:lnTo>
                    <a:pt x="337693" y="602742"/>
                  </a:lnTo>
                  <a:lnTo>
                    <a:pt x="352425" y="590677"/>
                  </a:lnTo>
                  <a:close/>
                </a:path>
                <a:path w="1814829" h="866775">
                  <a:moveTo>
                    <a:pt x="382016" y="566674"/>
                  </a:moveTo>
                  <a:lnTo>
                    <a:pt x="370078" y="551942"/>
                  </a:lnTo>
                  <a:lnTo>
                    <a:pt x="355219" y="563880"/>
                  </a:lnTo>
                  <a:lnTo>
                    <a:pt x="367284" y="578739"/>
                  </a:lnTo>
                  <a:lnTo>
                    <a:pt x="382016" y="566674"/>
                  </a:lnTo>
                  <a:close/>
                </a:path>
                <a:path w="1814829" h="866775">
                  <a:moveTo>
                    <a:pt x="411607" y="542798"/>
                  </a:moveTo>
                  <a:lnTo>
                    <a:pt x="399669" y="527939"/>
                  </a:lnTo>
                  <a:lnTo>
                    <a:pt x="384937" y="539877"/>
                  </a:lnTo>
                  <a:lnTo>
                    <a:pt x="396875" y="554736"/>
                  </a:lnTo>
                  <a:lnTo>
                    <a:pt x="411607" y="542798"/>
                  </a:lnTo>
                  <a:close/>
                </a:path>
                <a:path w="1814829" h="866775">
                  <a:moveTo>
                    <a:pt x="441325" y="518795"/>
                  </a:moveTo>
                  <a:lnTo>
                    <a:pt x="429260" y="503936"/>
                  </a:lnTo>
                  <a:lnTo>
                    <a:pt x="414528" y="516001"/>
                  </a:lnTo>
                  <a:lnTo>
                    <a:pt x="426466" y="530733"/>
                  </a:lnTo>
                  <a:lnTo>
                    <a:pt x="441325" y="518795"/>
                  </a:lnTo>
                  <a:close/>
                </a:path>
                <a:path w="1814829" h="866775">
                  <a:moveTo>
                    <a:pt x="470916" y="494792"/>
                  </a:moveTo>
                  <a:lnTo>
                    <a:pt x="458851" y="479933"/>
                  </a:lnTo>
                  <a:lnTo>
                    <a:pt x="444119" y="491998"/>
                  </a:lnTo>
                  <a:lnTo>
                    <a:pt x="456057" y="506730"/>
                  </a:lnTo>
                  <a:lnTo>
                    <a:pt x="470916" y="494792"/>
                  </a:lnTo>
                  <a:close/>
                </a:path>
                <a:path w="1814829" h="866775">
                  <a:moveTo>
                    <a:pt x="500507" y="470789"/>
                  </a:moveTo>
                  <a:lnTo>
                    <a:pt x="488442" y="456057"/>
                  </a:lnTo>
                  <a:lnTo>
                    <a:pt x="473710" y="467995"/>
                  </a:lnTo>
                  <a:lnTo>
                    <a:pt x="485648" y="482727"/>
                  </a:lnTo>
                  <a:lnTo>
                    <a:pt x="500507" y="470789"/>
                  </a:lnTo>
                  <a:close/>
                </a:path>
                <a:path w="1814829" h="866775">
                  <a:moveTo>
                    <a:pt x="530098" y="446786"/>
                  </a:moveTo>
                  <a:lnTo>
                    <a:pt x="518160" y="432054"/>
                  </a:lnTo>
                  <a:lnTo>
                    <a:pt x="503301" y="443992"/>
                  </a:lnTo>
                  <a:lnTo>
                    <a:pt x="515239" y="458851"/>
                  </a:lnTo>
                  <a:lnTo>
                    <a:pt x="530098" y="446786"/>
                  </a:lnTo>
                  <a:close/>
                </a:path>
                <a:path w="1814829" h="866775">
                  <a:moveTo>
                    <a:pt x="559689" y="422783"/>
                  </a:moveTo>
                  <a:lnTo>
                    <a:pt x="547751" y="408051"/>
                  </a:lnTo>
                  <a:lnTo>
                    <a:pt x="532892" y="419989"/>
                  </a:lnTo>
                  <a:lnTo>
                    <a:pt x="544957" y="434848"/>
                  </a:lnTo>
                  <a:lnTo>
                    <a:pt x="559689" y="422783"/>
                  </a:lnTo>
                  <a:close/>
                </a:path>
                <a:path w="1814829" h="866775">
                  <a:moveTo>
                    <a:pt x="589280" y="398907"/>
                  </a:moveTo>
                  <a:lnTo>
                    <a:pt x="577342" y="384048"/>
                  </a:lnTo>
                  <a:lnTo>
                    <a:pt x="562483" y="395986"/>
                  </a:lnTo>
                  <a:lnTo>
                    <a:pt x="574548" y="410845"/>
                  </a:lnTo>
                  <a:lnTo>
                    <a:pt x="589280" y="398907"/>
                  </a:lnTo>
                  <a:close/>
                </a:path>
                <a:path w="1814829" h="866775">
                  <a:moveTo>
                    <a:pt x="618858" y="374904"/>
                  </a:moveTo>
                  <a:lnTo>
                    <a:pt x="606920" y="360045"/>
                  </a:lnTo>
                  <a:lnTo>
                    <a:pt x="592074" y="372110"/>
                  </a:lnTo>
                  <a:lnTo>
                    <a:pt x="604139" y="386842"/>
                  </a:lnTo>
                  <a:lnTo>
                    <a:pt x="618858" y="374904"/>
                  </a:lnTo>
                  <a:close/>
                </a:path>
                <a:path w="1814829" h="866775">
                  <a:moveTo>
                    <a:pt x="626491" y="846328"/>
                  </a:moveTo>
                  <a:lnTo>
                    <a:pt x="609473" y="837819"/>
                  </a:lnTo>
                  <a:lnTo>
                    <a:pt x="600964" y="854837"/>
                  </a:lnTo>
                  <a:lnTo>
                    <a:pt x="617969" y="863346"/>
                  </a:lnTo>
                  <a:lnTo>
                    <a:pt x="626491" y="846328"/>
                  </a:lnTo>
                  <a:close/>
                </a:path>
                <a:path w="1814829" h="866775">
                  <a:moveTo>
                    <a:pt x="643636" y="812292"/>
                  </a:moveTo>
                  <a:lnTo>
                    <a:pt x="626618" y="803656"/>
                  </a:lnTo>
                  <a:lnTo>
                    <a:pt x="618109" y="820674"/>
                  </a:lnTo>
                  <a:lnTo>
                    <a:pt x="635127" y="829310"/>
                  </a:lnTo>
                  <a:lnTo>
                    <a:pt x="643636" y="812292"/>
                  </a:lnTo>
                  <a:close/>
                </a:path>
                <a:path w="1814829" h="866775">
                  <a:moveTo>
                    <a:pt x="648589" y="350901"/>
                  </a:moveTo>
                  <a:lnTo>
                    <a:pt x="636524" y="336042"/>
                  </a:lnTo>
                  <a:lnTo>
                    <a:pt x="621792" y="348107"/>
                  </a:lnTo>
                  <a:lnTo>
                    <a:pt x="633730" y="362839"/>
                  </a:lnTo>
                  <a:lnTo>
                    <a:pt x="648589" y="350901"/>
                  </a:lnTo>
                  <a:close/>
                </a:path>
                <a:path w="1814829" h="866775">
                  <a:moveTo>
                    <a:pt x="660768" y="778256"/>
                  </a:moveTo>
                  <a:lnTo>
                    <a:pt x="643763" y="769620"/>
                  </a:lnTo>
                  <a:lnTo>
                    <a:pt x="635127" y="786638"/>
                  </a:lnTo>
                  <a:lnTo>
                    <a:pt x="652132" y="795274"/>
                  </a:lnTo>
                  <a:lnTo>
                    <a:pt x="660768" y="778256"/>
                  </a:lnTo>
                  <a:close/>
                </a:path>
                <a:path w="1814829" h="866775">
                  <a:moveTo>
                    <a:pt x="677926" y="744220"/>
                  </a:moveTo>
                  <a:lnTo>
                    <a:pt x="660895" y="735584"/>
                  </a:lnTo>
                  <a:lnTo>
                    <a:pt x="652272" y="752602"/>
                  </a:lnTo>
                  <a:lnTo>
                    <a:pt x="669290" y="761238"/>
                  </a:lnTo>
                  <a:lnTo>
                    <a:pt x="677926" y="744220"/>
                  </a:lnTo>
                  <a:close/>
                </a:path>
                <a:path w="1814829" h="866775">
                  <a:moveTo>
                    <a:pt x="678180" y="326898"/>
                  </a:moveTo>
                  <a:lnTo>
                    <a:pt x="666115" y="312166"/>
                  </a:lnTo>
                  <a:lnTo>
                    <a:pt x="651370" y="324104"/>
                  </a:lnTo>
                  <a:lnTo>
                    <a:pt x="663308" y="338963"/>
                  </a:lnTo>
                  <a:lnTo>
                    <a:pt x="678180" y="326898"/>
                  </a:lnTo>
                  <a:close/>
                </a:path>
                <a:path w="1814829" h="866775">
                  <a:moveTo>
                    <a:pt x="694944" y="710184"/>
                  </a:moveTo>
                  <a:lnTo>
                    <a:pt x="677926" y="701548"/>
                  </a:lnTo>
                  <a:lnTo>
                    <a:pt x="669417" y="718566"/>
                  </a:lnTo>
                  <a:lnTo>
                    <a:pt x="686435" y="727202"/>
                  </a:lnTo>
                  <a:lnTo>
                    <a:pt x="694944" y="710184"/>
                  </a:lnTo>
                  <a:close/>
                </a:path>
                <a:path w="1814829" h="866775">
                  <a:moveTo>
                    <a:pt x="707771" y="302895"/>
                  </a:moveTo>
                  <a:lnTo>
                    <a:pt x="695706" y="288163"/>
                  </a:lnTo>
                  <a:lnTo>
                    <a:pt x="680974" y="300101"/>
                  </a:lnTo>
                  <a:lnTo>
                    <a:pt x="692912" y="314960"/>
                  </a:lnTo>
                  <a:lnTo>
                    <a:pt x="707771" y="302895"/>
                  </a:lnTo>
                  <a:close/>
                </a:path>
                <a:path w="1814829" h="866775">
                  <a:moveTo>
                    <a:pt x="712089" y="676148"/>
                  </a:moveTo>
                  <a:lnTo>
                    <a:pt x="695071" y="667512"/>
                  </a:lnTo>
                  <a:lnTo>
                    <a:pt x="686562" y="684530"/>
                  </a:lnTo>
                  <a:lnTo>
                    <a:pt x="703580" y="693166"/>
                  </a:lnTo>
                  <a:lnTo>
                    <a:pt x="712089" y="676148"/>
                  </a:lnTo>
                  <a:close/>
                </a:path>
                <a:path w="1814829" h="866775">
                  <a:moveTo>
                    <a:pt x="729234" y="642112"/>
                  </a:moveTo>
                  <a:lnTo>
                    <a:pt x="712216" y="633476"/>
                  </a:lnTo>
                  <a:lnTo>
                    <a:pt x="703580" y="650494"/>
                  </a:lnTo>
                  <a:lnTo>
                    <a:pt x="720598" y="659130"/>
                  </a:lnTo>
                  <a:lnTo>
                    <a:pt x="729234" y="642112"/>
                  </a:lnTo>
                  <a:close/>
                </a:path>
                <a:path w="1814829" h="866775">
                  <a:moveTo>
                    <a:pt x="737362" y="279019"/>
                  </a:moveTo>
                  <a:lnTo>
                    <a:pt x="725424" y="264160"/>
                  </a:lnTo>
                  <a:lnTo>
                    <a:pt x="710565" y="276098"/>
                  </a:lnTo>
                  <a:lnTo>
                    <a:pt x="722503" y="290957"/>
                  </a:lnTo>
                  <a:lnTo>
                    <a:pt x="737362" y="279019"/>
                  </a:lnTo>
                  <a:close/>
                </a:path>
                <a:path w="1814829" h="866775">
                  <a:moveTo>
                    <a:pt x="746252" y="608076"/>
                  </a:moveTo>
                  <a:lnTo>
                    <a:pt x="729234" y="599440"/>
                  </a:lnTo>
                  <a:lnTo>
                    <a:pt x="720725" y="616458"/>
                  </a:lnTo>
                  <a:lnTo>
                    <a:pt x="737743" y="625094"/>
                  </a:lnTo>
                  <a:lnTo>
                    <a:pt x="746252" y="608076"/>
                  </a:lnTo>
                  <a:close/>
                </a:path>
                <a:path w="1814829" h="866775">
                  <a:moveTo>
                    <a:pt x="763397" y="574040"/>
                  </a:moveTo>
                  <a:lnTo>
                    <a:pt x="746379" y="565404"/>
                  </a:lnTo>
                  <a:lnTo>
                    <a:pt x="737870" y="582422"/>
                  </a:lnTo>
                  <a:lnTo>
                    <a:pt x="754888" y="591058"/>
                  </a:lnTo>
                  <a:lnTo>
                    <a:pt x="763397" y="574040"/>
                  </a:lnTo>
                  <a:close/>
                </a:path>
                <a:path w="1814829" h="866775">
                  <a:moveTo>
                    <a:pt x="766953" y="255016"/>
                  </a:moveTo>
                  <a:lnTo>
                    <a:pt x="755015" y="240157"/>
                  </a:lnTo>
                  <a:lnTo>
                    <a:pt x="740156" y="252222"/>
                  </a:lnTo>
                  <a:lnTo>
                    <a:pt x="752094" y="266954"/>
                  </a:lnTo>
                  <a:lnTo>
                    <a:pt x="766953" y="255016"/>
                  </a:lnTo>
                  <a:close/>
                </a:path>
                <a:path w="1814829" h="866775">
                  <a:moveTo>
                    <a:pt x="780542" y="539877"/>
                  </a:moveTo>
                  <a:lnTo>
                    <a:pt x="763524" y="531368"/>
                  </a:lnTo>
                  <a:lnTo>
                    <a:pt x="755015" y="548386"/>
                  </a:lnTo>
                  <a:lnTo>
                    <a:pt x="772033" y="556895"/>
                  </a:lnTo>
                  <a:lnTo>
                    <a:pt x="780542" y="539877"/>
                  </a:lnTo>
                  <a:close/>
                </a:path>
                <a:path w="1814829" h="866775">
                  <a:moveTo>
                    <a:pt x="796544" y="231013"/>
                  </a:moveTo>
                  <a:lnTo>
                    <a:pt x="784606" y="216154"/>
                  </a:lnTo>
                  <a:lnTo>
                    <a:pt x="769747" y="228219"/>
                  </a:lnTo>
                  <a:lnTo>
                    <a:pt x="781812" y="242951"/>
                  </a:lnTo>
                  <a:lnTo>
                    <a:pt x="796544" y="231013"/>
                  </a:lnTo>
                  <a:close/>
                </a:path>
                <a:path w="1814829" h="866775">
                  <a:moveTo>
                    <a:pt x="797687" y="505841"/>
                  </a:moveTo>
                  <a:lnTo>
                    <a:pt x="780669" y="497332"/>
                  </a:lnTo>
                  <a:lnTo>
                    <a:pt x="772033" y="514350"/>
                  </a:lnTo>
                  <a:lnTo>
                    <a:pt x="789051" y="522859"/>
                  </a:lnTo>
                  <a:lnTo>
                    <a:pt x="797687" y="505841"/>
                  </a:lnTo>
                  <a:close/>
                </a:path>
                <a:path w="1814829" h="866775">
                  <a:moveTo>
                    <a:pt x="814705" y="471805"/>
                  </a:moveTo>
                  <a:lnTo>
                    <a:pt x="797687" y="463296"/>
                  </a:lnTo>
                  <a:lnTo>
                    <a:pt x="789178" y="480314"/>
                  </a:lnTo>
                  <a:lnTo>
                    <a:pt x="806196" y="488823"/>
                  </a:lnTo>
                  <a:lnTo>
                    <a:pt x="814705" y="471805"/>
                  </a:lnTo>
                  <a:close/>
                </a:path>
                <a:path w="1814829" h="866775">
                  <a:moveTo>
                    <a:pt x="826135" y="207010"/>
                  </a:moveTo>
                  <a:lnTo>
                    <a:pt x="814197" y="192278"/>
                  </a:lnTo>
                  <a:lnTo>
                    <a:pt x="799338" y="204216"/>
                  </a:lnTo>
                  <a:lnTo>
                    <a:pt x="811403" y="219075"/>
                  </a:lnTo>
                  <a:lnTo>
                    <a:pt x="826135" y="207010"/>
                  </a:lnTo>
                  <a:close/>
                </a:path>
                <a:path w="1814829" h="866775">
                  <a:moveTo>
                    <a:pt x="831850" y="437769"/>
                  </a:moveTo>
                  <a:lnTo>
                    <a:pt x="814832" y="429260"/>
                  </a:lnTo>
                  <a:lnTo>
                    <a:pt x="806323" y="446278"/>
                  </a:lnTo>
                  <a:lnTo>
                    <a:pt x="823341" y="454787"/>
                  </a:lnTo>
                  <a:lnTo>
                    <a:pt x="831850" y="437769"/>
                  </a:lnTo>
                  <a:close/>
                </a:path>
                <a:path w="1814829" h="866775">
                  <a:moveTo>
                    <a:pt x="848995" y="403733"/>
                  </a:moveTo>
                  <a:lnTo>
                    <a:pt x="831977" y="395224"/>
                  </a:lnTo>
                  <a:lnTo>
                    <a:pt x="823341" y="412242"/>
                  </a:lnTo>
                  <a:lnTo>
                    <a:pt x="840359" y="420751"/>
                  </a:lnTo>
                  <a:lnTo>
                    <a:pt x="848995" y="403733"/>
                  </a:lnTo>
                  <a:close/>
                </a:path>
                <a:path w="1814829" h="866775">
                  <a:moveTo>
                    <a:pt x="855726" y="183007"/>
                  </a:moveTo>
                  <a:lnTo>
                    <a:pt x="843788" y="168275"/>
                  </a:lnTo>
                  <a:lnTo>
                    <a:pt x="828929" y="180213"/>
                  </a:lnTo>
                  <a:lnTo>
                    <a:pt x="840994" y="195072"/>
                  </a:lnTo>
                  <a:lnTo>
                    <a:pt x="855726" y="183007"/>
                  </a:lnTo>
                  <a:close/>
                </a:path>
                <a:path w="1814829" h="866775">
                  <a:moveTo>
                    <a:pt x="866140" y="369697"/>
                  </a:moveTo>
                  <a:lnTo>
                    <a:pt x="849122" y="361188"/>
                  </a:lnTo>
                  <a:lnTo>
                    <a:pt x="840486" y="378206"/>
                  </a:lnTo>
                  <a:lnTo>
                    <a:pt x="857504" y="386715"/>
                  </a:lnTo>
                  <a:lnTo>
                    <a:pt x="866140" y="369697"/>
                  </a:lnTo>
                  <a:close/>
                </a:path>
                <a:path w="1814829" h="866775">
                  <a:moveTo>
                    <a:pt x="883158" y="335661"/>
                  </a:moveTo>
                  <a:lnTo>
                    <a:pt x="866140" y="327152"/>
                  </a:lnTo>
                  <a:lnTo>
                    <a:pt x="857631" y="344170"/>
                  </a:lnTo>
                  <a:lnTo>
                    <a:pt x="874649" y="352679"/>
                  </a:lnTo>
                  <a:lnTo>
                    <a:pt x="883158" y="335661"/>
                  </a:lnTo>
                  <a:close/>
                </a:path>
                <a:path w="1814829" h="866775">
                  <a:moveTo>
                    <a:pt x="885444" y="159131"/>
                  </a:moveTo>
                  <a:lnTo>
                    <a:pt x="873379" y="144272"/>
                  </a:lnTo>
                  <a:lnTo>
                    <a:pt x="858647" y="156210"/>
                  </a:lnTo>
                  <a:lnTo>
                    <a:pt x="870585" y="171069"/>
                  </a:lnTo>
                  <a:lnTo>
                    <a:pt x="885444" y="159131"/>
                  </a:lnTo>
                  <a:close/>
                </a:path>
                <a:path w="1814829" h="866775">
                  <a:moveTo>
                    <a:pt x="900303" y="301625"/>
                  </a:moveTo>
                  <a:lnTo>
                    <a:pt x="883285" y="293116"/>
                  </a:lnTo>
                  <a:lnTo>
                    <a:pt x="874776" y="310134"/>
                  </a:lnTo>
                  <a:lnTo>
                    <a:pt x="891794" y="318643"/>
                  </a:lnTo>
                  <a:lnTo>
                    <a:pt x="900303" y="301625"/>
                  </a:lnTo>
                  <a:close/>
                </a:path>
                <a:path w="1814829" h="866775">
                  <a:moveTo>
                    <a:pt x="915035" y="135128"/>
                  </a:moveTo>
                  <a:lnTo>
                    <a:pt x="902970" y="120269"/>
                  </a:lnTo>
                  <a:lnTo>
                    <a:pt x="888238" y="132334"/>
                  </a:lnTo>
                  <a:lnTo>
                    <a:pt x="900176" y="147066"/>
                  </a:lnTo>
                  <a:lnTo>
                    <a:pt x="915035" y="135128"/>
                  </a:lnTo>
                  <a:close/>
                </a:path>
                <a:path w="1814829" h="866775">
                  <a:moveTo>
                    <a:pt x="917448" y="267589"/>
                  </a:moveTo>
                  <a:lnTo>
                    <a:pt x="900430" y="259080"/>
                  </a:lnTo>
                  <a:lnTo>
                    <a:pt x="891794" y="276098"/>
                  </a:lnTo>
                  <a:lnTo>
                    <a:pt x="908812" y="284607"/>
                  </a:lnTo>
                  <a:lnTo>
                    <a:pt x="917448" y="267589"/>
                  </a:lnTo>
                  <a:close/>
                </a:path>
                <a:path w="1814829" h="866775">
                  <a:moveTo>
                    <a:pt x="934466" y="233553"/>
                  </a:moveTo>
                  <a:lnTo>
                    <a:pt x="917448" y="225044"/>
                  </a:lnTo>
                  <a:lnTo>
                    <a:pt x="908939" y="242062"/>
                  </a:lnTo>
                  <a:lnTo>
                    <a:pt x="925957" y="250571"/>
                  </a:lnTo>
                  <a:lnTo>
                    <a:pt x="934466" y="233553"/>
                  </a:lnTo>
                  <a:close/>
                </a:path>
                <a:path w="1814829" h="866775">
                  <a:moveTo>
                    <a:pt x="951611" y="199517"/>
                  </a:moveTo>
                  <a:lnTo>
                    <a:pt x="934593" y="191008"/>
                  </a:lnTo>
                  <a:lnTo>
                    <a:pt x="926084" y="208026"/>
                  </a:lnTo>
                  <a:lnTo>
                    <a:pt x="943102" y="216535"/>
                  </a:lnTo>
                  <a:lnTo>
                    <a:pt x="951611" y="199517"/>
                  </a:lnTo>
                  <a:close/>
                </a:path>
                <a:path w="1814829" h="866775">
                  <a:moveTo>
                    <a:pt x="968756" y="165481"/>
                  </a:moveTo>
                  <a:lnTo>
                    <a:pt x="951738" y="156972"/>
                  </a:lnTo>
                  <a:lnTo>
                    <a:pt x="943229" y="173990"/>
                  </a:lnTo>
                  <a:lnTo>
                    <a:pt x="960247" y="182499"/>
                  </a:lnTo>
                  <a:lnTo>
                    <a:pt x="968756" y="165481"/>
                  </a:lnTo>
                  <a:close/>
                </a:path>
                <a:path w="1814829" h="866775">
                  <a:moveTo>
                    <a:pt x="1057148" y="110744"/>
                  </a:moveTo>
                  <a:lnTo>
                    <a:pt x="1053084" y="92075"/>
                  </a:lnTo>
                  <a:lnTo>
                    <a:pt x="1034542" y="96139"/>
                  </a:lnTo>
                  <a:lnTo>
                    <a:pt x="1038479" y="114808"/>
                  </a:lnTo>
                  <a:lnTo>
                    <a:pt x="1057148" y="110744"/>
                  </a:lnTo>
                  <a:close/>
                </a:path>
                <a:path w="1814829" h="866775">
                  <a:moveTo>
                    <a:pt x="1065149" y="147955"/>
                  </a:moveTo>
                  <a:lnTo>
                    <a:pt x="1061135" y="129667"/>
                  </a:lnTo>
                  <a:lnTo>
                    <a:pt x="1061085" y="129413"/>
                  </a:lnTo>
                  <a:lnTo>
                    <a:pt x="1042543" y="133350"/>
                  </a:lnTo>
                  <a:lnTo>
                    <a:pt x="1046480" y="152019"/>
                  </a:lnTo>
                  <a:lnTo>
                    <a:pt x="1065149" y="147955"/>
                  </a:lnTo>
                  <a:close/>
                </a:path>
                <a:path w="1814829" h="866775">
                  <a:moveTo>
                    <a:pt x="1073150" y="185293"/>
                  </a:moveTo>
                  <a:lnTo>
                    <a:pt x="1069086" y="166624"/>
                  </a:lnTo>
                  <a:lnTo>
                    <a:pt x="1050544" y="170688"/>
                  </a:lnTo>
                  <a:lnTo>
                    <a:pt x="1054481" y="189230"/>
                  </a:lnTo>
                  <a:lnTo>
                    <a:pt x="1073150" y="185293"/>
                  </a:lnTo>
                  <a:close/>
                </a:path>
                <a:path w="1814829" h="866775">
                  <a:moveTo>
                    <a:pt x="1081151" y="222504"/>
                  </a:moveTo>
                  <a:lnTo>
                    <a:pt x="1077214" y="203835"/>
                  </a:lnTo>
                  <a:lnTo>
                    <a:pt x="1058545" y="207899"/>
                  </a:lnTo>
                  <a:lnTo>
                    <a:pt x="1062482" y="226568"/>
                  </a:lnTo>
                  <a:lnTo>
                    <a:pt x="1081151" y="222504"/>
                  </a:lnTo>
                  <a:close/>
                </a:path>
                <a:path w="1814829" h="866775">
                  <a:moveTo>
                    <a:pt x="1089152" y="259715"/>
                  </a:moveTo>
                  <a:lnTo>
                    <a:pt x="1085215" y="241173"/>
                  </a:lnTo>
                  <a:lnTo>
                    <a:pt x="1066546" y="245110"/>
                  </a:lnTo>
                  <a:lnTo>
                    <a:pt x="1070483" y="263779"/>
                  </a:lnTo>
                  <a:lnTo>
                    <a:pt x="1089152" y="259715"/>
                  </a:lnTo>
                  <a:close/>
                </a:path>
                <a:path w="1814829" h="866775">
                  <a:moveTo>
                    <a:pt x="1097153" y="297053"/>
                  </a:moveTo>
                  <a:lnTo>
                    <a:pt x="1093216" y="278384"/>
                  </a:lnTo>
                  <a:lnTo>
                    <a:pt x="1074547" y="282321"/>
                  </a:lnTo>
                  <a:lnTo>
                    <a:pt x="1078611" y="300990"/>
                  </a:lnTo>
                  <a:lnTo>
                    <a:pt x="1097153" y="297053"/>
                  </a:lnTo>
                  <a:close/>
                </a:path>
                <a:path w="1814829" h="866775">
                  <a:moveTo>
                    <a:pt x="1105154" y="334264"/>
                  </a:moveTo>
                  <a:lnTo>
                    <a:pt x="1101217" y="315595"/>
                  </a:lnTo>
                  <a:lnTo>
                    <a:pt x="1082548" y="319659"/>
                  </a:lnTo>
                  <a:lnTo>
                    <a:pt x="1086612" y="338201"/>
                  </a:lnTo>
                  <a:lnTo>
                    <a:pt x="1105154" y="334264"/>
                  </a:lnTo>
                  <a:close/>
                </a:path>
                <a:path w="1814829" h="866775">
                  <a:moveTo>
                    <a:pt x="1112647" y="41402"/>
                  </a:moveTo>
                  <a:lnTo>
                    <a:pt x="1094105" y="36703"/>
                  </a:lnTo>
                  <a:lnTo>
                    <a:pt x="1089406" y="55118"/>
                  </a:lnTo>
                  <a:lnTo>
                    <a:pt x="1107948" y="59817"/>
                  </a:lnTo>
                  <a:lnTo>
                    <a:pt x="1112647" y="41402"/>
                  </a:lnTo>
                  <a:close/>
                </a:path>
                <a:path w="1814829" h="866775">
                  <a:moveTo>
                    <a:pt x="1113155" y="371475"/>
                  </a:moveTo>
                  <a:lnTo>
                    <a:pt x="1109218" y="352933"/>
                  </a:lnTo>
                  <a:lnTo>
                    <a:pt x="1090549" y="356870"/>
                  </a:lnTo>
                  <a:lnTo>
                    <a:pt x="1094613" y="375539"/>
                  </a:lnTo>
                  <a:lnTo>
                    <a:pt x="1113155" y="371475"/>
                  </a:lnTo>
                  <a:close/>
                </a:path>
                <a:path w="1814829" h="866775">
                  <a:moveTo>
                    <a:pt x="1121156" y="408686"/>
                  </a:moveTo>
                  <a:lnTo>
                    <a:pt x="1117219" y="390144"/>
                  </a:lnTo>
                  <a:lnTo>
                    <a:pt x="1098550" y="394081"/>
                  </a:lnTo>
                  <a:lnTo>
                    <a:pt x="1102614" y="412750"/>
                  </a:lnTo>
                  <a:lnTo>
                    <a:pt x="1121156" y="408686"/>
                  </a:lnTo>
                  <a:close/>
                </a:path>
                <a:path w="1814829" h="866775">
                  <a:moveTo>
                    <a:pt x="1129157" y="446024"/>
                  </a:moveTo>
                  <a:lnTo>
                    <a:pt x="1125220" y="427355"/>
                  </a:lnTo>
                  <a:lnTo>
                    <a:pt x="1106551" y="431419"/>
                  </a:lnTo>
                  <a:lnTo>
                    <a:pt x="1110615" y="449961"/>
                  </a:lnTo>
                  <a:lnTo>
                    <a:pt x="1129157" y="446024"/>
                  </a:lnTo>
                  <a:close/>
                </a:path>
                <a:path w="1814829" h="866775">
                  <a:moveTo>
                    <a:pt x="1137158" y="483235"/>
                  </a:moveTo>
                  <a:lnTo>
                    <a:pt x="1133221" y="464566"/>
                  </a:lnTo>
                  <a:lnTo>
                    <a:pt x="1114552" y="468630"/>
                  </a:lnTo>
                  <a:lnTo>
                    <a:pt x="1118616" y="487299"/>
                  </a:lnTo>
                  <a:lnTo>
                    <a:pt x="1137158" y="483235"/>
                  </a:lnTo>
                  <a:close/>
                </a:path>
                <a:path w="1814829" h="866775">
                  <a:moveTo>
                    <a:pt x="1143762" y="12954"/>
                  </a:moveTo>
                  <a:lnTo>
                    <a:pt x="1142365" y="7874"/>
                  </a:lnTo>
                  <a:lnTo>
                    <a:pt x="1140841" y="2921"/>
                  </a:lnTo>
                  <a:lnTo>
                    <a:pt x="1135634" y="0"/>
                  </a:lnTo>
                  <a:lnTo>
                    <a:pt x="1130554" y="1397"/>
                  </a:lnTo>
                  <a:lnTo>
                    <a:pt x="1030185" y="30327"/>
                  </a:lnTo>
                  <a:lnTo>
                    <a:pt x="1026668" y="40703"/>
                  </a:lnTo>
                  <a:lnTo>
                    <a:pt x="1026477" y="37553"/>
                  </a:lnTo>
                  <a:lnTo>
                    <a:pt x="1027518" y="34798"/>
                  </a:lnTo>
                  <a:lnTo>
                    <a:pt x="1029208" y="30353"/>
                  </a:lnTo>
                  <a:lnTo>
                    <a:pt x="1026058" y="30835"/>
                  </a:lnTo>
                  <a:lnTo>
                    <a:pt x="1026033" y="30353"/>
                  </a:lnTo>
                  <a:lnTo>
                    <a:pt x="1025042" y="31000"/>
                  </a:lnTo>
                  <a:lnTo>
                    <a:pt x="1013942" y="32702"/>
                  </a:lnTo>
                  <a:lnTo>
                    <a:pt x="1013942" y="79616"/>
                  </a:lnTo>
                  <a:lnTo>
                    <a:pt x="1013688" y="80391"/>
                  </a:lnTo>
                  <a:lnTo>
                    <a:pt x="1011555" y="80391"/>
                  </a:lnTo>
                  <a:lnTo>
                    <a:pt x="1010259" y="80391"/>
                  </a:lnTo>
                  <a:lnTo>
                    <a:pt x="1010475" y="79857"/>
                  </a:lnTo>
                  <a:lnTo>
                    <a:pt x="1010551" y="79616"/>
                  </a:lnTo>
                  <a:lnTo>
                    <a:pt x="1011936" y="79616"/>
                  </a:lnTo>
                  <a:lnTo>
                    <a:pt x="1013942" y="79616"/>
                  </a:lnTo>
                  <a:lnTo>
                    <a:pt x="1013942" y="32702"/>
                  </a:lnTo>
                  <a:lnTo>
                    <a:pt x="1010145" y="33286"/>
                  </a:lnTo>
                  <a:lnTo>
                    <a:pt x="1010145" y="40690"/>
                  </a:lnTo>
                  <a:lnTo>
                    <a:pt x="1008659" y="38862"/>
                  </a:lnTo>
                  <a:lnTo>
                    <a:pt x="1010145" y="40690"/>
                  </a:lnTo>
                  <a:lnTo>
                    <a:pt x="1010145" y="33286"/>
                  </a:lnTo>
                  <a:lnTo>
                    <a:pt x="920750" y="46990"/>
                  </a:lnTo>
                  <a:lnTo>
                    <a:pt x="917194" y="51816"/>
                  </a:lnTo>
                  <a:lnTo>
                    <a:pt x="918718" y="62230"/>
                  </a:lnTo>
                  <a:lnTo>
                    <a:pt x="923671" y="65786"/>
                  </a:lnTo>
                  <a:lnTo>
                    <a:pt x="981240" y="56934"/>
                  </a:lnTo>
                  <a:lnTo>
                    <a:pt x="977011" y="60325"/>
                  </a:lnTo>
                  <a:lnTo>
                    <a:pt x="978027" y="61595"/>
                  </a:lnTo>
                  <a:lnTo>
                    <a:pt x="938403" y="87376"/>
                  </a:lnTo>
                  <a:lnTo>
                    <a:pt x="933958" y="90170"/>
                  </a:lnTo>
                  <a:lnTo>
                    <a:pt x="932815" y="96139"/>
                  </a:lnTo>
                  <a:lnTo>
                    <a:pt x="934212" y="98310"/>
                  </a:lnTo>
                  <a:lnTo>
                    <a:pt x="932561" y="96266"/>
                  </a:lnTo>
                  <a:lnTo>
                    <a:pt x="917829" y="108331"/>
                  </a:lnTo>
                  <a:lnTo>
                    <a:pt x="929767" y="123063"/>
                  </a:lnTo>
                  <a:lnTo>
                    <a:pt x="944626" y="111125"/>
                  </a:lnTo>
                  <a:lnTo>
                    <a:pt x="939787" y="105181"/>
                  </a:lnTo>
                  <a:lnTo>
                    <a:pt x="944372" y="106172"/>
                  </a:lnTo>
                  <a:lnTo>
                    <a:pt x="957948" y="97332"/>
                  </a:lnTo>
                  <a:lnTo>
                    <a:pt x="959358" y="99060"/>
                  </a:lnTo>
                  <a:lnTo>
                    <a:pt x="974217" y="87122"/>
                  </a:lnTo>
                  <a:lnTo>
                    <a:pt x="974001" y="86868"/>
                  </a:lnTo>
                  <a:lnTo>
                    <a:pt x="991831" y="75247"/>
                  </a:lnTo>
                  <a:lnTo>
                    <a:pt x="986599" y="89141"/>
                  </a:lnTo>
                  <a:lnTo>
                    <a:pt x="985901" y="88773"/>
                  </a:lnTo>
                  <a:lnTo>
                    <a:pt x="977392" y="105918"/>
                  </a:lnTo>
                  <a:lnTo>
                    <a:pt x="979805" y="107137"/>
                  </a:lnTo>
                  <a:lnTo>
                    <a:pt x="974471" y="121285"/>
                  </a:lnTo>
                  <a:lnTo>
                    <a:pt x="973035" y="125018"/>
                  </a:lnTo>
                  <a:lnTo>
                    <a:pt x="968883" y="122936"/>
                  </a:lnTo>
                  <a:lnTo>
                    <a:pt x="960247" y="139954"/>
                  </a:lnTo>
                  <a:lnTo>
                    <a:pt x="977265" y="148463"/>
                  </a:lnTo>
                  <a:lnTo>
                    <a:pt x="984008" y="135178"/>
                  </a:lnTo>
                  <a:lnTo>
                    <a:pt x="984885" y="135509"/>
                  </a:lnTo>
                  <a:lnTo>
                    <a:pt x="990346" y="132969"/>
                  </a:lnTo>
                  <a:lnTo>
                    <a:pt x="992251" y="128016"/>
                  </a:lnTo>
                  <a:lnTo>
                    <a:pt x="1010094" y="80848"/>
                  </a:lnTo>
                  <a:lnTo>
                    <a:pt x="1010653" y="89687"/>
                  </a:lnTo>
                  <a:lnTo>
                    <a:pt x="997661" y="129413"/>
                  </a:lnTo>
                  <a:lnTo>
                    <a:pt x="995934" y="134620"/>
                  </a:lnTo>
                  <a:lnTo>
                    <a:pt x="998601" y="140081"/>
                  </a:lnTo>
                  <a:lnTo>
                    <a:pt x="1003681" y="141605"/>
                  </a:lnTo>
                  <a:lnTo>
                    <a:pt x="1008634" y="143256"/>
                  </a:lnTo>
                  <a:lnTo>
                    <a:pt x="1013815" y="140728"/>
                  </a:lnTo>
                  <a:lnTo>
                    <a:pt x="1013841" y="141097"/>
                  </a:lnTo>
                  <a:lnTo>
                    <a:pt x="1018413" y="145034"/>
                  </a:lnTo>
                  <a:lnTo>
                    <a:pt x="1023620" y="144780"/>
                  </a:lnTo>
                  <a:lnTo>
                    <a:pt x="1028827" y="144399"/>
                  </a:lnTo>
                  <a:lnTo>
                    <a:pt x="1032776" y="139954"/>
                  </a:lnTo>
                  <a:lnTo>
                    <a:pt x="1032586" y="135763"/>
                  </a:lnTo>
                  <a:lnTo>
                    <a:pt x="1029855" y="92049"/>
                  </a:lnTo>
                  <a:lnTo>
                    <a:pt x="1034618" y="77470"/>
                  </a:lnTo>
                  <a:lnTo>
                    <a:pt x="1034923" y="76542"/>
                  </a:lnTo>
                  <a:lnTo>
                    <a:pt x="1044600" y="74498"/>
                  </a:lnTo>
                  <a:lnTo>
                    <a:pt x="1086485" y="120396"/>
                  </a:lnTo>
                  <a:lnTo>
                    <a:pt x="1090041" y="124206"/>
                  </a:lnTo>
                  <a:lnTo>
                    <a:pt x="1096010" y="124460"/>
                  </a:lnTo>
                  <a:lnTo>
                    <a:pt x="1099947" y="120904"/>
                  </a:lnTo>
                  <a:lnTo>
                    <a:pt x="1103884" y="117475"/>
                  </a:lnTo>
                  <a:lnTo>
                    <a:pt x="1104138" y="111379"/>
                  </a:lnTo>
                  <a:lnTo>
                    <a:pt x="1100582" y="107442"/>
                  </a:lnTo>
                  <a:lnTo>
                    <a:pt x="1052576" y="54864"/>
                  </a:lnTo>
                  <a:lnTo>
                    <a:pt x="1049680" y="51689"/>
                  </a:lnTo>
                  <a:lnTo>
                    <a:pt x="1031201" y="31445"/>
                  </a:lnTo>
                  <a:lnTo>
                    <a:pt x="1104646" y="103505"/>
                  </a:lnTo>
                  <a:lnTo>
                    <a:pt x="1108456" y="107188"/>
                  </a:lnTo>
                  <a:lnTo>
                    <a:pt x="1114425" y="107188"/>
                  </a:lnTo>
                  <a:lnTo>
                    <a:pt x="1117981" y="103505"/>
                  </a:lnTo>
                  <a:lnTo>
                    <a:pt x="1121791" y="99695"/>
                  </a:lnTo>
                  <a:lnTo>
                    <a:pt x="1121791" y="93599"/>
                  </a:lnTo>
                  <a:lnTo>
                    <a:pt x="1117981" y="89916"/>
                  </a:lnTo>
                  <a:lnTo>
                    <a:pt x="1077925" y="50673"/>
                  </a:lnTo>
                  <a:lnTo>
                    <a:pt x="1072337" y="45212"/>
                  </a:lnTo>
                  <a:lnTo>
                    <a:pt x="1074318" y="37376"/>
                  </a:lnTo>
                  <a:lnTo>
                    <a:pt x="1109281" y="27305"/>
                  </a:lnTo>
                  <a:lnTo>
                    <a:pt x="1135761" y="19685"/>
                  </a:lnTo>
                  <a:lnTo>
                    <a:pt x="1140841" y="18288"/>
                  </a:lnTo>
                  <a:lnTo>
                    <a:pt x="1143762" y="12954"/>
                  </a:lnTo>
                  <a:close/>
                </a:path>
                <a:path w="1814829" h="866775">
                  <a:moveTo>
                    <a:pt x="1145286" y="520446"/>
                  </a:moveTo>
                  <a:lnTo>
                    <a:pt x="1141222" y="501904"/>
                  </a:lnTo>
                  <a:lnTo>
                    <a:pt x="1122553" y="505841"/>
                  </a:lnTo>
                  <a:lnTo>
                    <a:pt x="1126617" y="524510"/>
                  </a:lnTo>
                  <a:lnTo>
                    <a:pt x="1145286" y="520446"/>
                  </a:lnTo>
                  <a:close/>
                </a:path>
                <a:path w="1814829" h="866775">
                  <a:moveTo>
                    <a:pt x="1149477" y="50673"/>
                  </a:moveTo>
                  <a:lnTo>
                    <a:pt x="1131062" y="46101"/>
                  </a:lnTo>
                  <a:lnTo>
                    <a:pt x="1126363" y="64516"/>
                  </a:lnTo>
                  <a:lnTo>
                    <a:pt x="1144905" y="69215"/>
                  </a:lnTo>
                  <a:lnTo>
                    <a:pt x="1149477" y="50673"/>
                  </a:lnTo>
                  <a:close/>
                </a:path>
                <a:path w="1814829" h="866775">
                  <a:moveTo>
                    <a:pt x="1153287" y="557784"/>
                  </a:moveTo>
                  <a:lnTo>
                    <a:pt x="1149223" y="539115"/>
                  </a:lnTo>
                  <a:lnTo>
                    <a:pt x="1130554" y="543179"/>
                  </a:lnTo>
                  <a:lnTo>
                    <a:pt x="1134618" y="561721"/>
                  </a:lnTo>
                  <a:lnTo>
                    <a:pt x="1153287" y="557784"/>
                  </a:lnTo>
                  <a:close/>
                </a:path>
                <a:path w="1814829" h="866775">
                  <a:moveTo>
                    <a:pt x="1161288" y="594995"/>
                  </a:moveTo>
                  <a:lnTo>
                    <a:pt x="1157224" y="576326"/>
                  </a:lnTo>
                  <a:lnTo>
                    <a:pt x="1138555" y="580390"/>
                  </a:lnTo>
                  <a:lnTo>
                    <a:pt x="1142619" y="598932"/>
                  </a:lnTo>
                  <a:lnTo>
                    <a:pt x="1161288" y="594995"/>
                  </a:lnTo>
                  <a:close/>
                </a:path>
                <a:path w="1814829" h="866775">
                  <a:moveTo>
                    <a:pt x="1169289" y="632206"/>
                  </a:moveTo>
                  <a:lnTo>
                    <a:pt x="1165225" y="613664"/>
                  </a:lnTo>
                  <a:lnTo>
                    <a:pt x="1146683" y="617601"/>
                  </a:lnTo>
                  <a:lnTo>
                    <a:pt x="1150620" y="636270"/>
                  </a:lnTo>
                  <a:lnTo>
                    <a:pt x="1169289" y="632206"/>
                  </a:lnTo>
                  <a:close/>
                </a:path>
                <a:path w="1814829" h="866775">
                  <a:moveTo>
                    <a:pt x="1177290" y="669544"/>
                  </a:moveTo>
                  <a:lnTo>
                    <a:pt x="1173226" y="650875"/>
                  </a:lnTo>
                  <a:lnTo>
                    <a:pt x="1154684" y="654812"/>
                  </a:lnTo>
                  <a:lnTo>
                    <a:pt x="1158621" y="673481"/>
                  </a:lnTo>
                  <a:lnTo>
                    <a:pt x="1177290" y="669544"/>
                  </a:lnTo>
                  <a:close/>
                </a:path>
                <a:path w="1814829" h="866775">
                  <a:moveTo>
                    <a:pt x="1185291" y="706755"/>
                  </a:moveTo>
                  <a:lnTo>
                    <a:pt x="1181227" y="688086"/>
                  </a:lnTo>
                  <a:lnTo>
                    <a:pt x="1162685" y="692150"/>
                  </a:lnTo>
                  <a:lnTo>
                    <a:pt x="1166622" y="710692"/>
                  </a:lnTo>
                  <a:lnTo>
                    <a:pt x="1185291" y="706755"/>
                  </a:lnTo>
                  <a:close/>
                </a:path>
                <a:path w="1814829" h="866775">
                  <a:moveTo>
                    <a:pt x="1186434" y="60071"/>
                  </a:moveTo>
                  <a:lnTo>
                    <a:pt x="1168019" y="55372"/>
                  </a:lnTo>
                  <a:lnTo>
                    <a:pt x="1163320" y="73914"/>
                  </a:lnTo>
                  <a:lnTo>
                    <a:pt x="1181862" y="78486"/>
                  </a:lnTo>
                  <a:lnTo>
                    <a:pt x="1186434" y="60071"/>
                  </a:lnTo>
                  <a:close/>
                </a:path>
                <a:path w="1814829" h="866775">
                  <a:moveTo>
                    <a:pt x="1193292" y="743966"/>
                  </a:moveTo>
                  <a:lnTo>
                    <a:pt x="1189228" y="725424"/>
                  </a:lnTo>
                  <a:lnTo>
                    <a:pt x="1170686" y="729361"/>
                  </a:lnTo>
                  <a:lnTo>
                    <a:pt x="1174623" y="748030"/>
                  </a:lnTo>
                  <a:lnTo>
                    <a:pt x="1193292" y="743966"/>
                  </a:lnTo>
                  <a:close/>
                </a:path>
                <a:path w="1814829" h="866775">
                  <a:moveTo>
                    <a:pt x="1201293" y="781177"/>
                  </a:moveTo>
                  <a:lnTo>
                    <a:pt x="1197229" y="762635"/>
                  </a:lnTo>
                  <a:lnTo>
                    <a:pt x="1178687" y="766572"/>
                  </a:lnTo>
                  <a:lnTo>
                    <a:pt x="1182624" y="785241"/>
                  </a:lnTo>
                  <a:lnTo>
                    <a:pt x="1201293" y="781177"/>
                  </a:lnTo>
                  <a:close/>
                </a:path>
                <a:path w="1814829" h="866775">
                  <a:moveTo>
                    <a:pt x="1209294" y="818515"/>
                  </a:moveTo>
                  <a:lnTo>
                    <a:pt x="1205230" y="799846"/>
                  </a:lnTo>
                  <a:lnTo>
                    <a:pt x="1186688" y="803910"/>
                  </a:lnTo>
                  <a:lnTo>
                    <a:pt x="1190625" y="822452"/>
                  </a:lnTo>
                  <a:lnTo>
                    <a:pt x="1209294" y="818515"/>
                  </a:lnTo>
                  <a:close/>
                </a:path>
                <a:path w="1814829" h="866775">
                  <a:moveTo>
                    <a:pt x="1217295" y="855726"/>
                  </a:moveTo>
                  <a:lnTo>
                    <a:pt x="1213358" y="837057"/>
                  </a:lnTo>
                  <a:lnTo>
                    <a:pt x="1194689" y="841121"/>
                  </a:lnTo>
                  <a:lnTo>
                    <a:pt x="1198626" y="859790"/>
                  </a:lnTo>
                  <a:lnTo>
                    <a:pt x="1217295" y="855726"/>
                  </a:lnTo>
                  <a:close/>
                </a:path>
                <a:path w="1814829" h="866775">
                  <a:moveTo>
                    <a:pt x="1223391" y="69469"/>
                  </a:moveTo>
                  <a:lnTo>
                    <a:pt x="1204976" y="64770"/>
                  </a:lnTo>
                  <a:lnTo>
                    <a:pt x="1200277" y="83185"/>
                  </a:lnTo>
                  <a:lnTo>
                    <a:pt x="1218692" y="87884"/>
                  </a:lnTo>
                  <a:lnTo>
                    <a:pt x="1223391" y="69469"/>
                  </a:lnTo>
                  <a:close/>
                </a:path>
                <a:path w="1814829" h="866775">
                  <a:moveTo>
                    <a:pt x="1260348" y="78740"/>
                  </a:moveTo>
                  <a:lnTo>
                    <a:pt x="1241933" y="74041"/>
                  </a:lnTo>
                  <a:lnTo>
                    <a:pt x="1237234" y="92583"/>
                  </a:lnTo>
                  <a:lnTo>
                    <a:pt x="1255649" y="97282"/>
                  </a:lnTo>
                  <a:lnTo>
                    <a:pt x="1260348" y="78740"/>
                  </a:lnTo>
                  <a:close/>
                </a:path>
                <a:path w="1814829" h="866775">
                  <a:moveTo>
                    <a:pt x="1297305" y="88138"/>
                  </a:moveTo>
                  <a:lnTo>
                    <a:pt x="1278763" y="83439"/>
                  </a:lnTo>
                  <a:lnTo>
                    <a:pt x="1274191" y="101854"/>
                  </a:lnTo>
                  <a:lnTo>
                    <a:pt x="1292606" y="106553"/>
                  </a:lnTo>
                  <a:lnTo>
                    <a:pt x="1297305" y="88138"/>
                  </a:lnTo>
                  <a:close/>
                </a:path>
                <a:path w="1814829" h="866775">
                  <a:moveTo>
                    <a:pt x="1334262" y="97409"/>
                  </a:moveTo>
                  <a:lnTo>
                    <a:pt x="1315720" y="92710"/>
                  </a:lnTo>
                  <a:lnTo>
                    <a:pt x="1311021" y="111252"/>
                  </a:lnTo>
                  <a:lnTo>
                    <a:pt x="1329563" y="115951"/>
                  </a:lnTo>
                  <a:lnTo>
                    <a:pt x="1334262" y="97409"/>
                  </a:lnTo>
                  <a:close/>
                </a:path>
                <a:path w="1814829" h="866775">
                  <a:moveTo>
                    <a:pt x="1371219" y="106807"/>
                  </a:moveTo>
                  <a:lnTo>
                    <a:pt x="1352677" y="102108"/>
                  </a:lnTo>
                  <a:lnTo>
                    <a:pt x="1347978" y="120523"/>
                  </a:lnTo>
                  <a:lnTo>
                    <a:pt x="1366520" y="125222"/>
                  </a:lnTo>
                  <a:lnTo>
                    <a:pt x="1371219" y="106807"/>
                  </a:lnTo>
                  <a:close/>
                </a:path>
                <a:path w="1814829" h="866775">
                  <a:moveTo>
                    <a:pt x="1408049" y="116078"/>
                  </a:moveTo>
                  <a:lnTo>
                    <a:pt x="1389634" y="111506"/>
                  </a:lnTo>
                  <a:lnTo>
                    <a:pt x="1384935" y="129921"/>
                  </a:lnTo>
                  <a:lnTo>
                    <a:pt x="1403477" y="134620"/>
                  </a:lnTo>
                  <a:lnTo>
                    <a:pt x="1408049" y="116078"/>
                  </a:lnTo>
                  <a:close/>
                </a:path>
                <a:path w="1814829" h="866775">
                  <a:moveTo>
                    <a:pt x="1445006" y="125476"/>
                  </a:moveTo>
                  <a:lnTo>
                    <a:pt x="1426591" y="120777"/>
                  </a:lnTo>
                  <a:lnTo>
                    <a:pt x="1421892" y="139319"/>
                  </a:lnTo>
                  <a:lnTo>
                    <a:pt x="1440307" y="143891"/>
                  </a:lnTo>
                  <a:lnTo>
                    <a:pt x="1445006" y="125476"/>
                  </a:lnTo>
                  <a:close/>
                </a:path>
                <a:path w="1814829" h="866775">
                  <a:moveTo>
                    <a:pt x="1481963" y="134874"/>
                  </a:moveTo>
                  <a:lnTo>
                    <a:pt x="1463548" y="130175"/>
                  </a:lnTo>
                  <a:lnTo>
                    <a:pt x="1458849" y="148590"/>
                  </a:lnTo>
                  <a:lnTo>
                    <a:pt x="1477264" y="153289"/>
                  </a:lnTo>
                  <a:lnTo>
                    <a:pt x="1481963" y="134874"/>
                  </a:lnTo>
                  <a:close/>
                </a:path>
                <a:path w="1814829" h="866775">
                  <a:moveTo>
                    <a:pt x="1518920" y="144145"/>
                  </a:moveTo>
                  <a:lnTo>
                    <a:pt x="1500378" y="139446"/>
                  </a:lnTo>
                  <a:lnTo>
                    <a:pt x="1495806" y="157988"/>
                  </a:lnTo>
                  <a:lnTo>
                    <a:pt x="1514221" y="162687"/>
                  </a:lnTo>
                  <a:lnTo>
                    <a:pt x="1518920" y="144145"/>
                  </a:lnTo>
                  <a:close/>
                </a:path>
                <a:path w="1814829" h="866775">
                  <a:moveTo>
                    <a:pt x="1555877" y="153543"/>
                  </a:moveTo>
                  <a:lnTo>
                    <a:pt x="1537335" y="148844"/>
                  </a:lnTo>
                  <a:lnTo>
                    <a:pt x="1532763" y="167259"/>
                  </a:lnTo>
                  <a:lnTo>
                    <a:pt x="1551178" y="171958"/>
                  </a:lnTo>
                  <a:lnTo>
                    <a:pt x="1555877" y="153543"/>
                  </a:lnTo>
                  <a:close/>
                </a:path>
                <a:path w="1814829" h="866775">
                  <a:moveTo>
                    <a:pt x="1592834" y="162814"/>
                  </a:moveTo>
                  <a:lnTo>
                    <a:pt x="1574292" y="158115"/>
                  </a:lnTo>
                  <a:lnTo>
                    <a:pt x="1569593" y="176657"/>
                  </a:lnTo>
                  <a:lnTo>
                    <a:pt x="1588135" y="181356"/>
                  </a:lnTo>
                  <a:lnTo>
                    <a:pt x="1592834" y="162814"/>
                  </a:lnTo>
                  <a:close/>
                </a:path>
                <a:path w="1814829" h="866775">
                  <a:moveTo>
                    <a:pt x="1629664" y="172212"/>
                  </a:moveTo>
                  <a:lnTo>
                    <a:pt x="1611249" y="167513"/>
                  </a:lnTo>
                  <a:lnTo>
                    <a:pt x="1606550" y="185928"/>
                  </a:lnTo>
                  <a:lnTo>
                    <a:pt x="1625092" y="190627"/>
                  </a:lnTo>
                  <a:lnTo>
                    <a:pt x="1629664" y="172212"/>
                  </a:lnTo>
                  <a:close/>
                </a:path>
                <a:path w="1814829" h="866775">
                  <a:moveTo>
                    <a:pt x="1666621" y="181483"/>
                  </a:moveTo>
                  <a:lnTo>
                    <a:pt x="1648206" y="176911"/>
                  </a:lnTo>
                  <a:lnTo>
                    <a:pt x="1643507" y="195326"/>
                  </a:lnTo>
                  <a:lnTo>
                    <a:pt x="1661922" y="200025"/>
                  </a:lnTo>
                  <a:lnTo>
                    <a:pt x="1666621" y="181483"/>
                  </a:lnTo>
                  <a:close/>
                </a:path>
                <a:path w="1814829" h="866775">
                  <a:moveTo>
                    <a:pt x="1703578" y="190881"/>
                  </a:moveTo>
                  <a:lnTo>
                    <a:pt x="1685163" y="186182"/>
                  </a:lnTo>
                  <a:lnTo>
                    <a:pt x="1680464" y="204724"/>
                  </a:lnTo>
                  <a:lnTo>
                    <a:pt x="1698879" y="209296"/>
                  </a:lnTo>
                  <a:lnTo>
                    <a:pt x="1703578" y="190881"/>
                  </a:lnTo>
                  <a:close/>
                </a:path>
                <a:path w="1814829" h="866775">
                  <a:moveTo>
                    <a:pt x="1740535" y="200279"/>
                  </a:moveTo>
                  <a:lnTo>
                    <a:pt x="1722120" y="195580"/>
                  </a:lnTo>
                  <a:lnTo>
                    <a:pt x="1717421" y="213995"/>
                  </a:lnTo>
                  <a:lnTo>
                    <a:pt x="1735836" y="218694"/>
                  </a:lnTo>
                  <a:lnTo>
                    <a:pt x="1740535" y="200279"/>
                  </a:lnTo>
                  <a:close/>
                </a:path>
                <a:path w="1814829" h="866775">
                  <a:moveTo>
                    <a:pt x="1777492" y="209550"/>
                  </a:moveTo>
                  <a:lnTo>
                    <a:pt x="1758950" y="204851"/>
                  </a:lnTo>
                  <a:lnTo>
                    <a:pt x="1754378" y="223393"/>
                  </a:lnTo>
                  <a:lnTo>
                    <a:pt x="1772793" y="227965"/>
                  </a:lnTo>
                  <a:lnTo>
                    <a:pt x="1777492" y="209550"/>
                  </a:lnTo>
                  <a:close/>
                </a:path>
                <a:path w="1814829" h="866775">
                  <a:moveTo>
                    <a:pt x="1814449" y="218948"/>
                  </a:moveTo>
                  <a:lnTo>
                    <a:pt x="1795907" y="214249"/>
                  </a:lnTo>
                  <a:lnTo>
                    <a:pt x="1791208" y="232664"/>
                  </a:lnTo>
                  <a:lnTo>
                    <a:pt x="1809750" y="237363"/>
                  </a:lnTo>
                  <a:lnTo>
                    <a:pt x="1814449" y="21894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868286" y="5720905"/>
            <a:ext cx="24002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25" dirty="0">
                <a:latin typeface="Calibri"/>
                <a:cs typeface="Calibri"/>
              </a:rPr>
              <a:t>hit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452232" y="5716803"/>
            <a:ext cx="9486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75310" algn="l"/>
              </a:tabLst>
            </a:pPr>
            <a:r>
              <a:rPr sz="1550" i="1" spc="-25" dirty="0">
                <a:latin typeface="Calibri"/>
                <a:cs typeface="Calibri"/>
              </a:rPr>
              <a:t>me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-20" dirty="0">
                <a:latin typeface="Calibri"/>
                <a:cs typeface="Calibri"/>
              </a:rPr>
              <a:t>with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53220" y="5712701"/>
            <a:ext cx="1289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-50" dirty="0">
                <a:latin typeface="Calibri"/>
                <a:cs typeface="Calibri"/>
              </a:rPr>
              <a:t>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741664" y="1545336"/>
            <a:ext cx="111125" cy="347345"/>
          </a:xfrm>
          <a:custGeom>
            <a:avLst/>
            <a:gdLst/>
            <a:ahLst/>
            <a:cxnLst/>
            <a:rect l="l" t="t" r="r" b="b"/>
            <a:pathLst>
              <a:path w="111125" h="347344">
                <a:moveTo>
                  <a:pt x="55052" y="37837"/>
                </a:moveTo>
                <a:lnTo>
                  <a:pt x="45657" y="54193"/>
                </a:lnTo>
                <a:lnTo>
                  <a:pt x="47243" y="347217"/>
                </a:lnTo>
                <a:lnTo>
                  <a:pt x="66293" y="347217"/>
                </a:lnTo>
                <a:lnTo>
                  <a:pt x="64707" y="54193"/>
                </a:lnTo>
                <a:lnTo>
                  <a:pt x="55052" y="37837"/>
                </a:lnTo>
                <a:close/>
              </a:path>
              <a:path w="111125" h="347344">
                <a:moveTo>
                  <a:pt x="54863" y="0"/>
                </a:moveTo>
                <a:lnTo>
                  <a:pt x="2666" y="90550"/>
                </a:lnTo>
                <a:lnTo>
                  <a:pt x="0" y="95123"/>
                </a:lnTo>
                <a:lnTo>
                  <a:pt x="1650" y="100964"/>
                </a:lnTo>
                <a:lnTo>
                  <a:pt x="6222" y="103504"/>
                </a:lnTo>
                <a:lnTo>
                  <a:pt x="10667" y="106172"/>
                </a:lnTo>
                <a:lnTo>
                  <a:pt x="16509" y="104648"/>
                </a:lnTo>
                <a:lnTo>
                  <a:pt x="19176" y="100075"/>
                </a:lnTo>
                <a:lnTo>
                  <a:pt x="45624" y="54193"/>
                </a:lnTo>
                <a:lnTo>
                  <a:pt x="45568" y="37837"/>
                </a:lnTo>
                <a:lnTo>
                  <a:pt x="45465" y="18923"/>
                </a:lnTo>
                <a:lnTo>
                  <a:pt x="66062" y="18923"/>
                </a:lnTo>
                <a:lnTo>
                  <a:pt x="54863" y="0"/>
                </a:lnTo>
                <a:close/>
              </a:path>
              <a:path w="111125" h="347344">
                <a:moveTo>
                  <a:pt x="66062" y="18923"/>
                </a:moveTo>
                <a:lnTo>
                  <a:pt x="64516" y="18923"/>
                </a:lnTo>
                <a:lnTo>
                  <a:pt x="64619" y="37837"/>
                </a:lnTo>
                <a:lnTo>
                  <a:pt x="64707" y="54193"/>
                </a:lnTo>
                <a:lnTo>
                  <a:pt x="91566" y="99694"/>
                </a:lnTo>
                <a:lnTo>
                  <a:pt x="94233" y="104139"/>
                </a:lnTo>
                <a:lnTo>
                  <a:pt x="100075" y="105663"/>
                </a:lnTo>
                <a:lnTo>
                  <a:pt x="109219" y="100329"/>
                </a:lnTo>
                <a:lnTo>
                  <a:pt x="110743" y="94487"/>
                </a:lnTo>
                <a:lnTo>
                  <a:pt x="108076" y="89915"/>
                </a:lnTo>
                <a:lnTo>
                  <a:pt x="66062" y="18923"/>
                </a:lnTo>
                <a:close/>
              </a:path>
              <a:path w="111125" h="347344">
                <a:moveTo>
                  <a:pt x="64516" y="18923"/>
                </a:moveTo>
                <a:lnTo>
                  <a:pt x="45465" y="18923"/>
                </a:lnTo>
                <a:lnTo>
                  <a:pt x="45568" y="37837"/>
                </a:lnTo>
                <a:lnTo>
                  <a:pt x="45657" y="54193"/>
                </a:lnTo>
                <a:lnTo>
                  <a:pt x="55052" y="37837"/>
                </a:lnTo>
                <a:lnTo>
                  <a:pt x="46735" y="23749"/>
                </a:lnTo>
                <a:lnTo>
                  <a:pt x="64542" y="23749"/>
                </a:lnTo>
                <a:lnTo>
                  <a:pt x="64516" y="18923"/>
                </a:lnTo>
                <a:close/>
              </a:path>
              <a:path w="111125" h="347344">
                <a:moveTo>
                  <a:pt x="64542" y="23749"/>
                </a:moveTo>
                <a:lnTo>
                  <a:pt x="63172" y="23749"/>
                </a:lnTo>
                <a:lnTo>
                  <a:pt x="55052" y="37837"/>
                </a:lnTo>
                <a:lnTo>
                  <a:pt x="64707" y="54193"/>
                </a:lnTo>
                <a:lnTo>
                  <a:pt x="64619" y="37837"/>
                </a:lnTo>
                <a:lnTo>
                  <a:pt x="64542" y="23749"/>
                </a:lnTo>
                <a:close/>
              </a:path>
              <a:path w="111125" h="347344">
                <a:moveTo>
                  <a:pt x="63172" y="23749"/>
                </a:moveTo>
                <a:lnTo>
                  <a:pt x="46735" y="23749"/>
                </a:lnTo>
                <a:lnTo>
                  <a:pt x="55052" y="37837"/>
                </a:lnTo>
                <a:lnTo>
                  <a:pt x="63172" y="2374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667750" y="1236598"/>
            <a:ext cx="2692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-25" dirty="0">
                <a:latin typeface="Calibri"/>
                <a:cs typeface="Calibri"/>
              </a:rPr>
              <a:t>pie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17597" y="6415687"/>
            <a:ext cx="22358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(input)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AF2647F-EAD8-754C-5D3B-87485B7DA16B}"/>
                  </a:ext>
                </a:extLst>
              </p:cNvPr>
              <p:cNvSpPr txBox="1"/>
              <p:nvPr/>
            </p:nvSpPr>
            <p:spPr>
              <a:xfrm>
                <a:off x="8673177" y="1903562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AF2647F-EAD8-754C-5D3B-87485B7DA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177" y="1903562"/>
                <a:ext cx="294311" cy="276999"/>
              </a:xfrm>
              <a:prstGeom prst="rect">
                <a:avLst/>
              </a:prstGeom>
              <a:blipFill>
                <a:blip r:embed="rId7"/>
                <a:stretch>
                  <a:fillRect l="-18750" t="-21739" r="-5208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4.</a:t>
            </a:r>
            <a:r>
              <a:rPr spc="-20" dirty="0"/>
              <a:t> </a:t>
            </a:r>
            <a:r>
              <a:rPr dirty="0"/>
              <a:t>Do</a:t>
            </a:r>
            <a:r>
              <a:rPr spc="60" dirty="0"/>
              <a:t> </a:t>
            </a:r>
            <a:r>
              <a:rPr dirty="0"/>
              <a:t>we</a:t>
            </a:r>
            <a:r>
              <a:rPr spc="30" dirty="0"/>
              <a:t> </a:t>
            </a:r>
            <a:r>
              <a:rPr dirty="0"/>
              <a:t>even</a:t>
            </a:r>
            <a:r>
              <a:rPr spc="60" dirty="0"/>
              <a:t> </a:t>
            </a:r>
            <a:r>
              <a:rPr dirty="0"/>
              <a:t>need</a:t>
            </a:r>
            <a:r>
              <a:rPr spc="65" dirty="0"/>
              <a:t> </a:t>
            </a:r>
            <a:r>
              <a:rPr dirty="0"/>
              <a:t>recurrence</a:t>
            </a:r>
            <a:r>
              <a:rPr spc="105" dirty="0"/>
              <a:t> </a:t>
            </a:r>
            <a:r>
              <a:rPr dirty="0"/>
              <a:t>at</a:t>
            </a:r>
            <a:r>
              <a:rPr spc="85" dirty="0"/>
              <a:t> </a:t>
            </a:r>
            <a:r>
              <a:rPr spc="-20" dirty="0"/>
              <a:t>all?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95" y="1159319"/>
            <a:ext cx="11234420" cy="199961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68300" marR="780415" indent="-343535">
              <a:lnSpc>
                <a:spcPct val="102299"/>
              </a:lnSpc>
              <a:spcBef>
                <a:spcPts val="60"/>
              </a:spcBef>
              <a:buClr>
                <a:srgbClr val="8B1515"/>
              </a:buClr>
              <a:buFont typeface="Times New Roman"/>
              <a:buChar char="•"/>
              <a:tabLst>
                <a:tab pos="368300" algn="l"/>
              </a:tabLst>
            </a:pPr>
            <a:r>
              <a:rPr sz="2350" dirty="0">
                <a:latin typeface="Calibri"/>
                <a:cs typeface="Calibri"/>
              </a:rPr>
              <a:t>Abstractly: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Attention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is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way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pass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information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from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sequence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spc="55" dirty="0">
                <a:latin typeface="Calibri"/>
                <a:cs typeface="Calibri"/>
              </a:rPr>
              <a:t>(</a:t>
            </a:r>
            <a:r>
              <a:rPr sz="2350" spc="55" dirty="0">
                <a:latin typeface="Cambria Math"/>
                <a:cs typeface="Cambria Math"/>
              </a:rPr>
              <a:t>𝑥</a:t>
            </a:r>
            <a:r>
              <a:rPr sz="2350" spc="55" dirty="0">
                <a:latin typeface="Calibri"/>
                <a:cs typeface="Calibri"/>
              </a:rPr>
              <a:t>)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neural </a:t>
            </a:r>
            <a:r>
              <a:rPr sz="2350" dirty="0">
                <a:latin typeface="Calibri"/>
                <a:cs typeface="Calibri"/>
              </a:rPr>
              <a:t>network</a:t>
            </a:r>
            <a:r>
              <a:rPr sz="2350" spc="10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input.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spc="50" dirty="0">
                <a:latin typeface="Calibri"/>
                <a:cs typeface="Calibri"/>
              </a:rPr>
              <a:t>(</a:t>
            </a:r>
            <a:r>
              <a:rPr sz="2350" spc="50" dirty="0">
                <a:latin typeface="Cambria Math"/>
                <a:cs typeface="Cambria Math"/>
              </a:rPr>
              <a:t>ℎ</a:t>
            </a:r>
            <a:r>
              <a:rPr sz="2550" spc="75" baseline="-16339" dirty="0">
                <a:latin typeface="Cambria Math"/>
                <a:cs typeface="Cambria Math"/>
              </a:rPr>
              <a:t>𝑡</a:t>
            </a:r>
            <a:r>
              <a:rPr sz="2350" spc="50" dirty="0">
                <a:latin typeface="Calibri"/>
                <a:cs typeface="Calibri"/>
              </a:rPr>
              <a:t>)</a:t>
            </a:r>
            <a:endParaRPr sz="2350">
              <a:latin typeface="Calibri"/>
              <a:cs typeface="Calibri"/>
            </a:endParaRPr>
          </a:p>
          <a:p>
            <a:pPr marL="710565" lvl="1" indent="-227965">
              <a:lnSpc>
                <a:spcPct val="100000"/>
              </a:lnSpc>
              <a:spcBef>
                <a:spcPts val="645"/>
              </a:spcBef>
              <a:buClr>
                <a:srgbClr val="007B92"/>
              </a:buClr>
              <a:buFont typeface="Times New Roman"/>
              <a:buChar char="•"/>
              <a:tabLst>
                <a:tab pos="710565" algn="l"/>
              </a:tabLst>
            </a:pPr>
            <a:r>
              <a:rPr sz="2350" dirty="0">
                <a:latin typeface="Calibri"/>
                <a:cs typeface="Calibri"/>
              </a:rPr>
              <a:t>This</a:t>
            </a:r>
            <a:r>
              <a:rPr sz="2350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is</a:t>
            </a:r>
            <a:r>
              <a:rPr sz="2350" spc="2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also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i="1" dirty="0">
                <a:latin typeface="Calibri"/>
                <a:cs typeface="Calibri"/>
              </a:rPr>
              <a:t>exactly</a:t>
            </a:r>
            <a:r>
              <a:rPr sz="2350" i="1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what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RNNs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are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used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for</a:t>
            </a:r>
            <a:r>
              <a:rPr sz="2350" spc="10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–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pass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information!</a:t>
            </a:r>
            <a:endParaRPr sz="2350">
              <a:latin typeface="Calibri"/>
              <a:cs typeface="Calibri"/>
            </a:endParaRPr>
          </a:p>
          <a:p>
            <a:pPr marL="710565" lvl="1" indent="-227965">
              <a:lnSpc>
                <a:spcPct val="100000"/>
              </a:lnSpc>
              <a:spcBef>
                <a:spcPts val="635"/>
              </a:spcBef>
              <a:buClr>
                <a:srgbClr val="007B92"/>
              </a:buClr>
              <a:buFont typeface="Times New Roman"/>
              <a:buChar char="•"/>
              <a:tabLst>
                <a:tab pos="710565" algn="l"/>
              </a:tabLst>
            </a:pPr>
            <a:r>
              <a:rPr sz="2350" b="1" dirty="0">
                <a:latin typeface="Calibri"/>
                <a:cs typeface="Calibri"/>
              </a:rPr>
              <a:t>Can</a:t>
            </a:r>
            <a:r>
              <a:rPr sz="2350" b="1" spc="10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we</a:t>
            </a:r>
            <a:r>
              <a:rPr sz="2350" b="1" spc="11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just</a:t>
            </a:r>
            <a:r>
              <a:rPr sz="2350" b="1" spc="12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get</a:t>
            </a:r>
            <a:r>
              <a:rPr sz="2350" b="1" spc="4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rid</a:t>
            </a:r>
            <a:r>
              <a:rPr sz="2350" b="1" spc="100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of</a:t>
            </a:r>
            <a:r>
              <a:rPr sz="2350" b="1" spc="12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the</a:t>
            </a:r>
            <a:r>
              <a:rPr sz="2350" b="1" spc="3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RNN</a:t>
            </a:r>
            <a:r>
              <a:rPr sz="2350" b="1" spc="2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entirely?</a:t>
            </a:r>
            <a:r>
              <a:rPr sz="2350" b="1" spc="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Maybe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attention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is</a:t>
            </a:r>
            <a:r>
              <a:rPr sz="2350" spc="1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just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better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way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40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pass</a:t>
            </a:r>
            <a:endParaRPr sz="2350">
              <a:latin typeface="Calibri"/>
              <a:cs typeface="Calibri"/>
            </a:endParaRPr>
          </a:p>
          <a:p>
            <a:pPr marL="711200">
              <a:lnSpc>
                <a:spcPct val="100000"/>
              </a:lnSpc>
              <a:spcBef>
                <a:spcPts val="65"/>
              </a:spcBef>
            </a:pPr>
            <a:r>
              <a:rPr sz="2350" spc="-10" dirty="0">
                <a:latin typeface="Calibri"/>
                <a:cs typeface="Calibri"/>
              </a:rPr>
              <a:t>information!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1951" y="3584447"/>
            <a:ext cx="2758440" cy="13533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39797" y="5154548"/>
            <a:ext cx="1639570" cy="725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50"/>
              </a:lnSpc>
              <a:spcBef>
                <a:spcPts val="110"/>
              </a:spcBef>
            </a:pPr>
            <a:r>
              <a:rPr sz="2300" b="1" spc="-10" dirty="0">
                <a:latin typeface="Calibri"/>
                <a:cs typeface="Calibri"/>
              </a:rPr>
              <a:t>2014-2017ish</a:t>
            </a:r>
            <a:endParaRPr sz="2300">
              <a:latin typeface="Calibri"/>
              <a:cs typeface="Calibri"/>
            </a:endParaRPr>
          </a:p>
          <a:p>
            <a:pPr marL="137160">
              <a:lnSpc>
                <a:spcPts val="2750"/>
              </a:lnSpc>
            </a:pPr>
            <a:r>
              <a:rPr sz="2300" b="1" spc="-10" dirty="0">
                <a:latin typeface="Calibri"/>
                <a:cs typeface="Calibri"/>
              </a:rPr>
              <a:t>Recurrence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60620" y="451104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2034" y="4149089"/>
            <a:ext cx="1366520" cy="725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50"/>
              </a:lnSpc>
              <a:spcBef>
                <a:spcPts val="110"/>
              </a:spcBef>
            </a:pPr>
            <a:r>
              <a:rPr sz="2300" dirty="0">
                <a:latin typeface="Calibri"/>
                <a:cs typeface="Calibri"/>
              </a:rPr>
              <a:t>Lots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trial</a:t>
            </a:r>
            <a:endParaRPr sz="2300">
              <a:latin typeface="Calibri"/>
              <a:cs typeface="Calibri"/>
            </a:endParaRPr>
          </a:p>
          <a:p>
            <a:pPr marL="12446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and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error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53653" y="5124005"/>
            <a:ext cx="836930" cy="72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920">
              <a:lnSpc>
                <a:spcPts val="275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2021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50"/>
              </a:lnSpc>
            </a:pPr>
            <a:r>
              <a:rPr sz="2300" b="1" spc="-10" dirty="0">
                <a:latin typeface="Calibri"/>
                <a:cs typeface="Calibri"/>
              </a:rPr>
              <a:t>??????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6382" y="3922736"/>
            <a:ext cx="1650541" cy="10196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5434" y="3913592"/>
            <a:ext cx="900774" cy="101057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dirty="0"/>
              <a:t>building</a:t>
            </a:r>
            <a:r>
              <a:rPr spc="45" dirty="0"/>
              <a:t> </a:t>
            </a:r>
            <a:r>
              <a:rPr dirty="0"/>
              <a:t>block</a:t>
            </a:r>
            <a:r>
              <a:rPr spc="25" dirty="0"/>
              <a:t> </a:t>
            </a:r>
            <a:r>
              <a:rPr dirty="0"/>
              <a:t>we</a:t>
            </a:r>
            <a:r>
              <a:rPr spc="100" dirty="0"/>
              <a:t> </a:t>
            </a:r>
            <a:r>
              <a:rPr dirty="0"/>
              <a:t>need:</a:t>
            </a:r>
            <a:r>
              <a:rPr spc="150" dirty="0"/>
              <a:t> </a:t>
            </a:r>
            <a:r>
              <a:rPr i="1" dirty="0">
                <a:latin typeface="Calibri"/>
                <a:cs typeface="Calibri"/>
              </a:rPr>
              <a:t>self</a:t>
            </a:r>
            <a:r>
              <a:rPr i="1" spc="85" dirty="0">
                <a:latin typeface="Calibri"/>
                <a:cs typeface="Calibri"/>
              </a:rPr>
              <a:t> </a:t>
            </a:r>
            <a:r>
              <a:rPr spc="-10" dirty="0"/>
              <a:t>attention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95" y="1159319"/>
            <a:ext cx="1110424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25"/>
              </a:spcBef>
              <a:buClr>
                <a:srgbClr val="8B1515"/>
              </a:buClr>
              <a:buFont typeface="Times New Roman"/>
              <a:buChar char="•"/>
              <a:tabLst>
                <a:tab pos="368300" algn="l"/>
              </a:tabLst>
            </a:pPr>
            <a:r>
              <a:rPr sz="2350" dirty="0">
                <a:latin typeface="Calibri"/>
                <a:cs typeface="Calibri"/>
              </a:rPr>
              <a:t>What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we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talked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about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–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Cross</a:t>
            </a:r>
            <a:r>
              <a:rPr sz="2350" b="1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attention:</a:t>
            </a:r>
            <a:r>
              <a:rPr sz="2350" spc="10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paying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attention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the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input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x</a:t>
            </a:r>
            <a:r>
              <a:rPr sz="2350" spc="7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generate</a:t>
            </a:r>
            <a:r>
              <a:rPr sz="2350" spc="110" dirty="0">
                <a:latin typeface="Calibri"/>
                <a:cs typeface="Calibri"/>
              </a:rPr>
              <a:t> </a:t>
            </a:r>
            <a:r>
              <a:rPr sz="2350" spc="-25" dirty="0">
                <a:latin typeface="Cambria Math"/>
                <a:cs typeface="Cambria Math"/>
              </a:rPr>
              <a:t>𝑦</a:t>
            </a:r>
            <a:r>
              <a:rPr sz="2550" spc="-37" baseline="-16339" dirty="0">
                <a:latin typeface="Cambria Math"/>
                <a:cs typeface="Cambria Math"/>
              </a:rPr>
              <a:t>𝑡</a:t>
            </a:r>
            <a:endParaRPr sz="2550" baseline="-16339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2823" y="3643679"/>
            <a:ext cx="227329" cy="3225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780"/>
              </a:lnSpc>
            </a:pPr>
            <a:r>
              <a:rPr sz="700" spc="-10" dirty="0">
                <a:solidFill>
                  <a:srgbClr val="C00000"/>
                </a:solidFill>
                <a:latin typeface="Calibri"/>
                <a:cs typeface="Calibri"/>
              </a:rPr>
              <a:t>Encoder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700" spc="-25" dirty="0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7236" y="4683571"/>
            <a:ext cx="885190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dirty="0">
                <a:latin typeface="Calibri"/>
                <a:cs typeface="Calibri"/>
              </a:rPr>
              <a:t>Source</a:t>
            </a:r>
            <a:r>
              <a:rPr sz="700" spc="5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sentence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(input)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17720" y="4526279"/>
            <a:ext cx="1262380" cy="146685"/>
          </a:xfrm>
          <a:custGeom>
            <a:avLst/>
            <a:gdLst/>
            <a:ahLst/>
            <a:cxnLst/>
            <a:rect l="l" t="t" r="r" b="b"/>
            <a:pathLst>
              <a:path w="1262379" h="146685">
                <a:moveTo>
                  <a:pt x="1261871" y="0"/>
                </a:moveTo>
                <a:lnTo>
                  <a:pt x="1257369" y="28467"/>
                </a:lnTo>
                <a:lnTo>
                  <a:pt x="1245092" y="51720"/>
                </a:lnTo>
                <a:lnTo>
                  <a:pt x="1226885" y="67401"/>
                </a:lnTo>
                <a:lnTo>
                  <a:pt x="1204594" y="73152"/>
                </a:lnTo>
                <a:lnTo>
                  <a:pt x="688213" y="73152"/>
                </a:lnTo>
                <a:lnTo>
                  <a:pt x="665922" y="78902"/>
                </a:lnTo>
                <a:lnTo>
                  <a:pt x="647715" y="94583"/>
                </a:lnTo>
                <a:lnTo>
                  <a:pt x="635438" y="117836"/>
                </a:lnTo>
                <a:lnTo>
                  <a:pt x="630935" y="146304"/>
                </a:lnTo>
                <a:lnTo>
                  <a:pt x="626433" y="117836"/>
                </a:lnTo>
                <a:lnTo>
                  <a:pt x="614156" y="94583"/>
                </a:lnTo>
                <a:lnTo>
                  <a:pt x="595949" y="78902"/>
                </a:lnTo>
                <a:lnTo>
                  <a:pt x="573658" y="73152"/>
                </a:lnTo>
                <a:lnTo>
                  <a:pt x="57276" y="73152"/>
                </a:lnTo>
                <a:lnTo>
                  <a:pt x="34986" y="67401"/>
                </a:lnTo>
                <a:lnTo>
                  <a:pt x="16779" y="51720"/>
                </a:lnTo>
                <a:lnTo>
                  <a:pt x="4502" y="28467"/>
                </a:ln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34840" y="3602735"/>
            <a:ext cx="91440" cy="402590"/>
          </a:xfrm>
          <a:custGeom>
            <a:avLst/>
            <a:gdLst/>
            <a:ahLst/>
            <a:cxnLst/>
            <a:rect l="l" t="t" r="r" b="b"/>
            <a:pathLst>
              <a:path w="91439" h="402589">
                <a:moveTo>
                  <a:pt x="91439" y="402336"/>
                </a:moveTo>
                <a:lnTo>
                  <a:pt x="73634" y="399526"/>
                </a:lnTo>
                <a:lnTo>
                  <a:pt x="59102" y="391858"/>
                </a:lnTo>
                <a:lnTo>
                  <a:pt x="49309" y="380476"/>
                </a:lnTo>
                <a:lnTo>
                  <a:pt x="45720" y="366521"/>
                </a:lnTo>
                <a:lnTo>
                  <a:pt x="45720" y="236855"/>
                </a:lnTo>
                <a:lnTo>
                  <a:pt x="42130" y="222974"/>
                </a:lnTo>
                <a:lnTo>
                  <a:pt x="32337" y="211629"/>
                </a:lnTo>
                <a:lnTo>
                  <a:pt x="17805" y="203975"/>
                </a:lnTo>
                <a:lnTo>
                  <a:pt x="0" y="201168"/>
                </a:lnTo>
                <a:lnTo>
                  <a:pt x="17805" y="198358"/>
                </a:lnTo>
                <a:lnTo>
                  <a:pt x="32337" y="190690"/>
                </a:lnTo>
                <a:lnTo>
                  <a:pt x="42130" y="179308"/>
                </a:lnTo>
                <a:lnTo>
                  <a:pt x="45720" y="165353"/>
                </a:lnTo>
                <a:lnTo>
                  <a:pt x="45720" y="35687"/>
                </a:lnTo>
                <a:lnTo>
                  <a:pt x="49309" y="21806"/>
                </a:lnTo>
                <a:lnTo>
                  <a:pt x="59102" y="10461"/>
                </a:lnTo>
                <a:lnTo>
                  <a:pt x="73634" y="2807"/>
                </a:lnTo>
                <a:lnTo>
                  <a:pt x="91439" y="0"/>
                </a:lnTo>
              </a:path>
            </a:pathLst>
          </a:custGeom>
          <a:ln w="1904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55054" y="4360357"/>
            <a:ext cx="292100" cy="113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50" i="1" spc="-10" dirty="0">
                <a:latin typeface="Calibri"/>
                <a:cs typeface="Calibri"/>
              </a:rPr>
              <a:t>&lt;START&gt;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3665" y="4365371"/>
            <a:ext cx="290195" cy="113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9395" algn="l"/>
              </a:tabLst>
            </a:pPr>
            <a:r>
              <a:rPr sz="550" i="1" spc="-25" dirty="0">
                <a:latin typeface="Calibri"/>
                <a:cs typeface="Calibri"/>
              </a:rPr>
              <a:t>il</a:t>
            </a:r>
            <a:r>
              <a:rPr sz="550" i="1" dirty="0">
                <a:latin typeface="Calibri"/>
                <a:cs typeface="Calibri"/>
              </a:rPr>
              <a:t>	</a:t>
            </a:r>
            <a:r>
              <a:rPr sz="550" i="1" spc="-50" dirty="0">
                <a:latin typeface="Calibri"/>
                <a:cs typeface="Calibri"/>
              </a:rPr>
              <a:t>a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1124" y="4365371"/>
            <a:ext cx="433070" cy="113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50" i="1" dirty="0">
                <a:latin typeface="Calibri"/>
                <a:cs typeface="Calibri"/>
              </a:rPr>
              <a:t>m’</a:t>
            </a:r>
            <a:r>
              <a:rPr sz="550" i="1" spc="295" dirty="0">
                <a:latin typeface="Calibri"/>
                <a:cs typeface="Calibri"/>
              </a:rPr>
              <a:t>  </a:t>
            </a:r>
            <a:r>
              <a:rPr sz="550" i="1" spc="-10" dirty="0">
                <a:latin typeface="Calibri"/>
                <a:cs typeface="Calibri"/>
              </a:rPr>
              <a:t>entarté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17339" y="1938147"/>
            <a:ext cx="2679700" cy="2382520"/>
            <a:chOff x="4617339" y="1938147"/>
            <a:chExt cx="2679700" cy="23825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7339" y="3190875"/>
              <a:ext cx="2633599" cy="11292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18304" y="3204209"/>
              <a:ext cx="2525395" cy="399415"/>
            </a:xfrm>
            <a:custGeom>
              <a:avLst/>
              <a:gdLst/>
              <a:ahLst/>
              <a:cxnLst/>
              <a:rect l="l" t="t" r="r" b="b"/>
              <a:pathLst>
                <a:path w="2525395" h="399414">
                  <a:moveTo>
                    <a:pt x="2525395" y="380619"/>
                  </a:moveTo>
                  <a:lnTo>
                    <a:pt x="2515120" y="379209"/>
                  </a:lnTo>
                  <a:lnTo>
                    <a:pt x="1525282" y="223431"/>
                  </a:lnTo>
                  <a:lnTo>
                    <a:pt x="1525282" y="242684"/>
                  </a:lnTo>
                  <a:lnTo>
                    <a:pt x="396176" y="86956"/>
                  </a:lnTo>
                  <a:lnTo>
                    <a:pt x="362775" y="59702"/>
                  </a:lnTo>
                  <a:lnTo>
                    <a:pt x="1525282" y="242684"/>
                  </a:lnTo>
                  <a:lnTo>
                    <a:pt x="1525282" y="223431"/>
                  </a:lnTo>
                  <a:lnTo>
                    <a:pt x="365747" y="40919"/>
                  </a:lnTo>
                  <a:lnTo>
                    <a:pt x="379755" y="35433"/>
                  </a:lnTo>
                  <a:lnTo>
                    <a:pt x="420116" y="19685"/>
                  </a:lnTo>
                  <a:lnTo>
                    <a:pt x="422529" y="14224"/>
                  </a:lnTo>
                  <a:lnTo>
                    <a:pt x="420624" y="9271"/>
                  </a:lnTo>
                  <a:lnTo>
                    <a:pt x="418719" y="4445"/>
                  </a:lnTo>
                  <a:lnTo>
                    <a:pt x="413131" y="1905"/>
                  </a:lnTo>
                  <a:lnTo>
                    <a:pt x="408305" y="3937"/>
                  </a:lnTo>
                  <a:lnTo>
                    <a:pt x="310896" y="41910"/>
                  </a:lnTo>
                  <a:lnTo>
                    <a:pt x="360045" y="81965"/>
                  </a:lnTo>
                  <a:lnTo>
                    <a:pt x="54813" y="39865"/>
                  </a:lnTo>
                  <a:lnTo>
                    <a:pt x="66509" y="35052"/>
                  </a:lnTo>
                  <a:lnTo>
                    <a:pt x="108712" y="17653"/>
                  </a:lnTo>
                  <a:lnTo>
                    <a:pt x="110998" y="12065"/>
                  </a:lnTo>
                  <a:lnTo>
                    <a:pt x="109093" y="7239"/>
                  </a:lnTo>
                  <a:lnTo>
                    <a:pt x="107061" y="2286"/>
                  </a:lnTo>
                  <a:lnTo>
                    <a:pt x="101473" y="0"/>
                  </a:lnTo>
                  <a:lnTo>
                    <a:pt x="0" y="41910"/>
                  </a:lnTo>
                  <a:lnTo>
                    <a:pt x="82169" y="106426"/>
                  </a:lnTo>
                  <a:lnTo>
                    <a:pt x="86360" y="109601"/>
                  </a:lnTo>
                  <a:lnTo>
                    <a:pt x="92329" y="108966"/>
                  </a:lnTo>
                  <a:lnTo>
                    <a:pt x="95631" y="104775"/>
                  </a:lnTo>
                  <a:lnTo>
                    <a:pt x="98806" y="100584"/>
                  </a:lnTo>
                  <a:lnTo>
                    <a:pt x="98171" y="94615"/>
                  </a:lnTo>
                  <a:lnTo>
                    <a:pt x="93980" y="91440"/>
                  </a:lnTo>
                  <a:lnTo>
                    <a:pt x="52184" y="58674"/>
                  </a:lnTo>
                  <a:lnTo>
                    <a:pt x="388353" y="105041"/>
                  </a:lnTo>
                  <a:lnTo>
                    <a:pt x="395986" y="111252"/>
                  </a:lnTo>
                  <a:lnTo>
                    <a:pt x="401955" y="110617"/>
                  </a:lnTo>
                  <a:lnTo>
                    <a:pt x="404660" y="107289"/>
                  </a:lnTo>
                  <a:lnTo>
                    <a:pt x="2508491" y="397446"/>
                  </a:lnTo>
                  <a:lnTo>
                    <a:pt x="2521077" y="399415"/>
                  </a:lnTo>
                  <a:lnTo>
                    <a:pt x="2521115" y="399186"/>
                  </a:lnTo>
                  <a:lnTo>
                    <a:pt x="2522855" y="399415"/>
                  </a:lnTo>
                  <a:lnTo>
                    <a:pt x="2525395" y="38061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6864" y="1938147"/>
              <a:ext cx="2670047" cy="126301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162823" y="3063776"/>
            <a:ext cx="227329" cy="3752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780"/>
              </a:lnSpc>
            </a:pPr>
            <a:r>
              <a:rPr sz="7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7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  <a:spcBef>
                <a:spcPts val="25"/>
              </a:spcBef>
            </a:pPr>
            <a:r>
              <a:rPr sz="700" spc="-10" dirty="0">
                <a:solidFill>
                  <a:srgbClr val="3986FF"/>
                </a:solidFill>
                <a:latin typeface="Calibri"/>
                <a:cs typeface="Calibri"/>
              </a:rPr>
              <a:t>scores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34840" y="3072383"/>
            <a:ext cx="91440" cy="320040"/>
          </a:xfrm>
          <a:custGeom>
            <a:avLst/>
            <a:gdLst/>
            <a:ahLst/>
            <a:cxnLst/>
            <a:rect l="l" t="t" r="r" b="b"/>
            <a:pathLst>
              <a:path w="91439" h="320039">
                <a:moveTo>
                  <a:pt x="91439" y="320039"/>
                </a:moveTo>
                <a:lnTo>
                  <a:pt x="73634" y="317230"/>
                </a:lnTo>
                <a:lnTo>
                  <a:pt x="59102" y="309562"/>
                </a:lnTo>
                <a:lnTo>
                  <a:pt x="49309" y="298180"/>
                </a:lnTo>
                <a:lnTo>
                  <a:pt x="45720" y="284225"/>
                </a:lnTo>
                <a:lnTo>
                  <a:pt x="45720" y="195706"/>
                </a:lnTo>
                <a:lnTo>
                  <a:pt x="42130" y="181826"/>
                </a:lnTo>
                <a:lnTo>
                  <a:pt x="32337" y="170481"/>
                </a:lnTo>
                <a:lnTo>
                  <a:pt x="17805" y="162827"/>
                </a:lnTo>
                <a:lnTo>
                  <a:pt x="0" y="160019"/>
                </a:lnTo>
                <a:lnTo>
                  <a:pt x="17805" y="157210"/>
                </a:lnTo>
                <a:lnTo>
                  <a:pt x="32337" y="149542"/>
                </a:lnTo>
                <a:lnTo>
                  <a:pt x="42130" y="138160"/>
                </a:lnTo>
                <a:lnTo>
                  <a:pt x="45720" y="124205"/>
                </a:lnTo>
                <a:lnTo>
                  <a:pt x="45720" y="35687"/>
                </a:lnTo>
                <a:lnTo>
                  <a:pt x="49309" y="21806"/>
                </a:lnTo>
                <a:lnTo>
                  <a:pt x="59102" y="10461"/>
                </a:lnTo>
                <a:lnTo>
                  <a:pt x="73634" y="2807"/>
                </a:lnTo>
                <a:lnTo>
                  <a:pt x="91439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162823" y="2426954"/>
            <a:ext cx="227329" cy="44830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49530">
              <a:lnSpc>
                <a:spcPts val="780"/>
              </a:lnSpc>
            </a:pPr>
            <a:r>
              <a:rPr sz="7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700" spc="-10" dirty="0">
                <a:solidFill>
                  <a:srgbClr val="3986FF"/>
                </a:solidFill>
                <a:latin typeface="Calibri"/>
                <a:cs typeface="Calibri"/>
              </a:rPr>
              <a:t>distribution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34840" y="2487167"/>
            <a:ext cx="100965" cy="320040"/>
          </a:xfrm>
          <a:custGeom>
            <a:avLst/>
            <a:gdLst/>
            <a:ahLst/>
            <a:cxnLst/>
            <a:rect l="l" t="t" r="r" b="b"/>
            <a:pathLst>
              <a:path w="100964" h="320039">
                <a:moveTo>
                  <a:pt x="100584" y="320040"/>
                </a:moveTo>
                <a:lnTo>
                  <a:pt x="80992" y="316942"/>
                </a:lnTo>
                <a:lnTo>
                  <a:pt x="65008" y="308498"/>
                </a:lnTo>
                <a:lnTo>
                  <a:pt x="54238" y="295983"/>
                </a:lnTo>
                <a:lnTo>
                  <a:pt x="50292" y="280670"/>
                </a:lnTo>
                <a:lnTo>
                  <a:pt x="50292" y="199390"/>
                </a:lnTo>
                <a:lnTo>
                  <a:pt x="46345" y="184076"/>
                </a:lnTo>
                <a:lnTo>
                  <a:pt x="35575" y="171561"/>
                </a:lnTo>
                <a:lnTo>
                  <a:pt x="19591" y="163117"/>
                </a:lnTo>
                <a:lnTo>
                  <a:pt x="0" y="160020"/>
                </a:lnTo>
                <a:lnTo>
                  <a:pt x="19591" y="156922"/>
                </a:lnTo>
                <a:lnTo>
                  <a:pt x="35575" y="148478"/>
                </a:lnTo>
                <a:lnTo>
                  <a:pt x="46345" y="135963"/>
                </a:lnTo>
                <a:lnTo>
                  <a:pt x="50292" y="120650"/>
                </a:lnTo>
                <a:lnTo>
                  <a:pt x="50292" y="39370"/>
                </a:lnTo>
                <a:lnTo>
                  <a:pt x="54238" y="24056"/>
                </a:lnTo>
                <a:lnTo>
                  <a:pt x="65008" y="11541"/>
                </a:lnTo>
                <a:lnTo>
                  <a:pt x="80992" y="3097"/>
                </a:lnTo>
                <a:lnTo>
                  <a:pt x="100584" y="0"/>
                </a:lnTo>
              </a:path>
            </a:pathLst>
          </a:custGeom>
          <a:ln w="19050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96484" y="2002789"/>
            <a:ext cx="37655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230" marR="5080" indent="-50165">
              <a:lnSpc>
                <a:spcPct val="103099"/>
              </a:lnSpc>
              <a:spcBef>
                <a:spcPts val="90"/>
              </a:spcBef>
            </a:pPr>
            <a:r>
              <a:rPr sz="700" spc="-10" dirty="0">
                <a:solidFill>
                  <a:srgbClr val="3986FF"/>
                </a:solidFill>
                <a:latin typeface="Calibri"/>
                <a:cs typeface="Calibri"/>
              </a:rPr>
              <a:t>Attention</a:t>
            </a:r>
            <a:r>
              <a:rPr sz="700" spc="500" dirty="0">
                <a:solidFill>
                  <a:srgbClr val="3986FF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3986FF"/>
                </a:solidFill>
                <a:latin typeface="Calibri"/>
                <a:cs typeface="Calibri"/>
              </a:rPr>
              <a:t>output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6314" y="4360357"/>
            <a:ext cx="96520" cy="113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50" i="1" spc="-25" dirty="0">
                <a:latin typeface="Calibri"/>
                <a:cs typeface="Calibri"/>
              </a:rPr>
              <a:t>he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89750" y="4358766"/>
            <a:ext cx="435609" cy="113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6865" algn="l"/>
              </a:tabLst>
            </a:pPr>
            <a:r>
              <a:rPr sz="550" i="1" spc="-25" dirty="0">
                <a:latin typeface="Calibri"/>
                <a:cs typeface="Calibri"/>
              </a:rPr>
              <a:t>hit</a:t>
            </a:r>
            <a:r>
              <a:rPr sz="550" i="1" dirty="0">
                <a:latin typeface="Calibri"/>
                <a:cs typeface="Calibri"/>
              </a:rPr>
              <a:t>	</a:t>
            </a:r>
            <a:r>
              <a:rPr sz="550" i="1" spc="-25" dirty="0">
                <a:latin typeface="Calibri"/>
                <a:cs typeface="Calibri"/>
              </a:rPr>
              <a:t>me</a:t>
            </a:r>
            <a:r>
              <a:rPr sz="550" i="1" spc="500" dirty="0">
                <a:latin typeface="Calibri"/>
                <a:cs typeface="Calibri"/>
              </a:rPr>
              <a:t> </a:t>
            </a:r>
            <a:endParaRPr sz="55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7579" y="2541904"/>
            <a:ext cx="787146" cy="177825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183501" y="2397506"/>
            <a:ext cx="146050" cy="113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550" spc="-105" dirty="0">
                <a:latin typeface="Cambria Math"/>
                <a:cs typeface="Cambria Math"/>
              </a:rPr>
              <a:t>𝑦ො</a:t>
            </a:r>
            <a:r>
              <a:rPr sz="600" spc="-157" baseline="-13888" dirty="0">
                <a:latin typeface="Cambria Math"/>
                <a:cs typeface="Cambria Math"/>
              </a:rPr>
              <a:t>4</a:t>
            </a:r>
            <a:endParaRPr sz="600" baseline="-13888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19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90231" y="2042225"/>
            <a:ext cx="123189" cy="205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550" i="1" spc="-25" dirty="0">
                <a:latin typeface="Calibri"/>
                <a:cs typeface="Calibri"/>
              </a:rPr>
              <a:t>wit</a:t>
            </a:r>
            <a:endParaRPr sz="5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550" i="1" spc="-50" dirty="0">
                <a:latin typeface="Calibri"/>
                <a:cs typeface="Calibri"/>
              </a:rPr>
              <a:t>h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3191" y="4830508"/>
            <a:ext cx="1026541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25"/>
              </a:spcBef>
              <a:buClr>
                <a:srgbClr val="8B1515"/>
              </a:buClr>
              <a:buFont typeface="Times New Roman"/>
              <a:buChar char="•"/>
              <a:tabLst>
                <a:tab pos="381000" algn="l"/>
              </a:tabLst>
            </a:pPr>
            <a:r>
              <a:rPr sz="2350" dirty="0">
                <a:latin typeface="Calibri"/>
                <a:cs typeface="Calibri"/>
              </a:rPr>
              <a:t>What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we</a:t>
            </a:r>
            <a:r>
              <a:rPr sz="2350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need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–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b="1" dirty="0">
                <a:latin typeface="Calibri"/>
                <a:cs typeface="Calibri"/>
              </a:rPr>
              <a:t>Self</a:t>
            </a:r>
            <a:r>
              <a:rPr sz="2350" b="1" spc="5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attention:</a:t>
            </a:r>
            <a:r>
              <a:rPr sz="2350" spc="9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generate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spc="60" dirty="0">
                <a:latin typeface="Cambria Math"/>
                <a:cs typeface="Cambria Math"/>
              </a:rPr>
              <a:t>𝑦</a:t>
            </a:r>
            <a:r>
              <a:rPr sz="2550" spc="89" baseline="-16339" dirty="0">
                <a:latin typeface="Cambria Math"/>
                <a:cs typeface="Cambria Math"/>
              </a:rPr>
              <a:t>𝑡</a:t>
            </a:r>
            <a:r>
              <a:rPr sz="2350" spc="60" dirty="0">
                <a:latin typeface="Calibri"/>
                <a:cs typeface="Calibri"/>
              </a:rPr>
              <a:t>,</a:t>
            </a:r>
            <a:r>
              <a:rPr sz="2350" spc="7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we</a:t>
            </a:r>
            <a:r>
              <a:rPr sz="2350" spc="5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need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6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pay</a:t>
            </a:r>
            <a:r>
              <a:rPr sz="2350" spc="9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attention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to</a:t>
            </a:r>
            <a:r>
              <a:rPr sz="2350" spc="5" dirty="0">
                <a:latin typeface="Calibri"/>
                <a:cs typeface="Calibri"/>
              </a:rPr>
              <a:t> </a:t>
            </a:r>
            <a:r>
              <a:rPr sz="2350" spc="-25" dirty="0">
                <a:latin typeface="Cambria Math"/>
                <a:cs typeface="Cambria Math"/>
              </a:rPr>
              <a:t>𝑦</a:t>
            </a:r>
            <a:r>
              <a:rPr sz="2550" spc="-37" baseline="-16339" dirty="0">
                <a:latin typeface="Cambria Math"/>
                <a:cs typeface="Cambria Math"/>
              </a:rPr>
              <a:t>&lt;𝑡</a:t>
            </a:r>
            <a:endParaRPr sz="2550" baseline="-16339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Self-Attention</a:t>
            </a:r>
            <a:r>
              <a:rPr spc="225" dirty="0"/>
              <a:t> </a:t>
            </a:r>
            <a:r>
              <a:rPr dirty="0"/>
              <a:t>Hypothetical</a:t>
            </a:r>
            <a:r>
              <a:rPr spc="204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BD434D-9116-554E-8C6B-1562F6F5B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Self-Attention:</a:t>
            </a:r>
            <a:r>
              <a:rPr spc="100" dirty="0"/>
              <a:t> </a:t>
            </a:r>
            <a:r>
              <a:rPr dirty="0"/>
              <a:t>keys,</a:t>
            </a:r>
            <a:r>
              <a:rPr spc="95" dirty="0"/>
              <a:t> </a:t>
            </a:r>
            <a:r>
              <a:rPr dirty="0"/>
              <a:t>queries,</a:t>
            </a:r>
            <a:r>
              <a:rPr spc="90" dirty="0"/>
              <a:t> </a:t>
            </a:r>
            <a:r>
              <a:rPr dirty="0"/>
              <a:t>values</a:t>
            </a:r>
            <a:r>
              <a:rPr spc="75" dirty="0"/>
              <a:t> </a:t>
            </a:r>
            <a:r>
              <a:rPr dirty="0"/>
              <a:t>from</a:t>
            </a:r>
            <a:r>
              <a:rPr spc="13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same</a:t>
            </a:r>
            <a:r>
              <a:rPr spc="45" dirty="0"/>
              <a:t> </a:t>
            </a:r>
            <a:r>
              <a:rPr spc="-10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210" y="930338"/>
            <a:ext cx="9498965" cy="158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Let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𝒘</a:t>
            </a:r>
            <a:r>
              <a:rPr sz="2475" baseline="-15151" dirty="0">
                <a:latin typeface="Cambria Math"/>
                <a:cs typeface="Cambria Math"/>
              </a:rPr>
              <a:t>1:𝑛</a:t>
            </a:r>
            <a:r>
              <a:rPr sz="2475" spc="390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sequence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words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vocabulary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𝑉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like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Zuko made</a:t>
            </a:r>
            <a:r>
              <a:rPr sz="2300" i="1" spc="1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his uncle</a:t>
            </a:r>
            <a:r>
              <a:rPr sz="2300" i="1" spc="-55" dirty="0">
                <a:latin typeface="Calibri"/>
                <a:cs typeface="Calibri"/>
              </a:rPr>
              <a:t> </a:t>
            </a:r>
            <a:r>
              <a:rPr sz="2300" i="1" spc="-20" dirty="0">
                <a:latin typeface="Calibri"/>
                <a:cs typeface="Calibri"/>
              </a:rPr>
              <a:t>tea</a:t>
            </a:r>
            <a:r>
              <a:rPr sz="2300" spc="-2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2320"/>
              </a:spcBef>
            </a:pPr>
            <a:r>
              <a:rPr sz="2300" dirty="0">
                <a:latin typeface="Calibri"/>
                <a:cs typeface="Calibri"/>
              </a:rPr>
              <a:t>For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𝒘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509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𝒙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697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5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𝐸𝒘</a:t>
            </a:r>
            <a:r>
              <a:rPr sz="2475" baseline="-15151" dirty="0">
                <a:latin typeface="Cambria Math"/>
                <a:cs typeface="Cambria Math"/>
              </a:rPr>
              <a:t>𝒊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where</a:t>
            </a:r>
            <a:r>
              <a:rPr sz="2300" spc="5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𝐸</a:t>
            </a:r>
            <a:r>
              <a:rPr sz="2300" spc="254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6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ℝ</a:t>
            </a:r>
            <a:r>
              <a:rPr sz="2475" baseline="28619" dirty="0">
                <a:latin typeface="Cambria Math"/>
                <a:cs typeface="Cambria Math"/>
              </a:rPr>
              <a:t>𝑑×|𝑉|</a:t>
            </a:r>
            <a:r>
              <a:rPr sz="2475" spc="427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embedding </a:t>
            </a:r>
            <a:r>
              <a:rPr sz="2300" spc="-10" dirty="0">
                <a:latin typeface="Calibri"/>
                <a:cs typeface="Calibri"/>
              </a:rPr>
              <a:t>matrix.</a:t>
            </a:r>
            <a:endParaRPr sz="230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1664"/>
              </a:spcBef>
            </a:pPr>
            <a:r>
              <a:rPr sz="2300" dirty="0">
                <a:latin typeface="Calibri"/>
                <a:cs typeface="Calibri"/>
              </a:rPr>
              <a:t>1.</a:t>
            </a:r>
            <a:r>
              <a:rPr sz="2300" spc="-1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embedding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weight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matrices</a:t>
            </a:r>
            <a:r>
              <a:rPr sz="2300" spc="85" dirty="0">
                <a:latin typeface="Calibri"/>
                <a:cs typeface="Calibri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Q,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K,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V</a:t>
            </a:r>
            <a:r>
              <a:rPr sz="2300" spc="-15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45" dirty="0">
                <a:latin typeface="Cambria Math"/>
                <a:cs typeface="Cambria Math"/>
              </a:rPr>
              <a:t>ℝ</a:t>
            </a:r>
            <a:r>
              <a:rPr sz="2475" spc="67" baseline="28619" dirty="0">
                <a:latin typeface="Cambria Math"/>
                <a:cs typeface="Cambria Math"/>
              </a:rPr>
              <a:t>𝑑×𝑑</a:t>
            </a:r>
            <a:endParaRPr sz="2475" baseline="28619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348" y="3280981"/>
            <a:ext cx="994854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2.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Compute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pairwise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similarities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between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keys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queries;</a:t>
            </a:r>
            <a:r>
              <a:rPr sz="2300" spc="-1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normalize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softmax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6303" y="4042473"/>
            <a:ext cx="1541145" cy="467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2150"/>
              </a:lnSpc>
              <a:spcBef>
                <a:spcPts val="120"/>
              </a:spcBef>
            </a:pPr>
            <a:r>
              <a:rPr sz="2500" spc="80" dirty="0">
                <a:latin typeface="Cambria Math"/>
                <a:cs typeface="Cambria Math"/>
              </a:rPr>
              <a:t>𝒆</a:t>
            </a:r>
            <a:r>
              <a:rPr sz="2700" spc="120" baseline="-15432" dirty="0">
                <a:latin typeface="Cambria Math"/>
                <a:cs typeface="Cambria Math"/>
              </a:rPr>
              <a:t>𝑖𝑗</a:t>
            </a:r>
            <a:r>
              <a:rPr sz="2700" spc="735" baseline="-15432" dirty="0">
                <a:latin typeface="Cambria Math"/>
                <a:cs typeface="Cambria Math"/>
              </a:rPr>
              <a:t> </a:t>
            </a:r>
            <a:r>
              <a:rPr sz="2500" dirty="0">
                <a:latin typeface="Cambria Math"/>
                <a:cs typeface="Cambria Math"/>
              </a:rPr>
              <a:t>=</a:t>
            </a:r>
            <a:r>
              <a:rPr sz="2500" spc="135" dirty="0">
                <a:latin typeface="Cambria Math"/>
                <a:cs typeface="Cambria Math"/>
              </a:rPr>
              <a:t> </a:t>
            </a:r>
            <a:r>
              <a:rPr sz="2500" spc="40" dirty="0">
                <a:solidFill>
                  <a:srgbClr val="EA7171"/>
                </a:solidFill>
                <a:latin typeface="Cambria Math"/>
                <a:cs typeface="Cambria Math"/>
              </a:rPr>
              <a:t>𝒒</a:t>
            </a:r>
            <a:r>
              <a:rPr sz="2700" spc="60" baseline="30864" dirty="0">
                <a:latin typeface="Cambria Math"/>
                <a:cs typeface="Cambria Math"/>
              </a:rPr>
              <a:t>⊤</a:t>
            </a:r>
            <a:r>
              <a:rPr sz="2500" spc="40" dirty="0">
                <a:solidFill>
                  <a:srgbClr val="BA792B"/>
                </a:solidFill>
                <a:latin typeface="Cambria Math"/>
                <a:cs typeface="Cambria Math"/>
              </a:rPr>
              <a:t>𝒌</a:t>
            </a:r>
            <a:endParaRPr sz="2500">
              <a:latin typeface="Cambria Math"/>
              <a:cs typeface="Cambria Math"/>
            </a:endParaRPr>
          </a:p>
          <a:p>
            <a:pPr marR="30480" algn="r">
              <a:lnSpc>
                <a:spcPts val="1310"/>
              </a:lnSpc>
              <a:tabLst>
                <a:tab pos="370205" algn="l"/>
              </a:tabLst>
            </a:pPr>
            <a:r>
              <a:rPr sz="1800" spc="-50" dirty="0">
                <a:latin typeface="Cambria Math"/>
                <a:cs typeface="Cambria Math"/>
              </a:rPr>
              <a:t>𝒊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2700" spc="-75" baseline="3086" dirty="0">
                <a:latin typeface="Cambria Math"/>
                <a:cs typeface="Cambria Math"/>
              </a:rPr>
              <a:t>𝒋</a:t>
            </a:r>
            <a:endParaRPr sz="2700" baseline="3086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2648" y="4886642"/>
            <a:ext cx="7226934" cy="1165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lang="en-GB" sz="2300" dirty="0">
                <a:latin typeface="Calibri"/>
                <a:cs typeface="Calibri"/>
              </a:rPr>
              <a:t>3.</a:t>
            </a:r>
            <a:r>
              <a:rPr lang="en-GB" sz="2300" spc="-75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Compute</a:t>
            </a:r>
            <a:r>
              <a:rPr lang="en-GB" sz="2300" spc="-5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output</a:t>
            </a:r>
            <a:r>
              <a:rPr lang="en-GB" sz="2300" spc="-50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for</a:t>
            </a:r>
            <a:r>
              <a:rPr lang="en-GB" sz="2300" spc="-15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each</a:t>
            </a:r>
            <a:r>
              <a:rPr lang="en-GB" sz="2300" spc="5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word</a:t>
            </a:r>
            <a:r>
              <a:rPr lang="en-GB" sz="2300" spc="10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as</a:t>
            </a:r>
            <a:r>
              <a:rPr lang="en-GB" sz="2300" spc="-40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weighted</a:t>
            </a:r>
            <a:r>
              <a:rPr lang="en-GB" sz="2300" spc="-55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sum</a:t>
            </a:r>
            <a:r>
              <a:rPr lang="en-GB" sz="2300" spc="-40" dirty="0">
                <a:latin typeface="Calibri"/>
                <a:cs typeface="Calibri"/>
              </a:rPr>
              <a:t> </a:t>
            </a:r>
            <a:r>
              <a:rPr lang="en-GB" sz="2300" dirty="0">
                <a:latin typeface="Calibri"/>
                <a:cs typeface="Calibri"/>
              </a:rPr>
              <a:t>of</a:t>
            </a:r>
            <a:r>
              <a:rPr lang="en-GB" sz="2300" spc="-55" dirty="0">
                <a:latin typeface="Calibri"/>
                <a:cs typeface="Calibri"/>
              </a:rPr>
              <a:t> </a:t>
            </a:r>
            <a:r>
              <a:rPr lang="en-GB" sz="2300" spc="-10" dirty="0">
                <a:latin typeface="Calibri"/>
                <a:cs typeface="Calibri"/>
              </a:rPr>
              <a:t>values</a:t>
            </a:r>
            <a:endParaRPr lang="en-GB" sz="2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lang="en-GB" sz="2300" dirty="0">
              <a:latin typeface="Calibri"/>
              <a:cs typeface="Calibri"/>
            </a:endParaRPr>
          </a:p>
          <a:p>
            <a:pPr marR="985519" algn="ctr">
              <a:lnSpc>
                <a:spcPct val="100000"/>
              </a:lnSpc>
              <a:spcBef>
                <a:spcPts val="890"/>
              </a:spcBef>
            </a:pP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7775" y="2657030"/>
            <a:ext cx="127508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500" dirty="0">
                <a:solidFill>
                  <a:srgbClr val="EA7171"/>
                </a:solidFill>
                <a:latin typeface="Cambria Math"/>
                <a:cs typeface="Cambria Math"/>
              </a:rPr>
              <a:t>𝒒</a:t>
            </a:r>
            <a:r>
              <a:rPr sz="2700" baseline="-15432" dirty="0">
                <a:solidFill>
                  <a:srgbClr val="EA7171"/>
                </a:solidFill>
                <a:latin typeface="Cambria Math"/>
                <a:cs typeface="Cambria Math"/>
              </a:rPr>
              <a:t>𝑖</a:t>
            </a:r>
            <a:r>
              <a:rPr sz="2700" spc="75" baseline="-15432" dirty="0">
                <a:solidFill>
                  <a:srgbClr val="EA7171"/>
                </a:solidFill>
                <a:latin typeface="Cambria Math"/>
                <a:cs typeface="Cambria Math"/>
              </a:rPr>
              <a:t>  </a:t>
            </a:r>
            <a:r>
              <a:rPr sz="2500" dirty="0">
                <a:latin typeface="Cambria Math"/>
                <a:cs typeface="Cambria Math"/>
              </a:rPr>
              <a:t>=</a:t>
            </a:r>
            <a:r>
              <a:rPr sz="2500" spc="150" dirty="0">
                <a:latin typeface="Cambria Math"/>
                <a:cs typeface="Cambria Math"/>
              </a:rPr>
              <a:t> </a:t>
            </a:r>
            <a:r>
              <a:rPr sz="2500" spc="-25" dirty="0">
                <a:latin typeface="Cambria Math"/>
                <a:cs typeface="Cambria Math"/>
              </a:rPr>
              <a:t>𝑄𝒙</a:t>
            </a:r>
            <a:r>
              <a:rPr sz="2700" spc="-37" baseline="-15432" dirty="0">
                <a:latin typeface="Cambria Math"/>
                <a:cs typeface="Cambria Math"/>
              </a:rPr>
              <a:t>𝒊</a:t>
            </a:r>
            <a:endParaRPr sz="2700" baseline="-15432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40329" y="2680398"/>
            <a:ext cx="108267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EA7171"/>
                </a:solidFill>
                <a:latin typeface="Calibri"/>
                <a:cs typeface="Calibri"/>
              </a:rPr>
              <a:t>(queries)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69257" y="2638742"/>
            <a:ext cx="210820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baseline="-2222" dirty="0">
                <a:solidFill>
                  <a:srgbClr val="BA792B"/>
                </a:solidFill>
                <a:latin typeface="Cambria Math"/>
                <a:cs typeface="Cambria Math"/>
              </a:rPr>
              <a:t>𝒌</a:t>
            </a:r>
            <a:r>
              <a:rPr sz="2700" baseline="-20061" dirty="0">
                <a:latin typeface="Cambria Math"/>
                <a:cs typeface="Cambria Math"/>
              </a:rPr>
              <a:t>𝑖</a:t>
            </a:r>
            <a:r>
              <a:rPr sz="2700" spc="82" baseline="-20061" dirty="0">
                <a:latin typeface="Cambria Math"/>
                <a:cs typeface="Cambria Math"/>
              </a:rPr>
              <a:t>  </a:t>
            </a:r>
            <a:r>
              <a:rPr sz="3750" baseline="-2222" dirty="0">
                <a:latin typeface="Cambria Math"/>
                <a:cs typeface="Cambria Math"/>
              </a:rPr>
              <a:t>=</a:t>
            </a:r>
            <a:r>
              <a:rPr sz="3750" spc="240" baseline="-2222" dirty="0">
                <a:latin typeface="Cambria Math"/>
                <a:cs typeface="Cambria Math"/>
              </a:rPr>
              <a:t> </a:t>
            </a:r>
            <a:r>
              <a:rPr sz="3750" baseline="-2222" dirty="0">
                <a:latin typeface="Cambria Math"/>
                <a:cs typeface="Cambria Math"/>
              </a:rPr>
              <a:t>𝐾𝒙</a:t>
            </a:r>
            <a:r>
              <a:rPr sz="2700" baseline="-20061" dirty="0">
                <a:latin typeface="Cambria Math"/>
                <a:cs typeface="Cambria Math"/>
              </a:rPr>
              <a:t>𝒊</a:t>
            </a:r>
            <a:r>
              <a:rPr sz="2700" spc="150" baseline="-20061" dirty="0">
                <a:latin typeface="Cambria Math"/>
                <a:cs typeface="Cambria Math"/>
              </a:rPr>
              <a:t>  </a:t>
            </a:r>
            <a:r>
              <a:rPr sz="2300" spc="-10" dirty="0">
                <a:solidFill>
                  <a:srgbClr val="BA792B"/>
                </a:solidFill>
                <a:latin typeface="Calibri"/>
                <a:cs typeface="Calibri"/>
              </a:rPr>
              <a:t>(keys)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09407" y="2653601"/>
            <a:ext cx="125857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500" dirty="0">
                <a:solidFill>
                  <a:srgbClr val="609D93"/>
                </a:solidFill>
                <a:latin typeface="Cambria Math"/>
                <a:cs typeface="Cambria Math"/>
              </a:rPr>
              <a:t>𝒗</a:t>
            </a:r>
            <a:r>
              <a:rPr sz="2700" baseline="-15432" dirty="0">
                <a:latin typeface="Cambria Math"/>
                <a:cs typeface="Cambria Math"/>
              </a:rPr>
              <a:t>𝑖</a:t>
            </a:r>
            <a:r>
              <a:rPr sz="2700" spc="75" baseline="-15432" dirty="0">
                <a:latin typeface="Cambria Math"/>
                <a:cs typeface="Cambria Math"/>
              </a:rPr>
              <a:t>  </a:t>
            </a:r>
            <a:r>
              <a:rPr sz="2500" dirty="0">
                <a:latin typeface="Cambria Math"/>
                <a:cs typeface="Cambria Math"/>
              </a:rPr>
              <a:t>=</a:t>
            </a:r>
            <a:r>
              <a:rPr sz="2500" spc="155" dirty="0">
                <a:latin typeface="Cambria Math"/>
                <a:cs typeface="Cambria Math"/>
              </a:rPr>
              <a:t> </a:t>
            </a:r>
            <a:r>
              <a:rPr sz="2500" spc="-25" dirty="0">
                <a:latin typeface="Cambria Math"/>
                <a:cs typeface="Cambria Math"/>
              </a:rPr>
              <a:t>𝑉𝒙</a:t>
            </a:r>
            <a:r>
              <a:rPr sz="2700" spc="-37" baseline="-15432" dirty="0">
                <a:latin typeface="Cambria Math"/>
                <a:cs typeface="Cambria Math"/>
              </a:rPr>
              <a:t>𝒊</a:t>
            </a:r>
            <a:endParaRPr sz="2700" baseline="-15432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19616" y="2675890"/>
            <a:ext cx="956944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609D93"/>
                </a:solidFill>
                <a:latin typeface="Calibri"/>
                <a:cs typeface="Calibri"/>
              </a:rPr>
              <a:t>(values)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96AEC9A-2ED2-B182-5699-531DA44D3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791" y="5491031"/>
            <a:ext cx="2189153" cy="10924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06990C-2C0C-81CA-95DB-59DDE66BF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550" y="3616189"/>
            <a:ext cx="2886787" cy="10493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256" y="1061608"/>
            <a:ext cx="3371850" cy="13303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646430" algn="ctr">
              <a:lnSpc>
                <a:spcPct val="100000"/>
              </a:lnSpc>
              <a:spcBef>
                <a:spcPts val="835"/>
              </a:spcBef>
            </a:pPr>
            <a:r>
              <a:rPr sz="2800" b="1" spc="-10" dirty="0">
                <a:latin typeface="Calibri"/>
                <a:cs typeface="Calibri"/>
              </a:rPr>
              <a:t>Barriers</a:t>
            </a:r>
            <a:endParaRPr sz="2800">
              <a:latin typeface="Calibri"/>
              <a:cs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600"/>
              </a:spcBef>
              <a:buClr>
                <a:srgbClr val="8B1515"/>
              </a:buClr>
              <a:buFont typeface="Times New Roman"/>
              <a:buChar char="•"/>
              <a:tabLst>
                <a:tab pos="342900" algn="l"/>
              </a:tabLst>
            </a:pPr>
            <a:r>
              <a:rPr sz="2300" dirty="0">
                <a:latin typeface="Calibri"/>
                <a:cs typeface="Calibri"/>
              </a:rPr>
              <a:t>Doesn’t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inherent</a:t>
            </a:r>
            <a:endParaRPr sz="2300">
              <a:latin typeface="Calibri"/>
              <a:cs typeface="Calibri"/>
            </a:endParaRPr>
          </a:p>
          <a:p>
            <a:pPr marR="747395" algn="ctr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Calibri"/>
                <a:cs typeface="Calibri"/>
              </a:rPr>
              <a:t>notion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order!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1023556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Barriers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and</a:t>
            </a:r>
            <a:r>
              <a:rPr sz="3350" b="0" spc="-3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solutions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for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Self-Attention</a:t>
            </a:r>
            <a:r>
              <a:rPr sz="3350" b="0" spc="4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as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building</a:t>
            </a:r>
            <a:r>
              <a:rPr sz="3350" b="0" spc="-60" dirty="0">
                <a:latin typeface="Calibri"/>
                <a:cs typeface="Calibri"/>
              </a:rPr>
              <a:t> </a:t>
            </a:r>
            <a:r>
              <a:rPr sz="3350" b="0" spc="-10" dirty="0">
                <a:latin typeface="Calibri"/>
                <a:cs typeface="Calibri"/>
              </a:rPr>
              <a:t>block</a:t>
            </a:r>
            <a:endParaRPr sz="3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57159" y="1937424"/>
            <a:ext cx="1349375" cy="135255"/>
            <a:chOff x="5157159" y="1937424"/>
            <a:chExt cx="1349375" cy="135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7159" y="1937424"/>
              <a:ext cx="1349135" cy="134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89220" y="1950719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200"/>
                  </a:lnTo>
                  <a:lnTo>
                    <a:pt x="1270000" y="50800"/>
                  </a:lnTo>
                  <a:lnTo>
                    <a:pt x="1231900" y="50800"/>
                  </a:lnTo>
                  <a:lnTo>
                    <a:pt x="1231900" y="25400"/>
                  </a:lnTo>
                  <a:lnTo>
                    <a:pt x="1270000" y="25400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219200" y="50800"/>
                  </a:lnTo>
                  <a:lnTo>
                    <a:pt x="1219200" y="25400"/>
                  </a:lnTo>
                  <a:close/>
                </a:path>
                <a:path w="1295400" h="76200">
                  <a:moveTo>
                    <a:pt x="1270000" y="25400"/>
                  </a:moveTo>
                  <a:lnTo>
                    <a:pt x="1231900" y="25400"/>
                  </a:lnTo>
                  <a:lnTo>
                    <a:pt x="1231900" y="50800"/>
                  </a:lnTo>
                  <a:lnTo>
                    <a:pt x="1270000" y="50800"/>
                  </a:lnTo>
                  <a:lnTo>
                    <a:pt x="1295400" y="38100"/>
                  </a:lnTo>
                  <a:lnTo>
                    <a:pt x="1270000" y="25400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442959" y="1153287"/>
            <a:ext cx="1392555" cy="4546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951547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Fixing</a:t>
            </a:r>
            <a:r>
              <a:rPr sz="3350" b="0" spc="2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the</a:t>
            </a:r>
            <a:r>
              <a:rPr sz="3350" b="0" spc="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first</a:t>
            </a:r>
            <a:r>
              <a:rPr sz="3350" b="0" spc="-2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self-attention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problem:</a:t>
            </a:r>
            <a:r>
              <a:rPr sz="3350" b="0" spc="-5" dirty="0">
                <a:latin typeface="Calibri"/>
                <a:cs typeface="Calibri"/>
              </a:rPr>
              <a:t> </a:t>
            </a:r>
            <a:r>
              <a:rPr sz="3350" dirty="0"/>
              <a:t>sequence</a:t>
            </a:r>
            <a:r>
              <a:rPr sz="3350" spc="-5" dirty="0"/>
              <a:t> </a:t>
            </a:r>
            <a:r>
              <a:rPr sz="3350" spc="-10" dirty="0"/>
              <a:t>order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597" y="1162748"/>
            <a:ext cx="11254105" cy="3416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ts val="2750"/>
              </a:lnSpc>
              <a:spcBef>
                <a:spcPts val="10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Since </a:t>
            </a:r>
            <a:r>
              <a:rPr sz="2300" spc="-1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doesn’t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build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order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information,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need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encode 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order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  <a:p>
            <a:pPr marL="39370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sentence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keys,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queries,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values.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Consider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representing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sequence</a:t>
            </a:r>
            <a:r>
              <a:rPr sz="2300" b="1" spc="-5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index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vector</a:t>
            </a:r>
            <a:endParaRPr sz="2300">
              <a:latin typeface="Calibri"/>
              <a:cs typeface="Calibri"/>
            </a:endParaRPr>
          </a:p>
          <a:p>
            <a:pPr marL="51435" algn="ctr">
              <a:lnSpc>
                <a:spcPct val="100000"/>
              </a:lnSpc>
              <a:spcBef>
                <a:spcPts val="2435"/>
              </a:spcBef>
            </a:pPr>
            <a:r>
              <a:rPr sz="2300" dirty="0">
                <a:latin typeface="Cambria Math"/>
                <a:cs typeface="Cambria Math"/>
              </a:rPr>
              <a:t>𝒑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630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25" dirty="0">
                <a:latin typeface="Cambria Math"/>
                <a:cs typeface="Cambria Math"/>
              </a:rPr>
              <a:t> </a:t>
            </a:r>
            <a:r>
              <a:rPr sz="2300" spc="80" dirty="0">
                <a:latin typeface="Cambria Math"/>
                <a:cs typeface="Cambria Math"/>
              </a:rPr>
              <a:t>ℝ</a:t>
            </a:r>
            <a:r>
              <a:rPr sz="2475" spc="120" baseline="28619" dirty="0">
                <a:latin typeface="Cambria Math"/>
                <a:cs typeface="Cambria Math"/>
              </a:rPr>
              <a:t>𝑑</a:t>
            </a:r>
            <a:r>
              <a:rPr sz="2300" spc="80" dirty="0">
                <a:latin typeface="Calibri"/>
                <a:cs typeface="Calibri"/>
              </a:rPr>
              <a:t>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𝑖</a:t>
            </a:r>
            <a:r>
              <a:rPr sz="2300" spc="19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3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{1,2,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…</a:t>
            </a:r>
            <a:r>
              <a:rPr sz="2300" spc="-135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𝑛}</a:t>
            </a:r>
            <a:r>
              <a:rPr sz="2300" spc="5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vectors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Don’t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worry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about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what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𝑝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382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made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yet!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60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Easy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incorporate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info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our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block: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just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6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𝒑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427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inputs!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Recall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𝒙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405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embedding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index</a:t>
            </a:r>
            <a:r>
              <a:rPr sz="2300" spc="6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𝑖</a:t>
            </a:r>
            <a:r>
              <a:rPr sz="2300" dirty="0">
                <a:latin typeface="Calibri"/>
                <a:cs typeface="Calibri"/>
              </a:rPr>
              <a:t>.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embedding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is: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34171" y="4878260"/>
            <a:ext cx="3209925" cy="1673860"/>
          </a:xfrm>
          <a:prstGeom prst="rect">
            <a:avLst/>
          </a:prstGeom>
          <a:ln w="9525">
            <a:solidFill>
              <a:srgbClr val="600058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81280" marR="297180">
              <a:lnSpc>
                <a:spcPts val="2380"/>
              </a:lnSpc>
              <a:spcBef>
                <a:spcPts val="70"/>
              </a:spcBef>
            </a:pP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deep </a:t>
            </a:r>
            <a:r>
              <a:rPr sz="2000" spc="-10" dirty="0">
                <a:solidFill>
                  <a:srgbClr val="600058"/>
                </a:solidFill>
                <a:latin typeface="Calibri"/>
                <a:cs typeface="Calibri"/>
              </a:rPr>
              <a:t>self-attention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networks,</a:t>
            </a:r>
            <a:r>
              <a:rPr sz="2000" spc="-4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we</a:t>
            </a:r>
            <a:r>
              <a:rPr sz="2000" spc="-5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do</a:t>
            </a:r>
            <a:r>
              <a:rPr sz="2000" spc="-3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this</a:t>
            </a:r>
            <a:r>
              <a:rPr sz="2000" spc="2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at</a:t>
            </a:r>
            <a:r>
              <a:rPr sz="2000" spc="-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600058"/>
                </a:solidFill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81280" marR="184785">
              <a:lnSpc>
                <a:spcPts val="2380"/>
              </a:lnSpc>
              <a:spcBef>
                <a:spcPts val="70"/>
              </a:spcBef>
            </a:pP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first</a:t>
            </a:r>
            <a:r>
              <a:rPr sz="2000" spc="-4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layer!</a:t>
            </a:r>
            <a:r>
              <a:rPr sz="2000" spc="-2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You</a:t>
            </a:r>
            <a:r>
              <a:rPr sz="2000" spc="-6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600058"/>
                </a:solidFill>
                <a:latin typeface="Calibri"/>
                <a:cs typeface="Calibri"/>
              </a:rPr>
              <a:t>could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concatenate</a:t>
            </a:r>
            <a:r>
              <a:rPr sz="2000" spc="-3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them</a:t>
            </a:r>
            <a:r>
              <a:rPr sz="2000" spc="-5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as</a:t>
            </a:r>
            <a:r>
              <a:rPr sz="2000" spc="-2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600058"/>
                </a:solidFill>
                <a:latin typeface="Calibri"/>
                <a:cs typeface="Calibri"/>
              </a:rPr>
              <a:t>well,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but</a:t>
            </a:r>
            <a:r>
              <a:rPr sz="2000" spc="-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people</a:t>
            </a:r>
            <a:r>
              <a:rPr sz="2000" spc="-4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mostly</a:t>
            </a:r>
            <a:r>
              <a:rPr sz="2000" spc="-9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00058"/>
                </a:solidFill>
                <a:latin typeface="Calibri"/>
                <a:cs typeface="Calibri"/>
              </a:rPr>
              <a:t>just </a:t>
            </a:r>
            <a:r>
              <a:rPr sz="2000" spc="-20" dirty="0">
                <a:solidFill>
                  <a:srgbClr val="600058"/>
                </a:solidFill>
                <a:latin typeface="Calibri"/>
                <a:cs typeface="Calibri"/>
              </a:rPr>
              <a:t>add…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6477-6041-4F17-31A6-59932CB5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4953000"/>
            <a:ext cx="2514600" cy="5572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97" y="4040848"/>
            <a:ext cx="9048750" cy="21323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spc="-10" dirty="0">
                <a:latin typeface="Calibri"/>
                <a:cs typeface="Calibri"/>
              </a:rPr>
              <a:t>Pros: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60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dirty="0">
                <a:latin typeface="Calibri"/>
                <a:cs typeface="Calibri"/>
              </a:rPr>
              <a:t>Periodicity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indicates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maybe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“absolute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position”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isn’t as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important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dirty="0">
                <a:latin typeface="Calibri"/>
                <a:cs typeface="Calibri"/>
              </a:rPr>
              <a:t>Maybe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extrapolate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longer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sequences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periods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restart!</a:t>
            </a:r>
            <a:endParaRPr sz="2300">
              <a:latin typeface="Calibri"/>
              <a:cs typeface="Calibri"/>
            </a:endParaRPr>
          </a:p>
          <a:p>
            <a:pPr marL="422275" indent="-409575">
              <a:lnSpc>
                <a:spcPct val="100000"/>
              </a:lnSpc>
              <a:spcBef>
                <a:spcPts val="560"/>
              </a:spcBef>
              <a:buClr>
                <a:srgbClr val="8B1515"/>
              </a:buClr>
              <a:buFont typeface="Times New Roman"/>
              <a:buChar char="•"/>
              <a:tabLst>
                <a:tab pos="422275" algn="l"/>
              </a:tabLst>
            </a:pPr>
            <a:r>
              <a:rPr sz="2300" spc="-10" dirty="0">
                <a:latin typeface="Calibri"/>
                <a:cs typeface="Calibri"/>
              </a:rPr>
              <a:t>Cons: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50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dirty="0">
                <a:latin typeface="Calibri"/>
                <a:cs typeface="Calibri"/>
              </a:rPr>
              <a:t>Not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learnable;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also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extrapolation doesn’t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really</a:t>
            </a:r>
            <a:r>
              <a:rPr sz="2300" spc="-1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work!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597" y="1162748"/>
            <a:ext cx="11069955" cy="2171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b="1" dirty="0">
                <a:latin typeface="Calibri"/>
                <a:cs typeface="Calibri"/>
              </a:rPr>
              <a:t>Sinusoidal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position</a:t>
            </a:r>
            <a:r>
              <a:rPr sz="2300" b="1" spc="-10" dirty="0">
                <a:latin typeface="Calibri"/>
                <a:cs typeface="Calibri"/>
              </a:rPr>
              <a:t> representations: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concatenate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sinusoidal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functions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varying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periods:</a:t>
            </a:r>
            <a:endParaRPr sz="2300">
              <a:latin typeface="Calibri"/>
              <a:cs typeface="Calibri"/>
            </a:endParaRPr>
          </a:p>
          <a:p>
            <a:pPr marL="1510030" marR="7439659" indent="10160">
              <a:lnSpc>
                <a:spcPct val="130000"/>
              </a:lnSpc>
              <a:spcBef>
                <a:spcPts val="1900"/>
              </a:spcBef>
            </a:pPr>
            <a:r>
              <a:rPr sz="2100" spc="-10" dirty="0">
                <a:latin typeface="Cambria Math"/>
                <a:cs typeface="Cambria Math"/>
              </a:rPr>
              <a:t>sin(𝑖/10000</a:t>
            </a:r>
            <a:r>
              <a:rPr sz="2250" spc="-15" baseline="27777" dirty="0">
                <a:latin typeface="Cambria Math"/>
                <a:cs typeface="Cambria Math"/>
              </a:rPr>
              <a:t>2∗1/𝑑</a:t>
            </a:r>
            <a:r>
              <a:rPr sz="2100" spc="-10" dirty="0">
                <a:latin typeface="Cambria Math"/>
                <a:cs typeface="Cambria Math"/>
              </a:rPr>
              <a:t>) cos(𝑖/10000</a:t>
            </a:r>
            <a:r>
              <a:rPr sz="2250" spc="-15" baseline="27777" dirty="0">
                <a:latin typeface="Cambria Math"/>
                <a:cs typeface="Cambria Math"/>
              </a:rPr>
              <a:t>2∗1/𝑑</a:t>
            </a:r>
            <a:r>
              <a:rPr sz="2100" spc="-10" dirty="0">
                <a:latin typeface="Cambria Math"/>
                <a:cs typeface="Cambria Math"/>
              </a:rPr>
              <a:t>)</a:t>
            </a:r>
            <a:endParaRPr sz="2100">
              <a:latin typeface="Cambria Math"/>
              <a:cs typeface="Cambria Math"/>
            </a:endParaRPr>
          </a:p>
          <a:p>
            <a:pPr marL="451484">
              <a:lnSpc>
                <a:spcPts val="2355"/>
              </a:lnSpc>
              <a:tabLst>
                <a:tab pos="855344" algn="l"/>
              </a:tabLst>
            </a:pPr>
            <a:r>
              <a:rPr sz="2300" spc="-25" dirty="0">
                <a:latin typeface="Cambria Math"/>
                <a:cs typeface="Cambria Math"/>
              </a:rPr>
              <a:t>𝒑</a:t>
            </a:r>
            <a:r>
              <a:rPr sz="2475" spc="-37" baseline="-15151" dirty="0">
                <a:latin typeface="Cambria Math"/>
                <a:cs typeface="Cambria Math"/>
              </a:rPr>
              <a:t>𝑖</a:t>
            </a:r>
            <a:r>
              <a:rPr sz="2475" baseline="-15151" dirty="0">
                <a:latin typeface="Cambria Math"/>
                <a:cs typeface="Cambria Math"/>
              </a:rPr>
              <a:t>	</a:t>
            </a:r>
            <a:r>
              <a:rPr sz="2300" spc="-50" dirty="0">
                <a:latin typeface="Cambria Math"/>
                <a:cs typeface="Cambria Math"/>
              </a:rPr>
              <a:t>=</a:t>
            </a:r>
            <a:endParaRPr sz="2300">
              <a:latin typeface="Cambria Math"/>
              <a:cs typeface="Cambria Math"/>
            </a:endParaRPr>
          </a:p>
          <a:p>
            <a:pPr marL="3129915">
              <a:lnSpc>
                <a:spcPct val="100000"/>
              </a:lnSpc>
              <a:spcBef>
                <a:spcPts val="1520"/>
              </a:spcBef>
            </a:pPr>
            <a:r>
              <a:rPr sz="1500" u="sng" spc="3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𝑑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867918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Position</a:t>
            </a:r>
            <a:r>
              <a:rPr sz="3350" b="0" spc="-5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representation</a:t>
            </a:r>
            <a:r>
              <a:rPr sz="3350" b="0" spc="2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vectors</a:t>
            </a:r>
            <a:r>
              <a:rPr sz="3350" b="0" spc="-3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through</a:t>
            </a:r>
            <a:r>
              <a:rPr sz="3350" b="0" spc="20" dirty="0">
                <a:latin typeface="Calibri"/>
                <a:cs typeface="Calibri"/>
              </a:rPr>
              <a:t> </a:t>
            </a:r>
            <a:r>
              <a:rPr sz="3350" b="0" spc="-10" dirty="0">
                <a:latin typeface="Calibri"/>
                <a:cs typeface="Calibri"/>
              </a:rPr>
              <a:t>sinusoids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3750" y="3247580"/>
            <a:ext cx="2171065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spc="-10" dirty="0">
                <a:latin typeface="Cambria Math"/>
                <a:cs typeface="Cambria Math"/>
              </a:rPr>
              <a:t>sin(𝑖/10000</a:t>
            </a:r>
            <a:r>
              <a:rPr sz="2250" spc="-15" baseline="37037" dirty="0">
                <a:latin typeface="Cambria Math"/>
                <a:cs typeface="Cambria Math"/>
              </a:rPr>
              <a:t>2∗</a:t>
            </a:r>
            <a:r>
              <a:rPr sz="2250" spc="-15" baseline="9259" dirty="0">
                <a:latin typeface="Cambria Math"/>
                <a:cs typeface="Cambria Math"/>
              </a:rPr>
              <a:t>2</a:t>
            </a:r>
            <a:r>
              <a:rPr sz="2250" spc="-15" baseline="37037" dirty="0">
                <a:latin typeface="Cambria Math"/>
                <a:cs typeface="Cambria Math"/>
              </a:rPr>
              <a:t>/𝑑</a:t>
            </a:r>
            <a:r>
              <a:rPr sz="2100" spc="-10" dirty="0">
                <a:latin typeface="Cambria Math"/>
                <a:cs typeface="Cambria Math"/>
              </a:rPr>
              <a:t>)</a:t>
            </a:r>
            <a:endParaRPr sz="2100">
              <a:latin typeface="Cambria Math"/>
              <a:cs typeface="Cambria Math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2383" y="2715767"/>
            <a:ext cx="73152" cy="731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2383" y="2880360"/>
            <a:ext cx="73152" cy="731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72383" y="3044951"/>
            <a:ext cx="73152" cy="8229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988820" y="1805939"/>
            <a:ext cx="215900" cy="2231390"/>
          </a:xfrm>
          <a:custGeom>
            <a:avLst/>
            <a:gdLst/>
            <a:ahLst/>
            <a:cxnLst/>
            <a:rect l="l" t="t" r="r" b="b"/>
            <a:pathLst>
              <a:path w="215900" h="2231390">
                <a:moveTo>
                  <a:pt x="215773" y="2231136"/>
                </a:moveTo>
                <a:lnTo>
                  <a:pt x="166311" y="2225435"/>
                </a:lnTo>
                <a:lnTo>
                  <a:pt x="120899" y="2209197"/>
                </a:lnTo>
                <a:lnTo>
                  <a:pt x="80835" y="2183719"/>
                </a:lnTo>
                <a:lnTo>
                  <a:pt x="47416" y="2150300"/>
                </a:lnTo>
                <a:lnTo>
                  <a:pt x="21938" y="2110236"/>
                </a:lnTo>
                <a:lnTo>
                  <a:pt x="5700" y="2064824"/>
                </a:lnTo>
                <a:lnTo>
                  <a:pt x="0" y="2015363"/>
                </a:lnTo>
                <a:lnTo>
                  <a:pt x="0" y="215773"/>
                </a:lnTo>
                <a:lnTo>
                  <a:pt x="5700" y="166311"/>
                </a:lnTo>
                <a:lnTo>
                  <a:pt x="21938" y="120899"/>
                </a:lnTo>
                <a:lnTo>
                  <a:pt x="47416" y="80835"/>
                </a:lnTo>
                <a:lnTo>
                  <a:pt x="80835" y="47416"/>
                </a:lnTo>
                <a:lnTo>
                  <a:pt x="120899" y="21938"/>
                </a:lnTo>
                <a:lnTo>
                  <a:pt x="166311" y="5700"/>
                </a:lnTo>
                <a:lnTo>
                  <a:pt x="21577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3910" y="1805939"/>
            <a:ext cx="215900" cy="2231390"/>
          </a:xfrm>
          <a:custGeom>
            <a:avLst/>
            <a:gdLst/>
            <a:ahLst/>
            <a:cxnLst/>
            <a:rect l="l" t="t" r="r" b="b"/>
            <a:pathLst>
              <a:path w="215900" h="2231390">
                <a:moveTo>
                  <a:pt x="0" y="0"/>
                </a:moveTo>
                <a:lnTo>
                  <a:pt x="49461" y="5700"/>
                </a:lnTo>
                <a:lnTo>
                  <a:pt x="94873" y="21938"/>
                </a:lnTo>
                <a:lnTo>
                  <a:pt x="134937" y="47416"/>
                </a:lnTo>
                <a:lnTo>
                  <a:pt x="168356" y="80835"/>
                </a:lnTo>
                <a:lnTo>
                  <a:pt x="193834" y="120899"/>
                </a:lnTo>
                <a:lnTo>
                  <a:pt x="210072" y="166311"/>
                </a:lnTo>
                <a:lnTo>
                  <a:pt x="215773" y="215773"/>
                </a:lnTo>
                <a:lnTo>
                  <a:pt x="215773" y="2015363"/>
                </a:lnTo>
                <a:lnTo>
                  <a:pt x="210072" y="2064824"/>
                </a:lnTo>
                <a:lnTo>
                  <a:pt x="193834" y="2110236"/>
                </a:lnTo>
                <a:lnTo>
                  <a:pt x="168356" y="2150300"/>
                </a:lnTo>
                <a:lnTo>
                  <a:pt x="134937" y="2183719"/>
                </a:lnTo>
                <a:lnTo>
                  <a:pt x="94873" y="2209197"/>
                </a:lnTo>
                <a:lnTo>
                  <a:pt x="49461" y="2225435"/>
                </a:lnTo>
                <a:lnTo>
                  <a:pt x="0" y="223113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35070" y="3470592"/>
            <a:ext cx="14859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u="sng" spc="3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𝑑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6764" y="3640518"/>
            <a:ext cx="2205990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spc="-10" dirty="0">
                <a:latin typeface="Cambria Math"/>
                <a:cs typeface="Cambria Math"/>
              </a:rPr>
              <a:t>cos(𝑖/10000</a:t>
            </a:r>
            <a:r>
              <a:rPr sz="2250" spc="-15" baseline="37037" dirty="0">
                <a:latin typeface="Cambria Math"/>
                <a:cs typeface="Cambria Math"/>
              </a:rPr>
              <a:t>2∗</a:t>
            </a:r>
            <a:r>
              <a:rPr sz="2250" spc="-15" baseline="9259" dirty="0">
                <a:latin typeface="Cambria Math"/>
                <a:cs typeface="Cambria Math"/>
              </a:rPr>
              <a:t>2</a:t>
            </a:r>
            <a:r>
              <a:rPr sz="2250" spc="-15" baseline="37037" dirty="0">
                <a:latin typeface="Cambria Math"/>
                <a:cs typeface="Cambria Math"/>
              </a:rPr>
              <a:t>/𝑑</a:t>
            </a:r>
            <a:r>
              <a:rPr sz="2100" spc="-10" dirty="0">
                <a:latin typeface="Cambria Math"/>
                <a:cs typeface="Cambria Math"/>
              </a:rPr>
              <a:t>)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8864" y="6519267"/>
            <a:ext cx="80181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latin typeface="Calibri"/>
                <a:cs typeface="Calibri"/>
              </a:rPr>
              <a:t>Image:</a:t>
            </a:r>
            <a:r>
              <a:rPr sz="1550" spc="470" dirty="0">
                <a:latin typeface="Calibri"/>
                <a:cs typeface="Calibri"/>
              </a:rPr>
              <a:t>  </a:t>
            </a:r>
            <a:r>
              <a:rPr sz="1550" dirty="0">
                <a:latin typeface="Calibri"/>
                <a:cs typeface="Calibri"/>
                <a:hlinkClick r:id="rId5"/>
              </a:rPr>
              <a:t>https://timodenk.com/blog/linear-relationships-in-the-transformers-positional-</a:t>
            </a:r>
            <a:r>
              <a:rPr sz="1550" spc="-10" dirty="0">
                <a:latin typeface="Calibri"/>
                <a:cs typeface="Calibri"/>
                <a:hlinkClick r:id="rId5"/>
              </a:rPr>
              <a:t>encoding/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14" name="object 14" descr="Visualization of the components of the positional encodi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09077" y="1872382"/>
            <a:ext cx="6498245" cy="19055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451343" y="3806380"/>
            <a:ext cx="20669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Index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sequence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03739" y="2333724"/>
            <a:ext cx="254635" cy="10166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Dimension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495" y="6509804"/>
            <a:ext cx="20827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Calibri"/>
                <a:cs typeface="Calibri"/>
              </a:rPr>
              <a:t>24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9597" y="1083855"/>
            <a:ext cx="9856470" cy="5098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marR="43180" indent="-343535">
              <a:lnSpc>
                <a:spcPct val="122800"/>
              </a:lnSpc>
              <a:spcBef>
                <a:spcPts val="95"/>
              </a:spcBef>
              <a:buClr>
                <a:srgbClr val="8B1515"/>
              </a:buClr>
              <a:buFont typeface="Times New Roman"/>
              <a:buChar char="•"/>
              <a:tabLst>
                <a:tab pos="508000" algn="l"/>
              </a:tabLst>
            </a:pPr>
            <a:r>
              <a:rPr sz="2300" b="1" dirty="0">
                <a:latin typeface="Calibri"/>
                <a:cs typeface="Calibri"/>
              </a:rPr>
              <a:t>Learned</a:t>
            </a:r>
            <a:r>
              <a:rPr sz="2300" b="1" spc="-1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absolute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position</a:t>
            </a:r>
            <a:r>
              <a:rPr sz="2300" b="1" spc="-6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representations: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𝑝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405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learnable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parameters! 	</a:t>
            </a:r>
            <a:r>
              <a:rPr sz="2300" dirty="0">
                <a:latin typeface="Calibri"/>
                <a:cs typeface="Calibri"/>
              </a:rPr>
              <a:t>Learn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matrix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𝒑</a:t>
            </a:r>
            <a:r>
              <a:rPr sz="2300" spc="11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14" dirty="0">
                <a:latin typeface="Cambria Math"/>
                <a:cs typeface="Cambria Math"/>
              </a:rPr>
              <a:t> </a:t>
            </a:r>
            <a:r>
              <a:rPr sz="2300" spc="85" dirty="0">
                <a:latin typeface="Cambria Math"/>
                <a:cs typeface="Cambria Math"/>
              </a:rPr>
              <a:t>ℝ</a:t>
            </a:r>
            <a:r>
              <a:rPr sz="2475" spc="127" baseline="28619" dirty="0">
                <a:latin typeface="Cambria Math"/>
                <a:cs typeface="Cambria Math"/>
              </a:rPr>
              <a:t>𝑑×𝑛</a:t>
            </a:r>
            <a:r>
              <a:rPr sz="2300" i="1" spc="85" dirty="0">
                <a:latin typeface="Calibri"/>
                <a:cs typeface="Calibri"/>
              </a:rPr>
              <a:t>,</a:t>
            </a:r>
            <a:r>
              <a:rPr sz="2300" i="1" spc="-3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and</a:t>
            </a:r>
            <a:r>
              <a:rPr sz="2300" i="1" spc="10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let</a:t>
            </a:r>
            <a:r>
              <a:rPr sz="2300" i="1" spc="-1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each </a:t>
            </a:r>
            <a:r>
              <a:rPr sz="2300" dirty="0">
                <a:latin typeface="Cambria Math"/>
                <a:cs typeface="Cambria Math"/>
              </a:rPr>
              <a:t>𝒑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442" baseline="-15151" dirty="0">
                <a:latin typeface="Cambria Math"/>
                <a:cs typeface="Cambria Math"/>
              </a:rPr>
              <a:t> </a:t>
            </a:r>
            <a:r>
              <a:rPr sz="2300" i="1" dirty="0">
                <a:latin typeface="Calibri"/>
                <a:cs typeface="Calibri"/>
              </a:rPr>
              <a:t>be</a:t>
            </a:r>
            <a:r>
              <a:rPr sz="2300" i="1" spc="20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a</a:t>
            </a:r>
            <a:r>
              <a:rPr sz="2300" i="1" spc="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column</a:t>
            </a:r>
            <a:r>
              <a:rPr sz="2300" i="1" spc="-60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of</a:t>
            </a:r>
            <a:r>
              <a:rPr sz="2300" i="1" spc="-20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that</a:t>
            </a:r>
            <a:r>
              <a:rPr sz="2300" i="1" spc="-10" dirty="0">
                <a:latin typeface="Calibri"/>
                <a:cs typeface="Calibri"/>
              </a:rPr>
              <a:t> matrix!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8B1515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spc="-10" dirty="0">
                <a:latin typeface="Calibri"/>
                <a:cs typeface="Calibri"/>
              </a:rPr>
              <a:t>Pros:</a:t>
            </a:r>
            <a:endParaRPr sz="2300">
              <a:latin typeface="Calibri"/>
              <a:cs typeface="Calibri"/>
            </a:endParaRPr>
          </a:p>
          <a:p>
            <a:pPr marL="735965" lvl="1" indent="-227965">
              <a:lnSpc>
                <a:spcPct val="100000"/>
              </a:lnSpc>
              <a:spcBef>
                <a:spcPts val="560"/>
              </a:spcBef>
              <a:buClr>
                <a:srgbClr val="007B92"/>
              </a:buClr>
              <a:buFont typeface="Times New Roman"/>
              <a:buChar char="•"/>
              <a:tabLst>
                <a:tab pos="735965" algn="l"/>
              </a:tabLst>
            </a:pPr>
            <a:r>
              <a:rPr sz="2300" dirty="0">
                <a:latin typeface="Calibri"/>
                <a:cs typeface="Calibri"/>
              </a:rPr>
              <a:t>Flexibility: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gets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learned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data</a:t>
            </a:r>
            <a:endParaRPr sz="2300">
              <a:latin typeface="Calibri"/>
              <a:cs typeface="Calibri"/>
            </a:endParaRPr>
          </a:p>
          <a:p>
            <a:pPr marL="460375" indent="-409575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460375" algn="l"/>
              </a:tabLst>
            </a:pPr>
            <a:r>
              <a:rPr sz="2300" spc="-10" dirty="0">
                <a:latin typeface="Calibri"/>
                <a:cs typeface="Calibri"/>
              </a:rPr>
              <a:t>Cons:</a:t>
            </a:r>
            <a:endParaRPr sz="2300">
              <a:latin typeface="Calibri"/>
              <a:cs typeface="Calibri"/>
            </a:endParaRPr>
          </a:p>
          <a:p>
            <a:pPr marL="7359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735965" algn="l"/>
              </a:tabLst>
            </a:pPr>
            <a:r>
              <a:rPr sz="2300" dirty="0">
                <a:latin typeface="Calibri"/>
                <a:cs typeface="Calibri"/>
              </a:rPr>
              <a:t>Definitely</a:t>
            </a:r>
            <a:r>
              <a:rPr sz="2300" spc="-1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can’t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extrapolate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indices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outside</a:t>
            </a:r>
            <a:r>
              <a:rPr sz="2300" spc="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1,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…</a:t>
            </a:r>
            <a:r>
              <a:rPr sz="2300" spc="-13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,</a:t>
            </a:r>
            <a:r>
              <a:rPr sz="2300" spc="-130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𝑛</a:t>
            </a:r>
            <a:r>
              <a:rPr sz="2300" spc="-25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Most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systems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this!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8B1515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Sometimes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people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try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more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flexible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representations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position:</a:t>
            </a:r>
            <a:endParaRPr sz="2300">
              <a:latin typeface="Calibri"/>
              <a:cs typeface="Calibri"/>
            </a:endParaRPr>
          </a:p>
          <a:p>
            <a:pPr marL="7359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735965" algn="l"/>
              </a:tabLst>
            </a:pPr>
            <a:r>
              <a:rPr sz="2300" dirty="0">
                <a:latin typeface="Calibri"/>
                <a:cs typeface="Calibri"/>
              </a:rPr>
              <a:t>Relative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linear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[Shaw</a:t>
            </a:r>
            <a:r>
              <a:rPr sz="2300" u="sng" spc="-6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300" u="sng" spc="-5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300" u="sng" spc="-1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spc="-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2018]</a:t>
            </a:r>
            <a:endParaRPr sz="2300">
              <a:latin typeface="Calibri"/>
              <a:cs typeface="Calibri"/>
            </a:endParaRPr>
          </a:p>
          <a:p>
            <a:pPr marL="7359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735965" algn="l"/>
              </a:tabLst>
            </a:pPr>
            <a:r>
              <a:rPr sz="2300" spc="-10" dirty="0">
                <a:latin typeface="Calibri"/>
                <a:cs typeface="Calibri"/>
              </a:rPr>
              <a:t>Dependency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syntax-</a:t>
            </a:r>
            <a:r>
              <a:rPr sz="2300" dirty="0">
                <a:latin typeface="Calibri"/>
                <a:cs typeface="Calibri"/>
              </a:rPr>
              <a:t>based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[Wang</a:t>
            </a:r>
            <a:r>
              <a:rPr sz="2300" u="sng" spc="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et</a:t>
            </a:r>
            <a:r>
              <a:rPr sz="2300" u="sng" spc="-3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al.,</a:t>
            </a:r>
            <a:r>
              <a:rPr sz="2300" u="sng" spc="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spc="-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2019]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25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920242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Position</a:t>
            </a:r>
            <a:r>
              <a:rPr sz="3350" b="0" spc="-2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representation</a:t>
            </a:r>
            <a:r>
              <a:rPr sz="3350" b="0" spc="4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vectors</a:t>
            </a:r>
            <a:r>
              <a:rPr sz="3350" b="0" spc="-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learned</a:t>
            </a:r>
            <a:r>
              <a:rPr sz="3350" b="0" spc="-2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from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spc="-10" dirty="0">
                <a:latin typeface="Calibri"/>
                <a:cs typeface="Calibri"/>
              </a:rPr>
              <a:t>scratch</a:t>
            </a:r>
            <a:endParaRPr sz="3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256" y="1061608"/>
            <a:ext cx="3371850" cy="13303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646430" algn="ctr">
              <a:lnSpc>
                <a:spcPct val="100000"/>
              </a:lnSpc>
              <a:spcBef>
                <a:spcPts val="835"/>
              </a:spcBef>
            </a:pPr>
            <a:r>
              <a:rPr sz="2800" b="1" spc="-10" dirty="0">
                <a:latin typeface="Calibri"/>
                <a:cs typeface="Calibri"/>
              </a:rPr>
              <a:t>Barriers</a:t>
            </a:r>
            <a:endParaRPr sz="2800">
              <a:latin typeface="Calibri"/>
              <a:cs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600"/>
              </a:spcBef>
              <a:buClr>
                <a:srgbClr val="8B1515"/>
              </a:buClr>
              <a:buFont typeface="Times New Roman"/>
              <a:buChar char="•"/>
              <a:tabLst>
                <a:tab pos="342900" algn="l"/>
              </a:tabLst>
            </a:pPr>
            <a:r>
              <a:rPr sz="2300" dirty="0">
                <a:latin typeface="Calibri"/>
                <a:cs typeface="Calibri"/>
              </a:rPr>
              <a:t>Doesn’t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inherent</a:t>
            </a:r>
            <a:endParaRPr sz="2300">
              <a:latin typeface="Calibri"/>
              <a:cs typeface="Calibri"/>
            </a:endParaRPr>
          </a:p>
          <a:p>
            <a:pPr marR="747395" algn="ctr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Calibri"/>
                <a:cs typeface="Calibri"/>
              </a:rPr>
              <a:t>notion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order!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0256" y="2856674"/>
            <a:ext cx="3875404" cy="1073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3535">
              <a:lnSpc>
                <a:spcPct val="99300"/>
              </a:lnSpc>
              <a:spcBef>
                <a:spcPts val="12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No</a:t>
            </a:r>
            <a:r>
              <a:rPr sz="2300" spc="-10" dirty="0">
                <a:latin typeface="Calibri"/>
                <a:cs typeface="Calibri"/>
              </a:rPr>
              <a:t> nonlinearities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deep </a:t>
            </a:r>
            <a:r>
              <a:rPr sz="2300" dirty="0">
                <a:latin typeface="Calibri"/>
                <a:cs typeface="Calibri"/>
              </a:rPr>
              <a:t>learning!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It’s all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just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weighted averages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1023556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Barriers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and</a:t>
            </a:r>
            <a:r>
              <a:rPr sz="3350" b="0" spc="-3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solutions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for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Self-Attention</a:t>
            </a:r>
            <a:r>
              <a:rPr sz="3350" b="0" spc="4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as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building</a:t>
            </a:r>
            <a:r>
              <a:rPr sz="3350" b="0" spc="-60" dirty="0">
                <a:latin typeface="Calibri"/>
                <a:cs typeface="Calibri"/>
              </a:rPr>
              <a:t> </a:t>
            </a:r>
            <a:r>
              <a:rPr sz="3350" b="0" spc="-10" dirty="0">
                <a:latin typeface="Calibri"/>
                <a:cs typeface="Calibri"/>
              </a:rPr>
              <a:t>block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1568" y="1061608"/>
            <a:ext cx="4149090" cy="13303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835"/>
              </a:spcBef>
            </a:pPr>
            <a:r>
              <a:rPr sz="2800" b="1" spc="-1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  <a:p>
            <a:pPr marL="355600" marR="5080" indent="-343535">
              <a:lnSpc>
                <a:spcPct val="101899"/>
              </a:lnSpc>
              <a:spcBef>
                <a:spcPts val="54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Add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representations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inputs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57159" y="1937424"/>
            <a:ext cx="1349375" cy="135255"/>
            <a:chOff x="5157159" y="1937424"/>
            <a:chExt cx="1349375" cy="1352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7159" y="1937424"/>
              <a:ext cx="1349135" cy="13479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89220" y="1950719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200"/>
                  </a:lnTo>
                  <a:lnTo>
                    <a:pt x="1270000" y="50800"/>
                  </a:lnTo>
                  <a:lnTo>
                    <a:pt x="1231900" y="50800"/>
                  </a:lnTo>
                  <a:lnTo>
                    <a:pt x="1231900" y="25400"/>
                  </a:lnTo>
                  <a:lnTo>
                    <a:pt x="1270000" y="25400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219200" y="50800"/>
                  </a:lnTo>
                  <a:lnTo>
                    <a:pt x="1219200" y="25400"/>
                  </a:lnTo>
                  <a:close/>
                </a:path>
                <a:path w="1295400" h="76200">
                  <a:moveTo>
                    <a:pt x="1270000" y="25400"/>
                  </a:moveTo>
                  <a:lnTo>
                    <a:pt x="1231900" y="25400"/>
                  </a:lnTo>
                  <a:lnTo>
                    <a:pt x="1231900" y="50800"/>
                  </a:lnTo>
                  <a:lnTo>
                    <a:pt x="1270000" y="50800"/>
                  </a:lnTo>
                  <a:lnTo>
                    <a:pt x="1295400" y="38100"/>
                  </a:lnTo>
                  <a:lnTo>
                    <a:pt x="1270000" y="25400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074863" y="3382176"/>
            <a:ext cx="1349375" cy="135255"/>
            <a:chOff x="5074863" y="3382176"/>
            <a:chExt cx="1349375" cy="1352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863" y="3382176"/>
              <a:ext cx="1349135" cy="1347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06923" y="3395472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200"/>
                  </a:lnTo>
                  <a:lnTo>
                    <a:pt x="1270000" y="50800"/>
                  </a:lnTo>
                  <a:lnTo>
                    <a:pt x="1231900" y="50800"/>
                  </a:lnTo>
                  <a:lnTo>
                    <a:pt x="1231900" y="25400"/>
                  </a:lnTo>
                  <a:lnTo>
                    <a:pt x="1270000" y="25400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219200" y="50800"/>
                  </a:lnTo>
                  <a:lnTo>
                    <a:pt x="1219200" y="25400"/>
                  </a:lnTo>
                  <a:close/>
                </a:path>
                <a:path w="1295400" h="76200">
                  <a:moveTo>
                    <a:pt x="1270000" y="25400"/>
                  </a:moveTo>
                  <a:lnTo>
                    <a:pt x="1231900" y="25400"/>
                  </a:lnTo>
                  <a:lnTo>
                    <a:pt x="1231900" y="50800"/>
                  </a:lnTo>
                  <a:lnTo>
                    <a:pt x="1270000" y="50800"/>
                  </a:lnTo>
                  <a:lnTo>
                    <a:pt x="1295400" y="38100"/>
                  </a:lnTo>
                  <a:lnTo>
                    <a:pt x="1270000" y="25400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6620509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Adding</a:t>
            </a:r>
            <a:r>
              <a:rPr sz="3350" b="0" spc="-4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nonlinearities</a:t>
            </a:r>
            <a:r>
              <a:rPr sz="3350" b="0" spc="2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in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</a:t>
            </a:r>
            <a:r>
              <a:rPr sz="3350" b="0" spc="-10" dirty="0">
                <a:latin typeface="Calibri"/>
                <a:cs typeface="Calibri"/>
              </a:rPr>
              <a:t>attention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852" y="1950465"/>
            <a:ext cx="4815840" cy="1088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  <a:buClr>
                <a:srgbClr val="8B1515"/>
              </a:buClr>
              <a:buFont typeface="Times New Roman"/>
              <a:buChar char="•"/>
            </a:pPr>
            <a:endParaRPr sz="23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Easy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fix: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feed-</a:t>
            </a:r>
            <a:r>
              <a:rPr sz="2300" b="1" dirty="0">
                <a:latin typeface="Calibri"/>
                <a:cs typeface="Calibri"/>
              </a:rPr>
              <a:t>forward</a:t>
            </a:r>
            <a:r>
              <a:rPr sz="2300" b="1" spc="1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network</a:t>
            </a:r>
            <a:endParaRPr sz="23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5"/>
              </a:spcBef>
            </a:pPr>
            <a:r>
              <a:rPr sz="2300" dirty="0">
                <a:latin typeface="Calibri"/>
                <a:cs typeface="Calibri"/>
              </a:rPr>
              <a:t>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post-</a:t>
            </a:r>
            <a:r>
              <a:rPr sz="2300" dirty="0">
                <a:latin typeface="Calibri"/>
                <a:cs typeface="Calibri"/>
              </a:rPr>
              <a:t>process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vector.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1198" y="4678426"/>
            <a:ext cx="1035685" cy="245745"/>
          </a:xfrm>
          <a:custGeom>
            <a:avLst/>
            <a:gdLst/>
            <a:ahLst/>
            <a:cxnLst/>
            <a:rect l="l" t="t" r="r" b="b"/>
            <a:pathLst>
              <a:path w="1035685" h="245745">
                <a:moveTo>
                  <a:pt x="957452" y="0"/>
                </a:moveTo>
                <a:lnTo>
                  <a:pt x="953896" y="10032"/>
                </a:lnTo>
                <a:lnTo>
                  <a:pt x="968136" y="16176"/>
                </a:lnTo>
                <a:lnTo>
                  <a:pt x="980376" y="24701"/>
                </a:lnTo>
                <a:lnTo>
                  <a:pt x="1005189" y="64301"/>
                </a:lnTo>
                <a:lnTo>
                  <a:pt x="1013332" y="121666"/>
                </a:lnTo>
                <a:lnTo>
                  <a:pt x="1012426" y="143335"/>
                </a:lnTo>
                <a:lnTo>
                  <a:pt x="998727" y="196342"/>
                </a:lnTo>
                <a:lnTo>
                  <a:pt x="968277" y="229524"/>
                </a:lnTo>
                <a:lnTo>
                  <a:pt x="954277" y="235712"/>
                </a:lnTo>
                <a:lnTo>
                  <a:pt x="957452" y="245744"/>
                </a:lnTo>
                <a:lnTo>
                  <a:pt x="1004298" y="217848"/>
                </a:lnTo>
                <a:lnTo>
                  <a:pt x="1030636" y="166354"/>
                </a:lnTo>
                <a:lnTo>
                  <a:pt x="1035684" y="122936"/>
                </a:lnTo>
                <a:lnTo>
                  <a:pt x="1034437" y="100687"/>
                </a:lnTo>
                <a:lnTo>
                  <a:pt x="1024326" y="60481"/>
                </a:lnTo>
                <a:lnTo>
                  <a:pt x="1004226" y="28003"/>
                </a:lnTo>
                <a:lnTo>
                  <a:pt x="975219" y="6476"/>
                </a:lnTo>
                <a:lnTo>
                  <a:pt x="957452" y="0"/>
                </a:lnTo>
                <a:close/>
              </a:path>
              <a:path w="1035685" h="245745">
                <a:moveTo>
                  <a:pt x="78358" y="0"/>
                </a:moveTo>
                <a:lnTo>
                  <a:pt x="31531" y="28003"/>
                </a:lnTo>
                <a:lnTo>
                  <a:pt x="11412" y="60481"/>
                </a:lnTo>
                <a:lnTo>
                  <a:pt x="1264" y="100435"/>
                </a:lnTo>
                <a:lnTo>
                  <a:pt x="0" y="122936"/>
                </a:lnTo>
                <a:lnTo>
                  <a:pt x="1140" y="143335"/>
                </a:lnTo>
                <a:lnTo>
                  <a:pt x="1262" y="145508"/>
                </a:lnTo>
                <a:lnTo>
                  <a:pt x="11358" y="185461"/>
                </a:lnTo>
                <a:lnTo>
                  <a:pt x="44846" y="229997"/>
                </a:lnTo>
                <a:lnTo>
                  <a:pt x="78358" y="245744"/>
                </a:lnTo>
                <a:lnTo>
                  <a:pt x="81406" y="235712"/>
                </a:lnTo>
                <a:lnTo>
                  <a:pt x="67425" y="229524"/>
                </a:lnTo>
                <a:lnTo>
                  <a:pt x="55371" y="220884"/>
                </a:lnTo>
                <a:lnTo>
                  <a:pt x="30622" y="180673"/>
                </a:lnTo>
                <a:lnTo>
                  <a:pt x="22532" y="122936"/>
                </a:lnTo>
                <a:lnTo>
                  <a:pt x="22478" y="121666"/>
                </a:lnTo>
                <a:lnTo>
                  <a:pt x="26098" y="81565"/>
                </a:lnTo>
                <a:lnTo>
                  <a:pt x="45249" y="35607"/>
                </a:lnTo>
                <a:lnTo>
                  <a:pt x="81914" y="10032"/>
                </a:lnTo>
                <a:lnTo>
                  <a:pt x="783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05507" y="5053329"/>
            <a:ext cx="2002789" cy="245745"/>
          </a:xfrm>
          <a:custGeom>
            <a:avLst/>
            <a:gdLst/>
            <a:ahLst/>
            <a:cxnLst/>
            <a:rect l="l" t="t" r="r" b="b"/>
            <a:pathLst>
              <a:path w="2002789" h="245745">
                <a:moveTo>
                  <a:pt x="1924431" y="0"/>
                </a:moveTo>
                <a:lnTo>
                  <a:pt x="1920875" y="10033"/>
                </a:lnTo>
                <a:lnTo>
                  <a:pt x="1935114" y="16176"/>
                </a:lnTo>
                <a:lnTo>
                  <a:pt x="1947354" y="24701"/>
                </a:lnTo>
                <a:lnTo>
                  <a:pt x="1972167" y="64301"/>
                </a:lnTo>
                <a:lnTo>
                  <a:pt x="1979370" y="100435"/>
                </a:lnTo>
                <a:lnTo>
                  <a:pt x="1979406" y="100687"/>
                </a:lnTo>
                <a:lnTo>
                  <a:pt x="1979404" y="143335"/>
                </a:lnTo>
                <a:lnTo>
                  <a:pt x="1965706" y="196342"/>
                </a:lnTo>
                <a:lnTo>
                  <a:pt x="1935255" y="229524"/>
                </a:lnTo>
                <a:lnTo>
                  <a:pt x="1921256" y="235712"/>
                </a:lnTo>
                <a:lnTo>
                  <a:pt x="1924431" y="245618"/>
                </a:lnTo>
                <a:lnTo>
                  <a:pt x="1971276" y="217739"/>
                </a:lnTo>
                <a:lnTo>
                  <a:pt x="1997614" y="166338"/>
                </a:lnTo>
                <a:lnTo>
                  <a:pt x="2002663" y="122936"/>
                </a:lnTo>
                <a:lnTo>
                  <a:pt x="2001415" y="100687"/>
                </a:lnTo>
                <a:lnTo>
                  <a:pt x="1991304" y="60481"/>
                </a:lnTo>
                <a:lnTo>
                  <a:pt x="1971258" y="28003"/>
                </a:lnTo>
                <a:lnTo>
                  <a:pt x="1942214" y="6477"/>
                </a:lnTo>
                <a:lnTo>
                  <a:pt x="1924431" y="0"/>
                </a:lnTo>
                <a:close/>
              </a:path>
              <a:path w="2002789" h="245745">
                <a:moveTo>
                  <a:pt x="78359" y="0"/>
                </a:moveTo>
                <a:lnTo>
                  <a:pt x="31460" y="28003"/>
                </a:lnTo>
                <a:lnTo>
                  <a:pt x="11358" y="60481"/>
                </a:lnTo>
                <a:lnTo>
                  <a:pt x="1262" y="100435"/>
                </a:lnTo>
                <a:lnTo>
                  <a:pt x="71" y="121666"/>
                </a:lnTo>
                <a:lnTo>
                  <a:pt x="0" y="122936"/>
                </a:lnTo>
                <a:lnTo>
                  <a:pt x="5048" y="166338"/>
                </a:lnTo>
                <a:lnTo>
                  <a:pt x="20193" y="202692"/>
                </a:lnTo>
                <a:lnTo>
                  <a:pt x="60448" y="239214"/>
                </a:lnTo>
                <a:lnTo>
                  <a:pt x="78359" y="245618"/>
                </a:lnTo>
                <a:lnTo>
                  <a:pt x="81406" y="235712"/>
                </a:lnTo>
                <a:lnTo>
                  <a:pt x="67407" y="229524"/>
                </a:lnTo>
                <a:lnTo>
                  <a:pt x="55324" y="220884"/>
                </a:lnTo>
                <a:lnTo>
                  <a:pt x="30549" y="180673"/>
                </a:lnTo>
                <a:lnTo>
                  <a:pt x="22405" y="122936"/>
                </a:lnTo>
                <a:lnTo>
                  <a:pt x="22351" y="121666"/>
                </a:lnTo>
                <a:lnTo>
                  <a:pt x="23258" y="100687"/>
                </a:lnTo>
                <a:lnTo>
                  <a:pt x="36956" y="48895"/>
                </a:lnTo>
                <a:lnTo>
                  <a:pt x="67621" y="16176"/>
                </a:lnTo>
                <a:lnTo>
                  <a:pt x="81787" y="10033"/>
                </a:lnTo>
                <a:lnTo>
                  <a:pt x="783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2208" y="4548390"/>
            <a:ext cx="3898265" cy="7766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35"/>
              </a:spcBef>
            </a:pPr>
            <a:r>
              <a:rPr sz="2100" dirty="0">
                <a:latin typeface="Cambria Math"/>
                <a:cs typeface="Cambria Math"/>
              </a:rPr>
              <a:t>𝑚</a:t>
            </a:r>
            <a:r>
              <a:rPr sz="2250" baseline="-16666" dirty="0">
                <a:latin typeface="Cambria Math"/>
                <a:cs typeface="Cambria Math"/>
              </a:rPr>
              <a:t>𝑖</a:t>
            </a:r>
            <a:r>
              <a:rPr sz="2250" spc="562" baseline="-16666" dirty="0">
                <a:latin typeface="Cambria Math"/>
                <a:cs typeface="Cambria Math"/>
              </a:rPr>
              <a:t> </a:t>
            </a:r>
            <a:r>
              <a:rPr sz="2100" dirty="0">
                <a:latin typeface="Cambria Math"/>
                <a:cs typeface="Cambria Math"/>
              </a:rPr>
              <a:t>=</a:t>
            </a:r>
            <a:r>
              <a:rPr sz="2100" spc="130" dirty="0">
                <a:latin typeface="Cambria Math"/>
                <a:cs typeface="Cambria Math"/>
              </a:rPr>
              <a:t> </a:t>
            </a:r>
            <a:r>
              <a:rPr sz="2100" dirty="0">
                <a:latin typeface="Cambria Math"/>
                <a:cs typeface="Cambria Math"/>
              </a:rPr>
              <a:t>𝑀𝐿𝑃</a:t>
            </a:r>
            <a:r>
              <a:rPr sz="2100" spc="470" dirty="0">
                <a:latin typeface="Cambria Math"/>
                <a:cs typeface="Cambria Math"/>
              </a:rPr>
              <a:t> </a:t>
            </a:r>
            <a:r>
              <a:rPr sz="2100" spc="-10" dirty="0">
                <a:latin typeface="Cambria Math"/>
                <a:cs typeface="Cambria Math"/>
              </a:rPr>
              <a:t>output</a:t>
            </a:r>
            <a:r>
              <a:rPr sz="2250" spc="-15" baseline="-16666" dirty="0">
                <a:latin typeface="Cambria Math"/>
                <a:cs typeface="Cambria Math"/>
              </a:rPr>
              <a:t>𝑖</a:t>
            </a:r>
            <a:endParaRPr sz="2250" baseline="-16666" dirty="0">
              <a:latin typeface="Cambria Math"/>
              <a:cs typeface="Cambria Math"/>
            </a:endParaRPr>
          </a:p>
          <a:p>
            <a:pPr marL="396875">
              <a:lnSpc>
                <a:spcPct val="100000"/>
              </a:lnSpc>
              <a:spcBef>
                <a:spcPts val="440"/>
              </a:spcBef>
              <a:tabLst>
                <a:tab pos="729615" algn="l"/>
              </a:tabLst>
            </a:pPr>
            <a:r>
              <a:rPr sz="2100" spc="-50" dirty="0">
                <a:latin typeface="Cambria Math"/>
                <a:cs typeface="Cambria Math"/>
              </a:rPr>
              <a:t>=</a:t>
            </a:r>
            <a:r>
              <a:rPr sz="2100" dirty="0">
                <a:latin typeface="Cambria Math"/>
                <a:cs typeface="Cambria Math"/>
              </a:rPr>
              <a:t>	</a:t>
            </a:r>
            <a:r>
              <a:rPr sz="2100" spc="-30" dirty="0">
                <a:latin typeface="Cambria Math"/>
                <a:cs typeface="Cambria Math"/>
              </a:rPr>
              <a:t>𝑊</a:t>
            </a:r>
            <a:r>
              <a:rPr sz="2250" spc="-44" baseline="-16666" dirty="0">
                <a:latin typeface="Cambria Math"/>
                <a:cs typeface="Cambria Math"/>
              </a:rPr>
              <a:t>2</a:t>
            </a:r>
            <a:r>
              <a:rPr sz="2250" spc="270" baseline="-16666" dirty="0">
                <a:latin typeface="Cambria Math"/>
                <a:cs typeface="Cambria Math"/>
              </a:rPr>
              <a:t> </a:t>
            </a:r>
            <a:r>
              <a:rPr sz="2100" dirty="0">
                <a:latin typeface="Cambria Math"/>
                <a:cs typeface="Cambria Math"/>
              </a:rPr>
              <a:t>∗</a:t>
            </a:r>
            <a:r>
              <a:rPr sz="2100" spc="-40" dirty="0">
                <a:latin typeface="Cambria Math"/>
                <a:cs typeface="Cambria Math"/>
              </a:rPr>
              <a:t> </a:t>
            </a:r>
            <a:r>
              <a:rPr sz="2100" dirty="0">
                <a:latin typeface="Cambria Math"/>
                <a:cs typeface="Cambria Math"/>
              </a:rPr>
              <a:t>ReLU</a:t>
            </a:r>
            <a:r>
              <a:rPr sz="2100" spc="335" dirty="0">
                <a:latin typeface="Cambria Math"/>
                <a:cs typeface="Cambria Math"/>
              </a:rPr>
              <a:t> </a:t>
            </a:r>
            <a:r>
              <a:rPr sz="2100" spc="-55" dirty="0">
                <a:latin typeface="Cambria Math"/>
                <a:cs typeface="Cambria Math"/>
              </a:rPr>
              <a:t>𝑊</a:t>
            </a:r>
            <a:r>
              <a:rPr sz="2250" spc="-82" baseline="-16666" dirty="0">
                <a:latin typeface="Cambria Math"/>
                <a:cs typeface="Cambria Math"/>
              </a:rPr>
              <a:t>1</a:t>
            </a:r>
            <a:r>
              <a:rPr sz="2250" spc="262" baseline="-16666" dirty="0">
                <a:latin typeface="Cambria Math"/>
                <a:cs typeface="Cambria Math"/>
              </a:rPr>
              <a:t> </a:t>
            </a:r>
            <a:r>
              <a:rPr sz="2100" dirty="0">
                <a:latin typeface="Cambria Math"/>
                <a:cs typeface="Cambria Math"/>
              </a:rPr>
              <a:t>output</a:t>
            </a:r>
            <a:r>
              <a:rPr sz="2250" baseline="-16666" dirty="0">
                <a:latin typeface="Cambria Math"/>
                <a:cs typeface="Cambria Math"/>
              </a:rPr>
              <a:t>𝑖</a:t>
            </a:r>
            <a:r>
              <a:rPr sz="2250" spc="337" baseline="-16666" dirty="0">
                <a:latin typeface="Cambria Math"/>
                <a:cs typeface="Cambria Math"/>
              </a:rPr>
              <a:t> </a:t>
            </a:r>
            <a:r>
              <a:rPr sz="2100" dirty="0">
                <a:latin typeface="Cambria Math"/>
                <a:cs typeface="Cambria Math"/>
              </a:rPr>
              <a:t>+</a:t>
            </a:r>
            <a:r>
              <a:rPr sz="2100" spc="-30" dirty="0">
                <a:latin typeface="Cambria Math"/>
                <a:cs typeface="Cambria Math"/>
              </a:rPr>
              <a:t> </a:t>
            </a:r>
            <a:r>
              <a:rPr sz="2100" spc="-25" dirty="0">
                <a:latin typeface="Cambria Math"/>
                <a:cs typeface="Cambria Math"/>
              </a:rPr>
              <a:t>𝑏</a:t>
            </a:r>
            <a:r>
              <a:rPr sz="2250" spc="-37" baseline="-16666" dirty="0">
                <a:latin typeface="Cambria Math"/>
                <a:cs typeface="Cambria Math"/>
              </a:rPr>
              <a:t>1</a:t>
            </a:r>
            <a:endParaRPr sz="2250" baseline="-16666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56684" y="4980876"/>
            <a:ext cx="583565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00" dirty="0">
                <a:latin typeface="Cambria Math"/>
                <a:cs typeface="Cambria Math"/>
              </a:rPr>
              <a:t>+</a:t>
            </a:r>
            <a:r>
              <a:rPr sz="2100" spc="-5" dirty="0">
                <a:latin typeface="Cambria Math"/>
                <a:cs typeface="Cambria Math"/>
              </a:rPr>
              <a:t> </a:t>
            </a:r>
            <a:r>
              <a:rPr sz="2100" spc="-35" dirty="0">
                <a:latin typeface="Cambria Math"/>
                <a:cs typeface="Cambria Math"/>
              </a:rPr>
              <a:t>𝑏</a:t>
            </a:r>
            <a:r>
              <a:rPr sz="2250" spc="-52" baseline="-16666" dirty="0">
                <a:latin typeface="Cambria Math"/>
                <a:cs typeface="Cambria Math"/>
              </a:rPr>
              <a:t>2</a:t>
            </a:r>
            <a:endParaRPr sz="2250" baseline="-16666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80176" y="4663440"/>
            <a:ext cx="210820" cy="292735"/>
          </a:xfrm>
          <a:custGeom>
            <a:avLst/>
            <a:gdLst/>
            <a:ahLst/>
            <a:cxnLst/>
            <a:rect l="l" t="t" r="r" b="b"/>
            <a:pathLst>
              <a:path w="210820" h="292735">
                <a:moveTo>
                  <a:pt x="210312" y="0"/>
                </a:moveTo>
                <a:lnTo>
                  <a:pt x="0" y="0"/>
                </a:lnTo>
                <a:lnTo>
                  <a:pt x="0" y="292607"/>
                </a:lnTo>
                <a:lnTo>
                  <a:pt x="210312" y="292607"/>
                </a:lnTo>
                <a:lnTo>
                  <a:pt x="210312" y="0"/>
                </a:lnTo>
                <a:close/>
              </a:path>
            </a:pathLst>
          </a:custGeom>
          <a:solidFill>
            <a:srgbClr val="929A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85053" y="4967033"/>
            <a:ext cx="516890" cy="949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00" spc="-25" dirty="0">
                <a:latin typeface="Cambria Math"/>
                <a:cs typeface="Cambria Math"/>
              </a:rPr>
              <a:t>𝑤</a:t>
            </a:r>
            <a:r>
              <a:rPr sz="2475" spc="-37" baseline="-15151" dirty="0">
                <a:latin typeface="Cambria Math"/>
                <a:cs typeface="Cambria Math"/>
              </a:rPr>
              <a:t>1</a:t>
            </a:r>
            <a:endParaRPr sz="2475" baseline="-15151">
              <a:latin typeface="Cambria Math"/>
              <a:cs typeface="Cambria Math"/>
            </a:endParaRPr>
          </a:p>
          <a:p>
            <a:pPr marL="45720">
              <a:lnSpc>
                <a:spcPct val="100000"/>
              </a:lnSpc>
              <a:spcBef>
                <a:spcPts val="1745"/>
              </a:spcBef>
            </a:pPr>
            <a:r>
              <a:rPr sz="2300" i="1" spc="-25" dirty="0"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97495" y="4672584"/>
            <a:ext cx="201295" cy="292735"/>
          </a:xfrm>
          <a:custGeom>
            <a:avLst/>
            <a:gdLst/>
            <a:ahLst/>
            <a:cxnLst/>
            <a:rect l="l" t="t" r="r" b="b"/>
            <a:pathLst>
              <a:path w="201295" h="292735">
                <a:moveTo>
                  <a:pt x="201168" y="0"/>
                </a:moveTo>
                <a:lnTo>
                  <a:pt x="0" y="0"/>
                </a:lnTo>
                <a:lnTo>
                  <a:pt x="0" y="292607"/>
                </a:lnTo>
                <a:lnTo>
                  <a:pt x="201168" y="292607"/>
                </a:lnTo>
                <a:lnTo>
                  <a:pt x="201168" y="0"/>
                </a:lnTo>
                <a:close/>
              </a:path>
            </a:pathLst>
          </a:custGeom>
          <a:solidFill>
            <a:srgbClr val="929A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61352" y="4825415"/>
            <a:ext cx="577215" cy="107251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460"/>
              </a:spcBef>
            </a:pPr>
            <a:r>
              <a:rPr sz="2300" spc="-25" dirty="0">
                <a:latin typeface="Cambria Math"/>
                <a:cs typeface="Cambria Math"/>
              </a:rPr>
              <a:t>𝑤</a:t>
            </a:r>
            <a:r>
              <a:rPr sz="2475" spc="-37" baseline="-15151" dirty="0">
                <a:latin typeface="Cambria Math"/>
                <a:cs typeface="Cambria Math"/>
              </a:rPr>
              <a:t>2</a:t>
            </a:r>
            <a:endParaRPr sz="2475" baseline="-15151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360"/>
              </a:spcBef>
            </a:pPr>
            <a:r>
              <a:rPr sz="2300" i="1" spc="-20" dirty="0">
                <a:latin typeface="Calibri"/>
                <a:cs typeface="Calibri"/>
              </a:rPr>
              <a:t>chef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87968" y="4672584"/>
            <a:ext cx="201295" cy="302260"/>
          </a:xfrm>
          <a:custGeom>
            <a:avLst/>
            <a:gdLst/>
            <a:ahLst/>
            <a:cxnLst/>
            <a:rect l="l" t="t" r="r" b="b"/>
            <a:pathLst>
              <a:path w="201295" h="302260">
                <a:moveTo>
                  <a:pt x="201168" y="0"/>
                </a:moveTo>
                <a:lnTo>
                  <a:pt x="0" y="0"/>
                </a:lnTo>
                <a:lnTo>
                  <a:pt x="0" y="301751"/>
                </a:lnTo>
                <a:lnTo>
                  <a:pt x="201168" y="301751"/>
                </a:lnTo>
                <a:lnTo>
                  <a:pt x="201168" y="0"/>
                </a:lnTo>
                <a:close/>
              </a:path>
            </a:pathLst>
          </a:custGeom>
          <a:solidFill>
            <a:srgbClr val="929A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53729" y="4829822"/>
            <a:ext cx="584200" cy="107251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460"/>
              </a:spcBef>
            </a:pPr>
            <a:r>
              <a:rPr sz="2300" spc="-25" dirty="0">
                <a:latin typeface="Cambria Math"/>
                <a:cs typeface="Cambria Math"/>
              </a:rPr>
              <a:t>𝑤</a:t>
            </a:r>
            <a:r>
              <a:rPr sz="2475" spc="-37" baseline="-15151" dirty="0">
                <a:latin typeface="Cambria Math"/>
                <a:cs typeface="Cambria Math"/>
              </a:rPr>
              <a:t>3</a:t>
            </a:r>
            <a:endParaRPr sz="2475" baseline="-15151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360"/>
              </a:spcBef>
            </a:pPr>
            <a:r>
              <a:rPr sz="2300" i="1" spc="-25" dirty="0">
                <a:latin typeface="Calibri"/>
                <a:cs typeface="Calibri"/>
              </a:rPr>
              <a:t>who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81943" y="4672584"/>
            <a:ext cx="201295" cy="292735"/>
          </a:xfrm>
          <a:custGeom>
            <a:avLst/>
            <a:gdLst/>
            <a:ahLst/>
            <a:cxnLst/>
            <a:rect l="l" t="t" r="r" b="b"/>
            <a:pathLst>
              <a:path w="201295" h="292735">
                <a:moveTo>
                  <a:pt x="201168" y="0"/>
                </a:moveTo>
                <a:lnTo>
                  <a:pt x="0" y="0"/>
                </a:lnTo>
                <a:lnTo>
                  <a:pt x="0" y="292607"/>
                </a:lnTo>
                <a:lnTo>
                  <a:pt x="201168" y="292607"/>
                </a:lnTo>
                <a:lnTo>
                  <a:pt x="201168" y="0"/>
                </a:lnTo>
                <a:close/>
              </a:path>
            </a:pathLst>
          </a:custGeom>
          <a:solidFill>
            <a:srgbClr val="929A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792459" y="4842230"/>
            <a:ext cx="610870" cy="107251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460"/>
              </a:spcBef>
            </a:pPr>
            <a:r>
              <a:rPr sz="2300" spc="-25" dirty="0">
                <a:latin typeface="Cambria Math"/>
                <a:cs typeface="Cambria Math"/>
              </a:rPr>
              <a:t>𝑤</a:t>
            </a:r>
            <a:r>
              <a:rPr sz="2475" spc="-37" baseline="-15151" dirty="0">
                <a:latin typeface="Cambria Math"/>
                <a:cs typeface="Cambria Math"/>
              </a:rPr>
              <a:t>𝑛</a:t>
            </a:r>
            <a:endParaRPr sz="2475" baseline="-15151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360"/>
              </a:spcBef>
            </a:pPr>
            <a:r>
              <a:rPr sz="2300" i="1" spc="-20" dirty="0">
                <a:latin typeface="Calibri"/>
                <a:cs typeface="Calibri"/>
              </a:rPr>
              <a:t>food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04730" y="4285310"/>
            <a:ext cx="461645" cy="784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950" i="1" spc="-50" dirty="0">
                <a:latin typeface="Calibri"/>
                <a:cs typeface="Calibri"/>
              </a:rPr>
              <a:t>…</a:t>
            </a:r>
            <a:endParaRPr sz="4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86400" y="2926079"/>
            <a:ext cx="6300470" cy="1719580"/>
            <a:chOff x="5486400" y="2926079"/>
            <a:chExt cx="6300470" cy="1719580"/>
          </a:xfrm>
        </p:grpSpPr>
        <p:sp>
          <p:nvSpPr>
            <p:cNvPr id="18" name="object 18"/>
            <p:cNvSpPr/>
            <p:nvPr/>
          </p:nvSpPr>
          <p:spPr>
            <a:xfrm>
              <a:off x="5486400" y="4023359"/>
              <a:ext cx="6300470" cy="622300"/>
            </a:xfrm>
            <a:custGeom>
              <a:avLst/>
              <a:gdLst/>
              <a:ahLst/>
              <a:cxnLst/>
              <a:rect l="l" t="t" r="r" b="b"/>
              <a:pathLst>
                <a:path w="6300470" h="622300">
                  <a:moveTo>
                    <a:pt x="6196583" y="0"/>
                  </a:moveTo>
                  <a:lnTo>
                    <a:pt x="103632" y="0"/>
                  </a:lnTo>
                  <a:lnTo>
                    <a:pt x="63275" y="8137"/>
                  </a:lnTo>
                  <a:lnTo>
                    <a:pt x="30337" y="30337"/>
                  </a:lnTo>
                  <a:lnTo>
                    <a:pt x="8137" y="63275"/>
                  </a:lnTo>
                  <a:lnTo>
                    <a:pt x="0" y="103631"/>
                  </a:lnTo>
                  <a:lnTo>
                    <a:pt x="0" y="518159"/>
                  </a:lnTo>
                  <a:lnTo>
                    <a:pt x="8137" y="558462"/>
                  </a:lnTo>
                  <a:lnTo>
                    <a:pt x="30337" y="591407"/>
                  </a:lnTo>
                  <a:lnTo>
                    <a:pt x="63275" y="613636"/>
                  </a:lnTo>
                  <a:lnTo>
                    <a:pt x="103632" y="621791"/>
                  </a:lnTo>
                  <a:lnTo>
                    <a:pt x="6196583" y="621791"/>
                  </a:lnTo>
                  <a:lnTo>
                    <a:pt x="6236940" y="613636"/>
                  </a:lnTo>
                  <a:lnTo>
                    <a:pt x="6269878" y="591407"/>
                  </a:lnTo>
                  <a:lnTo>
                    <a:pt x="6292078" y="558462"/>
                  </a:lnTo>
                  <a:lnTo>
                    <a:pt x="6300216" y="518159"/>
                  </a:lnTo>
                  <a:lnTo>
                    <a:pt x="6300216" y="103631"/>
                  </a:lnTo>
                  <a:lnTo>
                    <a:pt x="6292078" y="63275"/>
                  </a:lnTo>
                  <a:lnTo>
                    <a:pt x="6269878" y="30337"/>
                  </a:lnTo>
                  <a:lnTo>
                    <a:pt x="6236940" y="8137"/>
                  </a:lnTo>
                  <a:lnTo>
                    <a:pt x="6196583" y="0"/>
                  </a:lnTo>
                  <a:close/>
                </a:path>
              </a:pathLst>
            </a:custGeom>
            <a:solidFill>
              <a:srgbClr val="C0E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56376" y="3863339"/>
              <a:ext cx="5069205" cy="342900"/>
            </a:xfrm>
            <a:custGeom>
              <a:avLst/>
              <a:gdLst/>
              <a:ahLst/>
              <a:cxnLst/>
              <a:rect l="l" t="t" r="r" b="b"/>
              <a:pathLst>
                <a:path w="5069205" h="34290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96672"/>
                  </a:lnTo>
                  <a:lnTo>
                    <a:pt x="44450" y="296672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5069205" h="342900">
                  <a:moveTo>
                    <a:pt x="1484376" y="103632"/>
                  </a:moveTo>
                  <a:lnTo>
                    <a:pt x="1478026" y="90932"/>
                  </a:lnTo>
                  <a:lnTo>
                    <a:pt x="1446276" y="27432"/>
                  </a:lnTo>
                  <a:lnTo>
                    <a:pt x="1408176" y="103632"/>
                  </a:lnTo>
                  <a:lnTo>
                    <a:pt x="1439926" y="103632"/>
                  </a:lnTo>
                  <a:lnTo>
                    <a:pt x="1439926" y="324104"/>
                  </a:lnTo>
                  <a:lnTo>
                    <a:pt x="1452626" y="324104"/>
                  </a:lnTo>
                  <a:lnTo>
                    <a:pt x="1452626" y="103632"/>
                  </a:lnTo>
                  <a:lnTo>
                    <a:pt x="1484376" y="103632"/>
                  </a:lnTo>
                  <a:close/>
                </a:path>
                <a:path w="5069205" h="342900">
                  <a:moveTo>
                    <a:pt x="2974848" y="103632"/>
                  </a:moveTo>
                  <a:lnTo>
                    <a:pt x="2968498" y="90932"/>
                  </a:lnTo>
                  <a:lnTo>
                    <a:pt x="2936748" y="27432"/>
                  </a:lnTo>
                  <a:lnTo>
                    <a:pt x="2898648" y="103632"/>
                  </a:lnTo>
                  <a:lnTo>
                    <a:pt x="2930398" y="103632"/>
                  </a:lnTo>
                  <a:lnTo>
                    <a:pt x="2930398" y="324104"/>
                  </a:lnTo>
                  <a:lnTo>
                    <a:pt x="2943098" y="324104"/>
                  </a:lnTo>
                  <a:lnTo>
                    <a:pt x="2943098" y="103632"/>
                  </a:lnTo>
                  <a:lnTo>
                    <a:pt x="2974848" y="103632"/>
                  </a:lnTo>
                  <a:close/>
                </a:path>
                <a:path w="5069205" h="342900">
                  <a:moveTo>
                    <a:pt x="5068824" y="121920"/>
                  </a:moveTo>
                  <a:lnTo>
                    <a:pt x="5062474" y="109220"/>
                  </a:lnTo>
                  <a:lnTo>
                    <a:pt x="5030724" y="45720"/>
                  </a:lnTo>
                  <a:lnTo>
                    <a:pt x="4992624" y="121920"/>
                  </a:lnTo>
                  <a:lnTo>
                    <a:pt x="5024374" y="121920"/>
                  </a:lnTo>
                  <a:lnTo>
                    <a:pt x="5024374" y="342392"/>
                  </a:lnTo>
                  <a:lnTo>
                    <a:pt x="5037074" y="342392"/>
                  </a:lnTo>
                  <a:lnTo>
                    <a:pt x="5037074" y="121920"/>
                  </a:lnTo>
                  <a:lnTo>
                    <a:pt x="5068824" y="1219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89320" y="2926079"/>
              <a:ext cx="5194300" cy="338455"/>
            </a:xfrm>
            <a:custGeom>
              <a:avLst/>
              <a:gdLst/>
              <a:ahLst/>
              <a:cxnLst/>
              <a:rect l="l" t="t" r="r" b="b"/>
              <a:pathLst>
                <a:path w="5194300" h="338454">
                  <a:moveTo>
                    <a:pt x="201168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201168" y="292608"/>
                  </a:lnTo>
                  <a:lnTo>
                    <a:pt x="201168" y="0"/>
                  </a:lnTo>
                  <a:close/>
                </a:path>
                <a:path w="5194300" h="338454">
                  <a:moveTo>
                    <a:pt x="1609344" y="27432"/>
                  </a:moveTo>
                  <a:lnTo>
                    <a:pt x="1408176" y="27432"/>
                  </a:lnTo>
                  <a:lnTo>
                    <a:pt x="1408176" y="320040"/>
                  </a:lnTo>
                  <a:lnTo>
                    <a:pt x="1609344" y="320040"/>
                  </a:lnTo>
                  <a:lnTo>
                    <a:pt x="1609344" y="27432"/>
                  </a:lnTo>
                  <a:close/>
                </a:path>
                <a:path w="5194300" h="338454">
                  <a:moveTo>
                    <a:pt x="3099816" y="27432"/>
                  </a:moveTo>
                  <a:lnTo>
                    <a:pt x="2898648" y="27432"/>
                  </a:lnTo>
                  <a:lnTo>
                    <a:pt x="2898648" y="329184"/>
                  </a:lnTo>
                  <a:lnTo>
                    <a:pt x="3099816" y="329184"/>
                  </a:lnTo>
                  <a:lnTo>
                    <a:pt x="3099816" y="27432"/>
                  </a:lnTo>
                  <a:close/>
                </a:path>
                <a:path w="5194300" h="338454">
                  <a:moveTo>
                    <a:pt x="5193792" y="45720"/>
                  </a:moveTo>
                  <a:lnTo>
                    <a:pt x="4992624" y="45720"/>
                  </a:lnTo>
                  <a:lnTo>
                    <a:pt x="4992624" y="338328"/>
                  </a:lnTo>
                  <a:lnTo>
                    <a:pt x="5193792" y="338328"/>
                  </a:lnTo>
                  <a:lnTo>
                    <a:pt x="5193792" y="45720"/>
                  </a:lnTo>
                  <a:close/>
                </a:path>
              </a:pathLst>
            </a:custGeom>
            <a:solidFill>
              <a:srgbClr val="929A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43015" y="3483863"/>
              <a:ext cx="530860" cy="384175"/>
            </a:xfrm>
            <a:custGeom>
              <a:avLst/>
              <a:gdLst/>
              <a:ahLst/>
              <a:cxnLst/>
              <a:rect l="l" t="t" r="r" b="b"/>
              <a:pathLst>
                <a:path w="530860" h="384175">
                  <a:moveTo>
                    <a:pt x="466344" y="0"/>
                  </a:moveTo>
                  <a:lnTo>
                    <a:pt x="64008" y="0"/>
                  </a:lnTo>
                  <a:lnTo>
                    <a:pt x="39112" y="5018"/>
                  </a:lnTo>
                  <a:lnTo>
                    <a:pt x="18764" y="18716"/>
                  </a:lnTo>
                  <a:lnTo>
                    <a:pt x="5036" y="39058"/>
                  </a:lnTo>
                  <a:lnTo>
                    <a:pt x="0" y="64008"/>
                  </a:lnTo>
                  <a:lnTo>
                    <a:pt x="0" y="320040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466344" y="384048"/>
                  </a:lnTo>
                  <a:lnTo>
                    <a:pt x="491239" y="379011"/>
                  </a:lnTo>
                  <a:lnTo>
                    <a:pt x="511587" y="365283"/>
                  </a:lnTo>
                  <a:lnTo>
                    <a:pt x="525315" y="344935"/>
                  </a:lnTo>
                  <a:lnTo>
                    <a:pt x="530351" y="320040"/>
                  </a:lnTo>
                  <a:lnTo>
                    <a:pt x="530351" y="64008"/>
                  </a:lnTo>
                  <a:lnTo>
                    <a:pt x="525315" y="39058"/>
                  </a:lnTo>
                  <a:lnTo>
                    <a:pt x="511587" y="18716"/>
                  </a:lnTo>
                  <a:lnTo>
                    <a:pt x="491239" y="5018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61788" y="6295567"/>
            <a:ext cx="6913245" cy="384175"/>
          </a:xfrm>
          <a:prstGeom prst="rect">
            <a:avLst/>
          </a:prstGeom>
          <a:ln w="9525">
            <a:solidFill>
              <a:srgbClr val="6000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09880">
              <a:lnSpc>
                <a:spcPts val="2465"/>
              </a:lnSpc>
            </a:pP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Intuition:</a:t>
            </a:r>
            <a:r>
              <a:rPr sz="2100" spc="-5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the</a:t>
            </a:r>
            <a:r>
              <a:rPr sz="2100" spc="-2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FF</a:t>
            </a:r>
            <a:r>
              <a:rPr sz="2100" spc="-9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network</a:t>
            </a:r>
            <a:r>
              <a:rPr sz="2100" spc="-8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processes</a:t>
            </a:r>
            <a:r>
              <a:rPr sz="2100" spc="-2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the</a:t>
            </a:r>
            <a:r>
              <a:rPr sz="2100" spc="-3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result</a:t>
            </a:r>
            <a:r>
              <a:rPr sz="2100" spc="2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of</a:t>
            </a:r>
            <a:r>
              <a:rPr sz="2100" spc="1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600058"/>
                </a:solidFill>
                <a:latin typeface="Calibri"/>
                <a:cs typeface="Calibri"/>
              </a:rPr>
              <a:t>attention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47664" y="3466083"/>
            <a:ext cx="31813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69480" y="3483864"/>
            <a:ext cx="530860" cy="384175"/>
          </a:xfrm>
          <a:custGeom>
            <a:avLst/>
            <a:gdLst/>
            <a:ahLst/>
            <a:cxnLst/>
            <a:rect l="l" t="t" r="r" b="b"/>
            <a:pathLst>
              <a:path w="530859" h="384175">
                <a:moveTo>
                  <a:pt x="466344" y="0"/>
                </a:moveTo>
                <a:lnTo>
                  <a:pt x="64008" y="0"/>
                </a:lnTo>
                <a:lnTo>
                  <a:pt x="39112" y="5018"/>
                </a:lnTo>
                <a:lnTo>
                  <a:pt x="18764" y="18716"/>
                </a:lnTo>
                <a:lnTo>
                  <a:pt x="5036" y="39058"/>
                </a:lnTo>
                <a:lnTo>
                  <a:pt x="0" y="64008"/>
                </a:lnTo>
                <a:lnTo>
                  <a:pt x="0" y="320040"/>
                </a:lnTo>
                <a:lnTo>
                  <a:pt x="5036" y="344935"/>
                </a:lnTo>
                <a:lnTo>
                  <a:pt x="18764" y="365283"/>
                </a:lnTo>
                <a:lnTo>
                  <a:pt x="39112" y="379011"/>
                </a:lnTo>
                <a:lnTo>
                  <a:pt x="64008" y="384048"/>
                </a:lnTo>
                <a:lnTo>
                  <a:pt x="466344" y="384048"/>
                </a:lnTo>
                <a:lnTo>
                  <a:pt x="491239" y="379011"/>
                </a:lnTo>
                <a:lnTo>
                  <a:pt x="511587" y="365283"/>
                </a:lnTo>
                <a:lnTo>
                  <a:pt x="525315" y="344935"/>
                </a:lnTo>
                <a:lnTo>
                  <a:pt x="530351" y="320040"/>
                </a:lnTo>
                <a:lnTo>
                  <a:pt x="530351" y="64008"/>
                </a:lnTo>
                <a:lnTo>
                  <a:pt x="525315" y="39058"/>
                </a:lnTo>
                <a:lnTo>
                  <a:pt x="511587" y="18716"/>
                </a:lnTo>
                <a:lnTo>
                  <a:pt x="491239" y="5018"/>
                </a:lnTo>
                <a:lnTo>
                  <a:pt x="466344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72857" y="3464242"/>
            <a:ext cx="31813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723376" y="3483864"/>
            <a:ext cx="530860" cy="384175"/>
          </a:xfrm>
          <a:custGeom>
            <a:avLst/>
            <a:gdLst/>
            <a:ahLst/>
            <a:cxnLst/>
            <a:rect l="l" t="t" r="r" b="b"/>
            <a:pathLst>
              <a:path w="530859" h="384175">
                <a:moveTo>
                  <a:pt x="466344" y="0"/>
                </a:moveTo>
                <a:lnTo>
                  <a:pt x="64007" y="0"/>
                </a:lnTo>
                <a:lnTo>
                  <a:pt x="39112" y="5018"/>
                </a:lnTo>
                <a:lnTo>
                  <a:pt x="18764" y="18716"/>
                </a:lnTo>
                <a:lnTo>
                  <a:pt x="5036" y="39058"/>
                </a:lnTo>
                <a:lnTo>
                  <a:pt x="0" y="64008"/>
                </a:lnTo>
                <a:lnTo>
                  <a:pt x="0" y="320040"/>
                </a:lnTo>
                <a:lnTo>
                  <a:pt x="5036" y="344935"/>
                </a:lnTo>
                <a:lnTo>
                  <a:pt x="18764" y="365283"/>
                </a:lnTo>
                <a:lnTo>
                  <a:pt x="39112" y="379011"/>
                </a:lnTo>
                <a:lnTo>
                  <a:pt x="64007" y="384048"/>
                </a:lnTo>
                <a:lnTo>
                  <a:pt x="466344" y="384048"/>
                </a:lnTo>
                <a:lnTo>
                  <a:pt x="491239" y="379011"/>
                </a:lnTo>
                <a:lnTo>
                  <a:pt x="511587" y="365283"/>
                </a:lnTo>
                <a:lnTo>
                  <a:pt x="525315" y="344935"/>
                </a:lnTo>
                <a:lnTo>
                  <a:pt x="530351" y="320040"/>
                </a:lnTo>
                <a:lnTo>
                  <a:pt x="530351" y="64008"/>
                </a:lnTo>
                <a:lnTo>
                  <a:pt x="525315" y="39058"/>
                </a:lnTo>
                <a:lnTo>
                  <a:pt x="511587" y="18716"/>
                </a:lnTo>
                <a:lnTo>
                  <a:pt x="491239" y="5018"/>
                </a:lnTo>
                <a:lnTo>
                  <a:pt x="466344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63509" y="3464242"/>
            <a:ext cx="1753870" cy="1054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5055">
              <a:lnSpc>
                <a:spcPct val="100000"/>
              </a:lnSpc>
              <a:spcBef>
                <a:spcPts val="125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2425"/>
              </a:spcBef>
            </a:pPr>
            <a:r>
              <a:rPr sz="2350" dirty="0">
                <a:latin typeface="Source Sans Pro"/>
                <a:cs typeface="Source Sans Pro"/>
              </a:rPr>
              <a:t>self-</a:t>
            </a:r>
            <a:r>
              <a:rPr sz="2350" spc="-10" dirty="0">
                <a:latin typeface="Source Sans Pro"/>
                <a:cs typeface="Source Sans Pro"/>
              </a:rPr>
              <a:t>attention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799064" y="3493008"/>
            <a:ext cx="530860" cy="384175"/>
          </a:xfrm>
          <a:custGeom>
            <a:avLst/>
            <a:gdLst/>
            <a:ahLst/>
            <a:cxnLst/>
            <a:rect l="l" t="t" r="r" b="b"/>
            <a:pathLst>
              <a:path w="530859" h="384175">
                <a:moveTo>
                  <a:pt x="466343" y="0"/>
                </a:moveTo>
                <a:lnTo>
                  <a:pt x="64007" y="0"/>
                </a:lnTo>
                <a:lnTo>
                  <a:pt x="39112" y="5018"/>
                </a:lnTo>
                <a:lnTo>
                  <a:pt x="18764" y="18716"/>
                </a:lnTo>
                <a:lnTo>
                  <a:pt x="5036" y="39058"/>
                </a:lnTo>
                <a:lnTo>
                  <a:pt x="0" y="64007"/>
                </a:lnTo>
                <a:lnTo>
                  <a:pt x="0" y="320039"/>
                </a:lnTo>
                <a:lnTo>
                  <a:pt x="5036" y="344935"/>
                </a:lnTo>
                <a:lnTo>
                  <a:pt x="18764" y="365283"/>
                </a:lnTo>
                <a:lnTo>
                  <a:pt x="39112" y="379011"/>
                </a:lnTo>
                <a:lnTo>
                  <a:pt x="64007" y="384047"/>
                </a:lnTo>
                <a:lnTo>
                  <a:pt x="466343" y="384047"/>
                </a:lnTo>
                <a:lnTo>
                  <a:pt x="491239" y="379011"/>
                </a:lnTo>
                <a:lnTo>
                  <a:pt x="511587" y="365283"/>
                </a:lnTo>
                <a:lnTo>
                  <a:pt x="525315" y="344935"/>
                </a:lnTo>
                <a:lnTo>
                  <a:pt x="530351" y="320039"/>
                </a:lnTo>
                <a:lnTo>
                  <a:pt x="530351" y="64007"/>
                </a:lnTo>
                <a:lnTo>
                  <a:pt x="525315" y="39058"/>
                </a:lnTo>
                <a:lnTo>
                  <a:pt x="511587" y="18716"/>
                </a:lnTo>
                <a:lnTo>
                  <a:pt x="491239" y="5018"/>
                </a:lnTo>
                <a:lnTo>
                  <a:pt x="466343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909045" y="3472433"/>
            <a:ext cx="31813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056376" y="3223259"/>
            <a:ext cx="5069205" cy="342900"/>
          </a:xfrm>
          <a:custGeom>
            <a:avLst/>
            <a:gdLst/>
            <a:ahLst/>
            <a:cxnLst/>
            <a:rect l="l" t="t" r="r" b="b"/>
            <a:pathLst>
              <a:path w="5069205" h="342900">
                <a:moveTo>
                  <a:pt x="76200" y="76200"/>
                </a:move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96672"/>
                </a:lnTo>
                <a:lnTo>
                  <a:pt x="44450" y="296672"/>
                </a:lnTo>
                <a:lnTo>
                  <a:pt x="44450" y="76200"/>
                </a:lnTo>
                <a:lnTo>
                  <a:pt x="76200" y="76200"/>
                </a:lnTo>
                <a:close/>
              </a:path>
              <a:path w="5069205" h="342900">
                <a:moveTo>
                  <a:pt x="1484376" y="103632"/>
                </a:moveTo>
                <a:lnTo>
                  <a:pt x="1478026" y="90932"/>
                </a:lnTo>
                <a:lnTo>
                  <a:pt x="1446276" y="27432"/>
                </a:lnTo>
                <a:lnTo>
                  <a:pt x="1408176" y="103632"/>
                </a:lnTo>
                <a:lnTo>
                  <a:pt x="1439926" y="103632"/>
                </a:lnTo>
                <a:lnTo>
                  <a:pt x="1439926" y="324104"/>
                </a:lnTo>
                <a:lnTo>
                  <a:pt x="1452626" y="324104"/>
                </a:lnTo>
                <a:lnTo>
                  <a:pt x="1452626" y="103632"/>
                </a:lnTo>
                <a:lnTo>
                  <a:pt x="1484376" y="103632"/>
                </a:lnTo>
                <a:close/>
              </a:path>
              <a:path w="5069205" h="342900">
                <a:moveTo>
                  <a:pt x="2974848" y="103632"/>
                </a:moveTo>
                <a:lnTo>
                  <a:pt x="2968498" y="90932"/>
                </a:lnTo>
                <a:lnTo>
                  <a:pt x="2936748" y="27432"/>
                </a:lnTo>
                <a:lnTo>
                  <a:pt x="2898648" y="103632"/>
                </a:lnTo>
                <a:lnTo>
                  <a:pt x="2930398" y="103632"/>
                </a:lnTo>
                <a:lnTo>
                  <a:pt x="2930398" y="324104"/>
                </a:lnTo>
                <a:lnTo>
                  <a:pt x="2943098" y="324104"/>
                </a:lnTo>
                <a:lnTo>
                  <a:pt x="2943098" y="103632"/>
                </a:lnTo>
                <a:lnTo>
                  <a:pt x="2974848" y="103632"/>
                </a:lnTo>
                <a:close/>
              </a:path>
              <a:path w="5069205" h="342900">
                <a:moveTo>
                  <a:pt x="5068824" y="121920"/>
                </a:moveTo>
                <a:lnTo>
                  <a:pt x="5062474" y="109220"/>
                </a:lnTo>
                <a:lnTo>
                  <a:pt x="5030724" y="45720"/>
                </a:lnTo>
                <a:lnTo>
                  <a:pt x="4992624" y="121920"/>
                </a:lnTo>
                <a:lnTo>
                  <a:pt x="5024374" y="121920"/>
                </a:lnTo>
                <a:lnTo>
                  <a:pt x="5024374" y="342392"/>
                </a:lnTo>
                <a:lnTo>
                  <a:pt x="5037074" y="342392"/>
                </a:lnTo>
                <a:lnTo>
                  <a:pt x="5037074" y="121920"/>
                </a:lnTo>
                <a:lnTo>
                  <a:pt x="5068824" y="121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904730" y="2569032"/>
            <a:ext cx="461645" cy="784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950" i="1" spc="-50" dirty="0">
                <a:latin typeface="Calibri"/>
                <a:cs typeface="Calibri"/>
              </a:rPr>
              <a:t>…</a:t>
            </a:r>
            <a:endParaRPr sz="4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86400" y="1207008"/>
            <a:ext cx="6300470" cy="1728470"/>
            <a:chOff x="5486400" y="1207008"/>
            <a:chExt cx="6300470" cy="1728470"/>
          </a:xfrm>
        </p:grpSpPr>
        <p:sp>
          <p:nvSpPr>
            <p:cNvPr id="33" name="object 33"/>
            <p:cNvSpPr/>
            <p:nvPr/>
          </p:nvSpPr>
          <p:spPr>
            <a:xfrm>
              <a:off x="5486400" y="2313432"/>
              <a:ext cx="6300470" cy="622300"/>
            </a:xfrm>
            <a:custGeom>
              <a:avLst/>
              <a:gdLst/>
              <a:ahLst/>
              <a:cxnLst/>
              <a:rect l="l" t="t" r="r" b="b"/>
              <a:pathLst>
                <a:path w="6300470" h="622300">
                  <a:moveTo>
                    <a:pt x="6196583" y="0"/>
                  </a:moveTo>
                  <a:lnTo>
                    <a:pt x="103632" y="0"/>
                  </a:lnTo>
                  <a:lnTo>
                    <a:pt x="63275" y="8137"/>
                  </a:lnTo>
                  <a:lnTo>
                    <a:pt x="30337" y="30337"/>
                  </a:lnTo>
                  <a:lnTo>
                    <a:pt x="8137" y="63275"/>
                  </a:lnTo>
                  <a:lnTo>
                    <a:pt x="0" y="103631"/>
                  </a:lnTo>
                  <a:lnTo>
                    <a:pt x="0" y="518159"/>
                  </a:lnTo>
                  <a:lnTo>
                    <a:pt x="8137" y="558462"/>
                  </a:lnTo>
                  <a:lnTo>
                    <a:pt x="30337" y="591407"/>
                  </a:lnTo>
                  <a:lnTo>
                    <a:pt x="63275" y="613636"/>
                  </a:lnTo>
                  <a:lnTo>
                    <a:pt x="103632" y="621791"/>
                  </a:lnTo>
                  <a:lnTo>
                    <a:pt x="6196583" y="621791"/>
                  </a:lnTo>
                  <a:lnTo>
                    <a:pt x="6236940" y="613636"/>
                  </a:lnTo>
                  <a:lnTo>
                    <a:pt x="6269878" y="591407"/>
                  </a:lnTo>
                  <a:lnTo>
                    <a:pt x="6292078" y="558462"/>
                  </a:lnTo>
                  <a:lnTo>
                    <a:pt x="6300216" y="518159"/>
                  </a:lnTo>
                  <a:lnTo>
                    <a:pt x="6300216" y="103631"/>
                  </a:lnTo>
                  <a:lnTo>
                    <a:pt x="6292078" y="63275"/>
                  </a:lnTo>
                  <a:lnTo>
                    <a:pt x="6269878" y="30337"/>
                  </a:lnTo>
                  <a:lnTo>
                    <a:pt x="6236940" y="8137"/>
                  </a:lnTo>
                  <a:lnTo>
                    <a:pt x="6196583" y="0"/>
                  </a:lnTo>
                  <a:close/>
                </a:path>
              </a:pathLst>
            </a:custGeom>
            <a:solidFill>
              <a:srgbClr val="C0E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89320" y="1207007"/>
              <a:ext cx="5194300" cy="347980"/>
            </a:xfrm>
            <a:custGeom>
              <a:avLst/>
              <a:gdLst/>
              <a:ahLst/>
              <a:cxnLst/>
              <a:rect l="l" t="t" r="r" b="b"/>
              <a:pathLst>
                <a:path w="5194300" h="347980">
                  <a:moveTo>
                    <a:pt x="201168" y="0"/>
                  </a:moveTo>
                  <a:lnTo>
                    <a:pt x="0" y="0"/>
                  </a:lnTo>
                  <a:lnTo>
                    <a:pt x="0" y="292608"/>
                  </a:lnTo>
                  <a:lnTo>
                    <a:pt x="201168" y="292608"/>
                  </a:lnTo>
                  <a:lnTo>
                    <a:pt x="201168" y="0"/>
                  </a:lnTo>
                  <a:close/>
                </a:path>
                <a:path w="5194300" h="347980">
                  <a:moveTo>
                    <a:pt x="1609344" y="27432"/>
                  </a:moveTo>
                  <a:lnTo>
                    <a:pt x="1408176" y="27432"/>
                  </a:lnTo>
                  <a:lnTo>
                    <a:pt x="1408176" y="329184"/>
                  </a:lnTo>
                  <a:lnTo>
                    <a:pt x="1609344" y="329184"/>
                  </a:lnTo>
                  <a:lnTo>
                    <a:pt x="1609344" y="27432"/>
                  </a:lnTo>
                  <a:close/>
                </a:path>
                <a:path w="5194300" h="347980">
                  <a:moveTo>
                    <a:pt x="3099816" y="36576"/>
                  </a:moveTo>
                  <a:lnTo>
                    <a:pt x="2898648" y="36576"/>
                  </a:lnTo>
                  <a:lnTo>
                    <a:pt x="2898648" y="329184"/>
                  </a:lnTo>
                  <a:lnTo>
                    <a:pt x="3099816" y="329184"/>
                  </a:lnTo>
                  <a:lnTo>
                    <a:pt x="3099816" y="36576"/>
                  </a:lnTo>
                  <a:close/>
                </a:path>
                <a:path w="5194300" h="347980">
                  <a:moveTo>
                    <a:pt x="5193792" y="45720"/>
                  </a:moveTo>
                  <a:lnTo>
                    <a:pt x="4992624" y="45720"/>
                  </a:lnTo>
                  <a:lnTo>
                    <a:pt x="4992624" y="347472"/>
                  </a:lnTo>
                  <a:lnTo>
                    <a:pt x="5193792" y="347472"/>
                  </a:lnTo>
                  <a:lnTo>
                    <a:pt x="5193792" y="45720"/>
                  </a:lnTo>
                  <a:close/>
                </a:path>
              </a:pathLst>
            </a:custGeom>
            <a:solidFill>
              <a:srgbClr val="929A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56376" y="2144267"/>
              <a:ext cx="5069205" cy="342900"/>
            </a:xfrm>
            <a:custGeom>
              <a:avLst/>
              <a:gdLst/>
              <a:ahLst/>
              <a:cxnLst/>
              <a:rect l="l" t="t" r="r" b="b"/>
              <a:pathLst>
                <a:path w="5069205" h="34290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96672"/>
                  </a:lnTo>
                  <a:lnTo>
                    <a:pt x="44450" y="296672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5069205" h="342900">
                  <a:moveTo>
                    <a:pt x="1484376" y="103632"/>
                  </a:moveTo>
                  <a:lnTo>
                    <a:pt x="1478026" y="90932"/>
                  </a:lnTo>
                  <a:lnTo>
                    <a:pt x="1446276" y="27432"/>
                  </a:lnTo>
                  <a:lnTo>
                    <a:pt x="1408176" y="103632"/>
                  </a:lnTo>
                  <a:lnTo>
                    <a:pt x="1439926" y="103632"/>
                  </a:lnTo>
                  <a:lnTo>
                    <a:pt x="1439926" y="324104"/>
                  </a:lnTo>
                  <a:lnTo>
                    <a:pt x="1452626" y="324104"/>
                  </a:lnTo>
                  <a:lnTo>
                    <a:pt x="1452626" y="103632"/>
                  </a:lnTo>
                  <a:lnTo>
                    <a:pt x="1484376" y="103632"/>
                  </a:lnTo>
                  <a:close/>
                </a:path>
                <a:path w="5069205" h="342900">
                  <a:moveTo>
                    <a:pt x="2974848" y="103632"/>
                  </a:moveTo>
                  <a:lnTo>
                    <a:pt x="2968498" y="90932"/>
                  </a:lnTo>
                  <a:lnTo>
                    <a:pt x="2936748" y="27432"/>
                  </a:lnTo>
                  <a:lnTo>
                    <a:pt x="2898648" y="103632"/>
                  </a:lnTo>
                  <a:lnTo>
                    <a:pt x="2930398" y="103632"/>
                  </a:lnTo>
                  <a:lnTo>
                    <a:pt x="2930398" y="324104"/>
                  </a:lnTo>
                  <a:lnTo>
                    <a:pt x="2943098" y="324104"/>
                  </a:lnTo>
                  <a:lnTo>
                    <a:pt x="2943098" y="103632"/>
                  </a:lnTo>
                  <a:lnTo>
                    <a:pt x="2974848" y="103632"/>
                  </a:lnTo>
                  <a:close/>
                </a:path>
                <a:path w="5069205" h="342900">
                  <a:moveTo>
                    <a:pt x="5068824" y="121920"/>
                  </a:moveTo>
                  <a:lnTo>
                    <a:pt x="5062474" y="109220"/>
                  </a:lnTo>
                  <a:lnTo>
                    <a:pt x="5030724" y="45720"/>
                  </a:lnTo>
                  <a:lnTo>
                    <a:pt x="4992624" y="121920"/>
                  </a:lnTo>
                  <a:lnTo>
                    <a:pt x="5024374" y="121920"/>
                  </a:lnTo>
                  <a:lnTo>
                    <a:pt x="5024374" y="342392"/>
                  </a:lnTo>
                  <a:lnTo>
                    <a:pt x="5037074" y="342392"/>
                  </a:lnTo>
                  <a:lnTo>
                    <a:pt x="5037074" y="121920"/>
                  </a:lnTo>
                  <a:lnTo>
                    <a:pt x="5068824" y="1219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43015" y="1764791"/>
              <a:ext cx="530860" cy="393700"/>
            </a:xfrm>
            <a:custGeom>
              <a:avLst/>
              <a:gdLst/>
              <a:ahLst/>
              <a:cxnLst/>
              <a:rect l="l" t="t" r="r" b="b"/>
              <a:pathLst>
                <a:path w="530860" h="393700">
                  <a:moveTo>
                    <a:pt x="464820" y="0"/>
                  </a:moveTo>
                  <a:lnTo>
                    <a:pt x="65532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2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2" y="393192"/>
                  </a:lnTo>
                  <a:lnTo>
                    <a:pt x="464820" y="393192"/>
                  </a:lnTo>
                  <a:lnTo>
                    <a:pt x="490329" y="388042"/>
                  </a:lnTo>
                  <a:lnTo>
                    <a:pt x="511159" y="373999"/>
                  </a:lnTo>
                  <a:lnTo>
                    <a:pt x="525202" y="353169"/>
                  </a:lnTo>
                  <a:lnTo>
                    <a:pt x="530351" y="327660"/>
                  </a:lnTo>
                  <a:lnTo>
                    <a:pt x="530351" y="65532"/>
                  </a:lnTo>
                  <a:lnTo>
                    <a:pt x="525202" y="40022"/>
                  </a:lnTo>
                  <a:lnTo>
                    <a:pt x="511159" y="19192"/>
                  </a:lnTo>
                  <a:lnTo>
                    <a:pt x="490329" y="5149"/>
                  </a:lnTo>
                  <a:lnTo>
                    <a:pt x="464820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47664" y="1750250"/>
            <a:ext cx="31813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269480" y="1764792"/>
            <a:ext cx="530860" cy="384175"/>
          </a:xfrm>
          <a:custGeom>
            <a:avLst/>
            <a:gdLst/>
            <a:ahLst/>
            <a:cxnLst/>
            <a:rect l="l" t="t" r="r" b="b"/>
            <a:pathLst>
              <a:path w="530859" h="384175">
                <a:moveTo>
                  <a:pt x="466344" y="0"/>
                </a:moveTo>
                <a:lnTo>
                  <a:pt x="64008" y="0"/>
                </a:lnTo>
                <a:lnTo>
                  <a:pt x="39112" y="5036"/>
                </a:lnTo>
                <a:lnTo>
                  <a:pt x="18764" y="18764"/>
                </a:lnTo>
                <a:lnTo>
                  <a:pt x="5036" y="39112"/>
                </a:lnTo>
                <a:lnTo>
                  <a:pt x="0" y="64008"/>
                </a:lnTo>
                <a:lnTo>
                  <a:pt x="0" y="320040"/>
                </a:lnTo>
                <a:lnTo>
                  <a:pt x="5036" y="344935"/>
                </a:lnTo>
                <a:lnTo>
                  <a:pt x="18764" y="365283"/>
                </a:lnTo>
                <a:lnTo>
                  <a:pt x="39112" y="379011"/>
                </a:lnTo>
                <a:lnTo>
                  <a:pt x="64008" y="384048"/>
                </a:lnTo>
                <a:lnTo>
                  <a:pt x="466344" y="384048"/>
                </a:lnTo>
                <a:lnTo>
                  <a:pt x="491239" y="379011"/>
                </a:lnTo>
                <a:lnTo>
                  <a:pt x="511587" y="365283"/>
                </a:lnTo>
                <a:lnTo>
                  <a:pt x="525315" y="344935"/>
                </a:lnTo>
                <a:lnTo>
                  <a:pt x="530351" y="320040"/>
                </a:lnTo>
                <a:lnTo>
                  <a:pt x="530351" y="64008"/>
                </a:lnTo>
                <a:lnTo>
                  <a:pt x="525315" y="39112"/>
                </a:lnTo>
                <a:lnTo>
                  <a:pt x="511587" y="18764"/>
                </a:lnTo>
                <a:lnTo>
                  <a:pt x="491239" y="5036"/>
                </a:lnTo>
                <a:lnTo>
                  <a:pt x="466344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72857" y="1747392"/>
            <a:ext cx="31813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723376" y="1764792"/>
            <a:ext cx="530860" cy="384175"/>
          </a:xfrm>
          <a:custGeom>
            <a:avLst/>
            <a:gdLst/>
            <a:ahLst/>
            <a:cxnLst/>
            <a:rect l="l" t="t" r="r" b="b"/>
            <a:pathLst>
              <a:path w="530859" h="384175">
                <a:moveTo>
                  <a:pt x="466344" y="0"/>
                </a:moveTo>
                <a:lnTo>
                  <a:pt x="64007" y="0"/>
                </a:lnTo>
                <a:lnTo>
                  <a:pt x="39112" y="5036"/>
                </a:lnTo>
                <a:lnTo>
                  <a:pt x="18764" y="18764"/>
                </a:lnTo>
                <a:lnTo>
                  <a:pt x="5036" y="39112"/>
                </a:lnTo>
                <a:lnTo>
                  <a:pt x="0" y="64008"/>
                </a:lnTo>
                <a:lnTo>
                  <a:pt x="0" y="320040"/>
                </a:lnTo>
                <a:lnTo>
                  <a:pt x="5036" y="344935"/>
                </a:lnTo>
                <a:lnTo>
                  <a:pt x="18764" y="365283"/>
                </a:lnTo>
                <a:lnTo>
                  <a:pt x="39112" y="379011"/>
                </a:lnTo>
                <a:lnTo>
                  <a:pt x="64007" y="384048"/>
                </a:lnTo>
                <a:lnTo>
                  <a:pt x="466344" y="384048"/>
                </a:lnTo>
                <a:lnTo>
                  <a:pt x="491239" y="379011"/>
                </a:lnTo>
                <a:lnTo>
                  <a:pt x="511587" y="365283"/>
                </a:lnTo>
                <a:lnTo>
                  <a:pt x="525315" y="344935"/>
                </a:lnTo>
                <a:lnTo>
                  <a:pt x="530351" y="320040"/>
                </a:lnTo>
                <a:lnTo>
                  <a:pt x="530351" y="64008"/>
                </a:lnTo>
                <a:lnTo>
                  <a:pt x="525315" y="39112"/>
                </a:lnTo>
                <a:lnTo>
                  <a:pt x="511587" y="18764"/>
                </a:lnTo>
                <a:lnTo>
                  <a:pt x="491239" y="5036"/>
                </a:lnTo>
                <a:lnTo>
                  <a:pt x="466344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763509" y="1747392"/>
            <a:ext cx="1753870" cy="1054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75055">
              <a:lnSpc>
                <a:spcPct val="100000"/>
              </a:lnSpc>
              <a:spcBef>
                <a:spcPts val="130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  <a:p>
            <a:pPr marL="12700">
              <a:lnSpc>
                <a:spcPct val="100000"/>
              </a:lnSpc>
              <a:spcBef>
                <a:spcPts val="2420"/>
              </a:spcBef>
            </a:pPr>
            <a:r>
              <a:rPr sz="2350" dirty="0">
                <a:latin typeface="Source Sans Pro"/>
                <a:cs typeface="Source Sans Pro"/>
              </a:rPr>
              <a:t>self-</a:t>
            </a:r>
            <a:r>
              <a:rPr sz="2350" spc="-10" dirty="0">
                <a:latin typeface="Source Sans Pro"/>
                <a:cs typeface="Source Sans Pro"/>
              </a:rPr>
              <a:t>attention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799064" y="1773935"/>
            <a:ext cx="530860" cy="384175"/>
          </a:xfrm>
          <a:custGeom>
            <a:avLst/>
            <a:gdLst/>
            <a:ahLst/>
            <a:cxnLst/>
            <a:rect l="l" t="t" r="r" b="b"/>
            <a:pathLst>
              <a:path w="530859" h="384175">
                <a:moveTo>
                  <a:pt x="466343" y="0"/>
                </a:moveTo>
                <a:lnTo>
                  <a:pt x="64007" y="0"/>
                </a:lnTo>
                <a:lnTo>
                  <a:pt x="39112" y="5036"/>
                </a:lnTo>
                <a:lnTo>
                  <a:pt x="18764" y="18764"/>
                </a:lnTo>
                <a:lnTo>
                  <a:pt x="5036" y="39112"/>
                </a:lnTo>
                <a:lnTo>
                  <a:pt x="0" y="64008"/>
                </a:lnTo>
                <a:lnTo>
                  <a:pt x="0" y="320039"/>
                </a:lnTo>
                <a:lnTo>
                  <a:pt x="5036" y="344935"/>
                </a:lnTo>
                <a:lnTo>
                  <a:pt x="18764" y="365283"/>
                </a:lnTo>
                <a:lnTo>
                  <a:pt x="39112" y="379011"/>
                </a:lnTo>
                <a:lnTo>
                  <a:pt x="64007" y="384048"/>
                </a:lnTo>
                <a:lnTo>
                  <a:pt x="466343" y="384048"/>
                </a:lnTo>
                <a:lnTo>
                  <a:pt x="491239" y="379011"/>
                </a:lnTo>
                <a:lnTo>
                  <a:pt x="511587" y="365283"/>
                </a:lnTo>
                <a:lnTo>
                  <a:pt x="525315" y="344935"/>
                </a:lnTo>
                <a:lnTo>
                  <a:pt x="530351" y="320039"/>
                </a:lnTo>
                <a:lnTo>
                  <a:pt x="530351" y="64008"/>
                </a:lnTo>
                <a:lnTo>
                  <a:pt x="525315" y="39112"/>
                </a:lnTo>
                <a:lnTo>
                  <a:pt x="511587" y="18764"/>
                </a:lnTo>
                <a:lnTo>
                  <a:pt x="491239" y="5036"/>
                </a:lnTo>
                <a:lnTo>
                  <a:pt x="466343" y="0"/>
                </a:lnTo>
                <a:close/>
              </a:path>
            </a:pathLst>
          </a:custGeom>
          <a:solidFill>
            <a:srgbClr val="FFA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909045" y="1756473"/>
            <a:ext cx="31813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25" dirty="0">
                <a:latin typeface="Source Sans Pro"/>
                <a:cs typeface="Source Sans Pro"/>
              </a:rPr>
              <a:t>FF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056376" y="1504187"/>
            <a:ext cx="5069205" cy="351790"/>
          </a:xfrm>
          <a:custGeom>
            <a:avLst/>
            <a:gdLst/>
            <a:ahLst/>
            <a:cxnLst/>
            <a:rect l="l" t="t" r="r" b="b"/>
            <a:pathLst>
              <a:path w="5069205" h="351789">
                <a:moveTo>
                  <a:pt x="76200" y="76200"/>
                </a:move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96672"/>
                </a:lnTo>
                <a:lnTo>
                  <a:pt x="44450" y="296672"/>
                </a:lnTo>
                <a:lnTo>
                  <a:pt x="44450" y="76200"/>
                </a:lnTo>
                <a:lnTo>
                  <a:pt x="76200" y="76200"/>
                </a:lnTo>
                <a:close/>
              </a:path>
              <a:path w="5069205" h="351789">
                <a:moveTo>
                  <a:pt x="1484376" y="112776"/>
                </a:moveTo>
                <a:lnTo>
                  <a:pt x="1478026" y="100076"/>
                </a:lnTo>
                <a:lnTo>
                  <a:pt x="1446276" y="36576"/>
                </a:lnTo>
                <a:lnTo>
                  <a:pt x="1408176" y="112776"/>
                </a:lnTo>
                <a:lnTo>
                  <a:pt x="1439926" y="112776"/>
                </a:lnTo>
                <a:lnTo>
                  <a:pt x="1439926" y="333248"/>
                </a:lnTo>
                <a:lnTo>
                  <a:pt x="1452626" y="333248"/>
                </a:lnTo>
                <a:lnTo>
                  <a:pt x="1452626" y="112776"/>
                </a:lnTo>
                <a:lnTo>
                  <a:pt x="1484376" y="112776"/>
                </a:lnTo>
                <a:close/>
              </a:path>
              <a:path w="5069205" h="351789">
                <a:moveTo>
                  <a:pt x="2974848" y="112776"/>
                </a:moveTo>
                <a:lnTo>
                  <a:pt x="2968498" y="100076"/>
                </a:lnTo>
                <a:lnTo>
                  <a:pt x="2936748" y="36576"/>
                </a:lnTo>
                <a:lnTo>
                  <a:pt x="2898648" y="112776"/>
                </a:lnTo>
                <a:lnTo>
                  <a:pt x="2930398" y="112776"/>
                </a:lnTo>
                <a:lnTo>
                  <a:pt x="2930398" y="333248"/>
                </a:lnTo>
                <a:lnTo>
                  <a:pt x="2943098" y="333248"/>
                </a:lnTo>
                <a:lnTo>
                  <a:pt x="2943098" y="112776"/>
                </a:lnTo>
                <a:lnTo>
                  <a:pt x="2974848" y="112776"/>
                </a:lnTo>
                <a:close/>
              </a:path>
              <a:path w="5069205" h="351789">
                <a:moveTo>
                  <a:pt x="5068824" y="131064"/>
                </a:moveTo>
                <a:lnTo>
                  <a:pt x="5062474" y="118364"/>
                </a:lnTo>
                <a:lnTo>
                  <a:pt x="5030724" y="54864"/>
                </a:lnTo>
                <a:lnTo>
                  <a:pt x="4992624" y="131064"/>
                </a:lnTo>
                <a:lnTo>
                  <a:pt x="5024374" y="131064"/>
                </a:lnTo>
                <a:lnTo>
                  <a:pt x="5024374" y="351536"/>
                </a:lnTo>
                <a:lnTo>
                  <a:pt x="5037074" y="351536"/>
                </a:lnTo>
                <a:lnTo>
                  <a:pt x="5037074" y="131064"/>
                </a:lnTo>
                <a:lnTo>
                  <a:pt x="5068824" y="1310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256" y="1061608"/>
            <a:ext cx="3899535" cy="52578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18745" algn="ctr">
              <a:lnSpc>
                <a:spcPct val="100000"/>
              </a:lnSpc>
              <a:spcBef>
                <a:spcPts val="835"/>
              </a:spcBef>
            </a:pPr>
            <a:r>
              <a:rPr sz="2800" b="1" spc="-10" dirty="0">
                <a:latin typeface="Calibri"/>
                <a:cs typeface="Calibri"/>
              </a:rPr>
              <a:t>Barriers</a:t>
            </a:r>
            <a:endParaRPr sz="2800">
              <a:latin typeface="Calibri"/>
              <a:cs typeface="Calibri"/>
            </a:endParaRPr>
          </a:p>
          <a:p>
            <a:pPr marL="342900" marR="519430" indent="-342900" algn="ctr">
              <a:lnSpc>
                <a:spcPct val="100000"/>
              </a:lnSpc>
              <a:spcBef>
                <a:spcPts val="600"/>
              </a:spcBef>
              <a:buClr>
                <a:srgbClr val="8B1515"/>
              </a:buClr>
              <a:buFont typeface="Times New Roman"/>
              <a:buChar char="•"/>
              <a:tabLst>
                <a:tab pos="342900" algn="l"/>
              </a:tabLst>
            </a:pPr>
            <a:r>
              <a:rPr sz="2300" dirty="0">
                <a:latin typeface="Calibri"/>
                <a:cs typeface="Calibri"/>
              </a:rPr>
              <a:t>Doesn’t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inherent</a:t>
            </a:r>
            <a:endParaRPr sz="2300">
              <a:latin typeface="Calibri"/>
              <a:cs typeface="Calibri"/>
            </a:endParaRPr>
          </a:p>
          <a:p>
            <a:pPr marR="1275080" algn="ctr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Calibri"/>
                <a:cs typeface="Calibri"/>
              </a:rPr>
              <a:t>notion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order!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Calibri"/>
              <a:cs typeface="Calibri"/>
            </a:endParaRPr>
          </a:p>
          <a:p>
            <a:pPr marL="355600" marR="422275" indent="-343535" algn="just">
              <a:lnSpc>
                <a:spcPct val="993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No</a:t>
            </a:r>
            <a:r>
              <a:rPr sz="2300" spc="-10" dirty="0">
                <a:latin typeface="Calibri"/>
                <a:cs typeface="Calibri"/>
              </a:rPr>
              <a:t> nonlinearities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deep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magic!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It’s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just </a:t>
            </a:r>
            <a:r>
              <a:rPr sz="2300" dirty="0">
                <a:latin typeface="Calibri"/>
                <a:cs typeface="Calibri"/>
              </a:rPr>
              <a:t>weighted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averages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buClr>
                <a:srgbClr val="8B1515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55600" marR="477520" indent="-343535">
              <a:lnSpc>
                <a:spcPct val="100600"/>
              </a:lnSpc>
              <a:spcBef>
                <a:spcPts val="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Need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don’t </a:t>
            </a:r>
            <a:r>
              <a:rPr sz="2300" dirty="0">
                <a:latin typeface="Calibri"/>
                <a:cs typeface="Calibri"/>
              </a:rPr>
              <a:t>“look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future”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when </a:t>
            </a:r>
            <a:r>
              <a:rPr sz="2300" dirty="0">
                <a:latin typeface="Calibri"/>
                <a:cs typeface="Calibri"/>
              </a:rPr>
              <a:t>predicting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sequence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Like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translation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Or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language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modeling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1023556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Barriers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and</a:t>
            </a:r>
            <a:r>
              <a:rPr sz="3350" b="0" spc="-3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solutions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for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Self-Attention</a:t>
            </a:r>
            <a:r>
              <a:rPr sz="3350" b="0" spc="4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as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building</a:t>
            </a:r>
            <a:r>
              <a:rPr sz="3350" b="0" spc="-60" dirty="0">
                <a:latin typeface="Calibri"/>
                <a:cs typeface="Calibri"/>
              </a:rPr>
              <a:t> </a:t>
            </a:r>
            <a:r>
              <a:rPr sz="3350" b="0" spc="-10" dirty="0">
                <a:latin typeface="Calibri"/>
                <a:cs typeface="Calibri"/>
              </a:rPr>
              <a:t>block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1568" y="1061608"/>
            <a:ext cx="4441825" cy="286829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835"/>
              </a:spcBef>
            </a:pPr>
            <a:r>
              <a:rPr sz="2800" b="1" spc="-1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  <a:p>
            <a:pPr marL="355600" marR="297180" indent="-343535">
              <a:lnSpc>
                <a:spcPct val="101899"/>
              </a:lnSpc>
              <a:spcBef>
                <a:spcPts val="54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Add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representations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inputs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Clr>
                <a:srgbClr val="8B1515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55600" marR="5080" indent="-343535">
              <a:lnSpc>
                <a:spcPct val="993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Easy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fix: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apply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same </a:t>
            </a:r>
            <a:r>
              <a:rPr sz="2300" dirty="0">
                <a:latin typeface="Calibri"/>
                <a:cs typeface="Calibri"/>
              </a:rPr>
              <a:t>feedforward network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each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output.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57159" y="1937424"/>
            <a:ext cx="1349375" cy="135255"/>
            <a:chOff x="5157159" y="1937424"/>
            <a:chExt cx="1349375" cy="135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7159" y="1937424"/>
              <a:ext cx="1349135" cy="1347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89220" y="1950719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200"/>
                  </a:lnTo>
                  <a:lnTo>
                    <a:pt x="1270000" y="50800"/>
                  </a:lnTo>
                  <a:lnTo>
                    <a:pt x="1231900" y="50800"/>
                  </a:lnTo>
                  <a:lnTo>
                    <a:pt x="1231900" y="25400"/>
                  </a:lnTo>
                  <a:lnTo>
                    <a:pt x="1270000" y="25400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219200" y="50800"/>
                  </a:lnTo>
                  <a:lnTo>
                    <a:pt x="1219200" y="25400"/>
                  </a:lnTo>
                  <a:close/>
                </a:path>
                <a:path w="1295400" h="76200">
                  <a:moveTo>
                    <a:pt x="1270000" y="25400"/>
                  </a:moveTo>
                  <a:lnTo>
                    <a:pt x="1231900" y="25400"/>
                  </a:lnTo>
                  <a:lnTo>
                    <a:pt x="1231900" y="50800"/>
                  </a:lnTo>
                  <a:lnTo>
                    <a:pt x="1270000" y="50800"/>
                  </a:lnTo>
                  <a:lnTo>
                    <a:pt x="1295400" y="38100"/>
                  </a:lnTo>
                  <a:lnTo>
                    <a:pt x="1270000" y="25400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074863" y="3382176"/>
            <a:ext cx="1349375" cy="135255"/>
            <a:chOff x="5074863" y="3382176"/>
            <a:chExt cx="1349375" cy="1352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863" y="3382176"/>
              <a:ext cx="1349135" cy="1347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06923" y="3395472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200"/>
                  </a:lnTo>
                  <a:lnTo>
                    <a:pt x="1270000" y="50800"/>
                  </a:lnTo>
                  <a:lnTo>
                    <a:pt x="1231900" y="50800"/>
                  </a:lnTo>
                  <a:lnTo>
                    <a:pt x="1231900" y="25400"/>
                  </a:lnTo>
                  <a:lnTo>
                    <a:pt x="1270000" y="25400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219200" y="50800"/>
                  </a:lnTo>
                  <a:lnTo>
                    <a:pt x="1219200" y="25400"/>
                  </a:lnTo>
                  <a:close/>
                </a:path>
                <a:path w="1295400" h="76200">
                  <a:moveTo>
                    <a:pt x="1270000" y="25400"/>
                  </a:moveTo>
                  <a:lnTo>
                    <a:pt x="1231900" y="25400"/>
                  </a:lnTo>
                  <a:lnTo>
                    <a:pt x="1231900" y="50800"/>
                  </a:lnTo>
                  <a:lnTo>
                    <a:pt x="1270000" y="50800"/>
                  </a:lnTo>
                  <a:lnTo>
                    <a:pt x="1295400" y="38100"/>
                  </a:lnTo>
                  <a:lnTo>
                    <a:pt x="1270000" y="25400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074863" y="4909224"/>
            <a:ext cx="1349375" cy="135255"/>
            <a:chOff x="5074863" y="4909224"/>
            <a:chExt cx="1349375" cy="1352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863" y="4909224"/>
              <a:ext cx="1349135" cy="1347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106923" y="4922519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199"/>
                  </a:lnTo>
                  <a:lnTo>
                    <a:pt x="1270000" y="50799"/>
                  </a:lnTo>
                  <a:lnTo>
                    <a:pt x="1231900" y="50799"/>
                  </a:lnTo>
                  <a:lnTo>
                    <a:pt x="1231900" y="25399"/>
                  </a:lnTo>
                  <a:lnTo>
                    <a:pt x="1270000" y="25399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399"/>
                  </a:moveTo>
                  <a:lnTo>
                    <a:pt x="0" y="25399"/>
                  </a:lnTo>
                  <a:lnTo>
                    <a:pt x="0" y="50799"/>
                  </a:lnTo>
                  <a:lnTo>
                    <a:pt x="1219200" y="50799"/>
                  </a:lnTo>
                  <a:lnTo>
                    <a:pt x="1219200" y="25399"/>
                  </a:lnTo>
                  <a:close/>
                </a:path>
                <a:path w="1295400" h="76200">
                  <a:moveTo>
                    <a:pt x="1270000" y="25399"/>
                  </a:moveTo>
                  <a:lnTo>
                    <a:pt x="1231900" y="25399"/>
                  </a:lnTo>
                  <a:lnTo>
                    <a:pt x="1231900" y="50799"/>
                  </a:lnTo>
                  <a:lnTo>
                    <a:pt x="1270000" y="50799"/>
                  </a:lnTo>
                  <a:lnTo>
                    <a:pt x="1295400" y="38099"/>
                  </a:lnTo>
                  <a:lnTo>
                    <a:pt x="1270000" y="25399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C4CF68D-3543-FBFD-8E21-7ED5C21A4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83" y="5536862"/>
            <a:ext cx="1100242" cy="1100242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623252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Masking</a:t>
            </a:r>
            <a:r>
              <a:rPr sz="3350" b="0" spc="-2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the</a:t>
            </a:r>
            <a:r>
              <a:rPr sz="3350" b="0" spc="-3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future</a:t>
            </a:r>
            <a:r>
              <a:rPr sz="3350" b="0" spc="3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in</a:t>
            </a:r>
            <a:r>
              <a:rPr sz="3350" b="0" spc="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</a:t>
            </a:r>
            <a:r>
              <a:rPr sz="3350" b="0" spc="-10" dirty="0">
                <a:latin typeface="Calibri"/>
                <a:cs typeface="Calibri"/>
              </a:rPr>
              <a:t>attention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608" y="1162748"/>
            <a:ext cx="3845560" cy="1082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0600"/>
              </a:lnSpc>
              <a:spcBef>
                <a:spcPts val="9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self-attention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in </a:t>
            </a:r>
            <a:r>
              <a:rPr sz="2300" b="1" dirty="0">
                <a:latin typeface="Calibri"/>
                <a:cs typeface="Calibri"/>
              </a:rPr>
              <a:t>decoders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ensure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can’t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peek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future.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608" y="2709672"/>
            <a:ext cx="3825875" cy="296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2715" indent="-343535">
              <a:lnSpc>
                <a:spcPct val="100200"/>
              </a:lnSpc>
              <a:spcBef>
                <a:spcPts val="10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every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timestep,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could </a:t>
            </a:r>
            <a:r>
              <a:rPr sz="2300" dirty="0">
                <a:latin typeface="Calibri"/>
                <a:cs typeface="Calibri"/>
              </a:rPr>
              <a:t>change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keys</a:t>
            </a:r>
            <a:r>
              <a:rPr sz="2300" b="1" spc="-95" dirty="0">
                <a:latin typeface="Calibri"/>
                <a:cs typeface="Calibri"/>
              </a:rPr>
              <a:t> </a:t>
            </a:r>
            <a:r>
              <a:rPr sz="2300" b="1" spc="-25" dirty="0">
                <a:latin typeface="Calibri"/>
                <a:cs typeface="Calibri"/>
              </a:rPr>
              <a:t>and </a:t>
            </a:r>
            <a:r>
              <a:rPr sz="2300" b="1" dirty="0">
                <a:latin typeface="Calibri"/>
                <a:cs typeface="Calibri"/>
              </a:rPr>
              <a:t>queries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include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only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past </a:t>
            </a:r>
            <a:r>
              <a:rPr sz="2300" dirty="0">
                <a:latin typeface="Calibri"/>
                <a:cs typeface="Calibri"/>
              </a:rPr>
              <a:t>words.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(Inefficient!)</a:t>
            </a:r>
            <a:endParaRPr sz="2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Clr>
                <a:srgbClr val="8B1515"/>
              </a:buClr>
              <a:buFont typeface="Times New Roman"/>
              <a:buChar char="•"/>
            </a:pPr>
            <a:endParaRPr sz="2300" dirty="0">
              <a:latin typeface="Calibri"/>
              <a:cs typeface="Calibri"/>
            </a:endParaRPr>
          </a:p>
          <a:p>
            <a:pPr marL="354330" marR="5080" indent="-342265" algn="just">
              <a:lnSpc>
                <a:spcPct val="993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enable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parallelization,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we 	</a:t>
            </a:r>
            <a:r>
              <a:rPr sz="2300" b="1" dirty="0">
                <a:latin typeface="Calibri"/>
                <a:cs typeface="Calibri"/>
              </a:rPr>
              <a:t>mask</a:t>
            </a:r>
            <a:r>
              <a:rPr sz="2300" b="1" spc="-6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out</a:t>
            </a:r>
            <a:r>
              <a:rPr sz="2300" b="1" spc="2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attention</a:t>
            </a:r>
            <a:r>
              <a:rPr sz="2300" b="1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future 	</a:t>
            </a:r>
            <a:r>
              <a:rPr sz="2300" dirty="0">
                <a:latin typeface="Calibri"/>
                <a:cs typeface="Calibri"/>
              </a:rPr>
              <a:t>words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setting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attention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0661" y="5658472"/>
            <a:ext cx="1707514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scores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−∞</a:t>
            </a:r>
            <a:r>
              <a:rPr sz="2300" spc="-25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15454" y="3397440"/>
            <a:ext cx="431800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25" dirty="0">
                <a:latin typeface="Calibri"/>
                <a:cs typeface="Calibri"/>
              </a:rPr>
              <a:t>The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4405" y="4392485"/>
            <a:ext cx="490855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20" dirty="0">
                <a:latin typeface="Calibri"/>
                <a:cs typeface="Calibri"/>
              </a:rPr>
              <a:t>chef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5454" y="5311000"/>
            <a:ext cx="49466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25" dirty="0">
                <a:latin typeface="Calibri"/>
                <a:cs typeface="Calibri"/>
              </a:rPr>
              <a:t>who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0781" y="2499423"/>
            <a:ext cx="848360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25" dirty="0">
                <a:latin typeface="Calibri"/>
                <a:cs typeface="Calibri"/>
              </a:rPr>
              <a:t>[START]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2027" y="3763708"/>
            <a:ext cx="1363980" cy="6356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15"/>
              </a:spcBef>
            </a:pP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8B1515"/>
                </a:solidFill>
                <a:latin typeface="Calibri"/>
                <a:cs typeface="Calibri"/>
              </a:rPr>
              <a:t>encoding </a:t>
            </a: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these</a:t>
            </a:r>
            <a:r>
              <a:rPr sz="2000" spc="-2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8B1515"/>
                </a:solidFill>
                <a:latin typeface="Calibri"/>
                <a:cs typeface="Calibri"/>
              </a:rPr>
              <a:t>words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24828" y="3195827"/>
            <a:ext cx="466725" cy="3008630"/>
          </a:xfrm>
          <a:custGeom>
            <a:avLst/>
            <a:gdLst/>
            <a:ahLst/>
            <a:cxnLst/>
            <a:rect l="l" t="t" r="r" b="b"/>
            <a:pathLst>
              <a:path w="466725" h="3008629">
                <a:moveTo>
                  <a:pt x="466344" y="3008312"/>
                </a:moveTo>
                <a:lnTo>
                  <a:pt x="392643" y="3006331"/>
                </a:lnTo>
                <a:lnTo>
                  <a:pt x="328635" y="3000814"/>
                </a:lnTo>
                <a:lnTo>
                  <a:pt x="278160" y="2992401"/>
                </a:lnTo>
                <a:lnTo>
                  <a:pt x="233172" y="2969450"/>
                </a:lnTo>
                <a:lnTo>
                  <a:pt x="233172" y="1543050"/>
                </a:lnTo>
                <a:lnTo>
                  <a:pt x="221284" y="1530766"/>
                </a:lnTo>
                <a:lnTo>
                  <a:pt x="188183" y="1520098"/>
                </a:lnTo>
                <a:lnTo>
                  <a:pt x="137708" y="1511686"/>
                </a:lnTo>
                <a:lnTo>
                  <a:pt x="73700" y="1506169"/>
                </a:lnTo>
                <a:lnTo>
                  <a:pt x="0" y="1504188"/>
                </a:lnTo>
                <a:lnTo>
                  <a:pt x="73700" y="1502206"/>
                </a:lnTo>
                <a:lnTo>
                  <a:pt x="137708" y="1496689"/>
                </a:lnTo>
                <a:lnTo>
                  <a:pt x="188183" y="1488277"/>
                </a:lnTo>
                <a:lnTo>
                  <a:pt x="221284" y="1477609"/>
                </a:lnTo>
                <a:lnTo>
                  <a:pt x="233172" y="1465326"/>
                </a:lnTo>
                <a:lnTo>
                  <a:pt x="233172" y="38862"/>
                </a:lnTo>
                <a:lnTo>
                  <a:pt x="245059" y="26578"/>
                </a:lnTo>
                <a:lnTo>
                  <a:pt x="278160" y="15910"/>
                </a:lnTo>
                <a:lnTo>
                  <a:pt x="328635" y="7498"/>
                </a:lnTo>
                <a:lnTo>
                  <a:pt x="392643" y="1981"/>
                </a:lnTo>
                <a:lnTo>
                  <a:pt x="466344" y="0"/>
                </a:lnTo>
              </a:path>
            </a:pathLst>
          </a:custGeom>
          <a:ln w="9525">
            <a:solidFill>
              <a:srgbClr val="8B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02368" y="1879473"/>
            <a:ext cx="410845" cy="260350"/>
          </a:xfrm>
          <a:custGeom>
            <a:avLst/>
            <a:gdLst/>
            <a:ahLst/>
            <a:cxnLst/>
            <a:rect l="l" t="t" r="r" b="b"/>
            <a:pathLst>
              <a:path w="410845" h="260350">
                <a:moveTo>
                  <a:pt x="77819" y="133350"/>
                </a:moveTo>
                <a:lnTo>
                  <a:pt x="51942" y="133350"/>
                </a:lnTo>
                <a:lnTo>
                  <a:pt x="124586" y="259079"/>
                </a:lnTo>
                <a:lnTo>
                  <a:pt x="125349" y="260350"/>
                </a:lnTo>
                <a:lnTo>
                  <a:pt x="131572" y="260350"/>
                </a:lnTo>
                <a:lnTo>
                  <a:pt x="132969" y="259079"/>
                </a:lnTo>
                <a:lnTo>
                  <a:pt x="134492" y="259079"/>
                </a:lnTo>
                <a:lnTo>
                  <a:pt x="136271" y="257810"/>
                </a:lnTo>
                <a:lnTo>
                  <a:pt x="139700" y="255270"/>
                </a:lnTo>
                <a:lnTo>
                  <a:pt x="140842" y="254000"/>
                </a:lnTo>
                <a:lnTo>
                  <a:pt x="141858" y="254000"/>
                </a:lnTo>
                <a:lnTo>
                  <a:pt x="143382" y="252729"/>
                </a:lnTo>
                <a:lnTo>
                  <a:pt x="144017" y="251460"/>
                </a:lnTo>
                <a:lnTo>
                  <a:pt x="144272" y="250189"/>
                </a:lnTo>
                <a:lnTo>
                  <a:pt x="144272" y="248920"/>
                </a:lnTo>
                <a:lnTo>
                  <a:pt x="77819" y="133350"/>
                </a:lnTo>
                <a:close/>
              </a:path>
              <a:path w="410845" h="260350">
                <a:moveTo>
                  <a:pt x="210565" y="213360"/>
                </a:moveTo>
                <a:lnTo>
                  <a:pt x="208152" y="213360"/>
                </a:lnTo>
                <a:lnTo>
                  <a:pt x="208787" y="214629"/>
                </a:lnTo>
                <a:lnTo>
                  <a:pt x="210565" y="213360"/>
                </a:lnTo>
                <a:close/>
              </a:path>
              <a:path w="410845" h="260350">
                <a:moveTo>
                  <a:pt x="138049" y="50800"/>
                </a:moveTo>
                <a:lnTo>
                  <a:pt x="132969" y="50800"/>
                </a:lnTo>
                <a:lnTo>
                  <a:pt x="130428" y="52070"/>
                </a:lnTo>
                <a:lnTo>
                  <a:pt x="128904" y="52070"/>
                </a:lnTo>
                <a:lnTo>
                  <a:pt x="127000" y="53339"/>
                </a:lnTo>
                <a:lnTo>
                  <a:pt x="125222" y="54610"/>
                </a:lnTo>
                <a:lnTo>
                  <a:pt x="123698" y="55879"/>
                </a:lnTo>
                <a:lnTo>
                  <a:pt x="122681" y="55879"/>
                </a:lnTo>
                <a:lnTo>
                  <a:pt x="121538" y="57150"/>
                </a:lnTo>
                <a:lnTo>
                  <a:pt x="120650" y="58420"/>
                </a:lnTo>
                <a:lnTo>
                  <a:pt x="120141" y="58420"/>
                </a:lnTo>
                <a:lnTo>
                  <a:pt x="119633" y="59689"/>
                </a:lnTo>
                <a:lnTo>
                  <a:pt x="119506" y="62229"/>
                </a:lnTo>
                <a:lnTo>
                  <a:pt x="119887" y="62229"/>
                </a:lnTo>
                <a:lnTo>
                  <a:pt x="206755" y="213360"/>
                </a:lnTo>
                <a:lnTo>
                  <a:pt x="211708" y="213360"/>
                </a:lnTo>
                <a:lnTo>
                  <a:pt x="214249" y="212089"/>
                </a:lnTo>
                <a:lnTo>
                  <a:pt x="215773" y="212089"/>
                </a:lnTo>
                <a:lnTo>
                  <a:pt x="217550" y="210820"/>
                </a:lnTo>
                <a:lnTo>
                  <a:pt x="220979" y="208279"/>
                </a:lnTo>
                <a:lnTo>
                  <a:pt x="221996" y="208279"/>
                </a:lnTo>
                <a:lnTo>
                  <a:pt x="223138" y="207010"/>
                </a:lnTo>
                <a:lnTo>
                  <a:pt x="223900" y="205739"/>
                </a:lnTo>
                <a:lnTo>
                  <a:pt x="224408" y="205739"/>
                </a:lnTo>
                <a:lnTo>
                  <a:pt x="224916" y="204470"/>
                </a:lnTo>
                <a:lnTo>
                  <a:pt x="225171" y="204470"/>
                </a:lnTo>
                <a:lnTo>
                  <a:pt x="225171" y="201929"/>
                </a:lnTo>
                <a:lnTo>
                  <a:pt x="224916" y="201929"/>
                </a:lnTo>
                <a:lnTo>
                  <a:pt x="184150" y="130810"/>
                </a:lnTo>
                <a:lnTo>
                  <a:pt x="185547" y="121920"/>
                </a:lnTo>
                <a:lnTo>
                  <a:pt x="187578" y="114300"/>
                </a:lnTo>
                <a:lnTo>
                  <a:pt x="188696" y="111760"/>
                </a:lnTo>
                <a:lnTo>
                  <a:pt x="173227" y="111760"/>
                </a:lnTo>
                <a:lnTo>
                  <a:pt x="138429" y="52070"/>
                </a:lnTo>
                <a:lnTo>
                  <a:pt x="138049" y="50800"/>
                </a:lnTo>
                <a:close/>
              </a:path>
              <a:path w="410845" h="260350">
                <a:moveTo>
                  <a:pt x="251942" y="91439"/>
                </a:moveTo>
                <a:lnTo>
                  <a:pt x="215519" y="91439"/>
                </a:lnTo>
                <a:lnTo>
                  <a:pt x="218948" y="92710"/>
                </a:lnTo>
                <a:lnTo>
                  <a:pt x="225298" y="95250"/>
                </a:lnTo>
                <a:lnTo>
                  <a:pt x="228346" y="97789"/>
                </a:lnTo>
                <a:lnTo>
                  <a:pt x="231266" y="100329"/>
                </a:lnTo>
                <a:lnTo>
                  <a:pt x="234187" y="104139"/>
                </a:lnTo>
                <a:lnTo>
                  <a:pt x="237362" y="107950"/>
                </a:lnTo>
                <a:lnTo>
                  <a:pt x="240664" y="114300"/>
                </a:lnTo>
                <a:lnTo>
                  <a:pt x="274700" y="172720"/>
                </a:lnTo>
                <a:lnTo>
                  <a:pt x="275081" y="173989"/>
                </a:lnTo>
                <a:lnTo>
                  <a:pt x="280034" y="173989"/>
                </a:lnTo>
                <a:lnTo>
                  <a:pt x="281304" y="172720"/>
                </a:lnTo>
                <a:lnTo>
                  <a:pt x="282575" y="172720"/>
                </a:lnTo>
                <a:lnTo>
                  <a:pt x="284225" y="171450"/>
                </a:lnTo>
                <a:lnTo>
                  <a:pt x="286130" y="171450"/>
                </a:lnTo>
                <a:lnTo>
                  <a:pt x="287908" y="170179"/>
                </a:lnTo>
                <a:lnTo>
                  <a:pt x="289305" y="168910"/>
                </a:lnTo>
                <a:lnTo>
                  <a:pt x="291591" y="167639"/>
                </a:lnTo>
                <a:lnTo>
                  <a:pt x="292353" y="166370"/>
                </a:lnTo>
                <a:lnTo>
                  <a:pt x="293370" y="165100"/>
                </a:lnTo>
                <a:lnTo>
                  <a:pt x="293624" y="163829"/>
                </a:lnTo>
                <a:lnTo>
                  <a:pt x="293624" y="162560"/>
                </a:lnTo>
                <a:lnTo>
                  <a:pt x="293242" y="162560"/>
                </a:lnTo>
                <a:lnTo>
                  <a:pt x="257809" y="100329"/>
                </a:lnTo>
                <a:lnTo>
                  <a:pt x="251942" y="91439"/>
                </a:lnTo>
                <a:close/>
              </a:path>
              <a:path w="410845" h="260350">
                <a:moveTo>
                  <a:pt x="105790" y="82550"/>
                </a:moveTo>
                <a:lnTo>
                  <a:pt x="103250" y="82550"/>
                </a:lnTo>
                <a:lnTo>
                  <a:pt x="1650" y="140970"/>
                </a:lnTo>
                <a:lnTo>
                  <a:pt x="1015" y="140970"/>
                </a:lnTo>
                <a:lnTo>
                  <a:pt x="253" y="142239"/>
                </a:lnTo>
                <a:lnTo>
                  <a:pt x="0" y="142239"/>
                </a:lnTo>
                <a:lnTo>
                  <a:pt x="0" y="144779"/>
                </a:lnTo>
                <a:lnTo>
                  <a:pt x="1142" y="148589"/>
                </a:lnTo>
                <a:lnTo>
                  <a:pt x="1777" y="149860"/>
                </a:lnTo>
                <a:lnTo>
                  <a:pt x="2666" y="151129"/>
                </a:lnTo>
                <a:lnTo>
                  <a:pt x="3428" y="152400"/>
                </a:lnTo>
                <a:lnTo>
                  <a:pt x="4317" y="153670"/>
                </a:lnTo>
                <a:lnTo>
                  <a:pt x="5841" y="156210"/>
                </a:lnTo>
                <a:lnTo>
                  <a:pt x="6603" y="156210"/>
                </a:lnTo>
                <a:lnTo>
                  <a:pt x="7238" y="157479"/>
                </a:lnTo>
                <a:lnTo>
                  <a:pt x="11175" y="157479"/>
                </a:lnTo>
                <a:lnTo>
                  <a:pt x="51942" y="133350"/>
                </a:lnTo>
                <a:lnTo>
                  <a:pt x="77819" y="133350"/>
                </a:lnTo>
                <a:lnTo>
                  <a:pt x="71247" y="121920"/>
                </a:lnTo>
                <a:lnTo>
                  <a:pt x="112013" y="99060"/>
                </a:lnTo>
                <a:lnTo>
                  <a:pt x="112649" y="99060"/>
                </a:lnTo>
                <a:lnTo>
                  <a:pt x="113156" y="97789"/>
                </a:lnTo>
                <a:lnTo>
                  <a:pt x="113410" y="97789"/>
                </a:lnTo>
                <a:lnTo>
                  <a:pt x="113791" y="96520"/>
                </a:lnTo>
                <a:lnTo>
                  <a:pt x="113919" y="96520"/>
                </a:lnTo>
                <a:lnTo>
                  <a:pt x="113791" y="95250"/>
                </a:lnTo>
                <a:lnTo>
                  <a:pt x="113791" y="93979"/>
                </a:lnTo>
                <a:lnTo>
                  <a:pt x="113537" y="93979"/>
                </a:lnTo>
                <a:lnTo>
                  <a:pt x="110362" y="87629"/>
                </a:lnTo>
                <a:lnTo>
                  <a:pt x="108076" y="83820"/>
                </a:lnTo>
                <a:lnTo>
                  <a:pt x="107314" y="83820"/>
                </a:lnTo>
                <a:lnTo>
                  <a:pt x="105790" y="82550"/>
                </a:lnTo>
                <a:close/>
              </a:path>
              <a:path w="410845" h="260350">
                <a:moveTo>
                  <a:pt x="343026" y="0"/>
                </a:moveTo>
                <a:lnTo>
                  <a:pt x="329056" y="1270"/>
                </a:lnTo>
                <a:lnTo>
                  <a:pt x="321563" y="5079"/>
                </a:lnTo>
                <a:lnTo>
                  <a:pt x="313562" y="8889"/>
                </a:lnTo>
                <a:lnTo>
                  <a:pt x="286892" y="44450"/>
                </a:lnTo>
                <a:lnTo>
                  <a:pt x="285623" y="50800"/>
                </a:lnTo>
                <a:lnTo>
                  <a:pt x="285623" y="59689"/>
                </a:lnTo>
                <a:lnTo>
                  <a:pt x="287274" y="67310"/>
                </a:lnTo>
                <a:lnTo>
                  <a:pt x="305720" y="105410"/>
                </a:lnTo>
                <a:lnTo>
                  <a:pt x="348233" y="129539"/>
                </a:lnTo>
                <a:lnTo>
                  <a:pt x="355853" y="128270"/>
                </a:lnTo>
                <a:lnTo>
                  <a:pt x="361565" y="127000"/>
                </a:lnTo>
                <a:lnTo>
                  <a:pt x="367442" y="124460"/>
                </a:lnTo>
                <a:lnTo>
                  <a:pt x="379602" y="119379"/>
                </a:lnTo>
                <a:lnTo>
                  <a:pt x="384428" y="115570"/>
                </a:lnTo>
                <a:lnTo>
                  <a:pt x="388747" y="113029"/>
                </a:lnTo>
                <a:lnTo>
                  <a:pt x="393318" y="109220"/>
                </a:lnTo>
                <a:lnTo>
                  <a:pt x="345694" y="109220"/>
                </a:lnTo>
                <a:lnTo>
                  <a:pt x="336803" y="106679"/>
                </a:lnTo>
                <a:lnTo>
                  <a:pt x="332612" y="102870"/>
                </a:lnTo>
                <a:lnTo>
                  <a:pt x="325247" y="95250"/>
                </a:lnTo>
                <a:lnTo>
                  <a:pt x="321690" y="90170"/>
                </a:lnTo>
                <a:lnTo>
                  <a:pt x="318515" y="85089"/>
                </a:lnTo>
                <a:lnTo>
                  <a:pt x="342870" y="71120"/>
                </a:lnTo>
                <a:lnTo>
                  <a:pt x="310641" y="71120"/>
                </a:lnTo>
                <a:lnTo>
                  <a:pt x="308482" y="67310"/>
                </a:lnTo>
                <a:lnTo>
                  <a:pt x="306831" y="63500"/>
                </a:lnTo>
                <a:lnTo>
                  <a:pt x="305053" y="54610"/>
                </a:lnTo>
                <a:lnTo>
                  <a:pt x="304926" y="49529"/>
                </a:lnTo>
                <a:lnTo>
                  <a:pt x="305688" y="45720"/>
                </a:lnTo>
                <a:lnTo>
                  <a:pt x="306324" y="41910"/>
                </a:lnTo>
                <a:lnTo>
                  <a:pt x="307975" y="36829"/>
                </a:lnTo>
                <a:lnTo>
                  <a:pt x="310387" y="33020"/>
                </a:lnTo>
                <a:lnTo>
                  <a:pt x="312927" y="30479"/>
                </a:lnTo>
                <a:lnTo>
                  <a:pt x="316356" y="26670"/>
                </a:lnTo>
                <a:lnTo>
                  <a:pt x="321055" y="24129"/>
                </a:lnTo>
                <a:lnTo>
                  <a:pt x="327626" y="21589"/>
                </a:lnTo>
                <a:lnTo>
                  <a:pt x="333994" y="19050"/>
                </a:lnTo>
                <a:lnTo>
                  <a:pt x="377316" y="19050"/>
                </a:lnTo>
                <a:lnTo>
                  <a:pt x="372363" y="13970"/>
                </a:lnTo>
                <a:lnTo>
                  <a:pt x="367283" y="8889"/>
                </a:lnTo>
                <a:lnTo>
                  <a:pt x="361823" y="6350"/>
                </a:lnTo>
                <a:lnTo>
                  <a:pt x="349630" y="1270"/>
                </a:lnTo>
                <a:lnTo>
                  <a:pt x="343026" y="0"/>
                </a:lnTo>
                <a:close/>
              </a:path>
              <a:path w="410845" h="260350">
                <a:moveTo>
                  <a:pt x="220852" y="69850"/>
                </a:moveTo>
                <a:lnTo>
                  <a:pt x="185927" y="85089"/>
                </a:lnTo>
                <a:lnTo>
                  <a:pt x="173227" y="111760"/>
                </a:lnTo>
                <a:lnTo>
                  <a:pt x="188696" y="111760"/>
                </a:lnTo>
                <a:lnTo>
                  <a:pt x="190373" y="107950"/>
                </a:lnTo>
                <a:lnTo>
                  <a:pt x="193039" y="101600"/>
                </a:lnTo>
                <a:lnTo>
                  <a:pt x="196850" y="97789"/>
                </a:lnTo>
                <a:lnTo>
                  <a:pt x="201422" y="95250"/>
                </a:lnTo>
                <a:lnTo>
                  <a:pt x="204977" y="92710"/>
                </a:lnTo>
                <a:lnTo>
                  <a:pt x="208533" y="91439"/>
                </a:lnTo>
                <a:lnTo>
                  <a:pt x="251942" y="91439"/>
                </a:lnTo>
                <a:lnTo>
                  <a:pt x="249427" y="87629"/>
                </a:lnTo>
                <a:lnTo>
                  <a:pt x="245236" y="82550"/>
                </a:lnTo>
                <a:lnTo>
                  <a:pt x="241046" y="78739"/>
                </a:lnTo>
                <a:lnTo>
                  <a:pt x="236474" y="74929"/>
                </a:lnTo>
                <a:lnTo>
                  <a:pt x="226313" y="71120"/>
                </a:lnTo>
                <a:lnTo>
                  <a:pt x="220852" y="69850"/>
                </a:lnTo>
                <a:close/>
              </a:path>
              <a:path w="410845" h="260350">
                <a:moveTo>
                  <a:pt x="405510" y="76200"/>
                </a:moveTo>
                <a:lnTo>
                  <a:pt x="400684" y="76200"/>
                </a:lnTo>
                <a:lnTo>
                  <a:pt x="399669" y="77470"/>
                </a:lnTo>
                <a:lnTo>
                  <a:pt x="398272" y="80010"/>
                </a:lnTo>
                <a:lnTo>
                  <a:pt x="397001" y="81279"/>
                </a:lnTo>
                <a:lnTo>
                  <a:pt x="395224" y="83820"/>
                </a:lnTo>
                <a:lnTo>
                  <a:pt x="390905" y="88900"/>
                </a:lnTo>
                <a:lnTo>
                  <a:pt x="388111" y="91439"/>
                </a:lnTo>
                <a:lnTo>
                  <a:pt x="381507" y="96520"/>
                </a:lnTo>
                <a:lnTo>
                  <a:pt x="377444" y="100329"/>
                </a:lnTo>
                <a:lnTo>
                  <a:pt x="372745" y="102870"/>
                </a:lnTo>
                <a:lnTo>
                  <a:pt x="366649" y="106679"/>
                </a:lnTo>
                <a:lnTo>
                  <a:pt x="360933" y="107950"/>
                </a:lnTo>
                <a:lnTo>
                  <a:pt x="355726" y="109220"/>
                </a:lnTo>
                <a:lnTo>
                  <a:pt x="393318" y="109220"/>
                </a:lnTo>
                <a:lnTo>
                  <a:pt x="396366" y="106679"/>
                </a:lnTo>
                <a:lnTo>
                  <a:pt x="399669" y="104139"/>
                </a:lnTo>
                <a:lnTo>
                  <a:pt x="402335" y="101600"/>
                </a:lnTo>
                <a:lnTo>
                  <a:pt x="405002" y="97789"/>
                </a:lnTo>
                <a:lnTo>
                  <a:pt x="407034" y="96520"/>
                </a:lnTo>
                <a:lnTo>
                  <a:pt x="410845" y="90170"/>
                </a:lnTo>
                <a:lnTo>
                  <a:pt x="410845" y="85089"/>
                </a:lnTo>
                <a:lnTo>
                  <a:pt x="410463" y="85089"/>
                </a:lnTo>
                <a:lnTo>
                  <a:pt x="410209" y="83820"/>
                </a:lnTo>
                <a:lnTo>
                  <a:pt x="409448" y="82550"/>
                </a:lnTo>
                <a:lnTo>
                  <a:pt x="408812" y="81279"/>
                </a:lnTo>
                <a:lnTo>
                  <a:pt x="407288" y="78739"/>
                </a:lnTo>
                <a:lnTo>
                  <a:pt x="406019" y="77470"/>
                </a:lnTo>
                <a:lnTo>
                  <a:pt x="405510" y="76200"/>
                </a:lnTo>
                <a:close/>
              </a:path>
              <a:path w="410845" h="260350">
                <a:moveTo>
                  <a:pt x="403859" y="74929"/>
                </a:moveTo>
                <a:lnTo>
                  <a:pt x="402208" y="76200"/>
                </a:lnTo>
                <a:lnTo>
                  <a:pt x="404367" y="76200"/>
                </a:lnTo>
                <a:lnTo>
                  <a:pt x="403859" y="74929"/>
                </a:lnTo>
                <a:close/>
              </a:path>
              <a:path w="410845" h="260350">
                <a:moveTo>
                  <a:pt x="377316" y="19050"/>
                </a:moveTo>
                <a:lnTo>
                  <a:pt x="340147" y="19050"/>
                </a:lnTo>
                <a:lnTo>
                  <a:pt x="346075" y="20320"/>
                </a:lnTo>
                <a:lnTo>
                  <a:pt x="351651" y="24129"/>
                </a:lnTo>
                <a:lnTo>
                  <a:pt x="356774" y="27939"/>
                </a:lnTo>
                <a:lnTo>
                  <a:pt x="361469" y="33020"/>
                </a:lnTo>
                <a:lnTo>
                  <a:pt x="365759" y="39370"/>
                </a:lnTo>
                <a:lnTo>
                  <a:pt x="310641" y="71120"/>
                </a:lnTo>
                <a:lnTo>
                  <a:pt x="342870" y="71120"/>
                </a:lnTo>
                <a:lnTo>
                  <a:pt x="384936" y="46989"/>
                </a:lnTo>
                <a:lnTo>
                  <a:pt x="386841" y="45720"/>
                </a:lnTo>
                <a:lnTo>
                  <a:pt x="388111" y="44450"/>
                </a:lnTo>
                <a:lnTo>
                  <a:pt x="389635" y="39370"/>
                </a:lnTo>
                <a:lnTo>
                  <a:pt x="389254" y="38100"/>
                </a:lnTo>
                <a:lnTo>
                  <a:pt x="387476" y="34289"/>
                </a:lnTo>
                <a:lnTo>
                  <a:pt x="385572" y="31750"/>
                </a:lnTo>
                <a:lnTo>
                  <a:pt x="381761" y="24129"/>
                </a:lnTo>
                <a:lnTo>
                  <a:pt x="377316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8073961" y="1279969"/>
            <a:ext cx="3841115" cy="921385"/>
            <a:chOff x="8073961" y="1279969"/>
            <a:chExt cx="3841115" cy="921385"/>
          </a:xfrm>
        </p:grpSpPr>
        <p:sp>
          <p:nvSpPr>
            <p:cNvPr id="14" name="object 14"/>
            <p:cNvSpPr/>
            <p:nvPr/>
          </p:nvSpPr>
          <p:spPr>
            <a:xfrm>
              <a:off x="8155178" y="1628012"/>
              <a:ext cx="2479675" cy="573405"/>
            </a:xfrm>
            <a:custGeom>
              <a:avLst/>
              <a:gdLst/>
              <a:ahLst/>
              <a:cxnLst/>
              <a:rect l="l" t="t" r="r" b="b"/>
              <a:pathLst>
                <a:path w="2479675" h="573405">
                  <a:moveTo>
                    <a:pt x="145669" y="551307"/>
                  </a:moveTo>
                  <a:lnTo>
                    <a:pt x="144907" y="550037"/>
                  </a:lnTo>
                  <a:lnTo>
                    <a:pt x="142113" y="544957"/>
                  </a:lnTo>
                  <a:lnTo>
                    <a:pt x="140843" y="543687"/>
                  </a:lnTo>
                  <a:lnTo>
                    <a:pt x="140208" y="542429"/>
                  </a:lnTo>
                  <a:lnTo>
                    <a:pt x="138938" y="542429"/>
                  </a:lnTo>
                  <a:lnTo>
                    <a:pt x="138303" y="541147"/>
                  </a:lnTo>
                  <a:lnTo>
                    <a:pt x="137795" y="542429"/>
                  </a:lnTo>
                  <a:lnTo>
                    <a:pt x="136271" y="542429"/>
                  </a:lnTo>
                  <a:lnTo>
                    <a:pt x="117983" y="552577"/>
                  </a:lnTo>
                  <a:lnTo>
                    <a:pt x="22479" y="387477"/>
                  </a:lnTo>
                  <a:lnTo>
                    <a:pt x="40767" y="377329"/>
                  </a:lnTo>
                  <a:lnTo>
                    <a:pt x="41783" y="376047"/>
                  </a:lnTo>
                  <a:lnTo>
                    <a:pt x="42291" y="374777"/>
                  </a:lnTo>
                  <a:lnTo>
                    <a:pt x="42164" y="372237"/>
                  </a:lnTo>
                  <a:lnTo>
                    <a:pt x="41529" y="370979"/>
                  </a:lnTo>
                  <a:lnTo>
                    <a:pt x="38735" y="365887"/>
                  </a:lnTo>
                  <a:lnTo>
                    <a:pt x="37465" y="364629"/>
                  </a:lnTo>
                  <a:lnTo>
                    <a:pt x="36830" y="363347"/>
                  </a:lnTo>
                  <a:lnTo>
                    <a:pt x="32893" y="363347"/>
                  </a:lnTo>
                  <a:lnTo>
                    <a:pt x="3302" y="379857"/>
                  </a:lnTo>
                  <a:lnTo>
                    <a:pt x="2540" y="381127"/>
                  </a:lnTo>
                  <a:lnTo>
                    <a:pt x="1778" y="381127"/>
                  </a:lnTo>
                  <a:lnTo>
                    <a:pt x="1143" y="382397"/>
                  </a:lnTo>
                  <a:lnTo>
                    <a:pt x="635" y="383679"/>
                  </a:lnTo>
                  <a:lnTo>
                    <a:pt x="381" y="383679"/>
                  </a:lnTo>
                  <a:lnTo>
                    <a:pt x="0" y="384937"/>
                  </a:lnTo>
                  <a:lnTo>
                    <a:pt x="127" y="387477"/>
                  </a:lnTo>
                  <a:lnTo>
                    <a:pt x="254" y="388747"/>
                  </a:lnTo>
                  <a:lnTo>
                    <a:pt x="762" y="390029"/>
                  </a:lnTo>
                  <a:lnTo>
                    <a:pt x="1651" y="391287"/>
                  </a:lnTo>
                  <a:lnTo>
                    <a:pt x="104775" y="570357"/>
                  </a:lnTo>
                  <a:lnTo>
                    <a:pt x="105664" y="571627"/>
                  </a:lnTo>
                  <a:lnTo>
                    <a:pt x="106680" y="571627"/>
                  </a:lnTo>
                  <a:lnTo>
                    <a:pt x="107569" y="572897"/>
                  </a:lnTo>
                  <a:lnTo>
                    <a:pt x="114554" y="572897"/>
                  </a:lnTo>
                  <a:lnTo>
                    <a:pt x="144145" y="556387"/>
                  </a:lnTo>
                  <a:lnTo>
                    <a:pt x="145161" y="555129"/>
                  </a:lnTo>
                  <a:lnTo>
                    <a:pt x="145669" y="553847"/>
                  </a:lnTo>
                  <a:lnTo>
                    <a:pt x="145669" y="552577"/>
                  </a:lnTo>
                  <a:lnTo>
                    <a:pt x="145669" y="551307"/>
                  </a:lnTo>
                  <a:close/>
                </a:path>
                <a:path w="2479675" h="573405">
                  <a:moveTo>
                    <a:pt x="218567" y="442087"/>
                  </a:moveTo>
                  <a:lnTo>
                    <a:pt x="217932" y="435737"/>
                  </a:lnTo>
                  <a:lnTo>
                    <a:pt x="217424" y="428129"/>
                  </a:lnTo>
                  <a:lnTo>
                    <a:pt x="215138" y="421779"/>
                  </a:lnTo>
                  <a:lnTo>
                    <a:pt x="211201" y="415429"/>
                  </a:lnTo>
                  <a:lnTo>
                    <a:pt x="207899" y="409079"/>
                  </a:lnTo>
                  <a:lnTo>
                    <a:pt x="204089" y="405257"/>
                  </a:lnTo>
                  <a:lnTo>
                    <a:pt x="175895" y="392557"/>
                  </a:lnTo>
                  <a:lnTo>
                    <a:pt x="165354" y="392557"/>
                  </a:lnTo>
                  <a:lnTo>
                    <a:pt x="160147" y="393827"/>
                  </a:lnTo>
                  <a:lnTo>
                    <a:pt x="149733" y="393827"/>
                  </a:lnTo>
                  <a:lnTo>
                    <a:pt x="144526" y="395097"/>
                  </a:lnTo>
                  <a:lnTo>
                    <a:pt x="120904" y="395097"/>
                  </a:lnTo>
                  <a:lnTo>
                    <a:pt x="116967" y="393827"/>
                  </a:lnTo>
                  <a:lnTo>
                    <a:pt x="113411" y="391287"/>
                  </a:lnTo>
                  <a:lnTo>
                    <a:pt x="109855" y="390029"/>
                  </a:lnTo>
                  <a:lnTo>
                    <a:pt x="106934" y="387477"/>
                  </a:lnTo>
                  <a:lnTo>
                    <a:pt x="104648" y="382397"/>
                  </a:lnTo>
                  <a:lnTo>
                    <a:pt x="102997" y="379857"/>
                  </a:lnTo>
                  <a:lnTo>
                    <a:pt x="101981" y="377329"/>
                  </a:lnTo>
                  <a:lnTo>
                    <a:pt x="101473" y="374777"/>
                  </a:lnTo>
                  <a:lnTo>
                    <a:pt x="101219" y="372237"/>
                  </a:lnTo>
                  <a:lnTo>
                    <a:pt x="101092" y="370979"/>
                  </a:lnTo>
                  <a:lnTo>
                    <a:pt x="101346" y="368427"/>
                  </a:lnTo>
                  <a:lnTo>
                    <a:pt x="103124" y="362077"/>
                  </a:lnTo>
                  <a:lnTo>
                    <a:pt x="104775" y="359537"/>
                  </a:lnTo>
                  <a:lnTo>
                    <a:pt x="107061" y="356997"/>
                  </a:lnTo>
                  <a:lnTo>
                    <a:pt x="109474" y="353187"/>
                  </a:lnTo>
                  <a:lnTo>
                    <a:pt x="112649" y="350647"/>
                  </a:lnTo>
                  <a:lnTo>
                    <a:pt x="116713" y="349377"/>
                  </a:lnTo>
                  <a:lnTo>
                    <a:pt x="121031" y="346837"/>
                  </a:lnTo>
                  <a:lnTo>
                    <a:pt x="125222" y="344297"/>
                  </a:lnTo>
                  <a:lnTo>
                    <a:pt x="129413" y="344297"/>
                  </a:lnTo>
                  <a:lnTo>
                    <a:pt x="133477" y="343027"/>
                  </a:lnTo>
                  <a:lnTo>
                    <a:pt x="137160" y="341757"/>
                  </a:lnTo>
                  <a:lnTo>
                    <a:pt x="153797" y="341757"/>
                  </a:lnTo>
                  <a:lnTo>
                    <a:pt x="154305" y="340487"/>
                  </a:lnTo>
                  <a:lnTo>
                    <a:pt x="154686" y="340487"/>
                  </a:lnTo>
                  <a:lnTo>
                    <a:pt x="155067" y="339229"/>
                  </a:lnTo>
                  <a:lnTo>
                    <a:pt x="154940" y="337947"/>
                  </a:lnTo>
                  <a:lnTo>
                    <a:pt x="154686" y="336677"/>
                  </a:lnTo>
                  <a:lnTo>
                    <a:pt x="154305" y="336677"/>
                  </a:lnTo>
                  <a:lnTo>
                    <a:pt x="153924" y="335407"/>
                  </a:lnTo>
                  <a:lnTo>
                    <a:pt x="153416" y="334137"/>
                  </a:lnTo>
                  <a:lnTo>
                    <a:pt x="152019" y="331597"/>
                  </a:lnTo>
                  <a:lnTo>
                    <a:pt x="151130" y="330327"/>
                  </a:lnTo>
                  <a:lnTo>
                    <a:pt x="149225" y="326529"/>
                  </a:lnTo>
                  <a:lnTo>
                    <a:pt x="148717" y="326529"/>
                  </a:lnTo>
                  <a:lnTo>
                    <a:pt x="148209" y="325247"/>
                  </a:lnTo>
                  <a:lnTo>
                    <a:pt x="147193" y="325247"/>
                  </a:lnTo>
                  <a:lnTo>
                    <a:pt x="146685" y="323977"/>
                  </a:lnTo>
                  <a:lnTo>
                    <a:pt x="143256" y="323977"/>
                  </a:lnTo>
                  <a:lnTo>
                    <a:pt x="141224" y="322707"/>
                  </a:lnTo>
                  <a:lnTo>
                    <a:pt x="135382" y="323977"/>
                  </a:lnTo>
                  <a:lnTo>
                    <a:pt x="128778" y="323977"/>
                  </a:lnTo>
                  <a:lnTo>
                    <a:pt x="121920" y="326529"/>
                  </a:lnTo>
                  <a:lnTo>
                    <a:pt x="118364" y="327787"/>
                  </a:lnTo>
                  <a:lnTo>
                    <a:pt x="114681" y="329057"/>
                  </a:lnTo>
                  <a:lnTo>
                    <a:pt x="111379" y="330327"/>
                  </a:lnTo>
                  <a:lnTo>
                    <a:pt x="101854" y="336677"/>
                  </a:lnTo>
                  <a:lnTo>
                    <a:pt x="96520" y="340487"/>
                  </a:lnTo>
                  <a:lnTo>
                    <a:pt x="92075" y="345579"/>
                  </a:lnTo>
                  <a:lnTo>
                    <a:pt x="87630" y="349377"/>
                  </a:lnTo>
                  <a:lnTo>
                    <a:pt x="84328" y="355727"/>
                  </a:lnTo>
                  <a:lnTo>
                    <a:pt x="82296" y="360807"/>
                  </a:lnTo>
                  <a:lnTo>
                    <a:pt x="80137" y="365887"/>
                  </a:lnTo>
                  <a:lnTo>
                    <a:pt x="79375" y="372237"/>
                  </a:lnTo>
                  <a:lnTo>
                    <a:pt x="80010" y="377329"/>
                  </a:lnTo>
                  <a:lnTo>
                    <a:pt x="80213" y="379857"/>
                  </a:lnTo>
                  <a:lnTo>
                    <a:pt x="80314" y="381127"/>
                  </a:lnTo>
                  <a:lnTo>
                    <a:pt x="80416" y="382397"/>
                  </a:lnTo>
                  <a:lnTo>
                    <a:pt x="80518" y="383679"/>
                  </a:lnTo>
                  <a:lnTo>
                    <a:pt x="97663" y="409079"/>
                  </a:lnTo>
                  <a:lnTo>
                    <a:pt x="101981" y="412877"/>
                  </a:lnTo>
                  <a:lnTo>
                    <a:pt x="106553" y="414147"/>
                  </a:lnTo>
                  <a:lnTo>
                    <a:pt x="111506" y="416687"/>
                  </a:lnTo>
                  <a:lnTo>
                    <a:pt x="116332" y="417957"/>
                  </a:lnTo>
                  <a:lnTo>
                    <a:pt x="142240" y="417957"/>
                  </a:lnTo>
                  <a:lnTo>
                    <a:pt x="162560" y="415429"/>
                  </a:lnTo>
                  <a:lnTo>
                    <a:pt x="167259" y="415429"/>
                  </a:lnTo>
                  <a:lnTo>
                    <a:pt x="196469" y="442087"/>
                  </a:lnTo>
                  <a:lnTo>
                    <a:pt x="196596" y="443357"/>
                  </a:lnTo>
                  <a:lnTo>
                    <a:pt x="196088" y="447179"/>
                  </a:lnTo>
                  <a:lnTo>
                    <a:pt x="194691" y="450977"/>
                  </a:lnTo>
                  <a:lnTo>
                    <a:pt x="193421" y="454787"/>
                  </a:lnTo>
                  <a:lnTo>
                    <a:pt x="191389" y="457327"/>
                  </a:lnTo>
                  <a:lnTo>
                    <a:pt x="188595" y="461137"/>
                  </a:lnTo>
                  <a:lnTo>
                    <a:pt x="185674" y="463677"/>
                  </a:lnTo>
                  <a:lnTo>
                    <a:pt x="182245" y="466229"/>
                  </a:lnTo>
                  <a:lnTo>
                    <a:pt x="178054" y="468757"/>
                  </a:lnTo>
                  <a:lnTo>
                    <a:pt x="172466" y="472579"/>
                  </a:lnTo>
                  <a:lnTo>
                    <a:pt x="167259" y="475107"/>
                  </a:lnTo>
                  <a:lnTo>
                    <a:pt x="162306" y="476377"/>
                  </a:lnTo>
                  <a:lnTo>
                    <a:pt x="157226" y="476377"/>
                  </a:lnTo>
                  <a:lnTo>
                    <a:pt x="152908" y="477647"/>
                  </a:lnTo>
                  <a:lnTo>
                    <a:pt x="134747" y="477647"/>
                  </a:lnTo>
                  <a:lnTo>
                    <a:pt x="133731" y="478929"/>
                  </a:lnTo>
                  <a:lnTo>
                    <a:pt x="132715" y="478929"/>
                  </a:lnTo>
                  <a:lnTo>
                    <a:pt x="132334" y="480187"/>
                  </a:lnTo>
                  <a:lnTo>
                    <a:pt x="132207" y="482727"/>
                  </a:lnTo>
                  <a:lnTo>
                    <a:pt x="132461" y="483997"/>
                  </a:lnTo>
                  <a:lnTo>
                    <a:pt x="132969" y="485279"/>
                  </a:lnTo>
                  <a:lnTo>
                    <a:pt x="133350" y="486537"/>
                  </a:lnTo>
                  <a:lnTo>
                    <a:pt x="135001" y="489077"/>
                  </a:lnTo>
                  <a:lnTo>
                    <a:pt x="136398" y="491629"/>
                  </a:lnTo>
                  <a:lnTo>
                    <a:pt x="138938" y="494157"/>
                  </a:lnTo>
                  <a:lnTo>
                    <a:pt x="140081" y="495427"/>
                  </a:lnTo>
                  <a:lnTo>
                    <a:pt x="141351" y="496697"/>
                  </a:lnTo>
                  <a:lnTo>
                    <a:pt x="159512" y="496697"/>
                  </a:lnTo>
                  <a:lnTo>
                    <a:pt x="163449" y="495427"/>
                  </a:lnTo>
                  <a:lnTo>
                    <a:pt x="167767" y="494157"/>
                  </a:lnTo>
                  <a:lnTo>
                    <a:pt x="177038" y="491629"/>
                  </a:lnTo>
                  <a:lnTo>
                    <a:pt x="181737" y="489077"/>
                  </a:lnTo>
                  <a:lnTo>
                    <a:pt x="186690" y="486537"/>
                  </a:lnTo>
                  <a:lnTo>
                    <a:pt x="215392" y="454787"/>
                  </a:lnTo>
                  <a:lnTo>
                    <a:pt x="217678" y="448437"/>
                  </a:lnTo>
                  <a:lnTo>
                    <a:pt x="218567" y="442087"/>
                  </a:lnTo>
                  <a:close/>
                </a:path>
                <a:path w="2479675" h="573405">
                  <a:moveTo>
                    <a:pt x="304800" y="414147"/>
                  </a:moveTo>
                  <a:lnTo>
                    <a:pt x="304673" y="412877"/>
                  </a:lnTo>
                  <a:lnTo>
                    <a:pt x="304419" y="411607"/>
                  </a:lnTo>
                  <a:lnTo>
                    <a:pt x="238379" y="297307"/>
                  </a:lnTo>
                  <a:lnTo>
                    <a:pt x="231775" y="285877"/>
                  </a:lnTo>
                  <a:lnTo>
                    <a:pt x="272542" y="261747"/>
                  </a:lnTo>
                  <a:lnTo>
                    <a:pt x="273177" y="261747"/>
                  </a:lnTo>
                  <a:lnTo>
                    <a:pt x="273939" y="260477"/>
                  </a:lnTo>
                  <a:lnTo>
                    <a:pt x="274066" y="256679"/>
                  </a:lnTo>
                  <a:lnTo>
                    <a:pt x="273558" y="255397"/>
                  </a:lnTo>
                  <a:lnTo>
                    <a:pt x="273177" y="254127"/>
                  </a:lnTo>
                  <a:lnTo>
                    <a:pt x="272542" y="252857"/>
                  </a:lnTo>
                  <a:lnTo>
                    <a:pt x="271653" y="251587"/>
                  </a:lnTo>
                  <a:lnTo>
                    <a:pt x="269367" y="247777"/>
                  </a:lnTo>
                  <a:lnTo>
                    <a:pt x="268478" y="247777"/>
                  </a:lnTo>
                  <a:lnTo>
                    <a:pt x="267843" y="246507"/>
                  </a:lnTo>
                  <a:lnTo>
                    <a:pt x="266319" y="245237"/>
                  </a:lnTo>
                  <a:lnTo>
                    <a:pt x="263144" y="245237"/>
                  </a:lnTo>
                  <a:lnTo>
                    <a:pt x="162179" y="303657"/>
                  </a:lnTo>
                  <a:lnTo>
                    <a:pt x="161544" y="304927"/>
                  </a:lnTo>
                  <a:lnTo>
                    <a:pt x="160782" y="304927"/>
                  </a:lnTo>
                  <a:lnTo>
                    <a:pt x="160528" y="306197"/>
                  </a:lnTo>
                  <a:lnTo>
                    <a:pt x="160528" y="308737"/>
                  </a:lnTo>
                  <a:lnTo>
                    <a:pt x="160782" y="310007"/>
                  </a:lnTo>
                  <a:lnTo>
                    <a:pt x="161290" y="311277"/>
                  </a:lnTo>
                  <a:lnTo>
                    <a:pt x="161671" y="311277"/>
                  </a:lnTo>
                  <a:lnTo>
                    <a:pt x="162306" y="312547"/>
                  </a:lnTo>
                  <a:lnTo>
                    <a:pt x="163195" y="315087"/>
                  </a:lnTo>
                  <a:lnTo>
                    <a:pt x="163957" y="316357"/>
                  </a:lnTo>
                  <a:lnTo>
                    <a:pt x="164846" y="317627"/>
                  </a:lnTo>
                  <a:lnTo>
                    <a:pt x="166370" y="318897"/>
                  </a:lnTo>
                  <a:lnTo>
                    <a:pt x="167132" y="320179"/>
                  </a:lnTo>
                  <a:lnTo>
                    <a:pt x="168402" y="320179"/>
                  </a:lnTo>
                  <a:lnTo>
                    <a:pt x="169037" y="321437"/>
                  </a:lnTo>
                  <a:lnTo>
                    <a:pt x="170434" y="321437"/>
                  </a:lnTo>
                  <a:lnTo>
                    <a:pt x="171069" y="320179"/>
                  </a:lnTo>
                  <a:lnTo>
                    <a:pt x="171577" y="320179"/>
                  </a:lnTo>
                  <a:lnTo>
                    <a:pt x="212471" y="297307"/>
                  </a:lnTo>
                  <a:lnTo>
                    <a:pt x="285115" y="423037"/>
                  </a:lnTo>
                  <a:lnTo>
                    <a:pt x="285877" y="424307"/>
                  </a:lnTo>
                  <a:lnTo>
                    <a:pt x="289560" y="424307"/>
                  </a:lnTo>
                  <a:lnTo>
                    <a:pt x="290703" y="423037"/>
                  </a:lnTo>
                  <a:lnTo>
                    <a:pt x="293370" y="423037"/>
                  </a:lnTo>
                  <a:lnTo>
                    <a:pt x="295021" y="421779"/>
                  </a:lnTo>
                  <a:lnTo>
                    <a:pt x="296799" y="420497"/>
                  </a:lnTo>
                  <a:lnTo>
                    <a:pt x="300228" y="419227"/>
                  </a:lnTo>
                  <a:lnTo>
                    <a:pt x="301244" y="417957"/>
                  </a:lnTo>
                  <a:lnTo>
                    <a:pt x="302387" y="416687"/>
                  </a:lnTo>
                  <a:lnTo>
                    <a:pt x="303911" y="415429"/>
                  </a:lnTo>
                  <a:lnTo>
                    <a:pt x="304419" y="414147"/>
                  </a:lnTo>
                  <a:lnTo>
                    <a:pt x="304800" y="414147"/>
                  </a:lnTo>
                  <a:close/>
                </a:path>
                <a:path w="2479675" h="573405">
                  <a:moveTo>
                    <a:pt x="463550" y="322580"/>
                  </a:moveTo>
                  <a:lnTo>
                    <a:pt x="463423" y="321310"/>
                  </a:lnTo>
                  <a:lnTo>
                    <a:pt x="462153" y="318770"/>
                  </a:lnTo>
                  <a:lnTo>
                    <a:pt x="461010" y="317500"/>
                  </a:lnTo>
                  <a:lnTo>
                    <a:pt x="444423" y="303530"/>
                  </a:lnTo>
                  <a:lnTo>
                    <a:pt x="395478" y="262255"/>
                  </a:lnTo>
                  <a:lnTo>
                    <a:pt x="395478" y="292100"/>
                  </a:lnTo>
                  <a:lnTo>
                    <a:pt x="344932" y="320040"/>
                  </a:lnTo>
                  <a:lnTo>
                    <a:pt x="328295" y="233680"/>
                  </a:lnTo>
                  <a:lnTo>
                    <a:pt x="395478" y="292100"/>
                  </a:lnTo>
                  <a:lnTo>
                    <a:pt x="395478" y="262255"/>
                  </a:lnTo>
                  <a:lnTo>
                    <a:pt x="361594" y="233680"/>
                  </a:lnTo>
                  <a:lnTo>
                    <a:pt x="332994" y="209550"/>
                  </a:lnTo>
                  <a:lnTo>
                    <a:pt x="331470" y="209550"/>
                  </a:lnTo>
                  <a:lnTo>
                    <a:pt x="329692" y="208280"/>
                  </a:lnTo>
                  <a:lnTo>
                    <a:pt x="328676" y="208280"/>
                  </a:lnTo>
                  <a:lnTo>
                    <a:pt x="326390" y="209550"/>
                  </a:lnTo>
                  <a:lnTo>
                    <a:pt x="324993" y="209550"/>
                  </a:lnTo>
                  <a:lnTo>
                    <a:pt x="323469" y="210820"/>
                  </a:lnTo>
                  <a:lnTo>
                    <a:pt x="321818" y="210820"/>
                  </a:lnTo>
                  <a:lnTo>
                    <a:pt x="319786" y="212090"/>
                  </a:lnTo>
                  <a:lnTo>
                    <a:pt x="317373" y="213360"/>
                  </a:lnTo>
                  <a:lnTo>
                    <a:pt x="315087" y="214630"/>
                  </a:lnTo>
                  <a:lnTo>
                    <a:pt x="313309" y="215900"/>
                  </a:lnTo>
                  <a:lnTo>
                    <a:pt x="310515" y="218440"/>
                  </a:lnTo>
                  <a:lnTo>
                    <a:pt x="309499" y="218440"/>
                  </a:lnTo>
                  <a:lnTo>
                    <a:pt x="307975" y="220980"/>
                  </a:lnTo>
                  <a:lnTo>
                    <a:pt x="307467" y="220980"/>
                  </a:lnTo>
                  <a:lnTo>
                    <a:pt x="307213" y="222250"/>
                  </a:lnTo>
                  <a:lnTo>
                    <a:pt x="307213" y="224790"/>
                  </a:lnTo>
                  <a:lnTo>
                    <a:pt x="336423" y="387350"/>
                  </a:lnTo>
                  <a:lnTo>
                    <a:pt x="336804" y="389890"/>
                  </a:lnTo>
                  <a:lnTo>
                    <a:pt x="337185" y="391160"/>
                  </a:lnTo>
                  <a:lnTo>
                    <a:pt x="337820" y="392430"/>
                  </a:lnTo>
                  <a:lnTo>
                    <a:pt x="338328" y="393700"/>
                  </a:lnTo>
                  <a:lnTo>
                    <a:pt x="341884" y="393700"/>
                  </a:lnTo>
                  <a:lnTo>
                    <a:pt x="344932" y="392430"/>
                  </a:lnTo>
                  <a:lnTo>
                    <a:pt x="346710" y="392430"/>
                  </a:lnTo>
                  <a:lnTo>
                    <a:pt x="351028" y="389890"/>
                  </a:lnTo>
                  <a:lnTo>
                    <a:pt x="352679" y="388620"/>
                  </a:lnTo>
                  <a:lnTo>
                    <a:pt x="353822" y="387350"/>
                  </a:lnTo>
                  <a:lnTo>
                    <a:pt x="355092" y="386080"/>
                  </a:lnTo>
                  <a:lnTo>
                    <a:pt x="355981" y="386080"/>
                  </a:lnTo>
                  <a:lnTo>
                    <a:pt x="356997" y="384810"/>
                  </a:lnTo>
                  <a:lnTo>
                    <a:pt x="357251" y="383540"/>
                  </a:lnTo>
                  <a:lnTo>
                    <a:pt x="357251" y="381000"/>
                  </a:lnTo>
                  <a:lnTo>
                    <a:pt x="348996" y="339090"/>
                  </a:lnTo>
                  <a:lnTo>
                    <a:pt x="381304" y="320040"/>
                  </a:lnTo>
                  <a:lnTo>
                    <a:pt x="409321" y="303530"/>
                  </a:lnTo>
                  <a:lnTo>
                    <a:pt x="442214" y="332740"/>
                  </a:lnTo>
                  <a:lnTo>
                    <a:pt x="442849" y="332740"/>
                  </a:lnTo>
                  <a:lnTo>
                    <a:pt x="444754" y="334010"/>
                  </a:lnTo>
                  <a:lnTo>
                    <a:pt x="445389" y="334010"/>
                  </a:lnTo>
                  <a:lnTo>
                    <a:pt x="447167" y="332740"/>
                  </a:lnTo>
                  <a:lnTo>
                    <a:pt x="449707" y="332740"/>
                  </a:lnTo>
                  <a:lnTo>
                    <a:pt x="451231" y="331470"/>
                  </a:lnTo>
                  <a:lnTo>
                    <a:pt x="453136" y="330200"/>
                  </a:lnTo>
                  <a:lnTo>
                    <a:pt x="457708" y="327660"/>
                  </a:lnTo>
                  <a:lnTo>
                    <a:pt x="460883" y="326390"/>
                  </a:lnTo>
                  <a:lnTo>
                    <a:pt x="462153" y="325120"/>
                  </a:lnTo>
                  <a:lnTo>
                    <a:pt x="462915" y="323850"/>
                  </a:lnTo>
                  <a:lnTo>
                    <a:pt x="463169" y="322580"/>
                  </a:lnTo>
                  <a:lnTo>
                    <a:pt x="463550" y="322580"/>
                  </a:lnTo>
                  <a:close/>
                </a:path>
                <a:path w="2479675" h="573405">
                  <a:moveTo>
                    <a:pt x="584835" y="250190"/>
                  </a:moveTo>
                  <a:lnTo>
                    <a:pt x="584454" y="250190"/>
                  </a:lnTo>
                  <a:lnTo>
                    <a:pt x="584200" y="248920"/>
                  </a:lnTo>
                  <a:lnTo>
                    <a:pt x="583565" y="248920"/>
                  </a:lnTo>
                  <a:lnTo>
                    <a:pt x="582549" y="247650"/>
                  </a:lnTo>
                  <a:lnTo>
                    <a:pt x="581660" y="246380"/>
                  </a:lnTo>
                  <a:lnTo>
                    <a:pt x="577342" y="242570"/>
                  </a:lnTo>
                  <a:lnTo>
                    <a:pt x="549160" y="220980"/>
                  </a:lnTo>
                  <a:lnTo>
                    <a:pt x="545846" y="218440"/>
                  </a:lnTo>
                  <a:lnTo>
                    <a:pt x="544068" y="217170"/>
                  </a:lnTo>
                  <a:lnTo>
                    <a:pt x="542290" y="215900"/>
                  </a:lnTo>
                  <a:lnTo>
                    <a:pt x="538861" y="213360"/>
                  </a:lnTo>
                  <a:lnTo>
                    <a:pt x="535686" y="210820"/>
                  </a:lnTo>
                  <a:lnTo>
                    <a:pt x="529336" y="208280"/>
                  </a:lnTo>
                  <a:lnTo>
                    <a:pt x="517652" y="203200"/>
                  </a:lnTo>
                  <a:lnTo>
                    <a:pt x="508889" y="203200"/>
                  </a:lnTo>
                  <a:lnTo>
                    <a:pt x="512191" y="199390"/>
                  </a:lnTo>
                  <a:lnTo>
                    <a:pt x="522351" y="173990"/>
                  </a:lnTo>
                  <a:lnTo>
                    <a:pt x="522351" y="170180"/>
                  </a:lnTo>
                  <a:lnTo>
                    <a:pt x="515137" y="149860"/>
                  </a:lnTo>
                  <a:lnTo>
                    <a:pt x="512953" y="146050"/>
                  </a:lnTo>
                  <a:lnTo>
                    <a:pt x="509524" y="142240"/>
                  </a:lnTo>
                  <a:lnTo>
                    <a:pt x="501904" y="134620"/>
                  </a:lnTo>
                  <a:lnTo>
                    <a:pt x="501015" y="134099"/>
                  </a:lnTo>
                  <a:lnTo>
                    <a:pt x="501015" y="179070"/>
                  </a:lnTo>
                  <a:lnTo>
                    <a:pt x="500761" y="182880"/>
                  </a:lnTo>
                  <a:lnTo>
                    <a:pt x="499491" y="186690"/>
                  </a:lnTo>
                  <a:lnTo>
                    <a:pt x="498348" y="190500"/>
                  </a:lnTo>
                  <a:lnTo>
                    <a:pt x="493268" y="196850"/>
                  </a:lnTo>
                  <a:lnTo>
                    <a:pt x="490347" y="200660"/>
                  </a:lnTo>
                  <a:lnTo>
                    <a:pt x="486283" y="203200"/>
                  </a:lnTo>
                  <a:lnTo>
                    <a:pt x="462280" y="217170"/>
                  </a:lnTo>
                  <a:lnTo>
                    <a:pt x="434086" y="168910"/>
                  </a:lnTo>
                  <a:lnTo>
                    <a:pt x="450342" y="158750"/>
                  </a:lnTo>
                  <a:lnTo>
                    <a:pt x="454152" y="156210"/>
                  </a:lnTo>
                  <a:lnTo>
                    <a:pt x="457327" y="154940"/>
                  </a:lnTo>
                  <a:lnTo>
                    <a:pt x="459867" y="153670"/>
                  </a:lnTo>
                  <a:lnTo>
                    <a:pt x="462280" y="152400"/>
                  </a:lnTo>
                  <a:lnTo>
                    <a:pt x="464566" y="152400"/>
                  </a:lnTo>
                  <a:lnTo>
                    <a:pt x="466852" y="151130"/>
                  </a:lnTo>
                  <a:lnTo>
                    <a:pt x="473710" y="149860"/>
                  </a:lnTo>
                  <a:lnTo>
                    <a:pt x="479679" y="149860"/>
                  </a:lnTo>
                  <a:lnTo>
                    <a:pt x="489331" y="154940"/>
                  </a:lnTo>
                  <a:lnTo>
                    <a:pt x="493268" y="158750"/>
                  </a:lnTo>
                  <a:lnTo>
                    <a:pt x="496570" y="165100"/>
                  </a:lnTo>
                  <a:lnTo>
                    <a:pt x="498602" y="167640"/>
                  </a:lnTo>
                  <a:lnTo>
                    <a:pt x="499872" y="171450"/>
                  </a:lnTo>
                  <a:lnTo>
                    <a:pt x="500507" y="175260"/>
                  </a:lnTo>
                  <a:lnTo>
                    <a:pt x="501015" y="179070"/>
                  </a:lnTo>
                  <a:lnTo>
                    <a:pt x="501015" y="134099"/>
                  </a:lnTo>
                  <a:lnTo>
                    <a:pt x="497586" y="132080"/>
                  </a:lnTo>
                  <a:lnTo>
                    <a:pt x="488061" y="129540"/>
                  </a:lnTo>
                  <a:lnTo>
                    <a:pt x="471805" y="129540"/>
                  </a:lnTo>
                  <a:lnTo>
                    <a:pt x="465963" y="130810"/>
                  </a:lnTo>
                  <a:lnTo>
                    <a:pt x="459867" y="133350"/>
                  </a:lnTo>
                  <a:lnTo>
                    <a:pt x="457835" y="134620"/>
                  </a:lnTo>
                  <a:lnTo>
                    <a:pt x="455422" y="135890"/>
                  </a:lnTo>
                  <a:lnTo>
                    <a:pt x="450342" y="138430"/>
                  </a:lnTo>
                  <a:lnTo>
                    <a:pt x="447294" y="139700"/>
                  </a:lnTo>
                  <a:lnTo>
                    <a:pt x="443611" y="142240"/>
                  </a:lnTo>
                  <a:lnTo>
                    <a:pt x="412750" y="158750"/>
                  </a:lnTo>
                  <a:lnTo>
                    <a:pt x="411099" y="160020"/>
                  </a:lnTo>
                  <a:lnTo>
                    <a:pt x="409829" y="161290"/>
                  </a:lnTo>
                  <a:lnTo>
                    <a:pt x="408051" y="166370"/>
                  </a:lnTo>
                  <a:lnTo>
                    <a:pt x="408432" y="168910"/>
                  </a:lnTo>
                  <a:lnTo>
                    <a:pt x="410210" y="171450"/>
                  </a:lnTo>
                  <a:lnTo>
                    <a:pt x="488061" y="306070"/>
                  </a:lnTo>
                  <a:lnTo>
                    <a:pt x="488569" y="307340"/>
                  </a:lnTo>
                  <a:lnTo>
                    <a:pt x="493268" y="307340"/>
                  </a:lnTo>
                  <a:lnTo>
                    <a:pt x="494665" y="306070"/>
                  </a:lnTo>
                  <a:lnTo>
                    <a:pt x="495935" y="306070"/>
                  </a:lnTo>
                  <a:lnTo>
                    <a:pt x="501269" y="302260"/>
                  </a:lnTo>
                  <a:lnTo>
                    <a:pt x="502793" y="302260"/>
                  </a:lnTo>
                  <a:lnTo>
                    <a:pt x="505079" y="299720"/>
                  </a:lnTo>
                  <a:lnTo>
                    <a:pt x="506476" y="298450"/>
                  </a:lnTo>
                  <a:lnTo>
                    <a:pt x="506984" y="297180"/>
                  </a:lnTo>
                  <a:lnTo>
                    <a:pt x="507365" y="297180"/>
                  </a:lnTo>
                  <a:lnTo>
                    <a:pt x="507365" y="294640"/>
                  </a:lnTo>
                  <a:lnTo>
                    <a:pt x="506984" y="294640"/>
                  </a:lnTo>
                  <a:lnTo>
                    <a:pt x="471297" y="232410"/>
                  </a:lnTo>
                  <a:lnTo>
                    <a:pt x="488696" y="222250"/>
                  </a:lnTo>
                  <a:lnTo>
                    <a:pt x="492760" y="220980"/>
                  </a:lnTo>
                  <a:lnTo>
                    <a:pt x="504317" y="220980"/>
                  </a:lnTo>
                  <a:lnTo>
                    <a:pt x="511683" y="222250"/>
                  </a:lnTo>
                  <a:lnTo>
                    <a:pt x="515366" y="224790"/>
                  </a:lnTo>
                  <a:lnTo>
                    <a:pt x="522478" y="228600"/>
                  </a:lnTo>
                  <a:lnTo>
                    <a:pt x="526161" y="231140"/>
                  </a:lnTo>
                  <a:lnTo>
                    <a:pt x="562991" y="260350"/>
                  </a:lnTo>
                  <a:lnTo>
                    <a:pt x="563880" y="261620"/>
                  </a:lnTo>
                  <a:lnTo>
                    <a:pt x="564642" y="261620"/>
                  </a:lnTo>
                  <a:lnTo>
                    <a:pt x="566166" y="262890"/>
                  </a:lnTo>
                  <a:lnTo>
                    <a:pt x="568960" y="262890"/>
                  </a:lnTo>
                  <a:lnTo>
                    <a:pt x="571373" y="261620"/>
                  </a:lnTo>
                  <a:lnTo>
                    <a:pt x="572643" y="261620"/>
                  </a:lnTo>
                  <a:lnTo>
                    <a:pt x="574294" y="260350"/>
                  </a:lnTo>
                  <a:lnTo>
                    <a:pt x="578485" y="257810"/>
                  </a:lnTo>
                  <a:lnTo>
                    <a:pt x="580263" y="256540"/>
                  </a:lnTo>
                  <a:lnTo>
                    <a:pt x="581533" y="256540"/>
                  </a:lnTo>
                  <a:lnTo>
                    <a:pt x="582803" y="255270"/>
                  </a:lnTo>
                  <a:lnTo>
                    <a:pt x="583692" y="254000"/>
                  </a:lnTo>
                  <a:lnTo>
                    <a:pt x="584200" y="254000"/>
                  </a:lnTo>
                  <a:lnTo>
                    <a:pt x="584835" y="252730"/>
                  </a:lnTo>
                  <a:lnTo>
                    <a:pt x="584835" y="250190"/>
                  </a:lnTo>
                  <a:close/>
                </a:path>
                <a:path w="2479675" h="573405">
                  <a:moveTo>
                    <a:pt x="661162" y="208280"/>
                  </a:moveTo>
                  <a:lnTo>
                    <a:pt x="661035" y="207010"/>
                  </a:lnTo>
                  <a:lnTo>
                    <a:pt x="660781" y="205740"/>
                  </a:lnTo>
                  <a:lnTo>
                    <a:pt x="594741" y="91440"/>
                  </a:lnTo>
                  <a:lnTo>
                    <a:pt x="588137" y="80010"/>
                  </a:lnTo>
                  <a:lnTo>
                    <a:pt x="628904" y="55880"/>
                  </a:lnTo>
                  <a:lnTo>
                    <a:pt x="629539" y="55880"/>
                  </a:lnTo>
                  <a:lnTo>
                    <a:pt x="630301" y="54610"/>
                  </a:lnTo>
                  <a:lnTo>
                    <a:pt x="630428" y="50800"/>
                  </a:lnTo>
                  <a:lnTo>
                    <a:pt x="629920" y="49530"/>
                  </a:lnTo>
                  <a:lnTo>
                    <a:pt x="629539" y="49530"/>
                  </a:lnTo>
                  <a:lnTo>
                    <a:pt x="628904" y="46990"/>
                  </a:lnTo>
                  <a:lnTo>
                    <a:pt x="628015" y="45720"/>
                  </a:lnTo>
                  <a:lnTo>
                    <a:pt x="626491" y="43180"/>
                  </a:lnTo>
                  <a:lnTo>
                    <a:pt x="625729" y="43180"/>
                  </a:lnTo>
                  <a:lnTo>
                    <a:pt x="624840" y="41910"/>
                  </a:lnTo>
                  <a:lnTo>
                    <a:pt x="624205" y="40640"/>
                  </a:lnTo>
                  <a:lnTo>
                    <a:pt x="622681" y="39370"/>
                  </a:lnTo>
                  <a:lnTo>
                    <a:pt x="620014" y="39370"/>
                  </a:lnTo>
                  <a:lnTo>
                    <a:pt x="619506" y="40640"/>
                  </a:lnTo>
                  <a:lnTo>
                    <a:pt x="518541" y="97790"/>
                  </a:lnTo>
                  <a:lnTo>
                    <a:pt x="517906" y="99060"/>
                  </a:lnTo>
                  <a:lnTo>
                    <a:pt x="517525" y="99060"/>
                  </a:lnTo>
                  <a:lnTo>
                    <a:pt x="517144" y="100330"/>
                  </a:lnTo>
                  <a:lnTo>
                    <a:pt x="516890" y="100330"/>
                  </a:lnTo>
                  <a:lnTo>
                    <a:pt x="516890" y="102870"/>
                  </a:lnTo>
                  <a:lnTo>
                    <a:pt x="517144" y="104140"/>
                  </a:lnTo>
                  <a:lnTo>
                    <a:pt x="517652" y="105410"/>
                  </a:lnTo>
                  <a:lnTo>
                    <a:pt x="518033" y="106680"/>
                  </a:lnTo>
                  <a:lnTo>
                    <a:pt x="518668" y="107950"/>
                  </a:lnTo>
                  <a:lnTo>
                    <a:pt x="519557" y="109220"/>
                  </a:lnTo>
                  <a:lnTo>
                    <a:pt x="521081" y="111760"/>
                  </a:lnTo>
                  <a:lnTo>
                    <a:pt x="521970" y="113030"/>
                  </a:lnTo>
                  <a:lnTo>
                    <a:pt x="522732" y="113030"/>
                  </a:lnTo>
                  <a:lnTo>
                    <a:pt x="524129" y="114300"/>
                  </a:lnTo>
                  <a:lnTo>
                    <a:pt x="524764" y="114300"/>
                  </a:lnTo>
                  <a:lnTo>
                    <a:pt x="525399" y="115570"/>
                  </a:lnTo>
                  <a:lnTo>
                    <a:pt x="527431" y="115570"/>
                  </a:lnTo>
                  <a:lnTo>
                    <a:pt x="527939" y="114300"/>
                  </a:lnTo>
                  <a:lnTo>
                    <a:pt x="568833" y="91440"/>
                  </a:lnTo>
                  <a:lnTo>
                    <a:pt x="641477" y="217170"/>
                  </a:lnTo>
                  <a:lnTo>
                    <a:pt x="641731" y="217170"/>
                  </a:lnTo>
                  <a:lnTo>
                    <a:pt x="642239" y="218440"/>
                  </a:lnTo>
                  <a:lnTo>
                    <a:pt x="647065" y="218440"/>
                  </a:lnTo>
                  <a:lnTo>
                    <a:pt x="648462" y="217170"/>
                  </a:lnTo>
                  <a:lnTo>
                    <a:pt x="649732" y="217170"/>
                  </a:lnTo>
                  <a:lnTo>
                    <a:pt x="651383" y="215900"/>
                  </a:lnTo>
                  <a:lnTo>
                    <a:pt x="653161" y="214630"/>
                  </a:lnTo>
                  <a:lnTo>
                    <a:pt x="655066" y="214630"/>
                  </a:lnTo>
                  <a:lnTo>
                    <a:pt x="656590" y="213360"/>
                  </a:lnTo>
                  <a:lnTo>
                    <a:pt x="657606" y="212090"/>
                  </a:lnTo>
                  <a:lnTo>
                    <a:pt x="658749" y="210820"/>
                  </a:lnTo>
                  <a:lnTo>
                    <a:pt x="660273" y="209550"/>
                  </a:lnTo>
                  <a:lnTo>
                    <a:pt x="660781" y="208280"/>
                  </a:lnTo>
                  <a:lnTo>
                    <a:pt x="661162" y="208280"/>
                  </a:lnTo>
                  <a:close/>
                </a:path>
                <a:path w="2479675" h="573405">
                  <a:moveTo>
                    <a:pt x="774573" y="186690"/>
                  </a:moveTo>
                  <a:lnTo>
                    <a:pt x="774319" y="185420"/>
                  </a:lnTo>
                  <a:lnTo>
                    <a:pt x="773811" y="184150"/>
                  </a:lnTo>
                  <a:lnTo>
                    <a:pt x="772922" y="182880"/>
                  </a:lnTo>
                  <a:lnTo>
                    <a:pt x="680288" y="21590"/>
                  </a:lnTo>
                  <a:lnTo>
                    <a:pt x="670814" y="5080"/>
                  </a:lnTo>
                  <a:lnTo>
                    <a:pt x="669036" y="2540"/>
                  </a:lnTo>
                  <a:lnTo>
                    <a:pt x="668020" y="2540"/>
                  </a:lnTo>
                  <a:lnTo>
                    <a:pt x="665988" y="0"/>
                  </a:lnTo>
                  <a:lnTo>
                    <a:pt x="660908" y="0"/>
                  </a:lnTo>
                  <a:lnTo>
                    <a:pt x="659892" y="1270"/>
                  </a:lnTo>
                  <a:lnTo>
                    <a:pt x="630428" y="17780"/>
                  </a:lnTo>
                  <a:lnTo>
                    <a:pt x="629920" y="17780"/>
                  </a:lnTo>
                  <a:lnTo>
                    <a:pt x="629539" y="19050"/>
                  </a:lnTo>
                  <a:lnTo>
                    <a:pt x="628904" y="19050"/>
                  </a:lnTo>
                  <a:lnTo>
                    <a:pt x="628904" y="21590"/>
                  </a:lnTo>
                  <a:lnTo>
                    <a:pt x="629158" y="22860"/>
                  </a:lnTo>
                  <a:lnTo>
                    <a:pt x="630428" y="25400"/>
                  </a:lnTo>
                  <a:lnTo>
                    <a:pt x="631190" y="26670"/>
                  </a:lnTo>
                  <a:lnTo>
                    <a:pt x="632587" y="29210"/>
                  </a:lnTo>
                  <a:lnTo>
                    <a:pt x="633857" y="30480"/>
                  </a:lnTo>
                  <a:lnTo>
                    <a:pt x="635000" y="31750"/>
                  </a:lnTo>
                  <a:lnTo>
                    <a:pt x="638302" y="31750"/>
                  </a:lnTo>
                  <a:lnTo>
                    <a:pt x="656590" y="21590"/>
                  </a:lnTo>
                  <a:lnTo>
                    <a:pt x="752221" y="186690"/>
                  </a:lnTo>
                  <a:lnTo>
                    <a:pt x="733933" y="196850"/>
                  </a:lnTo>
                  <a:lnTo>
                    <a:pt x="733425" y="198120"/>
                  </a:lnTo>
                  <a:lnTo>
                    <a:pt x="732663" y="198120"/>
                  </a:lnTo>
                  <a:lnTo>
                    <a:pt x="732409" y="199390"/>
                  </a:lnTo>
                  <a:lnTo>
                    <a:pt x="732282" y="200660"/>
                  </a:lnTo>
                  <a:lnTo>
                    <a:pt x="732536" y="201930"/>
                  </a:lnTo>
                  <a:lnTo>
                    <a:pt x="733298" y="203200"/>
                  </a:lnTo>
                  <a:lnTo>
                    <a:pt x="734568" y="205740"/>
                  </a:lnTo>
                  <a:lnTo>
                    <a:pt x="736092" y="208280"/>
                  </a:lnTo>
                  <a:lnTo>
                    <a:pt x="737362" y="209550"/>
                  </a:lnTo>
                  <a:lnTo>
                    <a:pt x="739648" y="210820"/>
                  </a:lnTo>
                  <a:lnTo>
                    <a:pt x="740664" y="212090"/>
                  </a:lnTo>
                  <a:lnTo>
                    <a:pt x="741680" y="210820"/>
                  </a:lnTo>
                  <a:lnTo>
                    <a:pt x="771271" y="194310"/>
                  </a:lnTo>
                  <a:lnTo>
                    <a:pt x="772033" y="193040"/>
                  </a:lnTo>
                  <a:lnTo>
                    <a:pt x="772795" y="193040"/>
                  </a:lnTo>
                  <a:lnTo>
                    <a:pt x="773430" y="191770"/>
                  </a:lnTo>
                  <a:lnTo>
                    <a:pt x="773938" y="190500"/>
                  </a:lnTo>
                  <a:lnTo>
                    <a:pt x="774319" y="189230"/>
                  </a:lnTo>
                  <a:lnTo>
                    <a:pt x="774573" y="189230"/>
                  </a:lnTo>
                  <a:lnTo>
                    <a:pt x="774573" y="186690"/>
                  </a:lnTo>
                  <a:close/>
                </a:path>
                <a:path w="2479675" h="573405">
                  <a:moveTo>
                    <a:pt x="2189480" y="494538"/>
                  </a:moveTo>
                  <a:lnTo>
                    <a:pt x="2189353" y="490728"/>
                  </a:lnTo>
                  <a:lnTo>
                    <a:pt x="2189099" y="489458"/>
                  </a:lnTo>
                  <a:lnTo>
                    <a:pt x="2188845" y="489458"/>
                  </a:lnTo>
                  <a:lnTo>
                    <a:pt x="2188337" y="488188"/>
                  </a:lnTo>
                  <a:lnTo>
                    <a:pt x="2187956" y="486918"/>
                  </a:lnTo>
                  <a:lnTo>
                    <a:pt x="2187321" y="485648"/>
                  </a:lnTo>
                  <a:lnTo>
                    <a:pt x="2186559" y="484378"/>
                  </a:lnTo>
                  <a:lnTo>
                    <a:pt x="2184908" y="481838"/>
                  </a:lnTo>
                  <a:lnTo>
                    <a:pt x="2183384" y="479298"/>
                  </a:lnTo>
                  <a:lnTo>
                    <a:pt x="2182749" y="479298"/>
                  </a:lnTo>
                  <a:lnTo>
                    <a:pt x="2181987" y="478028"/>
                  </a:lnTo>
                  <a:lnTo>
                    <a:pt x="2177669" y="478028"/>
                  </a:lnTo>
                  <a:lnTo>
                    <a:pt x="2176907" y="479298"/>
                  </a:lnTo>
                  <a:lnTo>
                    <a:pt x="2175129" y="484378"/>
                  </a:lnTo>
                  <a:lnTo>
                    <a:pt x="2172589" y="489458"/>
                  </a:lnTo>
                  <a:lnTo>
                    <a:pt x="2171192" y="493268"/>
                  </a:lnTo>
                  <a:lnTo>
                    <a:pt x="2169160" y="495808"/>
                  </a:lnTo>
                  <a:lnTo>
                    <a:pt x="2166747" y="499618"/>
                  </a:lnTo>
                  <a:lnTo>
                    <a:pt x="2143379" y="512318"/>
                  </a:lnTo>
                  <a:lnTo>
                    <a:pt x="2134616" y="512318"/>
                  </a:lnTo>
                  <a:lnTo>
                    <a:pt x="2106041" y="484378"/>
                  </a:lnTo>
                  <a:lnTo>
                    <a:pt x="2096071" y="452628"/>
                  </a:lnTo>
                  <a:lnTo>
                    <a:pt x="2096008" y="450088"/>
                  </a:lnTo>
                  <a:lnTo>
                    <a:pt x="2118995" y="424688"/>
                  </a:lnTo>
                  <a:lnTo>
                    <a:pt x="2122932" y="423418"/>
                  </a:lnTo>
                  <a:lnTo>
                    <a:pt x="2139188" y="423418"/>
                  </a:lnTo>
                  <a:lnTo>
                    <a:pt x="2141347" y="424688"/>
                  </a:lnTo>
                  <a:lnTo>
                    <a:pt x="2145157" y="424688"/>
                  </a:lnTo>
                  <a:lnTo>
                    <a:pt x="2146300" y="423418"/>
                  </a:lnTo>
                  <a:lnTo>
                    <a:pt x="2147189" y="423418"/>
                  </a:lnTo>
                  <a:lnTo>
                    <a:pt x="2147697" y="422148"/>
                  </a:lnTo>
                  <a:lnTo>
                    <a:pt x="2147697" y="419608"/>
                  </a:lnTo>
                  <a:lnTo>
                    <a:pt x="2146935" y="417068"/>
                  </a:lnTo>
                  <a:lnTo>
                    <a:pt x="2145157" y="414528"/>
                  </a:lnTo>
                  <a:lnTo>
                    <a:pt x="2144395" y="411988"/>
                  </a:lnTo>
                  <a:lnTo>
                    <a:pt x="2143760" y="411988"/>
                  </a:lnTo>
                  <a:lnTo>
                    <a:pt x="2143125" y="410718"/>
                  </a:lnTo>
                  <a:lnTo>
                    <a:pt x="2142617" y="409448"/>
                  </a:lnTo>
                  <a:lnTo>
                    <a:pt x="2140712" y="408178"/>
                  </a:lnTo>
                  <a:lnTo>
                    <a:pt x="2139442" y="406908"/>
                  </a:lnTo>
                  <a:lnTo>
                    <a:pt x="2137791" y="406908"/>
                  </a:lnTo>
                  <a:lnTo>
                    <a:pt x="2136267" y="405638"/>
                  </a:lnTo>
                  <a:lnTo>
                    <a:pt x="2124456" y="405638"/>
                  </a:lnTo>
                  <a:lnTo>
                    <a:pt x="2118233" y="406908"/>
                  </a:lnTo>
                  <a:lnTo>
                    <a:pt x="2115058" y="406908"/>
                  </a:lnTo>
                  <a:lnTo>
                    <a:pt x="2085213" y="427228"/>
                  </a:lnTo>
                  <a:lnTo>
                    <a:pt x="2080768" y="432308"/>
                  </a:lnTo>
                  <a:lnTo>
                    <a:pt x="2077720" y="438658"/>
                  </a:lnTo>
                  <a:lnTo>
                    <a:pt x="2076069" y="446278"/>
                  </a:lnTo>
                  <a:lnTo>
                    <a:pt x="2074545" y="452628"/>
                  </a:lnTo>
                  <a:lnTo>
                    <a:pt x="2074545" y="460248"/>
                  </a:lnTo>
                  <a:lnTo>
                    <a:pt x="2076196" y="469138"/>
                  </a:lnTo>
                  <a:lnTo>
                    <a:pt x="2095271" y="508508"/>
                  </a:lnTo>
                  <a:lnTo>
                    <a:pt x="2128520" y="532638"/>
                  </a:lnTo>
                  <a:lnTo>
                    <a:pt x="2142236" y="532638"/>
                  </a:lnTo>
                  <a:lnTo>
                    <a:pt x="2170303" y="519938"/>
                  </a:lnTo>
                  <a:lnTo>
                    <a:pt x="2176145" y="516128"/>
                  </a:lnTo>
                  <a:lnTo>
                    <a:pt x="2178685" y="512318"/>
                  </a:lnTo>
                  <a:lnTo>
                    <a:pt x="2183003" y="507238"/>
                  </a:lnTo>
                  <a:lnTo>
                    <a:pt x="2184908" y="504698"/>
                  </a:lnTo>
                  <a:lnTo>
                    <a:pt x="2187702" y="499618"/>
                  </a:lnTo>
                  <a:lnTo>
                    <a:pt x="2188718" y="497078"/>
                  </a:lnTo>
                  <a:lnTo>
                    <a:pt x="2189480" y="494538"/>
                  </a:lnTo>
                  <a:close/>
                </a:path>
                <a:path w="2479675" h="573405">
                  <a:moveTo>
                    <a:pt x="2305177" y="437388"/>
                  </a:moveTo>
                  <a:lnTo>
                    <a:pt x="2304796" y="437388"/>
                  </a:lnTo>
                  <a:lnTo>
                    <a:pt x="2269363" y="375158"/>
                  </a:lnTo>
                  <a:lnTo>
                    <a:pt x="2265172" y="367538"/>
                  </a:lnTo>
                  <a:lnTo>
                    <a:pt x="2264118" y="366268"/>
                  </a:lnTo>
                  <a:lnTo>
                    <a:pt x="2232406" y="344678"/>
                  </a:lnTo>
                  <a:lnTo>
                    <a:pt x="2220595" y="345948"/>
                  </a:lnTo>
                  <a:lnTo>
                    <a:pt x="2189861" y="371348"/>
                  </a:lnTo>
                  <a:lnTo>
                    <a:pt x="2184781" y="386588"/>
                  </a:lnTo>
                  <a:lnTo>
                    <a:pt x="2149983" y="326898"/>
                  </a:lnTo>
                  <a:lnTo>
                    <a:pt x="2149602" y="325628"/>
                  </a:lnTo>
                  <a:lnTo>
                    <a:pt x="2148586" y="325628"/>
                  </a:lnTo>
                  <a:lnTo>
                    <a:pt x="2147951" y="324358"/>
                  </a:lnTo>
                  <a:lnTo>
                    <a:pt x="2145665" y="325628"/>
                  </a:lnTo>
                  <a:lnTo>
                    <a:pt x="2144522" y="325628"/>
                  </a:lnTo>
                  <a:lnTo>
                    <a:pt x="2141982" y="326898"/>
                  </a:lnTo>
                  <a:lnTo>
                    <a:pt x="2140458" y="326898"/>
                  </a:lnTo>
                  <a:lnTo>
                    <a:pt x="2138553" y="328168"/>
                  </a:lnTo>
                  <a:lnTo>
                    <a:pt x="2136775" y="329438"/>
                  </a:lnTo>
                  <a:lnTo>
                    <a:pt x="2135251" y="330708"/>
                  </a:lnTo>
                  <a:lnTo>
                    <a:pt x="2133092" y="331978"/>
                  </a:lnTo>
                  <a:lnTo>
                    <a:pt x="2132203" y="333248"/>
                  </a:lnTo>
                  <a:lnTo>
                    <a:pt x="2131695" y="333248"/>
                  </a:lnTo>
                  <a:lnTo>
                    <a:pt x="2131187" y="334518"/>
                  </a:lnTo>
                  <a:lnTo>
                    <a:pt x="2130933" y="334518"/>
                  </a:lnTo>
                  <a:lnTo>
                    <a:pt x="2130933" y="335788"/>
                  </a:lnTo>
                  <a:lnTo>
                    <a:pt x="2131060" y="337058"/>
                  </a:lnTo>
                  <a:lnTo>
                    <a:pt x="2217928" y="486918"/>
                  </a:lnTo>
                  <a:lnTo>
                    <a:pt x="2218690" y="488188"/>
                  </a:lnTo>
                  <a:lnTo>
                    <a:pt x="2223262" y="488188"/>
                  </a:lnTo>
                  <a:lnTo>
                    <a:pt x="2225802" y="486918"/>
                  </a:lnTo>
                  <a:lnTo>
                    <a:pt x="2229104" y="485648"/>
                  </a:lnTo>
                  <a:lnTo>
                    <a:pt x="2231009" y="484378"/>
                  </a:lnTo>
                  <a:lnTo>
                    <a:pt x="2232533" y="483108"/>
                  </a:lnTo>
                  <a:lnTo>
                    <a:pt x="2234692" y="481838"/>
                  </a:lnTo>
                  <a:lnTo>
                    <a:pt x="2235454" y="480568"/>
                  </a:lnTo>
                  <a:lnTo>
                    <a:pt x="2235962" y="480568"/>
                  </a:lnTo>
                  <a:lnTo>
                    <a:pt x="2236470" y="479298"/>
                  </a:lnTo>
                  <a:lnTo>
                    <a:pt x="2236724" y="478028"/>
                  </a:lnTo>
                  <a:lnTo>
                    <a:pt x="2236724" y="476758"/>
                  </a:lnTo>
                  <a:lnTo>
                    <a:pt x="2236470" y="476758"/>
                  </a:lnTo>
                  <a:lnTo>
                    <a:pt x="2195703" y="405638"/>
                  </a:lnTo>
                  <a:lnTo>
                    <a:pt x="2197100" y="396748"/>
                  </a:lnTo>
                  <a:lnTo>
                    <a:pt x="2199132" y="389128"/>
                  </a:lnTo>
                  <a:lnTo>
                    <a:pt x="2200237" y="386588"/>
                  </a:lnTo>
                  <a:lnTo>
                    <a:pt x="2201926" y="382778"/>
                  </a:lnTo>
                  <a:lnTo>
                    <a:pt x="2204593" y="376428"/>
                  </a:lnTo>
                  <a:lnTo>
                    <a:pt x="2208276" y="372618"/>
                  </a:lnTo>
                  <a:lnTo>
                    <a:pt x="2216531" y="367538"/>
                  </a:lnTo>
                  <a:lnTo>
                    <a:pt x="2220087" y="366268"/>
                  </a:lnTo>
                  <a:lnTo>
                    <a:pt x="2230501" y="366268"/>
                  </a:lnTo>
                  <a:lnTo>
                    <a:pt x="2233676" y="368808"/>
                  </a:lnTo>
                  <a:lnTo>
                    <a:pt x="2236851" y="370078"/>
                  </a:lnTo>
                  <a:lnTo>
                    <a:pt x="2239899" y="372618"/>
                  </a:lnTo>
                  <a:lnTo>
                    <a:pt x="2245741" y="378968"/>
                  </a:lnTo>
                  <a:lnTo>
                    <a:pt x="2248916" y="382778"/>
                  </a:lnTo>
                  <a:lnTo>
                    <a:pt x="2286254" y="447548"/>
                  </a:lnTo>
                  <a:lnTo>
                    <a:pt x="2286635" y="447548"/>
                  </a:lnTo>
                  <a:lnTo>
                    <a:pt x="2287143" y="448818"/>
                  </a:lnTo>
                  <a:lnTo>
                    <a:pt x="2291588" y="448818"/>
                  </a:lnTo>
                  <a:lnTo>
                    <a:pt x="2294128" y="447548"/>
                  </a:lnTo>
                  <a:lnTo>
                    <a:pt x="2297684" y="446278"/>
                  </a:lnTo>
                  <a:lnTo>
                    <a:pt x="2299462" y="445008"/>
                  </a:lnTo>
                  <a:lnTo>
                    <a:pt x="2300859" y="443738"/>
                  </a:lnTo>
                  <a:lnTo>
                    <a:pt x="2302002" y="442468"/>
                  </a:lnTo>
                  <a:lnTo>
                    <a:pt x="2303145" y="442468"/>
                  </a:lnTo>
                  <a:lnTo>
                    <a:pt x="2303907" y="441198"/>
                  </a:lnTo>
                  <a:lnTo>
                    <a:pt x="2304415" y="439928"/>
                  </a:lnTo>
                  <a:lnTo>
                    <a:pt x="2304923" y="439928"/>
                  </a:lnTo>
                  <a:lnTo>
                    <a:pt x="2305177" y="438658"/>
                  </a:lnTo>
                  <a:lnTo>
                    <a:pt x="2305177" y="437388"/>
                  </a:lnTo>
                  <a:close/>
                </a:path>
                <a:path w="2479675" h="573405">
                  <a:moveTo>
                    <a:pt x="2422398" y="359918"/>
                  </a:moveTo>
                  <a:lnTo>
                    <a:pt x="2422017" y="359918"/>
                  </a:lnTo>
                  <a:lnTo>
                    <a:pt x="2421763" y="358648"/>
                  </a:lnTo>
                  <a:lnTo>
                    <a:pt x="2421382" y="357378"/>
                  </a:lnTo>
                  <a:lnTo>
                    <a:pt x="2421001" y="357378"/>
                  </a:lnTo>
                  <a:lnTo>
                    <a:pt x="2420366" y="356108"/>
                  </a:lnTo>
                  <a:lnTo>
                    <a:pt x="2418842" y="353568"/>
                  </a:lnTo>
                  <a:lnTo>
                    <a:pt x="2418207" y="352298"/>
                  </a:lnTo>
                  <a:lnTo>
                    <a:pt x="2417064" y="351028"/>
                  </a:lnTo>
                  <a:lnTo>
                    <a:pt x="2415921" y="351028"/>
                  </a:lnTo>
                  <a:lnTo>
                    <a:pt x="2414778" y="349758"/>
                  </a:lnTo>
                  <a:lnTo>
                    <a:pt x="2414270" y="349758"/>
                  </a:lnTo>
                  <a:lnTo>
                    <a:pt x="2412238" y="351028"/>
                  </a:lnTo>
                  <a:lnTo>
                    <a:pt x="2411222" y="352298"/>
                  </a:lnTo>
                  <a:lnTo>
                    <a:pt x="2409825" y="353568"/>
                  </a:lnTo>
                  <a:lnTo>
                    <a:pt x="2393061" y="371348"/>
                  </a:lnTo>
                  <a:lnTo>
                    <a:pt x="2388997" y="375158"/>
                  </a:lnTo>
                  <a:lnTo>
                    <a:pt x="2384298" y="377698"/>
                  </a:lnTo>
                  <a:lnTo>
                    <a:pt x="2378202" y="381508"/>
                  </a:lnTo>
                  <a:lnTo>
                    <a:pt x="2372487" y="382778"/>
                  </a:lnTo>
                  <a:lnTo>
                    <a:pt x="2367280" y="384048"/>
                  </a:lnTo>
                  <a:lnTo>
                    <a:pt x="2357247" y="384048"/>
                  </a:lnTo>
                  <a:lnTo>
                    <a:pt x="2330069" y="359918"/>
                  </a:lnTo>
                  <a:lnTo>
                    <a:pt x="2354415" y="345948"/>
                  </a:lnTo>
                  <a:lnTo>
                    <a:pt x="2396490" y="321818"/>
                  </a:lnTo>
                  <a:lnTo>
                    <a:pt x="2398395" y="320548"/>
                  </a:lnTo>
                  <a:lnTo>
                    <a:pt x="2399665" y="319278"/>
                  </a:lnTo>
                  <a:lnTo>
                    <a:pt x="2401189" y="314198"/>
                  </a:lnTo>
                  <a:lnTo>
                    <a:pt x="2400808" y="311658"/>
                  </a:lnTo>
                  <a:lnTo>
                    <a:pt x="2399030" y="309118"/>
                  </a:lnTo>
                  <a:lnTo>
                    <a:pt x="2393315" y="298958"/>
                  </a:lnTo>
                  <a:lnTo>
                    <a:pt x="2388870" y="293878"/>
                  </a:lnTo>
                  <a:lnTo>
                    <a:pt x="2383917" y="288798"/>
                  </a:lnTo>
                  <a:lnTo>
                    <a:pt x="2378837" y="283718"/>
                  </a:lnTo>
                  <a:lnTo>
                    <a:pt x="2377313" y="283019"/>
                  </a:lnTo>
                  <a:lnTo>
                    <a:pt x="2377313" y="314198"/>
                  </a:lnTo>
                  <a:lnTo>
                    <a:pt x="2322195" y="345948"/>
                  </a:lnTo>
                  <a:lnTo>
                    <a:pt x="2320036" y="342138"/>
                  </a:lnTo>
                  <a:lnTo>
                    <a:pt x="2318385" y="338328"/>
                  </a:lnTo>
                  <a:lnTo>
                    <a:pt x="2316607" y="328168"/>
                  </a:lnTo>
                  <a:lnTo>
                    <a:pt x="2316480" y="324358"/>
                  </a:lnTo>
                  <a:lnTo>
                    <a:pt x="2317242" y="320548"/>
                  </a:lnTo>
                  <a:lnTo>
                    <a:pt x="2317877" y="315468"/>
                  </a:lnTo>
                  <a:lnTo>
                    <a:pt x="2332609" y="298958"/>
                  </a:lnTo>
                  <a:lnTo>
                    <a:pt x="2339175" y="295148"/>
                  </a:lnTo>
                  <a:lnTo>
                    <a:pt x="2345537" y="293878"/>
                  </a:lnTo>
                  <a:lnTo>
                    <a:pt x="2351697" y="293878"/>
                  </a:lnTo>
                  <a:lnTo>
                    <a:pt x="2377313" y="314198"/>
                  </a:lnTo>
                  <a:lnTo>
                    <a:pt x="2377313" y="283019"/>
                  </a:lnTo>
                  <a:lnTo>
                    <a:pt x="2373376" y="281178"/>
                  </a:lnTo>
                  <a:lnTo>
                    <a:pt x="2361184" y="276098"/>
                  </a:lnTo>
                  <a:lnTo>
                    <a:pt x="2354580" y="274828"/>
                  </a:lnTo>
                  <a:lnTo>
                    <a:pt x="2347595" y="276098"/>
                  </a:lnTo>
                  <a:lnTo>
                    <a:pt x="2340610" y="276098"/>
                  </a:lnTo>
                  <a:lnTo>
                    <a:pt x="2307336" y="298958"/>
                  </a:lnTo>
                  <a:lnTo>
                    <a:pt x="2298446" y="319278"/>
                  </a:lnTo>
                  <a:lnTo>
                    <a:pt x="2297176" y="325628"/>
                  </a:lnTo>
                  <a:lnTo>
                    <a:pt x="2297176" y="334518"/>
                  </a:lnTo>
                  <a:lnTo>
                    <a:pt x="2298827" y="342138"/>
                  </a:lnTo>
                  <a:lnTo>
                    <a:pt x="2317267" y="380238"/>
                  </a:lnTo>
                  <a:lnTo>
                    <a:pt x="2359787" y="404368"/>
                  </a:lnTo>
                  <a:lnTo>
                    <a:pt x="2367407" y="403098"/>
                  </a:lnTo>
                  <a:lnTo>
                    <a:pt x="2373109" y="401828"/>
                  </a:lnTo>
                  <a:lnTo>
                    <a:pt x="2378989" y="399288"/>
                  </a:lnTo>
                  <a:lnTo>
                    <a:pt x="2385009" y="396748"/>
                  </a:lnTo>
                  <a:lnTo>
                    <a:pt x="2391156" y="392938"/>
                  </a:lnTo>
                  <a:lnTo>
                    <a:pt x="2395982" y="390398"/>
                  </a:lnTo>
                  <a:lnTo>
                    <a:pt x="2400300" y="387858"/>
                  </a:lnTo>
                  <a:lnTo>
                    <a:pt x="2404872" y="384048"/>
                  </a:lnTo>
                  <a:lnTo>
                    <a:pt x="2407920" y="381508"/>
                  </a:lnTo>
                  <a:lnTo>
                    <a:pt x="2411222" y="378968"/>
                  </a:lnTo>
                  <a:lnTo>
                    <a:pt x="2413889" y="376428"/>
                  </a:lnTo>
                  <a:lnTo>
                    <a:pt x="2416556" y="372618"/>
                  </a:lnTo>
                  <a:lnTo>
                    <a:pt x="2418588" y="370078"/>
                  </a:lnTo>
                  <a:lnTo>
                    <a:pt x="2420112" y="368808"/>
                  </a:lnTo>
                  <a:lnTo>
                    <a:pt x="2422398" y="364998"/>
                  </a:lnTo>
                  <a:lnTo>
                    <a:pt x="2422398" y="359918"/>
                  </a:lnTo>
                  <a:close/>
                </a:path>
                <a:path w="2479675" h="573405">
                  <a:moveTo>
                    <a:pt x="2479294" y="337058"/>
                  </a:moveTo>
                  <a:lnTo>
                    <a:pt x="2433726" y="258318"/>
                  </a:lnTo>
                  <a:lnTo>
                    <a:pt x="2427859" y="248158"/>
                  </a:lnTo>
                  <a:lnTo>
                    <a:pt x="2450338" y="234188"/>
                  </a:lnTo>
                  <a:lnTo>
                    <a:pt x="2451481" y="234188"/>
                  </a:lnTo>
                  <a:lnTo>
                    <a:pt x="2451989" y="232918"/>
                  </a:lnTo>
                  <a:lnTo>
                    <a:pt x="2451989" y="230378"/>
                  </a:lnTo>
                  <a:lnTo>
                    <a:pt x="2451227" y="227838"/>
                  </a:lnTo>
                  <a:lnTo>
                    <a:pt x="2449703" y="225298"/>
                  </a:lnTo>
                  <a:lnTo>
                    <a:pt x="2448814" y="224028"/>
                  </a:lnTo>
                  <a:lnTo>
                    <a:pt x="2446528" y="220218"/>
                  </a:lnTo>
                  <a:lnTo>
                    <a:pt x="2445131" y="220218"/>
                  </a:lnTo>
                  <a:lnTo>
                    <a:pt x="2444496" y="218948"/>
                  </a:lnTo>
                  <a:lnTo>
                    <a:pt x="2442083" y="218948"/>
                  </a:lnTo>
                  <a:lnTo>
                    <a:pt x="2418969" y="232918"/>
                  </a:lnTo>
                  <a:lnTo>
                    <a:pt x="2412619" y="221488"/>
                  </a:lnTo>
                  <a:lnTo>
                    <a:pt x="2410079" y="217678"/>
                  </a:lnTo>
                  <a:lnTo>
                    <a:pt x="2408301" y="213868"/>
                  </a:lnTo>
                  <a:lnTo>
                    <a:pt x="2405761" y="206248"/>
                  </a:lnTo>
                  <a:lnTo>
                    <a:pt x="2405253" y="203708"/>
                  </a:lnTo>
                  <a:lnTo>
                    <a:pt x="2405380" y="198628"/>
                  </a:lnTo>
                  <a:lnTo>
                    <a:pt x="2406142" y="196088"/>
                  </a:lnTo>
                  <a:lnTo>
                    <a:pt x="2407666" y="194818"/>
                  </a:lnTo>
                  <a:lnTo>
                    <a:pt x="2409063" y="192278"/>
                  </a:lnTo>
                  <a:lnTo>
                    <a:pt x="2411095" y="189738"/>
                  </a:lnTo>
                  <a:lnTo>
                    <a:pt x="2413889" y="188468"/>
                  </a:lnTo>
                  <a:lnTo>
                    <a:pt x="2415921" y="187198"/>
                  </a:lnTo>
                  <a:lnTo>
                    <a:pt x="2417826" y="187198"/>
                  </a:lnTo>
                  <a:lnTo>
                    <a:pt x="2419477" y="185928"/>
                  </a:lnTo>
                  <a:lnTo>
                    <a:pt x="2422779" y="185928"/>
                  </a:lnTo>
                  <a:lnTo>
                    <a:pt x="2425573" y="184658"/>
                  </a:lnTo>
                  <a:lnTo>
                    <a:pt x="2429383" y="184658"/>
                  </a:lnTo>
                  <a:lnTo>
                    <a:pt x="2430399" y="183388"/>
                  </a:lnTo>
                  <a:lnTo>
                    <a:pt x="2430907" y="183388"/>
                  </a:lnTo>
                  <a:lnTo>
                    <a:pt x="2431034" y="182118"/>
                  </a:lnTo>
                  <a:lnTo>
                    <a:pt x="2431161" y="182118"/>
                  </a:lnTo>
                  <a:lnTo>
                    <a:pt x="2430653" y="179578"/>
                  </a:lnTo>
                  <a:lnTo>
                    <a:pt x="2429891" y="178308"/>
                  </a:lnTo>
                  <a:lnTo>
                    <a:pt x="2429383" y="177038"/>
                  </a:lnTo>
                  <a:lnTo>
                    <a:pt x="2428494" y="175768"/>
                  </a:lnTo>
                  <a:lnTo>
                    <a:pt x="2426208" y="171958"/>
                  </a:lnTo>
                  <a:lnTo>
                    <a:pt x="2425573" y="170688"/>
                  </a:lnTo>
                  <a:lnTo>
                    <a:pt x="2424811" y="170688"/>
                  </a:lnTo>
                  <a:lnTo>
                    <a:pt x="2423414" y="169418"/>
                  </a:lnTo>
                  <a:lnTo>
                    <a:pt x="2422779" y="169418"/>
                  </a:lnTo>
                  <a:lnTo>
                    <a:pt x="2422017" y="168148"/>
                  </a:lnTo>
                  <a:lnTo>
                    <a:pt x="2418461" y="168148"/>
                  </a:lnTo>
                  <a:lnTo>
                    <a:pt x="2416810" y="169418"/>
                  </a:lnTo>
                  <a:lnTo>
                    <a:pt x="2414651" y="169418"/>
                  </a:lnTo>
                  <a:lnTo>
                    <a:pt x="2409063" y="170688"/>
                  </a:lnTo>
                  <a:lnTo>
                    <a:pt x="2406396" y="173228"/>
                  </a:lnTo>
                  <a:lnTo>
                    <a:pt x="2403856" y="174498"/>
                  </a:lnTo>
                  <a:lnTo>
                    <a:pt x="2398268" y="177038"/>
                  </a:lnTo>
                  <a:lnTo>
                    <a:pt x="2393950" y="180848"/>
                  </a:lnTo>
                  <a:lnTo>
                    <a:pt x="2390775" y="184658"/>
                  </a:lnTo>
                  <a:lnTo>
                    <a:pt x="2387473" y="188468"/>
                  </a:lnTo>
                  <a:lnTo>
                    <a:pt x="2385568" y="192278"/>
                  </a:lnTo>
                  <a:lnTo>
                    <a:pt x="2383790" y="202438"/>
                  </a:lnTo>
                  <a:lnTo>
                    <a:pt x="2384069" y="206248"/>
                  </a:lnTo>
                  <a:lnTo>
                    <a:pt x="2400300" y="243078"/>
                  </a:lnTo>
                  <a:lnTo>
                    <a:pt x="2386076" y="251968"/>
                  </a:lnTo>
                  <a:lnTo>
                    <a:pt x="2385060" y="251968"/>
                  </a:lnTo>
                  <a:lnTo>
                    <a:pt x="2384806" y="253238"/>
                  </a:lnTo>
                  <a:lnTo>
                    <a:pt x="2384425" y="253238"/>
                  </a:lnTo>
                  <a:lnTo>
                    <a:pt x="2384552" y="255778"/>
                  </a:lnTo>
                  <a:lnTo>
                    <a:pt x="2384679" y="257048"/>
                  </a:lnTo>
                  <a:lnTo>
                    <a:pt x="2385187" y="257048"/>
                  </a:lnTo>
                  <a:lnTo>
                    <a:pt x="2385568" y="258318"/>
                  </a:lnTo>
                  <a:lnTo>
                    <a:pt x="2386203" y="259588"/>
                  </a:lnTo>
                  <a:lnTo>
                    <a:pt x="2390013" y="265938"/>
                  </a:lnTo>
                  <a:lnTo>
                    <a:pt x="2392553" y="267208"/>
                  </a:lnTo>
                  <a:lnTo>
                    <a:pt x="2394966" y="267208"/>
                  </a:lnTo>
                  <a:lnTo>
                    <a:pt x="2409190" y="258318"/>
                  </a:lnTo>
                  <a:lnTo>
                    <a:pt x="2460244" y="347218"/>
                  </a:lnTo>
                  <a:lnTo>
                    <a:pt x="2460625" y="347218"/>
                  </a:lnTo>
                  <a:lnTo>
                    <a:pt x="2461133" y="348488"/>
                  </a:lnTo>
                  <a:lnTo>
                    <a:pt x="2465705" y="348488"/>
                  </a:lnTo>
                  <a:lnTo>
                    <a:pt x="2466975" y="347218"/>
                  </a:lnTo>
                  <a:lnTo>
                    <a:pt x="2468245" y="347218"/>
                  </a:lnTo>
                  <a:lnTo>
                    <a:pt x="2469769" y="345948"/>
                  </a:lnTo>
                  <a:lnTo>
                    <a:pt x="2471674" y="344678"/>
                  </a:lnTo>
                  <a:lnTo>
                    <a:pt x="2473452" y="344678"/>
                  </a:lnTo>
                  <a:lnTo>
                    <a:pt x="2474849" y="343408"/>
                  </a:lnTo>
                  <a:lnTo>
                    <a:pt x="2477135" y="340868"/>
                  </a:lnTo>
                  <a:lnTo>
                    <a:pt x="2477897" y="340868"/>
                  </a:lnTo>
                  <a:lnTo>
                    <a:pt x="2478405" y="339598"/>
                  </a:lnTo>
                  <a:lnTo>
                    <a:pt x="2479040" y="339598"/>
                  </a:lnTo>
                  <a:lnTo>
                    <a:pt x="2479294" y="338328"/>
                  </a:lnTo>
                  <a:lnTo>
                    <a:pt x="2479294" y="337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78724" y="1284732"/>
              <a:ext cx="3831590" cy="485140"/>
            </a:xfrm>
            <a:custGeom>
              <a:avLst/>
              <a:gdLst/>
              <a:ahLst/>
              <a:cxnLst/>
              <a:rect l="l" t="t" r="r" b="b"/>
              <a:pathLst>
                <a:path w="3831590" h="485139">
                  <a:moveTo>
                    <a:pt x="0" y="484631"/>
                  </a:moveTo>
                  <a:lnTo>
                    <a:pt x="2054" y="408029"/>
                  </a:lnTo>
                  <a:lnTo>
                    <a:pt x="7778" y="341510"/>
                  </a:lnTo>
                  <a:lnTo>
                    <a:pt x="16514" y="289060"/>
                  </a:lnTo>
                  <a:lnTo>
                    <a:pt x="40385" y="242315"/>
                  </a:lnTo>
                  <a:lnTo>
                    <a:pt x="1875281" y="242315"/>
                  </a:lnTo>
                  <a:lnTo>
                    <a:pt x="1888065" y="229965"/>
                  </a:lnTo>
                  <a:lnTo>
                    <a:pt x="1899153" y="195571"/>
                  </a:lnTo>
                  <a:lnTo>
                    <a:pt x="1907889" y="143121"/>
                  </a:lnTo>
                  <a:lnTo>
                    <a:pt x="1913613" y="76602"/>
                  </a:lnTo>
                  <a:lnTo>
                    <a:pt x="1915668" y="0"/>
                  </a:lnTo>
                  <a:lnTo>
                    <a:pt x="1917722" y="76602"/>
                  </a:lnTo>
                  <a:lnTo>
                    <a:pt x="1923446" y="143121"/>
                  </a:lnTo>
                  <a:lnTo>
                    <a:pt x="1932182" y="195571"/>
                  </a:lnTo>
                  <a:lnTo>
                    <a:pt x="1943270" y="229965"/>
                  </a:lnTo>
                  <a:lnTo>
                    <a:pt x="1956053" y="242315"/>
                  </a:lnTo>
                  <a:lnTo>
                    <a:pt x="3790950" y="242315"/>
                  </a:lnTo>
                  <a:lnTo>
                    <a:pt x="3803733" y="254666"/>
                  </a:lnTo>
                  <a:lnTo>
                    <a:pt x="3814821" y="289060"/>
                  </a:lnTo>
                  <a:lnTo>
                    <a:pt x="3823557" y="341510"/>
                  </a:lnTo>
                  <a:lnTo>
                    <a:pt x="3829281" y="408029"/>
                  </a:lnTo>
                  <a:lnTo>
                    <a:pt x="3831335" y="484631"/>
                  </a:lnTo>
                </a:path>
              </a:pathLst>
            </a:custGeom>
            <a:ln w="9525">
              <a:solidFill>
                <a:srgbClr val="8B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1215751" y="1838325"/>
            <a:ext cx="431165" cy="295910"/>
          </a:xfrm>
          <a:custGeom>
            <a:avLst/>
            <a:gdLst/>
            <a:ahLst/>
            <a:cxnLst/>
            <a:rect l="l" t="t" r="r" b="b"/>
            <a:pathLst>
              <a:path w="431165" h="295910">
                <a:moveTo>
                  <a:pt x="18160" y="199389"/>
                </a:moveTo>
                <a:lnTo>
                  <a:pt x="14224" y="199389"/>
                </a:lnTo>
                <a:lnTo>
                  <a:pt x="12826" y="200660"/>
                </a:lnTo>
                <a:lnTo>
                  <a:pt x="9778" y="201930"/>
                </a:lnTo>
                <a:lnTo>
                  <a:pt x="7747" y="203200"/>
                </a:lnTo>
                <a:lnTo>
                  <a:pt x="5969" y="204470"/>
                </a:lnTo>
                <a:lnTo>
                  <a:pt x="4572" y="205739"/>
                </a:lnTo>
                <a:lnTo>
                  <a:pt x="2285" y="207010"/>
                </a:lnTo>
                <a:lnTo>
                  <a:pt x="1397" y="207010"/>
                </a:lnTo>
                <a:lnTo>
                  <a:pt x="889" y="208280"/>
                </a:lnTo>
                <a:lnTo>
                  <a:pt x="253" y="208280"/>
                </a:lnTo>
                <a:lnTo>
                  <a:pt x="0" y="209550"/>
                </a:lnTo>
                <a:lnTo>
                  <a:pt x="0" y="210820"/>
                </a:lnTo>
                <a:lnTo>
                  <a:pt x="380" y="212089"/>
                </a:lnTo>
                <a:lnTo>
                  <a:pt x="762" y="212089"/>
                </a:lnTo>
                <a:lnTo>
                  <a:pt x="1143" y="213360"/>
                </a:lnTo>
                <a:lnTo>
                  <a:pt x="1777" y="213360"/>
                </a:lnTo>
                <a:lnTo>
                  <a:pt x="2285" y="214630"/>
                </a:lnTo>
                <a:lnTo>
                  <a:pt x="3175" y="214630"/>
                </a:lnTo>
                <a:lnTo>
                  <a:pt x="4191" y="215900"/>
                </a:lnTo>
                <a:lnTo>
                  <a:pt x="89026" y="294639"/>
                </a:lnTo>
                <a:lnTo>
                  <a:pt x="90297" y="295910"/>
                </a:lnTo>
                <a:lnTo>
                  <a:pt x="96266" y="295910"/>
                </a:lnTo>
                <a:lnTo>
                  <a:pt x="97917" y="294639"/>
                </a:lnTo>
                <a:lnTo>
                  <a:pt x="99441" y="294639"/>
                </a:lnTo>
                <a:lnTo>
                  <a:pt x="101346" y="293370"/>
                </a:lnTo>
                <a:lnTo>
                  <a:pt x="105918" y="290830"/>
                </a:lnTo>
                <a:lnTo>
                  <a:pt x="107696" y="289560"/>
                </a:lnTo>
                <a:lnTo>
                  <a:pt x="110744" y="287020"/>
                </a:lnTo>
                <a:lnTo>
                  <a:pt x="111759" y="287020"/>
                </a:lnTo>
                <a:lnTo>
                  <a:pt x="113410" y="284480"/>
                </a:lnTo>
                <a:lnTo>
                  <a:pt x="113919" y="284480"/>
                </a:lnTo>
                <a:lnTo>
                  <a:pt x="114046" y="283210"/>
                </a:lnTo>
                <a:lnTo>
                  <a:pt x="114300" y="281939"/>
                </a:lnTo>
                <a:lnTo>
                  <a:pt x="114046" y="280670"/>
                </a:lnTo>
                <a:lnTo>
                  <a:pt x="111331" y="270510"/>
                </a:lnTo>
                <a:lnTo>
                  <a:pt x="92328" y="270510"/>
                </a:lnTo>
                <a:lnTo>
                  <a:pt x="20066" y="200660"/>
                </a:lnTo>
                <a:lnTo>
                  <a:pt x="18796" y="200660"/>
                </a:lnTo>
                <a:lnTo>
                  <a:pt x="18160" y="199389"/>
                </a:lnTo>
                <a:close/>
              </a:path>
              <a:path w="431165" h="295910">
                <a:moveTo>
                  <a:pt x="84835" y="161289"/>
                </a:moveTo>
                <a:lnTo>
                  <a:pt x="80264" y="161289"/>
                </a:lnTo>
                <a:lnTo>
                  <a:pt x="79121" y="162560"/>
                </a:lnTo>
                <a:lnTo>
                  <a:pt x="76326" y="163830"/>
                </a:lnTo>
                <a:lnTo>
                  <a:pt x="74549" y="165100"/>
                </a:lnTo>
                <a:lnTo>
                  <a:pt x="72644" y="166370"/>
                </a:lnTo>
                <a:lnTo>
                  <a:pt x="71247" y="166370"/>
                </a:lnTo>
                <a:lnTo>
                  <a:pt x="70103" y="167639"/>
                </a:lnTo>
                <a:lnTo>
                  <a:pt x="69088" y="168910"/>
                </a:lnTo>
                <a:lnTo>
                  <a:pt x="68199" y="168910"/>
                </a:lnTo>
                <a:lnTo>
                  <a:pt x="67182" y="170180"/>
                </a:lnTo>
                <a:lnTo>
                  <a:pt x="67055" y="173989"/>
                </a:lnTo>
                <a:lnTo>
                  <a:pt x="92837" y="270510"/>
                </a:lnTo>
                <a:lnTo>
                  <a:pt x="111331" y="270510"/>
                </a:lnTo>
                <a:lnTo>
                  <a:pt x="91313" y="195580"/>
                </a:lnTo>
                <a:lnTo>
                  <a:pt x="90931" y="194310"/>
                </a:lnTo>
                <a:lnTo>
                  <a:pt x="118698" y="194310"/>
                </a:lnTo>
                <a:lnTo>
                  <a:pt x="85851" y="162560"/>
                </a:lnTo>
                <a:lnTo>
                  <a:pt x="85344" y="162560"/>
                </a:lnTo>
                <a:lnTo>
                  <a:pt x="84835" y="161289"/>
                </a:lnTo>
                <a:close/>
              </a:path>
              <a:path w="431165" h="295910">
                <a:moveTo>
                  <a:pt x="118698" y="194310"/>
                </a:moveTo>
                <a:lnTo>
                  <a:pt x="90931" y="194310"/>
                </a:lnTo>
                <a:lnTo>
                  <a:pt x="91821" y="195580"/>
                </a:lnTo>
                <a:lnTo>
                  <a:pt x="155321" y="256539"/>
                </a:lnTo>
                <a:lnTo>
                  <a:pt x="155955" y="257810"/>
                </a:lnTo>
                <a:lnTo>
                  <a:pt x="162687" y="257810"/>
                </a:lnTo>
                <a:lnTo>
                  <a:pt x="165989" y="255270"/>
                </a:lnTo>
                <a:lnTo>
                  <a:pt x="170306" y="254000"/>
                </a:lnTo>
                <a:lnTo>
                  <a:pt x="172466" y="251460"/>
                </a:lnTo>
                <a:lnTo>
                  <a:pt x="174371" y="251460"/>
                </a:lnTo>
                <a:lnTo>
                  <a:pt x="177165" y="248920"/>
                </a:lnTo>
                <a:lnTo>
                  <a:pt x="178307" y="247650"/>
                </a:lnTo>
                <a:lnTo>
                  <a:pt x="179577" y="246380"/>
                </a:lnTo>
                <a:lnTo>
                  <a:pt x="180085" y="245110"/>
                </a:lnTo>
                <a:lnTo>
                  <a:pt x="180213" y="245110"/>
                </a:lnTo>
                <a:lnTo>
                  <a:pt x="180467" y="243839"/>
                </a:lnTo>
                <a:lnTo>
                  <a:pt x="180213" y="242570"/>
                </a:lnTo>
                <a:lnTo>
                  <a:pt x="178195" y="233680"/>
                </a:lnTo>
                <a:lnTo>
                  <a:pt x="158876" y="233680"/>
                </a:lnTo>
                <a:lnTo>
                  <a:pt x="158115" y="232410"/>
                </a:lnTo>
                <a:lnTo>
                  <a:pt x="118698" y="194310"/>
                </a:lnTo>
                <a:close/>
              </a:path>
              <a:path w="431165" h="295910">
                <a:moveTo>
                  <a:pt x="152400" y="123189"/>
                </a:moveTo>
                <a:lnTo>
                  <a:pt x="146684" y="123189"/>
                </a:lnTo>
                <a:lnTo>
                  <a:pt x="145542" y="124460"/>
                </a:lnTo>
                <a:lnTo>
                  <a:pt x="142240" y="125730"/>
                </a:lnTo>
                <a:lnTo>
                  <a:pt x="140334" y="127000"/>
                </a:lnTo>
                <a:lnTo>
                  <a:pt x="137668" y="128270"/>
                </a:lnTo>
                <a:lnTo>
                  <a:pt x="136398" y="129539"/>
                </a:lnTo>
                <a:lnTo>
                  <a:pt x="135000" y="130810"/>
                </a:lnTo>
                <a:lnTo>
                  <a:pt x="134493" y="132080"/>
                </a:lnTo>
                <a:lnTo>
                  <a:pt x="134112" y="132080"/>
                </a:lnTo>
                <a:lnTo>
                  <a:pt x="134112" y="134620"/>
                </a:lnTo>
                <a:lnTo>
                  <a:pt x="134366" y="134620"/>
                </a:lnTo>
                <a:lnTo>
                  <a:pt x="158369" y="232410"/>
                </a:lnTo>
                <a:lnTo>
                  <a:pt x="158876" y="233680"/>
                </a:lnTo>
                <a:lnTo>
                  <a:pt x="178195" y="233680"/>
                </a:lnTo>
                <a:lnTo>
                  <a:pt x="154558" y="129539"/>
                </a:lnTo>
                <a:lnTo>
                  <a:pt x="154304" y="128270"/>
                </a:lnTo>
                <a:lnTo>
                  <a:pt x="153670" y="125730"/>
                </a:lnTo>
                <a:lnTo>
                  <a:pt x="153416" y="125730"/>
                </a:lnTo>
                <a:lnTo>
                  <a:pt x="153162" y="124460"/>
                </a:lnTo>
                <a:lnTo>
                  <a:pt x="152780" y="124460"/>
                </a:lnTo>
                <a:lnTo>
                  <a:pt x="152400" y="123189"/>
                </a:lnTo>
                <a:close/>
              </a:path>
              <a:path w="431165" h="295910">
                <a:moveTo>
                  <a:pt x="168275" y="49530"/>
                </a:moveTo>
                <a:lnTo>
                  <a:pt x="160400" y="49530"/>
                </a:lnTo>
                <a:lnTo>
                  <a:pt x="158876" y="50800"/>
                </a:lnTo>
                <a:lnTo>
                  <a:pt x="156972" y="52070"/>
                </a:lnTo>
                <a:lnTo>
                  <a:pt x="155194" y="53339"/>
                </a:lnTo>
                <a:lnTo>
                  <a:pt x="153670" y="53339"/>
                </a:lnTo>
                <a:lnTo>
                  <a:pt x="151510" y="55880"/>
                </a:lnTo>
                <a:lnTo>
                  <a:pt x="150622" y="55880"/>
                </a:lnTo>
                <a:lnTo>
                  <a:pt x="150114" y="57150"/>
                </a:lnTo>
                <a:lnTo>
                  <a:pt x="149605" y="57150"/>
                </a:lnTo>
                <a:lnTo>
                  <a:pt x="149478" y="59689"/>
                </a:lnTo>
                <a:lnTo>
                  <a:pt x="236347" y="210820"/>
                </a:lnTo>
                <a:lnTo>
                  <a:pt x="237108" y="212089"/>
                </a:lnTo>
                <a:lnTo>
                  <a:pt x="241680" y="212089"/>
                </a:lnTo>
                <a:lnTo>
                  <a:pt x="244221" y="210820"/>
                </a:lnTo>
                <a:lnTo>
                  <a:pt x="247523" y="208280"/>
                </a:lnTo>
                <a:lnTo>
                  <a:pt x="249427" y="208280"/>
                </a:lnTo>
                <a:lnTo>
                  <a:pt x="250825" y="207010"/>
                </a:lnTo>
                <a:lnTo>
                  <a:pt x="251968" y="205739"/>
                </a:lnTo>
                <a:lnTo>
                  <a:pt x="253110" y="205739"/>
                </a:lnTo>
                <a:lnTo>
                  <a:pt x="253873" y="204470"/>
                </a:lnTo>
                <a:lnTo>
                  <a:pt x="254380" y="203200"/>
                </a:lnTo>
                <a:lnTo>
                  <a:pt x="254889" y="203200"/>
                </a:lnTo>
                <a:lnTo>
                  <a:pt x="255143" y="201930"/>
                </a:lnTo>
                <a:lnTo>
                  <a:pt x="255143" y="200660"/>
                </a:lnTo>
                <a:lnTo>
                  <a:pt x="254889" y="199389"/>
                </a:lnTo>
                <a:lnTo>
                  <a:pt x="214122" y="129539"/>
                </a:lnTo>
                <a:lnTo>
                  <a:pt x="215519" y="120650"/>
                </a:lnTo>
                <a:lnTo>
                  <a:pt x="217550" y="113030"/>
                </a:lnTo>
                <a:lnTo>
                  <a:pt x="218668" y="110489"/>
                </a:lnTo>
                <a:lnTo>
                  <a:pt x="203200" y="110489"/>
                </a:lnTo>
                <a:lnTo>
                  <a:pt x="168275" y="49530"/>
                </a:lnTo>
                <a:close/>
              </a:path>
              <a:path w="431165" h="295910">
                <a:moveTo>
                  <a:pt x="282543" y="90170"/>
                </a:moveTo>
                <a:lnTo>
                  <a:pt x="248920" y="90170"/>
                </a:lnTo>
                <a:lnTo>
                  <a:pt x="252095" y="91439"/>
                </a:lnTo>
                <a:lnTo>
                  <a:pt x="255270" y="93980"/>
                </a:lnTo>
                <a:lnTo>
                  <a:pt x="258318" y="96520"/>
                </a:lnTo>
                <a:lnTo>
                  <a:pt x="264159" y="101600"/>
                </a:lnTo>
                <a:lnTo>
                  <a:pt x="267334" y="106680"/>
                </a:lnTo>
                <a:lnTo>
                  <a:pt x="304673" y="171450"/>
                </a:lnTo>
                <a:lnTo>
                  <a:pt x="305053" y="171450"/>
                </a:lnTo>
                <a:lnTo>
                  <a:pt x="305562" y="172720"/>
                </a:lnTo>
                <a:lnTo>
                  <a:pt x="310006" y="172720"/>
                </a:lnTo>
                <a:lnTo>
                  <a:pt x="312547" y="171450"/>
                </a:lnTo>
                <a:lnTo>
                  <a:pt x="317880" y="167639"/>
                </a:lnTo>
                <a:lnTo>
                  <a:pt x="319277" y="167639"/>
                </a:lnTo>
                <a:lnTo>
                  <a:pt x="321564" y="165100"/>
                </a:lnTo>
                <a:lnTo>
                  <a:pt x="322325" y="165100"/>
                </a:lnTo>
                <a:lnTo>
                  <a:pt x="322833" y="163830"/>
                </a:lnTo>
                <a:lnTo>
                  <a:pt x="323342" y="163830"/>
                </a:lnTo>
                <a:lnTo>
                  <a:pt x="323596" y="162560"/>
                </a:lnTo>
                <a:lnTo>
                  <a:pt x="323596" y="161289"/>
                </a:lnTo>
                <a:lnTo>
                  <a:pt x="323215" y="160020"/>
                </a:lnTo>
                <a:lnTo>
                  <a:pt x="287781" y="99060"/>
                </a:lnTo>
                <a:lnTo>
                  <a:pt x="283591" y="91439"/>
                </a:lnTo>
                <a:lnTo>
                  <a:pt x="282543" y="90170"/>
                </a:lnTo>
                <a:close/>
              </a:path>
              <a:path w="431165" h="295910">
                <a:moveTo>
                  <a:pt x="369697" y="0"/>
                </a:moveTo>
                <a:lnTo>
                  <a:pt x="362203" y="1270"/>
                </a:lnTo>
                <a:lnTo>
                  <a:pt x="356419" y="2539"/>
                </a:lnTo>
                <a:lnTo>
                  <a:pt x="350504" y="5080"/>
                </a:lnTo>
                <a:lnTo>
                  <a:pt x="338327" y="10160"/>
                </a:lnTo>
                <a:lnTo>
                  <a:pt x="332208" y="13970"/>
                </a:lnTo>
                <a:lnTo>
                  <a:pt x="326802" y="19050"/>
                </a:lnTo>
                <a:lnTo>
                  <a:pt x="322111" y="22860"/>
                </a:lnTo>
                <a:lnTo>
                  <a:pt x="307594" y="63500"/>
                </a:lnTo>
                <a:lnTo>
                  <a:pt x="309499" y="72389"/>
                </a:lnTo>
                <a:lnTo>
                  <a:pt x="327199" y="107950"/>
                </a:lnTo>
                <a:lnTo>
                  <a:pt x="361569" y="132080"/>
                </a:lnTo>
                <a:lnTo>
                  <a:pt x="368807" y="132080"/>
                </a:lnTo>
                <a:lnTo>
                  <a:pt x="384048" y="130810"/>
                </a:lnTo>
                <a:lnTo>
                  <a:pt x="391922" y="127000"/>
                </a:lnTo>
                <a:lnTo>
                  <a:pt x="400176" y="123189"/>
                </a:lnTo>
                <a:lnTo>
                  <a:pt x="406276" y="119380"/>
                </a:lnTo>
                <a:lnTo>
                  <a:pt x="411638" y="114300"/>
                </a:lnTo>
                <a:lnTo>
                  <a:pt x="414737" y="111760"/>
                </a:lnTo>
                <a:lnTo>
                  <a:pt x="370204" y="111760"/>
                </a:lnTo>
                <a:lnTo>
                  <a:pt x="365378" y="110489"/>
                </a:lnTo>
                <a:lnTo>
                  <a:pt x="337947" y="83820"/>
                </a:lnTo>
                <a:lnTo>
                  <a:pt x="334518" y="78739"/>
                </a:lnTo>
                <a:lnTo>
                  <a:pt x="332104" y="72389"/>
                </a:lnTo>
                <a:lnTo>
                  <a:pt x="329056" y="62230"/>
                </a:lnTo>
                <a:lnTo>
                  <a:pt x="328929" y="60960"/>
                </a:lnTo>
                <a:lnTo>
                  <a:pt x="328802" y="59689"/>
                </a:lnTo>
                <a:lnTo>
                  <a:pt x="328675" y="58420"/>
                </a:lnTo>
                <a:lnTo>
                  <a:pt x="328549" y="57150"/>
                </a:lnTo>
                <a:lnTo>
                  <a:pt x="328422" y="55880"/>
                </a:lnTo>
                <a:lnTo>
                  <a:pt x="346582" y="26670"/>
                </a:lnTo>
                <a:lnTo>
                  <a:pt x="352551" y="22860"/>
                </a:lnTo>
                <a:lnTo>
                  <a:pt x="358140" y="21589"/>
                </a:lnTo>
                <a:lnTo>
                  <a:pt x="363347" y="21589"/>
                </a:lnTo>
                <a:lnTo>
                  <a:pt x="368553" y="20320"/>
                </a:lnTo>
                <a:lnTo>
                  <a:pt x="407332" y="20320"/>
                </a:lnTo>
                <a:lnTo>
                  <a:pt x="402971" y="15239"/>
                </a:lnTo>
                <a:lnTo>
                  <a:pt x="397001" y="10160"/>
                </a:lnTo>
                <a:lnTo>
                  <a:pt x="390651" y="6350"/>
                </a:lnTo>
                <a:lnTo>
                  <a:pt x="376935" y="1270"/>
                </a:lnTo>
                <a:lnTo>
                  <a:pt x="369697" y="0"/>
                </a:lnTo>
                <a:close/>
              </a:path>
              <a:path w="431165" h="295910">
                <a:moveTo>
                  <a:pt x="151002" y="121920"/>
                </a:moveTo>
                <a:lnTo>
                  <a:pt x="149605" y="121920"/>
                </a:lnTo>
                <a:lnTo>
                  <a:pt x="148717" y="123189"/>
                </a:lnTo>
                <a:lnTo>
                  <a:pt x="152019" y="123189"/>
                </a:lnTo>
                <a:lnTo>
                  <a:pt x="151002" y="121920"/>
                </a:lnTo>
                <a:close/>
              </a:path>
              <a:path w="431165" h="295910">
                <a:moveTo>
                  <a:pt x="407332" y="20320"/>
                </a:moveTo>
                <a:lnTo>
                  <a:pt x="368553" y="20320"/>
                </a:lnTo>
                <a:lnTo>
                  <a:pt x="373379" y="21589"/>
                </a:lnTo>
                <a:lnTo>
                  <a:pt x="382270" y="26670"/>
                </a:lnTo>
                <a:lnTo>
                  <a:pt x="406526" y="59689"/>
                </a:lnTo>
                <a:lnTo>
                  <a:pt x="408177" y="66039"/>
                </a:lnTo>
                <a:lnTo>
                  <a:pt x="409828" y="71120"/>
                </a:lnTo>
                <a:lnTo>
                  <a:pt x="410083" y="73660"/>
                </a:lnTo>
                <a:lnTo>
                  <a:pt x="410210" y="74930"/>
                </a:lnTo>
                <a:lnTo>
                  <a:pt x="410337" y="76200"/>
                </a:lnTo>
                <a:lnTo>
                  <a:pt x="409701" y="81280"/>
                </a:lnTo>
                <a:lnTo>
                  <a:pt x="409194" y="86360"/>
                </a:lnTo>
                <a:lnTo>
                  <a:pt x="407543" y="91439"/>
                </a:lnTo>
                <a:lnTo>
                  <a:pt x="404622" y="95250"/>
                </a:lnTo>
                <a:lnTo>
                  <a:pt x="401827" y="99060"/>
                </a:lnTo>
                <a:lnTo>
                  <a:pt x="397637" y="102870"/>
                </a:lnTo>
                <a:lnTo>
                  <a:pt x="392175" y="106680"/>
                </a:lnTo>
                <a:lnTo>
                  <a:pt x="386206" y="110489"/>
                </a:lnTo>
                <a:lnTo>
                  <a:pt x="380619" y="111760"/>
                </a:lnTo>
                <a:lnTo>
                  <a:pt x="414737" y="111760"/>
                </a:lnTo>
                <a:lnTo>
                  <a:pt x="416286" y="110489"/>
                </a:lnTo>
                <a:lnTo>
                  <a:pt x="425196" y="99060"/>
                </a:lnTo>
                <a:lnTo>
                  <a:pt x="428244" y="91439"/>
                </a:lnTo>
                <a:lnTo>
                  <a:pt x="431038" y="76200"/>
                </a:lnTo>
                <a:lnTo>
                  <a:pt x="430932" y="69850"/>
                </a:lnTo>
                <a:lnTo>
                  <a:pt x="430910" y="68580"/>
                </a:lnTo>
                <a:lnTo>
                  <a:pt x="419226" y="36830"/>
                </a:lnTo>
                <a:lnTo>
                  <a:pt x="415436" y="30480"/>
                </a:lnTo>
                <a:lnTo>
                  <a:pt x="411480" y="24130"/>
                </a:lnTo>
                <a:lnTo>
                  <a:pt x="407332" y="20320"/>
                </a:lnTo>
                <a:close/>
              </a:path>
              <a:path w="431165" h="295910">
                <a:moveTo>
                  <a:pt x="250825" y="68580"/>
                </a:moveTo>
                <a:lnTo>
                  <a:pt x="208279" y="95250"/>
                </a:lnTo>
                <a:lnTo>
                  <a:pt x="203200" y="110489"/>
                </a:lnTo>
                <a:lnTo>
                  <a:pt x="218668" y="110489"/>
                </a:lnTo>
                <a:lnTo>
                  <a:pt x="220345" y="106680"/>
                </a:lnTo>
                <a:lnTo>
                  <a:pt x="223012" y="100330"/>
                </a:lnTo>
                <a:lnTo>
                  <a:pt x="226695" y="96520"/>
                </a:lnTo>
                <a:lnTo>
                  <a:pt x="234950" y="91439"/>
                </a:lnTo>
                <a:lnTo>
                  <a:pt x="238505" y="90170"/>
                </a:lnTo>
                <a:lnTo>
                  <a:pt x="282543" y="90170"/>
                </a:lnTo>
                <a:lnTo>
                  <a:pt x="279400" y="86360"/>
                </a:lnTo>
                <a:lnTo>
                  <a:pt x="271018" y="77470"/>
                </a:lnTo>
                <a:lnTo>
                  <a:pt x="266319" y="73660"/>
                </a:lnTo>
                <a:lnTo>
                  <a:pt x="261366" y="71120"/>
                </a:lnTo>
                <a:lnTo>
                  <a:pt x="256285" y="69850"/>
                </a:lnTo>
                <a:lnTo>
                  <a:pt x="250825" y="68580"/>
                </a:lnTo>
                <a:close/>
              </a:path>
              <a:path w="431165" h="295910">
                <a:moveTo>
                  <a:pt x="167004" y="48260"/>
                </a:moveTo>
                <a:lnTo>
                  <a:pt x="164083" y="48260"/>
                </a:lnTo>
                <a:lnTo>
                  <a:pt x="162941" y="49530"/>
                </a:lnTo>
                <a:lnTo>
                  <a:pt x="167513" y="49530"/>
                </a:lnTo>
                <a:lnTo>
                  <a:pt x="167004" y="48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738107" y="589851"/>
            <a:ext cx="2397760" cy="6356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15"/>
              </a:spcBef>
            </a:pP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We</a:t>
            </a:r>
            <a:r>
              <a:rPr sz="2000" spc="-5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can</a:t>
            </a:r>
            <a:r>
              <a:rPr sz="2000" spc="-3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look</a:t>
            </a:r>
            <a:r>
              <a:rPr sz="2000" spc="-3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at</a:t>
            </a:r>
            <a:r>
              <a:rPr sz="2000" spc="-1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8B1515"/>
                </a:solidFill>
                <a:latin typeface="Calibri"/>
                <a:cs typeface="Calibri"/>
              </a:rPr>
              <a:t>these </a:t>
            </a: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(not</a:t>
            </a:r>
            <a:r>
              <a:rPr sz="2000" spc="-6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greyed</a:t>
            </a:r>
            <a:r>
              <a:rPr sz="2000" spc="-2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8B1515"/>
                </a:solidFill>
                <a:latin typeface="Calibri"/>
                <a:cs typeface="Calibri"/>
              </a:rPr>
              <a:t>out)</a:t>
            </a:r>
            <a:r>
              <a:rPr sz="2000" spc="-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8B1515"/>
                </a:solidFill>
                <a:latin typeface="Calibri"/>
                <a:cs typeface="Calibri"/>
              </a:rPr>
              <a:t>words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29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985892" y="5871616"/>
            <a:ext cx="9652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5" dirty="0">
                <a:latin typeface="Cambria Math"/>
                <a:cs typeface="Cambria Math"/>
              </a:rPr>
              <a:t>𝑖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14823" y="5720588"/>
            <a:ext cx="129921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200" spc="75" dirty="0">
                <a:latin typeface="Cambria Math"/>
                <a:cs typeface="Cambria Math"/>
              </a:rPr>
              <a:t>𝑞</a:t>
            </a:r>
            <a:r>
              <a:rPr sz="2325" spc="112" baseline="32258" dirty="0">
                <a:latin typeface="Cambria Math"/>
                <a:cs typeface="Cambria Math"/>
              </a:rPr>
              <a:t>⊤</a:t>
            </a:r>
            <a:r>
              <a:rPr sz="2200" spc="75" dirty="0">
                <a:latin typeface="Cambria Math"/>
                <a:cs typeface="Cambria Math"/>
              </a:rPr>
              <a:t>𝑘</a:t>
            </a:r>
            <a:r>
              <a:rPr sz="2325" spc="112" baseline="-16129" dirty="0">
                <a:latin typeface="Cambria Math"/>
                <a:cs typeface="Cambria Math"/>
              </a:rPr>
              <a:t>𝑗</a:t>
            </a:r>
            <a:r>
              <a:rPr sz="2200" spc="75" dirty="0">
                <a:latin typeface="Cambria Math"/>
                <a:cs typeface="Cambria Math"/>
              </a:rPr>
              <a:t>,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spc="16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≤</a:t>
            </a:r>
            <a:r>
              <a:rPr sz="2200" spc="114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𝑖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6358" y="6090754"/>
            <a:ext cx="113601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" dirty="0">
                <a:latin typeface="Cambria Math"/>
                <a:cs typeface="Cambria Math"/>
              </a:rPr>
              <a:t>−∞,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𝑗</a:t>
            </a:r>
            <a:r>
              <a:rPr sz="2200" spc="16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&gt;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𝑖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7955089" y="2267521"/>
          <a:ext cx="3958589" cy="3656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2260"/>
                        </a:spcBef>
                        <a:tabLst>
                          <a:tab pos="1263015" algn="l"/>
                          <a:tab pos="2303145" algn="l"/>
                        </a:tabLst>
                      </a:pPr>
                      <a:r>
                        <a:rPr sz="3300" spc="-37" baseline="6313" dirty="0">
                          <a:latin typeface="Cambria Math"/>
                          <a:cs typeface="Cambria Math"/>
                        </a:rPr>
                        <a:t>−∞</a:t>
                      </a:r>
                      <a:r>
                        <a:rPr sz="3300" baseline="6313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3300" spc="-37" baseline="1262" dirty="0">
                          <a:latin typeface="Cambria Math"/>
                          <a:cs typeface="Cambria Math"/>
                        </a:rPr>
                        <a:t>−∞</a:t>
                      </a:r>
                      <a:r>
                        <a:rPr sz="3300" baseline="1262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2200" spc="-25" dirty="0">
                          <a:latin typeface="Cambria Math"/>
                          <a:cs typeface="Cambria Math"/>
                        </a:rPr>
                        <a:t>−∞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8702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2265"/>
                        </a:spcBef>
                        <a:tabLst>
                          <a:tab pos="1340485" algn="l"/>
                        </a:tabLst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−∞</a:t>
                      </a:r>
                      <a:r>
                        <a:rPr sz="2200" dirty="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sz="3300" spc="-37" baseline="-7575" dirty="0">
                          <a:latin typeface="Cambria Math"/>
                          <a:cs typeface="Cambria Math"/>
                        </a:rPr>
                        <a:t>−∞</a:t>
                      </a:r>
                      <a:endParaRPr sz="3300" baseline="-7575">
                        <a:latin typeface="Cambria Math"/>
                        <a:cs typeface="Cambria Math"/>
                      </a:endParaRPr>
                    </a:p>
                  </a:txBody>
                  <a:tcPr marL="0" marR="0" marT="287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7E7E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1989"/>
                        </a:spcBef>
                      </a:pPr>
                      <a:r>
                        <a:rPr sz="2200" spc="-25" dirty="0">
                          <a:latin typeface="Cambria Math"/>
                          <a:cs typeface="Cambria Math"/>
                        </a:rPr>
                        <a:t>−∞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27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256" y="1061608"/>
            <a:ext cx="3899535" cy="52578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18745" algn="ctr">
              <a:lnSpc>
                <a:spcPct val="100000"/>
              </a:lnSpc>
              <a:spcBef>
                <a:spcPts val="835"/>
              </a:spcBef>
            </a:pPr>
            <a:r>
              <a:rPr sz="2800" b="1" spc="-10" dirty="0">
                <a:latin typeface="Calibri"/>
                <a:cs typeface="Calibri"/>
              </a:rPr>
              <a:t>Barriers</a:t>
            </a:r>
            <a:endParaRPr sz="2800">
              <a:latin typeface="Calibri"/>
              <a:cs typeface="Calibri"/>
            </a:endParaRPr>
          </a:p>
          <a:p>
            <a:pPr marL="342900" marR="519430" indent="-342900" algn="ctr">
              <a:lnSpc>
                <a:spcPct val="100000"/>
              </a:lnSpc>
              <a:spcBef>
                <a:spcPts val="600"/>
              </a:spcBef>
              <a:buClr>
                <a:srgbClr val="8B1515"/>
              </a:buClr>
              <a:buFont typeface="Times New Roman"/>
              <a:buChar char="•"/>
              <a:tabLst>
                <a:tab pos="342900" algn="l"/>
              </a:tabLst>
            </a:pPr>
            <a:r>
              <a:rPr sz="2300" dirty="0">
                <a:latin typeface="Calibri"/>
                <a:cs typeface="Calibri"/>
              </a:rPr>
              <a:t>Doesn’t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inherent</a:t>
            </a:r>
            <a:endParaRPr sz="2300">
              <a:latin typeface="Calibri"/>
              <a:cs typeface="Calibri"/>
            </a:endParaRPr>
          </a:p>
          <a:p>
            <a:pPr marR="1275080" algn="ctr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Calibri"/>
                <a:cs typeface="Calibri"/>
              </a:rPr>
              <a:t>notion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order!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Calibri"/>
              <a:cs typeface="Calibri"/>
            </a:endParaRPr>
          </a:p>
          <a:p>
            <a:pPr marL="355600" marR="422275" indent="-343535" algn="just">
              <a:lnSpc>
                <a:spcPct val="993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No</a:t>
            </a:r>
            <a:r>
              <a:rPr sz="2300" spc="-10" dirty="0">
                <a:latin typeface="Calibri"/>
                <a:cs typeface="Calibri"/>
              </a:rPr>
              <a:t> nonlinearities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deep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magic!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It’s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just </a:t>
            </a:r>
            <a:r>
              <a:rPr sz="2300" dirty="0">
                <a:latin typeface="Calibri"/>
                <a:cs typeface="Calibri"/>
              </a:rPr>
              <a:t>weighted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averages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buClr>
                <a:srgbClr val="8B1515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55600" marR="477520" indent="-343535">
              <a:lnSpc>
                <a:spcPct val="100600"/>
              </a:lnSpc>
              <a:spcBef>
                <a:spcPts val="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Need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ensure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don’t </a:t>
            </a:r>
            <a:r>
              <a:rPr sz="2300" dirty="0">
                <a:latin typeface="Calibri"/>
                <a:cs typeface="Calibri"/>
              </a:rPr>
              <a:t>“look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future”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when </a:t>
            </a:r>
            <a:r>
              <a:rPr sz="2300" dirty="0">
                <a:latin typeface="Calibri"/>
                <a:cs typeface="Calibri"/>
              </a:rPr>
              <a:t>predicting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sequence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Like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machine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translation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Or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language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modeling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1023556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Barriers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and</a:t>
            </a:r>
            <a:r>
              <a:rPr sz="3350" b="0" spc="-3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solutions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for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Self-Attention</a:t>
            </a:r>
            <a:r>
              <a:rPr sz="3350" b="0" spc="4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as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</a:t>
            </a:r>
            <a:r>
              <a:rPr sz="3350" b="0" spc="-1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building</a:t>
            </a:r>
            <a:r>
              <a:rPr sz="3350" b="0" spc="-60" dirty="0">
                <a:latin typeface="Calibri"/>
                <a:cs typeface="Calibri"/>
              </a:rPr>
              <a:t> </a:t>
            </a:r>
            <a:r>
              <a:rPr sz="3350" b="0" spc="-10" dirty="0">
                <a:latin typeface="Calibri"/>
                <a:cs typeface="Calibri"/>
              </a:rPr>
              <a:t>block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835"/>
              </a:spcBef>
            </a:pPr>
            <a:r>
              <a:rPr spc="-10" dirty="0"/>
              <a:t>Solutions</a:t>
            </a:r>
          </a:p>
          <a:p>
            <a:pPr marL="355600" marR="297180" indent="-343535">
              <a:lnSpc>
                <a:spcPct val="101899"/>
              </a:lnSpc>
              <a:spcBef>
                <a:spcPts val="54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0" dirty="0">
                <a:latin typeface="Calibri"/>
                <a:cs typeface="Calibri"/>
              </a:rPr>
              <a:t>Add</a:t>
            </a:r>
            <a:r>
              <a:rPr sz="2300" b="0" spc="-35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position</a:t>
            </a:r>
            <a:r>
              <a:rPr sz="2300" b="0" spc="-35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representations</a:t>
            </a:r>
            <a:r>
              <a:rPr sz="2300" b="0" spc="-15" dirty="0">
                <a:latin typeface="Calibri"/>
                <a:cs typeface="Calibri"/>
              </a:rPr>
              <a:t> </a:t>
            </a:r>
            <a:r>
              <a:rPr sz="2300" b="0" spc="-25" dirty="0">
                <a:latin typeface="Calibri"/>
                <a:cs typeface="Calibri"/>
              </a:rPr>
              <a:t>to </a:t>
            </a:r>
            <a:r>
              <a:rPr sz="2300" b="0" dirty="0">
                <a:latin typeface="Calibri"/>
                <a:cs typeface="Calibri"/>
              </a:rPr>
              <a:t>the</a:t>
            </a:r>
            <a:r>
              <a:rPr sz="2300" b="0" spc="-25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inputs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buClr>
                <a:srgbClr val="8B1515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55600" marR="5080" indent="-343535">
              <a:lnSpc>
                <a:spcPct val="993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0" dirty="0">
                <a:latin typeface="Calibri"/>
                <a:cs typeface="Calibri"/>
              </a:rPr>
              <a:t>Easy</a:t>
            </a:r>
            <a:r>
              <a:rPr sz="2300" b="0" spc="-4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fix:</a:t>
            </a:r>
            <a:r>
              <a:rPr sz="2300" b="0" spc="-4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apply</a:t>
            </a:r>
            <a:r>
              <a:rPr sz="2300" b="0" spc="-35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the</a:t>
            </a:r>
            <a:r>
              <a:rPr sz="2300" b="0" spc="-5" dirty="0">
                <a:latin typeface="Calibri"/>
                <a:cs typeface="Calibri"/>
              </a:rPr>
              <a:t> </a:t>
            </a:r>
            <a:r>
              <a:rPr sz="2300" b="0" spc="-20" dirty="0">
                <a:latin typeface="Calibri"/>
                <a:cs typeface="Calibri"/>
              </a:rPr>
              <a:t>same </a:t>
            </a:r>
            <a:r>
              <a:rPr sz="2300" b="0" dirty="0">
                <a:latin typeface="Calibri"/>
                <a:cs typeface="Calibri"/>
              </a:rPr>
              <a:t>feedforward network</a:t>
            </a:r>
            <a:r>
              <a:rPr sz="2300" b="0" spc="-5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to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each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self-</a:t>
            </a:r>
            <a:r>
              <a:rPr sz="2300" b="0" dirty="0">
                <a:latin typeface="Calibri"/>
                <a:cs typeface="Calibri"/>
              </a:rPr>
              <a:t>attention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output.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8B1515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0" dirty="0">
                <a:latin typeface="Calibri"/>
                <a:cs typeface="Calibri"/>
              </a:rPr>
              <a:t>Mask</a:t>
            </a:r>
            <a:r>
              <a:rPr sz="2300" b="0" spc="-3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out</a:t>
            </a:r>
            <a:r>
              <a:rPr sz="2300" b="0" spc="-35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the</a:t>
            </a:r>
            <a:r>
              <a:rPr sz="2300" b="0" spc="15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future</a:t>
            </a:r>
            <a:r>
              <a:rPr sz="2300" b="0" spc="-5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by</a:t>
            </a:r>
            <a:r>
              <a:rPr sz="2300" b="0" spc="-20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artificially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300" b="0" dirty="0">
                <a:latin typeface="Calibri"/>
                <a:cs typeface="Calibri"/>
              </a:rPr>
              <a:t>setting</a:t>
            </a:r>
            <a:r>
              <a:rPr sz="2300" b="0" spc="-15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attention</a:t>
            </a:r>
            <a:r>
              <a:rPr sz="2300" b="0" spc="-60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weights!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57159" y="1937424"/>
            <a:ext cx="1349375" cy="135255"/>
            <a:chOff x="5157159" y="1937424"/>
            <a:chExt cx="1349375" cy="135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7159" y="1937424"/>
              <a:ext cx="1349135" cy="1347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89220" y="1950719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200"/>
                  </a:lnTo>
                  <a:lnTo>
                    <a:pt x="1270000" y="50800"/>
                  </a:lnTo>
                  <a:lnTo>
                    <a:pt x="1231900" y="50800"/>
                  </a:lnTo>
                  <a:lnTo>
                    <a:pt x="1231900" y="25400"/>
                  </a:lnTo>
                  <a:lnTo>
                    <a:pt x="1270000" y="25400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219200" y="50800"/>
                  </a:lnTo>
                  <a:lnTo>
                    <a:pt x="1219200" y="25400"/>
                  </a:lnTo>
                  <a:close/>
                </a:path>
                <a:path w="1295400" h="76200">
                  <a:moveTo>
                    <a:pt x="1270000" y="25400"/>
                  </a:moveTo>
                  <a:lnTo>
                    <a:pt x="1231900" y="25400"/>
                  </a:lnTo>
                  <a:lnTo>
                    <a:pt x="1231900" y="50800"/>
                  </a:lnTo>
                  <a:lnTo>
                    <a:pt x="1270000" y="50800"/>
                  </a:lnTo>
                  <a:lnTo>
                    <a:pt x="1295400" y="38100"/>
                  </a:lnTo>
                  <a:lnTo>
                    <a:pt x="1270000" y="25400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074863" y="3382176"/>
            <a:ext cx="1349375" cy="135255"/>
            <a:chOff x="5074863" y="3382176"/>
            <a:chExt cx="1349375" cy="1352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863" y="3382176"/>
              <a:ext cx="1349135" cy="1347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06923" y="3395472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200"/>
                  </a:lnTo>
                  <a:lnTo>
                    <a:pt x="1270000" y="50800"/>
                  </a:lnTo>
                  <a:lnTo>
                    <a:pt x="1231900" y="50800"/>
                  </a:lnTo>
                  <a:lnTo>
                    <a:pt x="1231900" y="25400"/>
                  </a:lnTo>
                  <a:lnTo>
                    <a:pt x="1270000" y="25400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1219200" y="50800"/>
                  </a:lnTo>
                  <a:lnTo>
                    <a:pt x="1219200" y="25400"/>
                  </a:lnTo>
                  <a:close/>
                </a:path>
                <a:path w="1295400" h="76200">
                  <a:moveTo>
                    <a:pt x="1270000" y="25400"/>
                  </a:moveTo>
                  <a:lnTo>
                    <a:pt x="1231900" y="25400"/>
                  </a:lnTo>
                  <a:lnTo>
                    <a:pt x="1231900" y="50800"/>
                  </a:lnTo>
                  <a:lnTo>
                    <a:pt x="1270000" y="50800"/>
                  </a:lnTo>
                  <a:lnTo>
                    <a:pt x="1295400" y="38100"/>
                  </a:lnTo>
                  <a:lnTo>
                    <a:pt x="1270000" y="25400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074863" y="4909224"/>
            <a:ext cx="1349375" cy="135255"/>
            <a:chOff x="5074863" y="4909224"/>
            <a:chExt cx="1349375" cy="1352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863" y="4909224"/>
              <a:ext cx="1349135" cy="1347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106923" y="4922519"/>
              <a:ext cx="1295400" cy="76200"/>
            </a:xfrm>
            <a:custGeom>
              <a:avLst/>
              <a:gdLst/>
              <a:ahLst/>
              <a:cxnLst/>
              <a:rect l="l" t="t" r="r" b="b"/>
              <a:pathLst>
                <a:path w="1295400" h="76200">
                  <a:moveTo>
                    <a:pt x="1219200" y="0"/>
                  </a:moveTo>
                  <a:lnTo>
                    <a:pt x="1219200" y="76199"/>
                  </a:lnTo>
                  <a:lnTo>
                    <a:pt x="1270000" y="50799"/>
                  </a:lnTo>
                  <a:lnTo>
                    <a:pt x="1231900" y="50799"/>
                  </a:lnTo>
                  <a:lnTo>
                    <a:pt x="1231900" y="25399"/>
                  </a:lnTo>
                  <a:lnTo>
                    <a:pt x="1270000" y="25399"/>
                  </a:lnTo>
                  <a:lnTo>
                    <a:pt x="1219200" y="0"/>
                  </a:lnTo>
                  <a:close/>
                </a:path>
                <a:path w="1295400" h="76200">
                  <a:moveTo>
                    <a:pt x="1219200" y="25399"/>
                  </a:moveTo>
                  <a:lnTo>
                    <a:pt x="0" y="25399"/>
                  </a:lnTo>
                  <a:lnTo>
                    <a:pt x="0" y="50799"/>
                  </a:lnTo>
                  <a:lnTo>
                    <a:pt x="1219200" y="50799"/>
                  </a:lnTo>
                  <a:lnTo>
                    <a:pt x="1219200" y="25399"/>
                  </a:lnTo>
                  <a:close/>
                </a:path>
                <a:path w="1295400" h="76200">
                  <a:moveTo>
                    <a:pt x="1270000" y="25399"/>
                  </a:moveTo>
                  <a:lnTo>
                    <a:pt x="1231900" y="25399"/>
                  </a:lnTo>
                  <a:lnTo>
                    <a:pt x="1231900" y="50799"/>
                  </a:lnTo>
                  <a:lnTo>
                    <a:pt x="1270000" y="50799"/>
                  </a:lnTo>
                  <a:lnTo>
                    <a:pt x="1295400" y="38099"/>
                  </a:lnTo>
                  <a:lnTo>
                    <a:pt x="1270000" y="25399"/>
                  </a:lnTo>
                  <a:close/>
                </a:path>
              </a:pathLst>
            </a:custGeom>
            <a:solidFill>
              <a:srgbClr val="8B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033" y="940472"/>
            <a:ext cx="6986905" cy="56388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1" spc="-10" dirty="0">
                <a:latin typeface="Calibri"/>
                <a:cs typeface="Calibri"/>
              </a:rPr>
              <a:t>Self-attention</a:t>
            </a:r>
            <a:r>
              <a:rPr sz="2300" spc="-1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basis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method.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1" dirty="0">
                <a:latin typeface="Calibri"/>
                <a:cs typeface="Calibri"/>
              </a:rPr>
              <a:t>Position</a:t>
            </a:r>
            <a:r>
              <a:rPr sz="2300" b="1" spc="-7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representations</a:t>
            </a:r>
            <a:r>
              <a:rPr sz="2300" spc="-1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ts val="275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dirty="0">
                <a:latin typeface="Calibri"/>
                <a:cs typeface="Calibri"/>
              </a:rPr>
              <a:t>Specify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sequence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order,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since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self-attention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</a:t>
            </a:r>
            <a:endParaRPr sz="2300">
              <a:latin typeface="Calibri"/>
              <a:cs typeface="Calibri"/>
            </a:endParaRPr>
          </a:p>
          <a:p>
            <a:pPr marL="699135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unordered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function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inputs.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1" spc="-10" dirty="0">
                <a:latin typeface="Calibri"/>
                <a:cs typeface="Calibri"/>
              </a:rPr>
              <a:t>Nonlinearities</a:t>
            </a:r>
            <a:r>
              <a:rPr sz="2300" spc="-1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dirty="0">
                <a:latin typeface="Calibri"/>
                <a:cs typeface="Calibri"/>
              </a:rPr>
              <a:t>At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self-attention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block</a:t>
            </a:r>
            <a:endParaRPr sz="2300">
              <a:latin typeface="Calibri"/>
              <a:cs typeface="Calibri"/>
            </a:endParaRPr>
          </a:p>
          <a:p>
            <a:pPr marL="699135" marR="309880" lvl="1" indent="-229235">
              <a:lnSpc>
                <a:spcPct val="101899"/>
              </a:lnSpc>
              <a:spcBef>
                <a:spcPts val="505"/>
              </a:spcBef>
              <a:buClr>
                <a:srgbClr val="007B92"/>
              </a:buClr>
              <a:buFont typeface="Times New Roman"/>
              <a:buChar char="•"/>
              <a:tabLst>
                <a:tab pos="699135" algn="l"/>
              </a:tabLst>
            </a:pPr>
            <a:r>
              <a:rPr sz="2300" dirty="0">
                <a:latin typeface="Calibri"/>
                <a:cs typeface="Calibri"/>
              </a:rPr>
              <a:t>Frequently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implemented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simple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feed-forward network.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1" spc="-10" dirty="0">
                <a:latin typeface="Calibri"/>
                <a:cs typeface="Calibri"/>
              </a:rPr>
              <a:t>Masking</a:t>
            </a:r>
            <a:r>
              <a:rPr sz="2300" spc="-1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ts val="275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order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parallelize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operations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while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looking</a:t>
            </a:r>
            <a:endParaRPr sz="2300">
              <a:latin typeface="Calibri"/>
              <a:cs typeface="Calibri"/>
            </a:endParaRPr>
          </a:p>
          <a:p>
            <a:pPr marL="699135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at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future.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ts val="275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Keeps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information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about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future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“leaking”</a:t>
            </a:r>
            <a:endParaRPr sz="2300">
              <a:latin typeface="Calibri"/>
              <a:cs typeface="Calibri"/>
            </a:endParaRPr>
          </a:p>
          <a:p>
            <a:pPr marL="699135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to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past.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796925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Necessities</a:t>
            </a:r>
            <a:r>
              <a:rPr sz="3350" b="0" spc="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for</a:t>
            </a:r>
            <a:r>
              <a:rPr sz="3350" b="0" spc="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a</a:t>
            </a:r>
            <a:r>
              <a:rPr sz="3350" b="0" spc="-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self-attention</a:t>
            </a:r>
            <a:r>
              <a:rPr sz="3350" b="0" spc="-1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building</a:t>
            </a:r>
            <a:r>
              <a:rPr sz="3350" b="0" spc="-40" dirty="0">
                <a:latin typeface="Calibri"/>
                <a:cs typeface="Calibri"/>
              </a:rPr>
              <a:t> </a:t>
            </a:r>
            <a:r>
              <a:rPr sz="3350" b="0" spc="-10" dirty="0">
                <a:latin typeface="Calibri"/>
                <a:cs typeface="Calibri"/>
              </a:rPr>
              <a:t>block:</a:t>
            </a:r>
            <a:endParaRPr sz="33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7361" y="1227669"/>
            <a:ext cx="3545702" cy="53050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75801" y="548830"/>
            <a:ext cx="2004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Transformer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Decoder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5.</a:t>
            </a:r>
            <a:r>
              <a:rPr spc="-15" dirty="0"/>
              <a:t> </a:t>
            </a:r>
            <a:r>
              <a:rPr dirty="0"/>
              <a:t>The</a:t>
            </a:r>
            <a:r>
              <a:rPr spc="114" dirty="0"/>
              <a:t> </a:t>
            </a:r>
            <a:r>
              <a:rPr dirty="0"/>
              <a:t>Transformer</a:t>
            </a:r>
            <a:r>
              <a:rPr spc="75" dirty="0"/>
              <a:t> </a:t>
            </a:r>
            <a:r>
              <a:rPr spc="-10" dirty="0"/>
              <a:t>Decoder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256" y="1162748"/>
            <a:ext cx="4062095" cy="40944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107950" indent="-343535">
              <a:lnSpc>
                <a:spcPct val="100600"/>
              </a:lnSpc>
              <a:spcBef>
                <a:spcPts val="9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decoder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how </a:t>
            </a:r>
            <a:r>
              <a:rPr sz="2300" dirty="0">
                <a:latin typeface="Calibri"/>
                <a:cs typeface="Calibri"/>
              </a:rPr>
              <a:t>we’ll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build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systems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like </a:t>
            </a:r>
            <a:r>
              <a:rPr sz="2300" b="1" dirty="0">
                <a:latin typeface="Calibri"/>
                <a:cs typeface="Calibri"/>
              </a:rPr>
              <a:t>language</a:t>
            </a:r>
            <a:r>
              <a:rPr sz="2300" b="1" spc="-7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models</a:t>
            </a:r>
            <a:r>
              <a:rPr sz="2300" spc="-1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355600" marR="125730" indent="-343535">
              <a:lnSpc>
                <a:spcPct val="99300"/>
              </a:lnSpc>
              <a:spcBef>
                <a:spcPts val="57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It’s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like our minimal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architecture,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but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few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components.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embeddings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position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5"/>
              </a:spcBef>
            </a:pPr>
            <a:r>
              <a:rPr sz="2300" dirty="0">
                <a:latin typeface="Calibri"/>
                <a:cs typeface="Calibri"/>
              </a:rPr>
              <a:t>embeddings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identical.</a:t>
            </a:r>
            <a:endParaRPr sz="2300">
              <a:latin typeface="Calibri"/>
              <a:cs typeface="Calibri"/>
            </a:endParaRPr>
          </a:p>
          <a:p>
            <a:pPr marL="355600" marR="5080" indent="-343535">
              <a:lnSpc>
                <a:spcPct val="99300"/>
              </a:lnSpc>
              <a:spcBef>
                <a:spcPts val="57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We’ll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next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replace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multi-</a:t>
            </a:r>
            <a:r>
              <a:rPr sz="2300" b="1" dirty="0">
                <a:latin typeface="Calibri"/>
                <a:cs typeface="Calibri"/>
              </a:rPr>
              <a:t>head </a:t>
            </a:r>
            <a:r>
              <a:rPr sz="2300" b="1" spc="-10" dirty="0">
                <a:latin typeface="Calibri"/>
                <a:cs typeface="Calibri"/>
              </a:rPr>
              <a:t>self-attention.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9150" y="5610859"/>
            <a:ext cx="2802890" cy="4102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dirty="0">
                <a:latin typeface="Calibri"/>
                <a:cs typeface="Calibri"/>
              </a:rPr>
              <a:t>Transformer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Decoder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5" name="object 5" descr="Diagram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8329" y="685800"/>
            <a:ext cx="3545702" cy="466870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Hypothetical</a:t>
            </a:r>
            <a:r>
              <a:rPr spc="100" dirty="0"/>
              <a:t> </a:t>
            </a:r>
            <a:r>
              <a:rPr dirty="0"/>
              <a:t>Example</a:t>
            </a:r>
            <a:r>
              <a:rPr spc="16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Multi-Head</a:t>
            </a:r>
            <a:r>
              <a:rPr spc="125" dirty="0"/>
              <a:t> </a:t>
            </a:r>
            <a:r>
              <a:rPr spc="-10" dirty="0"/>
              <a:t>Attention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33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DBE20-D959-6DF4-FD90-D83C17529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90600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6515734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Sequence-Stacked</a:t>
            </a:r>
            <a:r>
              <a:rPr sz="3350" spc="35" dirty="0"/>
              <a:t> </a:t>
            </a:r>
            <a:r>
              <a:rPr sz="3350" dirty="0"/>
              <a:t>form</a:t>
            </a:r>
            <a:r>
              <a:rPr sz="3350" spc="40" dirty="0"/>
              <a:t> </a:t>
            </a:r>
            <a:r>
              <a:rPr sz="3350" dirty="0"/>
              <a:t>of</a:t>
            </a:r>
            <a:r>
              <a:rPr sz="3350" spc="-15" dirty="0"/>
              <a:t> </a:t>
            </a:r>
            <a:r>
              <a:rPr sz="3350" spc="-10" dirty="0"/>
              <a:t>Attention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4063619" y="1676399"/>
            <a:ext cx="64135" cy="273050"/>
          </a:xfrm>
          <a:custGeom>
            <a:avLst/>
            <a:gdLst/>
            <a:ahLst/>
            <a:cxnLst/>
            <a:rect l="l" t="t" r="r" b="b"/>
            <a:pathLst>
              <a:path w="64135" h="273050">
                <a:moveTo>
                  <a:pt x="63754" y="0"/>
                </a:moveTo>
                <a:lnTo>
                  <a:pt x="0" y="0"/>
                </a:lnTo>
                <a:lnTo>
                  <a:pt x="0" y="11430"/>
                </a:lnTo>
                <a:lnTo>
                  <a:pt x="40005" y="11430"/>
                </a:lnTo>
                <a:lnTo>
                  <a:pt x="40005" y="261620"/>
                </a:lnTo>
                <a:lnTo>
                  <a:pt x="0" y="261620"/>
                </a:lnTo>
                <a:lnTo>
                  <a:pt x="0" y="273050"/>
                </a:lnTo>
                <a:lnTo>
                  <a:pt x="63754" y="273050"/>
                </a:lnTo>
                <a:lnTo>
                  <a:pt x="63754" y="261620"/>
                </a:lnTo>
                <a:lnTo>
                  <a:pt x="63754" y="11430"/>
                </a:lnTo>
                <a:lnTo>
                  <a:pt x="63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29814" y="1676399"/>
            <a:ext cx="64135" cy="273050"/>
          </a:xfrm>
          <a:custGeom>
            <a:avLst/>
            <a:gdLst/>
            <a:ahLst/>
            <a:cxnLst/>
            <a:rect l="l" t="t" r="r" b="b"/>
            <a:pathLst>
              <a:path w="64135" h="273050">
                <a:moveTo>
                  <a:pt x="6375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61620"/>
                </a:lnTo>
                <a:lnTo>
                  <a:pt x="0" y="273050"/>
                </a:lnTo>
                <a:lnTo>
                  <a:pt x="63754" y="273050"/>
                </a:lnTo>
                <a:lnTo>
                  <a:pt x="63754" y="261620"/>
                </a:lnTo>
                <a:lnTo>
                  <a:pt x="23749" y="261620"/>
                </a:lnTo>
                <a:lnTo>
                  <a:pt x="23749" y="11430"/>
                </a:lnTo>
                <a:lnTo>
                  <a:pt x="63754" y="11430"/>
                </a:lnTo>
                <a:lnTo>
                  <a:pt x="63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7556" y="1083855"/>
            <a:ext cx="8739505" cy="13169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725"/>
              </a:spcBef>
              <a:buClr>
                <a:srgbClr val="8B1515"/>
              </a:buClr>
              <a:buFont typeface="Times New Roman"/>
              <a:buChar char="•"/>
              <a:tabLst>
                <a:tab pos="368300" algn="l"/>
              </a:tabLst>
            </a:pPr>
            <a:r>
              <a:rPr sz="2300" dirty="0">
                <a:latin typeface="Calibri"/>
                <a:cs typeface="Calibri"/>
              </a:rPr>
              <a:t>Let’s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look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how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key-query-</a:t>
            </a:r>
            <a:r>
              <a:rPr sz="2300" dirty="0">
                <a:latin typeface="Calibri"/>
                <a:cs typeface="Calibri"/>
              </a:rPr>
              <a:t>value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computed,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matrices.</a:t>
            </a:r>
            <a:endParaRPr sz="2300">
              <a:latin typeface="Calibri"/>
              <a:cs typeface="Calibri"/>
            </a:endParaRPr>
          </a:p>
          <a:p>
            <a:pPr marL="711200" lvl="1" indent="-228600">
              <a:lnSpc>
                <a:spcPct val="100000"/>
              </a:lnSpc>
              <a:spcBef>
                <a:spcPts val="630"/>
              </a:spcBef>
              <a:buClr>
                <a:srgbClr val="007B92"/>
              </a:buClr>
              <a:buFont typeface="Times New Roman"/>
              <a:buChar char="•"/>
              <a:tabLst>
                <a:tab pos="711200" algn="l"/>
                <a:tab pos="1823720" algn="l"/>
                <a:tab pos="3166110" algn="l"/>
              </a:tabLst>
            </a:pPr>
            <a:r>
              <a:rPr sz="2300" dirty="0">
                <a:latin typeface="Calibri"/>
                <a:cs typeface="Calibri"/>
              </a:rPr>
              <a:t>Let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</a:t>
            </a:r>
            <a:r>
              <a:rPr sz="2300" spc="155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=</a:t>
            </a:r>
            <a:r>
              <a:rPr sz="2300" dirty="0">
                <a:latin typeface="Cambria Math"/>
                <a:cs typeface="Cambria Math"/>
              </a:rPr>
              <a:t>	𝑥</a:t>
            </a:r>
            <a:r>
              <a:rPr sz="2475" baseline="-15151" dirty="0">
                <a:latin typeface="Cambria Math"/>
                <a:cs typeface="Cambria Math"/>
              </a:rPr>
              <a:t>1</a:t>
            </a:r>
            <a:r>
              <a:rPr sz="2300" dirty="0">
                <a:latin typeface="Cambria Math"/>
                <a:cs typeface="Cambria Math"/>
              </a:rPr>
              <a:t>;</a:t>
            </a:r>
            <a:r>
              <a:rPr sz="2300" spc="-10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…</a:t>
            </a:r>
            <a:r>
              <a:rPr sz="2300" spc="-11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;</a:t>
            </a:r>
            <a:r>
              <a:rPr sz="2300" spc="-100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𝑥</a:t>
            </a:r>
            <a:r>
              <a:rPr sz="2475" spc="-37" baseline="-15151" dirty="0">
                <a:latin typeface="Cambria Math"/>
                <a:cs typeface="Cambria Math"/>
              </a:rPr>
              <a:t>𝑛</a:t>
            </a:r>
            <a:r>
              <a:rPr sz="2475" baseline="-15151" dirty="0">
                <a:latin typeface="Cambria Math"/>
                <a:cs typeface="Cambria Math"/>
              </a:rPr>
              <a:t>	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00" dirty="0">
                <a:latin typeface="Cambria Math"/>
                <a:cs typeface="Cambria Math"/>
              </a:rPr>
              <a:t> </a:t>
            </a:r>
            <a:r>
              <a:rPr sz="2300" spc="65" dirty="0">
                <a:latin typeface="Cambria Math"/>
                <a:cs typeface="Cambria Math"/>
              </a:rPr>
              <a:t>ℝ</a:t>
            </a:r>
            <a:r>
              <a:rPr sz="2475" spc="97" baseline="28619" dirty="0">
                <a:latin typeface="Cambria Math"/>
                <a:cs typeface="Cambria Math"/>
              </a:rPr>
              <a:t>𝑛×𝑑</a:t>
            </a:r>
            <a:r>
              <a:rPr sz="2475" spc="434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concatenation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vectors.</a:t>
            </a:r>
            <a:endParaRPr sz="2300">
              <a:latin typeface="Calibri"/>
              <a:cs typeface="Calibri"/>
            </a:endParaRPr>
          </a:p>
          <a:p>
            <a:pPr marL="711200" lvl="1" indent="-228600">
              <a:lnSpc>
                <a:spcPct val="100000"/>
              </a:lnSpc>
              <a:spcBef>
                <a:spcPts val="630"/>
              </a:spcBef>
              <a:buClr>
                <a:srgbClr val="007B92"/>
              </a:buClr>
              <a:buFont typeface="Times New Roman"/>
              <a:buChar char="•"/>
              <a:tabLst>
                <a:tab pos="711200" algn="l"/>
              </a:tabLst>
            </a:pPr>
            <a:r>
              <a:rPr sz="2300" dirty="0">
                <a:latin typeface="Calibri"/>
                <a:cs typeface="Calibri"/>
              </a:rPr>
              <a:t>First,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note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𝑋𝐾</a:t>
            </a:r>
            <a:r>
              <a:rPr sz="2300" spc="17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10" dirty="0">
                <a:latin typeface="Cambria Math"/>
                <a:cs typeface="Cambria Math"/>
              </a:rPr>
              <a:t> </a:t>
            </a:r>
            <a:r>
              <a:rPr sz="2300" spc="85" dirty="0">
                <a:latin typeface="Cambria Math"/>
                <a:cs typeface="Cambria Math"/>
              </a:rPr>
              <a:t>ℝ</a:t>
            </a:r>
            <a:r>
              <a:rPr sz="2475" spc="127" baseline="28619" dirty="0">
                <a:latin typeface="Cambria Math"/>
                <a:cs typeface="Cambria Math"/>
              </a:rPr>
              <a:t>𝑛×𝑑</a:t>
            </a:r>
            <a:r>
              <a:rPr sz="2300" spc="85" dirty="0">
                <a:latin typeface="Calibri"/>
                <a:cs typeface="Calibri"/>
              </a:rPr>
              <a:t>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𝑋𝑄</a:t>
            </a:r>
            <a:r>
              <a:rPr sz="2300" spc="13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10" dirty="0">
                <a:latin typeface="Cambria Math"/>
                <a:cs typeface="Cambria Math"/>
              </a:rPr>
              <a:t> </a:t>
            </a:r>
            <a:r>
              <a:rPr sz="2300" spc="80" dirty="0">
                <a:latin typeface="Cambria Math"/>
                <a:cs typeface="Cambria Math"/>
              </a:rPr>
              <a:t>ℝ</a:t>
            </a:r>
            <a:r>
              <a:rPr sz="2475" spc="120" baseline="28619" dirty="0">
                <a:latin typeface="Cambria Math"/>
                <a:cs typeface="Cambria Math"/>
              </a:rPr>
              <a:t>𝑛×𝑑</a:t>
            </a:r>
            <a:r>
              <a:rPr sz="2300" spc="80" dirty="0">
                <a:latin typeface="Calibri"/>
                <a:cs typeface="Calibri"/>
              </a:rPr>
              <a:t>,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𝑋𝑉</a:t>
            </a:r>
            <a:r>
              <a:rPr sz="2300" spc="18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10" dirty="0">
                <a:latin typeface="Cambria Math"/>
                <a:cs typeface="Cambria Math"/>
              </a:rPr>
              <a:t> </a:t>
            </a:r>
            <a:r>
              <a:rPr sz="2300" spc="75" dirty="0">
                <a:latin typeface="Cambria Math"/>
                <a:cs typeface="Cambria Math"/>
              </a:rPr>
              <a:t>ℝ</a:t>
            </a:r>
            <a:r>
              <a:rPr sz="2475" spc="112" baseline="28619" dirty="0">
                <a:latin typeface="Cambria Math"/>
                <a:cs typeface="Cambria Math"/>
              </a:rPr>
              <a:t>𝑛×𝑑</a:t>
            </a:r>
            <a:r>
              <a:rPr sz="2300" spc="75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5894" y="2536697"/>
            <a:ext cx="1391920" cy="271145"/>
          </a:xfrm>
          <a:custGeom>
            <a:avLst/>
            <a:gdLst/>
            <a:ahLst/>
            <a:cxnLst/>
            <a:rect l="l" t="t" r="r" b="b"/>
            <a:pathLst>
              <a:path w="1391920" h="271144">
                <a:moveTo>
                  <a:pt x="90297" y="11049"/>
                </a:moveTo>
                <a:lnTo>
                  <a:pt x="86487" y="0"/>
                </a:lnTo>
                <a:lnTo>
                  <a:pt x="66827" y="7124"/>
                </a:lnTo>
                <a:lnTo>
                  <a:pt x="49606" y="17424"/>
                </a:lnTo>
                <a:lnTo>
                  <a:pt x="22352" y="47498"/>
                </a:lnTo>
                <a:lnTo>
                  <a:pt x="5600" y="87807"/>
                </a:lnTo>
                <a:lnTo>
                  <a:pt x="76" y="134239"/>
                </a:lnTo>
                <a:lnTo>
                  <a:pt x="0" y="135636"/>
                </a:lnTo>
                <a:lnTo>
                  <a:pt x="1397" y="160515"/>
                </a:lnTo>
                <a:lnTo>
                  <a:pt x="12585" y="204558"/>
                </a:lnTo>
                <a:lnTo>
                  <a:pt x="34709" y="240271"/>
                </a:lnTo>
                <a:lnTo>
                  <a:pt x="66763" y="263982"/>
                </a:lnTo>
                <a:lnTo>
                  <a:pt x="86487" y="271018"/>
                </a:lnTo>
                <a:lnTo>
                  <a:pt x="89916" y="260096"/>
                </a:lnTo>
                <a:lnTo>
                  <a:pt x="74485" y="253238"/>
                </a:lnTo>
                <a:lnTo>
                  <a:pt x="61163" y="243713"/>
                </a:lnTo>
                <a:lnTo>
                  <a:pt x="33807" y="199301"/>
                </a:lnTo>
                <a:lnTo>
                  <a:pt x="25755" y="158102"/>
                </a:lnTo>
                <a:lnTo>
                  <a:pt x="24765" y="134239"/>
                </a:lnTo>
                <a:lnTo>
                  <a:pt x="25755" y="111099"/>
                </a:lnTo>
                <a:lnTo>
                  <a:pt x="33807" y="70993"/>
                </a:lnTo>
                <a:lnTo>
                  <a:pt x="61252" y="27279"/>
                </a:lnTo>
                <a:lnTo>
                  <a:pt x="74701" y="17868"/>
                </a:lnTo>
                <a:lnTo>
                  <a:pt x="90297" y="11049"/>
                </a:lnTo>
                <a:close/>
              </a:path>
              <a:path w="1391920" h="271144">
                <a:moveTo>
                  <a:pt x="605917" y="11049"/>
                </a:moveTo>
                <a:lnTo>
                  <a:pt x="602107" y="0"/>
                </a:lnTo>
                <a:lnTo>
                  <a:pt x="582434" y="7124"/>
                </a:lnTo>
                <a:lnTo>
                  <a:pt x="565175" y="17424"/>
                </a:lnTo>
                <a:lnTo>
                  <a:pt x="537972" y="47498"/>
                </a:lnTo>
                <a:lnTo>
                  <a:pt x="521220" y="87807"/>
                </a:lnTo>
                <a:lnTo>
                  <a:pt x="515696" y="134239"/>
                </a:lnTo>
                <a:lnTo>
                  <a:pt x="515620" y="135636"/>
                </a:lnTo>
                <a:lnTo>
                  <a:pt x="516991" y="160515"/>
                </a:lnTo>
                <a:lnTo>
                  <a:pt x="528091" y="204558"/>
                </a:lnTo>
                <a:lnTo>
                  <a:pt x="550214" y="240271"/>
                </a:lnTo>
                <a:lnTo>
                  <a:pt x="582358" y="263982"/>
                </a:lnTo>
                <a:lnTo>
                  <a:pt x="602107" y="271018"/>
                </a:lnTo>
                <a:lnTo>
                  <a:pt x="605536" y="260096"/>
                </a:lnTo>
                <a:lnTo>
                  <a:pt x="590042" y="253238"/>
                </a:lnTo>
                <a:lnTo>
                  <a:pt x="576719" y="243713"/>
                </a:lnTo>
                <a:lnTo>
                  <a:pt x="549376" y="199301"/>
                </a:lnTo>
                <a:lnTo>
                  <a:pt x="541375" y="158102"/>
                </a:lnTo>
                <a:lnTo>
                  <a:pt x="540385" y="134239"/>
                </a:lnTo>
                <a:lnTo>
                  <a:pt x="541375" y="111099"/>
                </a:lnTo>
                <a:lnTo>
                  <a:pt x="549376" y="70993"/>
                </a:lnTo>
                <a:lnTo>
                  <a:pt x="576808" y="27279"/>
                </a:lnTo>
                <a:lnTo>
                  <a:pt x="590257" y="17868"/>
                </a:lnTo>
                <a:lnTo>
                  <a:pt x="605917" y="11049"/>
                </a:lnTo>
                <a:close/>
              </a:path>
              <a:path w="1391920" h="271144">
                <a:moveTo>
                  <a:pt x="1107821" y="135636"/>
                </a:moveTo>
                <a:lnTo>
                  <a:pt x="1106424" y="111099"/>
                </a:lnTo>
                <a:lnTo>
                  <a:pt x="1106411" y="110782"/>
                </a:lnTo>
                <a:lnTo>
                  <a:pt x="1102207" y="87807"/>
                </a:lnTo>
                <a:lnTo>
                  <a:pt x="1085469" y="47498"/>
                </a:lnTo>
                <a:lnTo>
                  <a:pt x="1058202" y="17424"/>
                </a:lnTo>
                <a:lnTo>
                  <a:pt x="1021334" y="0"/>
                </a:lnTo>
                <a:lnTo>
                  <a:pt x="1017524" y="11049"/>
                </a:lnTo>
                <a:lnTo>
                  <a:pt x="1033183" y="17868"/>
                </a:lnTo>
                <a:lnTo>
                  <a:pt x="1046670" y="27279"/>
                </a:lnTo>
                <a:lnTo>
                  <a:pt x="1074051" y="70993"/>
                </a:lnTo>
                <a:lnTo>
                  <a:pt x="1082001" y="110782"/>
                </a:lnTo>
                <a:lnTo>
                  <a:pt x="1082052" y="111099"/>
                </a:lnTo>
                <a:lnTo>
                  <a:pt x="1083056" y="134239"/>
                </a:lnTo>
                <a:lnTo>
                  <a:pt x="1082052" y="158102"/>
                </a:lnTo>
                <a:lnTo>
                  <a:pt x="1079055" y="179793"/>
                </a:lnTo>
                <a:lnTo>
                  <a:pt x="1067054" y="216662"/>
                </a:lnTo>
                <a:lnTo>
                  <a:pt x="1033335" y="253238"/>
                </a:lnTo>
                <a:lnTo>
                  <a:pt x="1017905" y="260096"/>
                </a:lnTo>
                <a:lnTo>
                  <a:pt x="1021334" y="271018"/>
                </a:lnTo>
                <a:lnTo>
                  <a:pt x="1058303" y="253720"/>
                </a:lnTo>
                <a:lnTo>
                  <a:pt x="1085469" y="223647"/>
                </a:lnTo>
                <a:lnTo>
                  <a:pt x="1102207" y="183502"/>
                </a:lnTo>
                <a:lnTo>
                  <a:pt x="1106411" y="160515"/>
                </a:lnTo>
                <a:lnTo>
                  <a:pt x="1107821" y="135636"/>
                </a:lnTo>
                <a:close/>
              </a:path>
              <a:path w="1391920" h="271144">
                <a:moveTo>
                  <a:pt x="1391920" y="135636"/>
                </a:moveTo>
                <a:lnTo>
                  <a:pt x="1386357" y="87807"/>
                </a:lnTo>
                <a:lnTo>
                  <a:pt x="1369568" y="47498"/>
                </a:lnTo>
                <a:lnTo>
                  <a:pt x="1342415" y="17424"/>
                </a:lnTo>
                <a:lnTo>
                  <a:pt x="1305560" y="0"/>
                </a:lnTo>
                <a:lnTo>
                  <a:pt x="1301623" y="11049"/>
                </a:lnTo>
                <a:lnTo>
                  <a:pt x="1317358" y="17868"/>
                </a:lnTo>
                <a:lnTo>
                  <a:pt x="1330871" y="27279"/>
                </a:lnTo>
                <a:lnTo>
                  <a:pt x="1358277" y="70993"/>
                </a:lnTo>
                <a:lnTo>
                  <a:pt x="1366227" y="110782"/>
                </a:lnTo>
                <a:lnTo>
                  <a:pt x="1366278" y="111099"/>
                </a:lnTo>
                <a:lnTo>
                  <a:pt x="1366253" y="158102"/>
                </a:lnTo>
                <a:lnTo>
                  <a:pt x="1358163" y="199301"/>
                </a:lnTo>
                <a:lnTo>
                  <a:pt x="1330871" y="243713"/>
                </a:lnTo>
                <a:lnTo>
                  <a:pt x="1302131" y="260096"/>
                </a:lnTo>
                <a:lnTo>
                  <a:pt x="1305560" y="271018"/>
                </a:lnTo>
                <a:lnTo>
                  <a:pt x="1342478" y="253720"/>
                </a:lnTo>
                <a:lnTo>
                  <a:pt x="1369695" y="223647"/>
                </a:lnTo>
                <a:lnTo>
                  <a:pt x="1386370" y="183502"/>
                </a:lnTo>
                <a:lnTo>
                  <a:pt x="1390535" y="160515"/>
                </a:lnTo>
                <a:lnTo>
                  <a:pt x="1391920" y="1356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52638" y="2429065"/>
            <a:ext cx="17399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15" dirty="0">
                <a:latin typeface="Cambria Math"/>
                <a:cs typeface="Cambria Math"/>
              </a:rPr>
              <a:t>⊤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2349" y="2453385"/>
            <a:ext cx="862901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105"/>
              </a:spcBef>
              <a:buClr>
                <a:srgbClr val="007B92"/>
              </a:buClr>
              <a:buFont typeface="Times New Roman"/>
              <a:buChar char="•"/>
              <a:tabLst>
                <a:tab pos="266065" algn="l"/>
                <a:tab pos="4486910" algn="l"/>
                <a:tab pos="6927215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defined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300" spc="75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=</a:t>
            </a:r>
            <a:r>
              <a:rPr sz="2300" dirty="0">
                <a:latin typeface="Cambria Math"/>
                <a:cs typeface="Cambria Math"/>
              </a:rPr>
              <a:t>	softmax</a:t>
            </a:r>
            <a:r>
              <a:rPr sz="2300" spc="44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𝑋𝑄</a:t>
            </a:r>
            <a:r>
              <a:rPr sz="2300" spc="434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𝑋𝐾</a:t>
            </a:r>
            <a:r>
              <a:rPr sz="2300" dirty="0">
                <a:latin typeface="Cambria Math"/>
                <a:cs typeface="Cambria Math"/>
              </a:rPr>
              <a:t>	𝑋𝑉</a:t>
            </a:r>
            <a:r>
              <a:rPr sz="2300" spc="16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35" dirty="0">
                <a:latin typeface="Cambria Math"/>
                <a:cs typeface="Cambria Math"/>
              </a:rPr>
              <a:t> </a:t>
            </a:r>
            <a:r>
              <a:rPr sz="2300" spc="75" dirty="0">
                <a:latin typeface="Cambria Math"/>
                <a:cs typeface="Cambria Math"/>
              </a:rPr>
              <a:t>ℝ</a:t>
            </a:r>
            <a:r>
              <a:rPr sz="2475" spc="112" baseline="28619" dirty="0">
                <a:latin typeface="Cambria Math"/>
                <a:cs typeface="Cambria Math"/>
              </a:rPr>
              <a:t>𝑛×𝑑</a:t>
            </a:r>
            <a:r>
              <a:rPr sz="2300" spc="75" dirty="0">
                <a:latin typeface="Calibri"/>
                <a:cs typeface="Calibri"/>
              </a:rPr>
              <a:t>.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88935" y="3282696"/>
            <a:ext cx="1325880" cy="1207135"/>
          </a:xfrm>
          <a:custGeom>
            <a:avLst/>
            <a:gdLst/>
            <a:ahLst/>
            <a:cxnLst/>
            <a:rect l="l" t="t" r="r" b="b"/>
            <a:pathLst>
              <a:path w="1325879" h="1207135">
                <a:moveTo>
                  <a:pt x="1124712" y="0"/>
                </a:moveTo>
                <a:lnTo>
                  <a:pt x="201168" y="0"/>
                </a:lnTo>
                <a:lnTo>
                  <a:pt x="155034" y="5311"/>
                </a:lnTo>
                <a:lnTo>
                  <a:pt x="112689" y="20442"/>
                </a:lnTo>
                <a:lnTo>
                  <a:pt x="75338" y="44187"/>
                </a:lnTo>
                <a:lnTo>
                  <a:pt x="44187" y="75338"/>
                </a:lnTo>
                <a:lnTo>
                  <a:pt x="20442" y="112689"/>
                </a:lnTo>
                <a:lnTo>
                  <a:pt x="5311" y="155034"/>
                </a:lnTo>
                <a:lnTo>
                  <a:pt x="0" y="201167"/>
                </a:lnTo>
                <a:lnTo>
                  <a:pt x="0" y="1005839"/>
                </a:lnTo>
                <a:lnTo>
                  <a:pt x="5311" y="1051933"/>
                </a:lnTo>
                <a:lnTo>
                  <a:pt x="20442" y="1094263"/>
                </a:lnTo>
                <a:lnTo>
                  <a:pt x="44187" y="1131616"/>
                </a:lnTo>
                <a:lnTo>
                  <a:pt x="75338" y="1162780"/>
                </a:lnTo>
                <a:lnTo>
                  <a:pt x="112689" y="1186542"/>
                </a:lnTo>
                <a:lnTo>
                  <a:pt x="155034" y="1201689"/>
                </a:lnTo>
                <a:lnTo>
                  <a:pt x="201168" y="1207008"/>
                </a:lnTo>
                <a:lnTo>
                  <a:pt x="1124712" y="1207008"/>
                </a:lnTo>
                <a:lnTo>
                  <a:pt x="1170845" y="1201689"/>
                </a:lnTo>
                <a:lnTo>
                  <a:pt x="1213190" y="1186542"/>
                </a:lnTo>
                <a:lnTo>
                  <a:pt x="1250541" y="1162780"/>
                </a:lnTo>
                <a:lnTo>
                  <a:pt x="1281692" y="1131616"/>
                </a:lnTo>
                <a:lnTo>
                  <a:pt x="1305437" y="1094263"/>
                </a:lnTo>
                <a:lnTo>
                  <a:pt x="1320568" y="1051933"/>
                </a:lnTo>
                <a:lnTo>
                  <a:pt x="1325880" y="1005839"/>
                </a:lnTo>
                <a:lnTo>
                  <a:pt x="1325880" y="201167"/>
                </a:lnTo>
                <a:lnTo>
                  <a:pt x="1320568" y="155034"/>
                </a:lnTo>
                <a:lnTo>
                  <a:pt x="1305437" y="112689"/>
                </a:lnTo>
                <a:lnTo>
                  <a:pt x="1281692" y="75338"/>
                </a:lnTo>
                <a:lnTo>
                  <a:pt x="1250541" y="44187"/>
                </a:lnTo>
                <a:lnTo>
                  <a:pt x="1213190" y="20442"/>
                </a:lnTo>
                <a:lnTo>
                  <a:pt x="1170845" y="5311"/>
                </a:lnTo>
                <a:lnTo>
                  <a:pt x="112471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37781" y="3517519"/>
            <a:ext cx="160147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14350" algn="l"/>
              </a:tabLst>
            </a:pPr>
            <a:r>
              <a:rPr sz="3500" b="1" spc="-50" dirty="0">
                <a:latin typeface="Calibri"/>
                <a:cs typeface="Calibri"/>
              </a:rPr>
              <a:t>=</a:t>
            </a:r>
            <a:r>
              <a:rPr sz="3500" b="1" dirty="0">
                <a:latin typeface="Calibri"/>
                <a:cs typeface="Calibri"/>
              </a:rPr>
              <a:t>	</a:t>
            </a:r>
            <a:r>
              <a:rPr sz="3000" baseline="1388" dirty="0">
                <a:latin typeface="Cambria Math"/>
                <a:cs typeface="Cambria Math"/>
              </a:rPr>
              <a:t>𝑋𝑄𝐾</a:t>
            </a:r>
            <a:r>
              <a:rPr sz="2175" baseline="28735" dirty="0">
                <a:latin typeface="Cambria Math"/>
                <a:cs typeface="Cambria Math"/>
              </a:rPr>
              <a:t>⊤</a:t>
            </a:r>
            <a:r>
              <a:rPr sz="2175" spc="615" baseline="28735" dirty="0">
                <a:latin typeface="Cambria Math"/>
                <a:cs typeface="Cambria Math"/>
              </a:rPr>
              <a:t> </a:t>
            </a:r>
            <a:r>
              <a:rPr sz="3000" spc="67" baseline="1388" dirty="0">
                <a:latin typeface="Cambria Math"/>
                <a:cs typeface="Cambria Math"/>
              </a:rPr>
              <a:t>𝑋</a:t>
            </a:r>
            <a:r>
              <a:rPr sz="2175" spc="67" baseline="28735" dirty="0">
                <a:latin typeface="Cambria Math"/>
                <a:cs typeface="Cambria Math"/>
              </a:rPr>
              <a:t>⊤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99270" y="4127627"/>
            <a:ext cx="52578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latin typeface="Cambria Math"/>
                <a:cs typeface="Cambria Math"/>
              </a:rPr>
              <a:t>∈</a:t>
            </a:r>
            <a:r>
              <a:rPr sz="2350" spc="170" dirty="0">
                <a:latin typeface="Cambria Math"/>
                <a:cs typeface="Cambria Math"/>
              </a:rPr>
              <a:t> </a:t>
            </a:r>
            <a:r>
              <a:rPr sz="2350" spc="-50" dirty="0">
                <a:latin typeface="Cambria Math"/>
                <a:cs typeface="Cambria Math"/>
              </a:rPr>
              <a:t>ℝ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01809" y="4098607"/>
            <a:ext cx="47561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90" dirty="0">
                <a:latin typeface="Cambria Math"/>
                <a:cs typeface="Cambria Math"/>
              </a:rPr>
              <a:t>𝑛×𝑛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65410" y="3336861"/>
            <a:ext cx="15894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B92"/>
                </a:solidFill>
                <a:latin typeface="Calibri"/>
                <a:cs typeface="Calibri"/>
              </a:rPr>
              <a:t>All</a:t>
            </a:r>
            <a:r>
              <a:rPr sz="1800" spc="-10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7B92"/>
                </a:solidFill>
                <a:latin typeface="Calibri"/>
                <a:cs typeface="Calibri"/>
              </a:rPr>
              <a:t>pairs</a:t>
            </a:r>
            <a:r>
              <a:rPr sz="1800" spc="-7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7B92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007B92"/>
                </a:solidFill>
                <a:latin typeface="Calibri"/>
                <a:cs typeface="Calibri"/>
              </a:rPr>
              <a:t>attention</a:t>
            </a:r>
            <a:r>
              <a:rPr sz="1800" spc="-70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7B92"/>
                </a:solidFill>
                <a:latin typeface="Calibri"/>
                <a:cs typeface="Calibri"/>
              </a:rPr>
              <a:t>scores!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39911" y="5157215"/>
            <a:ext cx="530860" cy="1207135"/>
          </a:xfrm>
          <a:custGeom>
            <a:avLst/>
            <a:gdLst/>
            <a:ahLst/>
            <a:cxnLst/>
            <a:rect l="l" t="t" r="r" b="b"/>
            <a:pathLst>
              <a:path w="530859" h="1207135">
                <a:moveTo>
                  <a:pt x="441960" y="0"/>
                </a:moveTo>
                <a:lnTo>
                  <a:pt x="88392" y="0"/>
                </a:lnTo>
                <a:lnTo>
                  <a:pt x="54006" y="6935"/>
                </a:lnTo>
                <a:lnTo>
                  <a:pt x="25907" y="25860"/>
                </a:lnTo>
                <a:lnTo>
                  <a:pt x="6953" y="53953"/>
                </a:lnTo>
                <a:lnTo>
                  <a:pt x="0" y="88391"/>
                </a:lnTo>
                <a:lnTo>
                  <a:pt x="0" y="1118552"/>
                </a:lnTo>
                <a:lnTo>
                  <a:pt x="6953" y="1152959"/>
                </a:lnTo>
                <a:lnTo>
                  <a:pt x="25908" y="1181055"/>
                </a:lnTo>
                <a:lnTo>
                  <a:pt x="54006" y="1199998"/>
                </a:lnTo>
                <a:lnTo>
                  <a:pt x="88392" y="1206944"/>
                </a:lnTo>
                <a:lnTo>
                  <a:pt x="441960" y="1206944"/>
                </a:lnTo>
                <a:lnTo>
                  <a:pt x="476345" y="1199998"/>
                </a:lnTo>
                <a:lnTo>
                  <a:pt x="504444" y="1181055"/>
                </a:lnTo>
                <a:lnTo>
                  <a:pt x="523398" y="1152959"/>
                </a:lnTo>
                <a:lnTo>
                  <a:pt x="530352" y="1118552"/>
                </a:lnTo>
                <a:lnTo>
                  <a:pt x="530352" y="88391"/>
                </a:lnTo>
                <a:lnTo>
                  <a:pt x="523398" y="53953"/>
                </a:lnTo>
                <a:lnTo>
                  <a:pt x="504444" y="25860"/>
                </a:lnTo>
                <a:lnTo>
                  <a:pt x="476345" y="6935"/>
                </a:lnTo>
                <a:lnTo>
                  <a:pt x="4419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63608" y="6005944"/>
            <a:ext cx="1666239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mbria Math"/>
                <a:cs typeface="Cambria Math"/>
              </a:rPr>
              <a:t>output</a:t>
            </a:r>
            <a:r>
              <a:rPr sz="2000" spc="9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∈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spc="30" dirty="0">
                <a:latin typeface="Cambria Math"/>
                <a:cs typeface="Cambria Math"/>
              </a:rPr>
              <a:t>ℝ</a:t>
            </a:r>
            <a:r>
              <a:rPr sz="2175" spc="44" baseline="28735" dirty="0">
                <a:latin typeface="Cambria Math"/>
                <a:cs typeface="Cambria Math"/>
              </a:rPr>
              <a:t>𝑛×𝑑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34325" y="5435231"/>
            <a:ext cx="2489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b="1" spc="-50" dirty="0">
                <a:latin typeface="Calibri"/>
                <a:cs typeface="Calibri"/>
              </a:rPr>
              <a:t>=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79008" y="3959352"/>
            <a:ext cx="1216660" cy="530860"/>
          </a:xfrm>
          <a:custGeom>
            <a:avLst/>
            <a:gdLst/>
            <a:ahLst/>
            <a:cxnLst/>
            <a:rect l="l" t="t" r="r" b="b"/>
            <a:pathLst>
              <a:path w="1216659" h="530860">
                <a:moveTo>
                  <a:pt x="1127760" y="0"/>
                </a:moveTo>
                <a:lnTo>
                  <a:pt x="88391" y="0"/>
                </a:lnTo>
                <a:lnTo>
                  <a:pt x="54006" y="6935"/>
                </a:lnTo>
                <a:lnTo>
                  <a:pt x="25908" y="25860"/>
                </a:lnTo>
                <a:lnTo>
                  <a:pt x="6953" y="53953"/>
                </a:lnTo>
                <a:lnTo>
                  <a:pt x="0" y="88392"/>
                </a:lnTo>
                <a:lnTo>
                  <a:pt x="0" y="441960"/>
                </a:lnTo>
                <a:lnTo>
                  <a:pt x="6953" y="476345"/>
                </a:lnTo>
                <a:lnTo>
                  <a:pt x="25908" y="504444"/>
                </a:lnTo>
                <a:lnTo>
                  <a:pt x="54006" y="523398"/>
                </a:lnTo>
                <a:lnTo>
                  <a:pt x="88391" y="530352"/>
                </a:lnTo>
                <a:lnTo>
                  <a:pt x="1127760" y="530352"/>
                </a:lnTo>
                <a:lnTo>
                  <a:pt x="1162145" y="523398"/>
                </a:lnTo>
                <a:lnTo>
                  <a:pt x="1190243" y="504444"/>
                </a:lnTo>
                <a:lnTo>
                  <a:pt x="1209198" y="476345"/>
                </a:lnTo>
                <a:lnTo>
                  <a:pt x="1216151" y="441960"/>
                </a:lnTo>
                <a:lnTo>
                  <a:pt x="1216151" y="88392"/>
                </a:lnTo>
                <a:lnTo>
                  <a:pt x="1209198" y="53953"/>
                </a:lnTo>
                <a:lnTo>
                  <a:pt x="1190243" y="25860"/>
                </a:lnTo>
                <a:lnTo>
                  <a:pt x="1162145" y="6935"/>
                </a:lnTo>
                <a:lnTo>
                  <a:pt x="1127760" y="0"/>
                </a:lnTo>
                <a:close/>
              </a:path>
            </a:pathLst>
          </a:custGeom>
          <a:solidFill>
            <a:srgbClr val="DBA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79286" y="3955478"/>
            <a:ext cx="7689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000" spc="104" baseline="-20833" dirty="0">
                <a:latin typeface="Cambria Math"/>
                <a:cs typeface="Cambria Math"/>
              </a:rPr>
              <a:t>𝐾</a:t>
            </a:r>
            <a:r>
              <a:rPr sz="1450" spc="70" dirty="0">
                <a:latin typeface="Cambria Math"/>
                <a:cs typeface="Cambria Math"/>
              </a:rPr>
              <a:t>⊤</a:t>
            </a:r>
            <a:r>
              <a:rPr sz="1450" spc="210" dirty="0">
                <a:latin typeface="Cambria Math"/>
                <a:cs typeface="Cambria Math"/>
              </a:rPr>
              <a:t> </a:t>
            </a:r>
            <a:r>
              <a:rPr sz="3000" spc="67" baseline="-20833" dirty="0">
                <a:latin typeface="Cambria Math"/>
                <a:cs typeface="Cambria Math"/>
              </a:rPr>
              <a:t>𝑋</a:t>
            </a:r>
            <a:r>
              <a:rPr sz="1450" spc="45" dirty="0">
                <a:latin typeface="Cambria Math"/>
                <a:cs typeface="Cambria Math"/>
              </a:rPr>
              <a:t>⊤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02352" y="3282696"/>
            <a:ext cx="530860" cy="1207135"/>
          </a:xfrm>
          <a:custGeom>
            <a:avLst/>
            <a:gdLst/>
            <a:ahLst/>
            <a:cxnLst/>
            <a:rect l="l" t="t" r="r" b="b"/>
            <a:pathLst>
              <a:path w="530860" h="1207135">
                <a:moveTo>
                  <a:pt x="441960" y="0"/>
                </a:moveTo>
                <a:lnTo>
                  <a:pt x="88392" y="0"/>
                </a:lnTo>
                <a:lnTo>
                  <a:pt x="54006" y="6935"/>
                </a:lnTo>
                <a:lnTo>
                  <a:pt x="25908" y="25860"/>
                </a:lnTo>
                <a:lnTo>
                  <a:pt x="6953" y="53953"/>
                </a:lnTo>
                <a:lnTo>
                  <a:pt x="0" y="88391"/>
                </a:lnTo>
                <a:lnTo>
                  <a:pt x="0" y="1118615"/>
                </a:lnTo>
                <a:lnTo>
                  <a:pt x="6953" y="1153001"/>
                </a:lnTo>
                <a:lnTo>
                  <a:pt x="25907" y="1181099"/>
                </a:lnTo>
                <a:lnTo>
                  <a:pt x="54006" y="1200054"/>
                </a:lnTo>
                <a:lnTo>
                  <a:pt x="88392" y="1207008"/>
                </a:lnTo>
                <a:lnTo>
                  <a:pt x="441960" y="1207008"/>
                </a:lnTo>
                <a:lnTo>
                  <a:pt x="476345" y="1200054"/>
                </a:lnTo>
                <a:lnTo>
                  <a:pt x="504443" y="1181100"/>
                </a:lnTo>
                <a:lnTo>
                  <a:pt x="523398" y="1153001"/>
                </a:lnTo>
                <a:lnTo>
                  <a:pt x="530351" y="1118615"/>
                </a:lnTo>
                <a:lnTo>
                  <a:pt x="530351" y="88391"/>
                </a:lnTo>
                <a:lnTo>
                  <a:pt x="523398" y="53953"/>
                </a:lnTo>
                <a:lnTo>
                  <a:pt x="504443" y="25860"/>
                </a:lnTo>
                <a:lnTo>
                  <a:pt x="476345" y="6935"/>
                </a:lnTo>
                <a:lnTo>
                  <a:pt x="441960" y="0"/>
                </a:lnTo>
                <a:close/>
              </a:path>
            </a:pathLst>
          </a:custGeom>
          <a:solidFill>
            <a:srgbClr val="F1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95951" y="3706431"/>
            <a:ext cx="36322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25" dirty="0">
                <a:latin typeface="Cambria Math"/>
                <a:cs typeface="Cambria Math"/>
              </a:rPr>
              <a:t>𝑋𝑄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2200" y="3220529"/>
            <a:ext cx="3392804" cy="7251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215"/>
              </a:spcBef>
            </a:pPr>
            <a:r>
              <a:rPr sz="2300" dirty="0">
                <a:latin typeface="Calibri"/>
                <a:cs typeface="Calibri"/>
              </a:rPr>
              <a:t>First,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take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query-</a:t>
            </a:r>
            <a:r>
              <a:rPr sz="2300" dirty="0">
                <a:latin typeface="Calibri"/>
                <a:cs typeface="Calibri"/>
              </a:rPr>
              <a:t>key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dot </a:t>
            </a:r>
            <a:r>
              <a:rPr sz="2300" dirty="0">
                <a:latin typeface="Calibri"/>
                <a:cs typeface="Calibri"/>
              </a:rPr>
              <a:t>products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matrix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11829" y="4006596"/>
            <a:ext cx="592455" cy="271145"/>
          </a:xfrm>
          <a:custGeom>
            <a:avLst/>
            <a:gdLst/>
            <a:ahLst/>
            <a:cxnLst/>
            <a:rect l="l" t="t" r="r" b="b"/>
            <a:pathLst>
              <a:path w="592454" h="271145">
                <a:moveTo>
                  <a:pt x="505714" y="0"/>
                </a:moveTo>
                <a:lnTo>
                  <a:pt x="501904" y="10921"/>
                </a:lnTo>
                <a:lnTo>
                  <a:pt x="517572" y="17754"/>
                </a:lnTo>
                <a:lnTo>
                  <a:pt x="531050" y="27193"/>
                </a:lnTo>
                <a:lnTo>
                  <a:pt x="558434" y="70871"/>
                </a:lnTo>
                <a:lnTo>
                  <a:pt x="566391" y="110702"/>
                </a:lnTo>
                <a:lnTo>
                  <a:pt x="567435" y="134111"/>
                </a:lnTo>
                <a:lnTo>
                  <a:pt x="566435" y="158045"/>
                </a:lnTo>
                <a:lnTo>
                  <a:pt x="558434" y="199245"/>
                </a:lnTo>
                <a:lnTo>
                  <a:pt x="531098" y="243585"/>
                </a:lnTo>
                <a:lnTo>
                  <a:pt x="502284" y="259968"/>
                </a:lnTo>
                <a:lnTo>
                  <a:pt x="505714" y="271017"/>
                </a:lnTo>
                <a:lnTo>
                  <a:pt x="542750" y="253666"/>
                </a:lnTo>
                <a:lnTo>
                  <a:pt x="569975" y="223646"/>
                </a:lnTo>
                <a:lnTo>
                  <a:pt x="586660" y="183435"/>
                </a:lnTo>
                <a:lnTo>
                  <a:pt x="592200" y="135508"/>
                </a:lnTo>
                <a:lnTo>
                  <a:pt x="590815" y="111015"/>
                </a:lnTo>
                <a:lnTo>
                  <a:pt x="579610" y="66661"/>
                </a:lnTo>
                <a:lnTo>
                  <a:pt x="557470" y="30807"/>
                </a:lnTo>
                <a:lnTo>
                  <a:pt x="525379" y="7046"/>
                </a:lnTo>
                <a:lnTo>
                  <a:pt x="505714" y="0"/>
                </a:lnTo>
                <a:close/>
              </a:path>
              <a:path w="592454" h="271145">
                <a:moveTo>
                  <a:pt x="86486" y="0"/>
                </a:moveTo>
                <a:lnTo>
                  <a:pt x="49609" y="17319"/>
                </a:lnTo>
                <a:lnTo>
                  <a:pt x="22351" y="47497"/>
                </a:lnTo>
                <a:lnTo>
                  <a:pt x="5603" y="87741"/>
                </a:lnTo>
                <a:lnTo>
                  <a:pt x="79" y="134111"/>
                </a:lnTo>
                <a:lnTo>
                  <a:pt x="0" y="135508"/>
                </a:lnTo>
                <a:lnTo>
                  <a:pt x="5603" y="183435"/>
                </a:lnTo>
                <a:lnTo>
                  <a:pt x="22351" y="223646"/>
                </a:lnTo>
                <a:lnTo>
                  <a:pt x="49514" y="253666"/>
                </a:lnTo>
                <a:lnTo>
                  <a:pt x="86486" y="271017"/>
                </a:lnTo>
                <a:lnTo>
                  <a:pt x="89916" y="259968"/>
                </a:lnTo>
                <a:lnTo>
                  <a:pt x="74485" y="253110"/>
                </a:lnTo>
                <a:lnTo>
                  <a:pt x="61150" y="243585"/>
                </a:lnTo>
                <a:lnTo>
                  <a:pt x="33766" y="199245"/>
                </a:lnTo>
                <a:lnTo>
                  <a:pt x="25765" y="158045"/>
                </a:lnTo>
                <a:lnTo>
                  <a:pt x="24823" y="135508"/>
                </a:lnTo>
                <a:lnTo>
                  <a:pt x="24764" y="134111"/>
                </a:lnTo>
                <a:lnTo>
                  <a:pt x="28765" y="89931"/>
                </a:lnTo>
                <a:lnTo>
                  <a:pt x="49934" y="39229"/>
                </a:lnTo>
                <a:lnTo>
                  <a:pt x="90296" y="10921"/>
                </a:lnTo>
                <a:lnTo>
                  <a:pt x="864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92200" y="3925506"/>
            <a:ext cx="27311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multiplication: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𝑋𝑄</a:t>
            </a:r>
            <a:r>
              <a:rPr sz="2300" spc="430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𝑋𝐾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9525" y="3900614"/>
            <a:ext cx="17399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15" dirty="0">
                <a:latin typeface="Cambria Math"/>
                <a:cs typeface="Cambria Math"/>
              </a:rPr>
              <a:t>⊤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2189" y="5046154"/>
            <a:ext cx="2727960" cy="143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00"/>
              </a:spcBef>
            </a:pPr>
            <a:r>
              <a:rPr sz="2300" dirty="0">
                <a:latin typeface="Calibri"/>
                <a:cs typeface="Calibri"/>
              </a:rPr>
              <a:t>Next,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softmax,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compute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weighted </a:t>
            </a:r>
            <a:r>
              <a:rPr sz="2300" dirty="0">
                <a:latin typeface="Calibri"/>
                <a:cs typeface="Calibri"/>
              </a:rPr>
              <a:t>average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another </a:t>
            </a:r>
            <a:r>
              <a:rPr sz="2300" dirty="0">
                <a:latin typeface="Calibri"/>
                <a:cs typeface="Calibri"/>
              </a:rPr>
              <a:t>matrix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multiplication.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68696" y="5129784"/>
            <a:ext cx="1325880" cy="1216660"/>
          </a:xfrm>
          <a:custGeom>
            <a:avLst/>
            <a:gdLst/>
            <a:ahLst/>
            <a:cxnLst/>
            <a:rect l="l" t="t" r="r" b="b"/>
            <a:pathLst>
              <a:path w="1325879" h="1216660">
                <a:moveTo>
                  <a:pt x="1123187" y="0"/>
                </a:moveTo>
                <a:lnTo>
                  <a:pt x="202691" y="0"/>
                </a:lnTo>
                <a:lnTo>
                  <a:pt x="156234" y="5349"/>
                </a:lnTo>
                <a:lnTo>
                  <a:pt x="113577" y="20589"/>
                </a:lnTo>
                <a:lnTo>
                  <a:pt x="75942" y="44507"/>
                </a:lnTo>
                <a:lnTo>
                  <a:pt x="44547" y="75888"/>
                </a:lnTo>
                <a:lnTo>
                  <a:pt x="20611" y="113522"/>
                </a:lnTo>
                <a:lnTo>
                  <a:pt x="5356" y="156194"/>
                </a:lnTo>
                <a:lnTo>
                  <a:pt x="0" y="202692"/>
                </a:lnTo>
                <a:lnTo>
                  <a:pt x="0" y="1013396"/>
                </a:lnTo>
                <a:lnTo>
                  <a:pt x="5356" y="1059870"/>
                </a:lnTo>
                <a:lnTo>
                  <a:pt x="20611" y="1102532"/>
                </a:lnTo>
                <a:lnTo>
                  <a:pt x="44547" y="1140167"/>
                </a:lnTo>
                <a:lnTo>
                  <a:pt x="75942" y="1171557"/>
                </a:lnTo>
                <a:lnTo>
                  <a:pt x="113577" y="1195485"/>
                </a:lnTo>
                <a:lnTo>
                  <a:pt x="156234" y="1210734"/>
                </a:lnTo>
                <a:lnTo>
                  <a:pt x="202691" y="1216088"/>
                </a:lnTo>
                <a:lnTo>
                  <a:pt x="1123187" y="1216088"/>
                </a:lnTo>
                <a:lnTo>
                  <a:pt x="1169645" y="1210734"/>
                </a:lnTo>
                <a:lnTo>
                  <a:pt x="1212302" y="1195485"/>
                </a:lnTo>
                <a:lnTo>
                  <a:pt x="1249937" y="1171557"/>
                </a:lnTo>
                <a:lnTo>
                  <a:pt x="1281332" y="1140167"/>
                </a:lnTo>
                <a:lnTo>
                  <a:pt x="1305268" y="1102532"/>
                </a:lnTo>
                <a:lnTo>
                  <a:pt x="1320523" y="1059870"/>
                </a:lnTo>
                <a:lnTo>
                  <a:pt x="1325879" y="1013396"/>
                </a:lnTo>
                <a:lnTo>
                  <a:pt x="1325879" y="202692"/>
                </a:lnTo>
                <a:lnTo>
                  <a:pt x="1320523" y="156194"/>
                </a:lnTo>
                <a:lnTo>
                  <a:pt x="1305268" y="113522"/>
                </a:lnTo>
                <a:lnTo>
                  <a:pt x="1281332" y="75888"/>
                </a:lnTo>
                <a:lnTo>
                  <a:pt x="1249937" y="44507"/>
                </a:lnTo>
                <a:lnTo>
                  <a:pt x="1212302" y="20589"/>
                </a:lnTo>
                <a:lnTo>
                  <a:pt x="1169645" y="5349"/>
                </a:lnTo>
                <a:lnTo>
                  <a:pt x="112318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93283" y="5560098"/>
            <a:ext cx="11118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mbria Math"/>
                <a:cs typeface="Cambria Math"/>
              </a:rPr>
              <a:t>𝑋𝑄𝐾</a:t>
            </a:r>
            <a:r>
              <a:rPr sz="2175" baseline="28735" dirty="0">
                <a:latin typeface="Cambria Math"/>
                <a:cs typeface="Cambria Math"/>
              </a:rPr>
              <a:t>⊤</a:t>
            </a:r>
            <a:r>
              <a:rPr sz="2175" spc="615" baseline="28735" dirty="0">
                <a:latin typeface="Cambria Math"/>
                <a:cs typeface="Cambria Math"/>
              </a:rPr>
              <a:t> </a:t>
            </a:r>
            <a:r>
              <a:rPr sz="2000" spc="45" dirty="0">
                <a:latin typeface="Cambria Math"/>
                <a:cs typeface="Cambria Math"/>
              </a:rPr>
              <a:t>𝑋</a:t>
            </a:r>
            <a:r>
              <a:rPr sz="2175" spc="67" baseline="28735" dirty="0">
                <a:latin typeface="Cambria Math"/>
                <a:cs typeface="Cambria Math"/>
              </a:rPr>
              <a:t>⊤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90211" y="5492927"/>
            <a:ext cx="97790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" dirty="0">
                <a:latin typeface="Cambria Math"/>
                <a:cs typeface="Cambria Math"/>
              </a:rPr>
              <a:t>softmax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40679" y="5093208"/>
            <a:ext cx="2185670" cy="1358265"/>
            <a:chOff x="5440679" y="5093208"/>
            <a:chExt cx="2185670" cy="135826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79" y="5093208"/>
              <a:ext cx="224027" cy="133959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509259" y="5143500"/>
              <a:ext cx="100965" cy="1207135"/>
            </a:xfrm>
            <a:custGeom>
              <a:avLst/>
              <a:gdLst/>
              <a:ahLst/>
              <a:cxnLst/>
              <a:rect l="l" t="t" r="r" b="b"/>
              <a:pathLst>
                <a:path w="100964" h="1207135">
                  <a:moveTo>
                    <a:pt x="100584" y="1206944"/>
                  </a:moveTo>
                  <a:lnTo>
                    <a:pt x="41202" y="1171227"/>
                  </a:lnTo>
                  <a:lnTo>
                    <a:pt x="19421" y="1131155"/>
                  </a:lnTo>
                  <a:lnTo>
                    <a:pt x="5132" y="1080339"/>
                  </a:lnTo>
                  <a:lnTo>
                    <a:pt x="0" y="1021829"/>
                  </a:lnTo>
                  <a:lnTo>
                    <a:pt x="0" y="185038"/>
                  </a:lnTo>
                  <a:lnTo>
                    <a:pt x="5132" y="126536"/>
                  </a:lnTo>
                  <a:lnTo>
                    <a:pt x="19421" y="75739"/>
                  </a:lnTo>
                  <a:lnTo>
                    <a:pt x="41202" y="35690"/>
                  </a:lnTo>
                  <a:lnTo>
                    <a:pt x="68811" y="9429"/>
                  </a:lnTo>
                  <a:lnTo>
                    <a:pt x="10058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3135" y="5111496"/>
              <a:ext cx="224027" cy="133959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853427" y="5161788"/>
              <a:ext cx="109855" cy="1207135"/>
            </a:xfrm>
            <a:custGeom>
              <a:avLst/>
              <a:gdLst/>
              <a:ahLst/>
              <a:cxnLst/>
              <a:rect l="l" t="t" r="r" b="b"/>
              <a:pathLst>
                <a:path w="109854" h="1207135">
                  <a:moveTo>
                    <a:pt x="0" y="0"/>
                  </a:moveTo>
                  <a:lnTo>
                    <a:pt x="64794" y="38929"/>
                  </a:lnTo>
                  <a:lnTo>
                    <a:pt x="88550" y="82625"/>
                  </a:lnTo>
                  <a:lnTo>
                    <a:pt x="104131" y="138062"/>
                  </a:lnTo>
                  <a:lnTo>
                    <a:pt x="109727" y="201930"/>
                  </a:lnTo>
                  <a:lnTo>
                    <a:pt x="109727" y="1005001"/>
                  </a:lnTo>
                  <a:lnTo>
                    <a:pt x="104131" y="1068831"/>
                  </a:lnTo>
                  <a:lnTo>
                    <a:pt x="88550" y="1124267"/>
                  </a:lnTo>
                  <a:lnTo>
                    <a:pt x="64794" y="1167981"/>
                  </a:lnTo>
                  <a:lnTo>
                    <a:pt x="34674" y="1196649"/>
                  </a:lnTo>
                  <a:lnTo>
                    <a:pt x="0" y="1206944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95744" y="5157216"/>
              <a:ext cx="530860" cy="1207135"/>
            </a:xfrm>
            <a:custGeom>
              <a:avLst/>
              <a:gdLst/>
              <a:ahLst/>
              <a:cxnLst/>
              <a:rect l="l" t="t" r="r" b="b"/>
              <a:pathLst>
                <a:path w="530859" h="1207135">
                  <a:moveTo>
                    <a:pt x="441959" y="0"/>
                  </a:moveTo>
                  <a:lnTo>
                    <a:pt x="88391" y="0"/>
                  </a:lnTo>
                  <a:lnTo>
                    <a:pt x="54006" y="6935"/>
                  </a:lnTo>
                  <a:lnTo>
                    <a:pt x="25907" y="25860"/>
                  </a:lnTo>
                  <a:lnTo>
                    <a:pt x="6953" y="53953"/>
                  </a:lnTo>
                  <a:lnTo>
                    <a:pt x="0" y="88391"/>
                  </a:lnTo>
                  <a:lnTo>
                    <a:pt x="0" y="1118552"/>
                  </a:lnTo>
                  <a:lnTo>
                    <a:pt x="6953" y="1152959"/>
                  </a:lnTo>
                  <a:lnTo>
                    <a:pt x="25907" y="1181055"/>
                  </a:lnTo>
                  <a:lnTo>
                    <a:pt x="54006" y="1199998"/>
                  </a:lnTo>
                  <a:lnTo>
                    <a:pt x="88391" y="1206944"/>
                  </a:lnTo>
                  <a:lnTo>
                    <a:pt x="441959" y="1206944"/>
                  </a:lnTo>
                  <a:lnTo>
                    <a:pt x="476345" y="1199998"/>
                  </a:lnTo>
                  <a:lnTo>
                    <a:pt x="504444" y="1181055"/>
                  </a:lnTo>
                  <a:lnTo>
                    <a:pt x="523398" y="1152959"/>
                  </a:lnTo>
                  <a:lnTo>
                    <a:pt x="530351" y="1118552"/>
                  </a:lnTo>
                  <a:lnTo>
                    <a:pt x="530351" y="88391"/>
                  </a:lnTo>
                  <a:lnTo>
                    <a:pt x="523398" y="53953"/>
                  </a:lnTo>
                  <a:lnTo>
                    <a:pt x="504443" y="25860"/>
                  </a:lnTo>
                  <a:lnTo>
                    <a:pt x="476345" y="6935"/>
                  </a:lnTo>
                  <a:lnTo>
                    <a:pt x="441959" y="0"/>
                  </a:lnTo>
                  <a:close/>
                </a:path>
              </a:pathLst>
            </a:custGeom>
            <a:solidFill>
              <a:srgbClr val="B6D2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197852" y="5584050"/>
            <a:ext cx="3498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25" dirty="0">
                <a:latin typeface="Cambria Math"/>
                <a:cs typeface="Cambria Math"/>
              </a:rPr>
              <a:t>𝑋𝑉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35700" y="4493895"/>
            <a:ext cx="1931035" cy="638175"/>
          </a:xfrm>
          <a:custGeom>
            <a:avLst/>
            <a:gdLst/>
            <a:ahLst/>
            <a:cxnLst/>
            <a:rect l="l" t="t" r="r" b="b"/>
            <a:pathLst>
              <a:path w="1931034" h="638175">
                <a:moveTo>
                  <a:pt x="0" y="553084"/>
                </a:moveTo>
                <a:lnTo>
                  <a:pt x="5079" y="638174"/>
                </a:lnTo>
                <a:lnTo>
                  <a:pt x="69976" y="583056"/>
                </a:lnTo>
                <a:lnTo>
                  <a:pt x="69383" y="582802"/>
                </a:lnTo>
                <a:lnTo>
                  <a:pt x="35560" y="582802"/>
                </a:lnTo>
                <a:lnTo>
                  <a:pt x="24384" y="576706"/>
                </a:lnTo>
                <a:lnTo>
                  <a:pt x="30118" y="565985"/>
                </a:lnTo>
                <a:lnTo>
                  <a:pt x="0" y="553084"/>
                </a:lnTo>
                <a:close/>
              </a:path>
              <a:path w="1931034" h="638175">
                <a:moveTo>
                  <a:pt x="30118" y="565985"/>
                </a:moveTo>
                <a:lnTo>
                  <a:pt x="24384" y="576706"/>
                </a:lnTo>
                <a:lnTo>
                  <a:pt x="35560" y="582802"/>
                </a:lnTo>
                <a:lnTo>
                  <a:pt x="41916" y="571038"/>
                </a:lnTo>
                <a:lnTo>
                  <a:pt x="30118" y="565985"/>
                </a:lnTo>
                <a:close/>
              </a:path>
              <a:path w="1931034" h="638175">
                <a:moveTo>
                  <a:pt x="41916" y="571038"/>
                </a:moveTo>
                <a:lnTo>
                  <a:pt x="35560" y="582802"/>
                </a:lnTo>
                <a:lnTo>
                  <a:pt x="69383" y="582802"/>
                </a:lnTo>
                <a:lnTo>
                  <a:pt x="41916" y="571038"/>
                </a:lnTo>
                <a:close/>
              </a:path>
              <a:path w="1931034" h="638175">
                <a:moveTo>
                  <a:pt x="1819414" y="125160"/>
                </a:moveTo>
                <a:lnTo>
                  <a:pt x="1771136" y="152780"/>
                </a:lnTo>
                <a:lnTo>
                  <a:pt x="1716676" y="178269"/>
                </a:lnTo>
                <a:lnTo>
                  <a:pt x="1656777" y="201855"/>
                </a:lnTo>
                <a:lnTo>
                  <a:pt x="1588516" y="224535"/>
                </a:lnTo>
                <a:lnTo>
                  <a:pt x="1516126" y="244855"/>
                </a:lnTo>
                <a:lnTo>
                  <a:pt x="1478026" y="254253"/>
                </a:lnTo>
                <a:lnTo>
                  <a:pt x="1439036" y="262889"/>
                </a:lnTo>
                <a:lnTo>
                  <a:pt x="1398904" y="271144"/>
                </a:lnTo>
                <a:lnTo>
                  <a:pt x="1358010" y="278764"/>
                </a:lnTo>
                <a:lnTo>
                  <a:pt x="1316354" y="285622"/>
                </a:lnTo>
                <a:lnTo>
                  <a:pt x="1273936" y="291718"/>
                </a:lnTo>
                <a:lnTo>
                  <a:pt x="1230883" y="297179"/>
                </a:lnTo>
                <a:lnTo>
                  <a:pt x="1187323" y="301751"/>
                </a:lnTo>
                <a:lnTo>
                  <a:pt x="1143380" y="305688"/>
                </a:lnTo>
                <a:lnTo>
                  <a:pt x="1098264" y="308902"/>
                </a:lnTo>
                <a:lnTo>
                  <a:pt x="1054480" y="311022"/>
                </a:lnTo>
                <a:lnTo>
                  <a:pt x="1009650" y="312419"/>
                </a:lnTo>
                <a:lnTo>
                  <a:pt x="919860" y="313435"/>
                </a:lnTo>
                <a:lnTo>
                  <a:pt x="874776" y="314705"/>
                </a:lnTo>
                <a:lnTo>
                  <a:pt x="829945" y="316991"/>
                </a:lnTo>
                <a:lnTo>
                  <a:pt x="785495" y="320039"/>
                </a:lnTo>
                <a:lnTo>
                  <a:pt x="741172" y="323976"/>
                </a:lnTo>
                <a:lnTo>
                  <a:pt x="697356" y="328802"/>
                </a:lnTo>
                <a:lnTo>
                  <a:pt x="654176" y="334263"/>
                </a:lnTo>
                <a:lnTo>
                  <a:pt x="611504" y="340486"/>
                </a:lnTo>
                <a:lnTo>
                  <a:pt x="569595" y="347344"/>
                </a:lnTo>
                <a:lnTo>
                  <a:pt x="528447" y="354837"/>
                </a:lnTo>
                <a:lnTo>
                  <a:pt x="488188" y="363092"/>
                </a:lnTo>
                <a:lnTo>
                  <a:pt x="448945" y="371982"/>
                </a:lnTo>
                <a:lnTo>
                  <a:pt x="410591" y="381380"/>
                </a:lnTo>
                <a:lnTo>
                  <a:pt x="373506" y="391413"/>
                </a:lnTo>
                <a:lnTo>
                  <a:pt x="303022" y="412876"/>
                </a:lnTo>
                <a:lnTo>
                  <a:pt x="238107" y="436379"/>
                </a:lnTo>
                <a:lnTo>
                  <a:pt x="179577" y="461390"/>
                </a:lnTo>
                <a:lnTo>
                  <a:pt x="127888" y="488060"/>
                </a:lnTo>
                <a:lnTo>
                  <a:pt x="83820" y="516000"/>
                </a:lnTo>
                <a:lnTo>
                  <a:pt x="48260" y="544829"/>
                </a:lnTo>
                <a:lnTo>
                  <a:pt x="30118" y="565985"/>
                </a:lnTo>
                <a:lnTo>
                  <a:pt x="41916" y="571038"/>
                </a:lnTo>
                <a:lnTo>
                  <a:pt x="43382" y="568324"/>
                </a:lnTo>
                <a:lnTo>
                  <a:pt x="43052" y="568324"/>
                </a:lnTo>
                <a:lnTo>
                  <a:pt x="43807" y="567514"/>
                </a:lnTo>
                <a:lnTo>
                  <a:pt x="44069" y="567054"/>
                </a:lnTo>
                <a:lnTo>
                  <a:pt x="44242" y="567054"/>
                </a:lnTo>
                <a:lnTo>
                  <a:pt x="49967" y="561023"/>
                </a:lnTo>
                <a:lnTo>
                  <a:pt x="50561" y="560323"/>
                </a:lnTo>
                <a:lnTo>
                  <a:pt x="57023" y="553973"/>
                </a:lnTo>
                <a:lnTo>
                  <a:pt x="58103" y="553084"/>
                </a:lnTo>
                <a:lnTo>
                  <a:pt x="73447" y="539747"/>
                </a:lnTo>
                <a:lnTo>
                  <a:pt x="91436" y="526163"/>
                </a:lnTo>
                <a:lnTo>
                  <a:pt x="110326" y="513492"/>
                </a:lnTo>
                <a:lnTo>
                  <a:pt x="133744" y="499282"/>
                </a:lnTo>
                <a:lnTo>
                  <a:pt x="133900" y="499282"/>
                </a:lnTo>
                <a:lnTo>
                  <a:pt x="158623" y="485901"/>
                </a:lnTo>
                <a:lnTo>
                  <a:pt x="184602" y="473048"/>
                </a:lnTo>
                <a:lnTo>
                  <a:pt x="212978" y="460374"/>
                </a:lnTo>
                <a:lnTo>
                  <a:pt x="242697" y="448182"/>
                </a:lnTo>
                <a:lnTo>
                  <a:pt x="273839" y="436379"/>
                </a:lnTo>
                <a:lnTo>
                  <a:pt x="274045" y="436379"/>
                </a:lnTo>
                <a:lnTo>
                  <a:pt x="306958" y="424941"/>
                </a:lnTo>
                <a:lnTo>
                  <a:pt x="376595" y="403674"/>
                </a:lnTo>
                <a:lnTo>
                  <a:pt x="413639" y="393699"/>
                </a:lnTo>
                <a:lnTo>
                  <a:pt x="451739" y="384301"/>
                </a:lnTo>
                <a:lnTo>
                  <a:pt x="490854" y="375538"/>
                </a:lnTo>
                <a:lnTo>
                  <a:pt x="530732" y="367283"/>
                </a:lnTo>
                <a:lnTo>
                  <a:pt x="571753" y="359790"/>
                </a:lnTo>
                <a:lnTo>
                  <a:pt x="613409" y="352932"/>
                </a:lnTo>
                <a:lnTo>
                  <a:pt x="655827" y="346836"/>
                </a:lnTo>
                <a:lnTo>
                  <a:pt x="698753" y="341375"/>
                </a:lnTo>
                <a:lnTo>
                  <a:pt x="742442" y="336676"/>
                </a:lnTo>
                <a:lnTo>
                  <a:pt x="786383" y="332739"/>
                </a:lnTo>
                <a:lnTo>
                  <a:pt x="830706" y="329691"/>
                </a:lnTo>
                <a:lnTo>
                  <a:pt x="875283" y="327405"/>
                </a:lnTo>
                <a:lnTo>
                  <a:pt x="919988" y="326135"/>
                </a:lnTo>
                <a:lnTo>
                  <a:pt x="1009776" y="325119"/>
                </a:lnTo>
                <a:lnTo>
                  <a:pt x="1054861" y="323722"/>
                </a:lnTo>
                <a:lnTo>
                  <a:pt x="1099693" y="321563"/>
                </a:lnTo>
                <a:lnTo>
                  <a:pt x="1144270" y="318388"/>
                </a:lnTo>
                <a:lnTo>
                  <a:pt x="1188466" y="314451"/>
                </a:lnTo>
                <a:lnTo>
                  <a:pt x="1232407" y="309752"/>
                </a:lnTo>
                <a:lnTo>
                  <a:pt x="1275588" y="304291"/>
                </a:lnTo>
                <a:lnTo>
                  <a:pt x="1318259" y="298068"/>
                </a:lnTo>
                <a:lnTo>
                  <a:pt x="1360170" y="291210"/>
                </a:lnTo>
                <a:lnTo>
                  <a:pt x="1401318" y="283590"/>
                </a:lnTo>
                <a:lnTo>
                  <a:pt x="1441577" y="275335"/>
                </a:lnTo>
                <a:lnTo>
                  <a:pt x="1480947" y="266572"/>
                </a:lnTo>
                <a:lnTo>
                  <a:pt x="1519174" y="257174"/>
                </a:lnTo>
                <a:lnTo>
                  <a:pt x="1556384" y="247141"/>
                </a:lnTo>
                <a:lnTo>
                  <a:pt x="1626870" y="225678"/>
                </a:lnTo>
                <a:lnTo>
                  <a:pt x="1691525" y="202275"/>
                </a:lnTo>
                <a:lnTo>
                  <a:pt x="1750314" y="177164"/>
                </a:lnTo>
                <a:lnTo>
                  <a:pt x="1802002" y="150494"/>
                </a:lnTo>
                <a:lnTo>
                  <a:pt x="1840737" y="126037"/>
                </a:lnTo>
                <a:lnTo>
                  <a:pt x="1818114" y="126037"/>
                </a:lnTo>
                <a:lnTo>
                  <a:pt x="1819414" y="125160"/>
                </a:lnTo>
                <a:close/>
              </a:path>
              <a:path w="1931034" h="638175">
                <a:moveTo>
                  <a:pt x="43820" y="567514"/>
                </a:moveTo>
                <a:lnTo>
                  <a:pt x="43052" y="568324"/>
                </a:lnTo>
                <a:lnTo>
                  <a:pt x="43382" y="568324"/>
                </a:lnTo>
                <a:lnTo>
                  <a:pt x="43820" y="567514"/>
                </a:lnTo>
                <a:close/>
              </a:path>
              <a:path w="1931034" h="638175">
                <a:moveTo>
                  <a:pt x="44242" y="567054"/>
                </a:moveTo>
                <a:lnTo>
                  <a:pt x="44069" y="567054"/>
                </a:lnTo>
                <a:lnTo>
                  <a:pt x="43820" y="567514"/>
                </a:lnTo>
                <a:lnTo>
                  <a:pt x="44242" y="567054"/>
                </a:lnTo>
                <a:close/>
              </a:path>
              <a:path w="1931034" h="638175">
                <a:moveTo>
                  <a:pt x="111580" y="512751"/>
                </a:moveTo>
                <a:lnTo>
                  <a:pt x="111429" y="512751"/>
                </a:lnTo>
                <a:lnTo>
                  <a:pt x="110326" y="513492"/>
                </a:lnTo>
                <a:lnTo>
                  <a:pt x="111580" y="512751"/>
                </a:lnTo>
                <a:close/>
              </a:path>
              <a:path w="1931034" h="638175">
                <a:moveTo>
                  <a:pt x="133900" y="499282"/>
                </a:moveTo>
                <a:lnTo>
                  <a:pt x="133744" y="499282"/>
                </a:lnTo>
                <a:lnTo>
                  <a:pt x="132460" y="500062"/>
                </a:lnTo>
                <a:lnTo>
                  <a:pt x="133900" y="499282"/>
                </a:lnTo>
                <a:close/>
              </a:path>
              <a:path w="1931034" h="638175">
                <a:moveTo>
                  <a:pt x="187587" y="471698"/>
                </a:moveTo>
                <a:lnTo>
                  <a:pt x="184582" y="473048"/>
                </a:lnTo>
                <a:lnTo>
                  <a:pt x="184834" y="473048"/>
                </a:lnTo>
                <a:lnTo>
                  <a:pt x="187587" y="471698"/>
                </a:lnTo>
                <a:close/>
              </a:path>
              <a:path w="1931034" h="638175">
                <a:moveTo>
                  <a:pt x="274045" y="436379"/>
                </a:moveTo>
                <a:lnTo>
                  <a:pt x="273839" y="436379"/>
                </a:lnTo>
                <a:lnTo>
                  <a:pt x="271565" y="437240"/>
                </a:lnTo>
                <a:lnTo>
                  <a:pt x="274045" y="436379"/>
                </a:lnTo>
                <a:close/>
              </a:path>
              <a:path w="1931034" h="638175">
                <a:moveTo>
                  <a:pt x="380194" y="402695"/>
                </a:moveTo>
                <a:lnTo>
                  <a:pt x="376576" y="403674"/>
                </a:lnTo>
                <a:lnTo>
                  <a:pt x="376828" y="403674"/>
                </a:lnTo>
                <a:lnTo>
                  <a:pt x="380194" y="402695"/>
                </a:lnTo>
                <a:close/>
              </a:path>
              <a:path w="1931034" h="638175">
                <a:moveTo>
                  <a:pt x="1622683" y="213687"/>
                </a:moveTo>
                <a:lnTo>
                  <a:pt x="1622466" y="213687"/>
                </a:lnTo>
                <a:lnTo>
                  <a:pt x="1620837" y="214248"/>
                </a:lnTo>
                <a:lnTo>
                  <a:pt x="1622683" y="213687"/>
                </a:lnTo>
                <a:close/>
              </a:path>
              <a:path w="1931034" h="638175">
                <a:moveTo>
                  <a:pt x="1686972" y="190456"/>
                </a:moveTo>
                <a:lnTo>
                  <a:pt x="1686734" y="190456"/>
                </a:lnTo>
                <a:lnTo>
                  <a:pt x="1683664" y="191705"/>
                </a:lnTo>
                <a:lnTo>
                  <a:pt x="1686972" y="190456"/>
                </a:lnTo>
                <a:close/>
              </a:path>
              <a:path w="1931034" h="638175">
                <a:moveTo>
                  <a:pt x="1716695" y="178269"/>
                </a:moveTo>
                <a:lnTo>
                  <a:pt x="1716459" y="178269"/>
                </a:lnTo>
                <a:lnTo>
                  <a:pt x="1713879" y="179415"/>
                </a:lnTo>
                <a:lnTo>
                  <a:pt x="1716695" y="178269"/>
                </a:lnTo>
                <a:close/>
              </a:path>
              <a:path w="1931034" h="638175">
                <a:moveTo>
                  <a:pt x="1744767" y="165702"/>
                </a:moveTo>
                <a:lnTo>
                  <a:pt x="1744532" y="165702"/>
                </a:lnTo>
                <a:lnTo>
                  <a:pt x="1742026" y="166919"/>
                </a:lnTo>
                <a:lnTo>
                  <a:pt x="1744767" y="165702"/>
                </a:lnTo>
                <a:close/>
              </a:path>
              <a:path w="1931034" h="638175">
                <a:moveTo>
                  <a:pt x="1918461" y="0"/>
                </a:moveTo>
                <a:lnTo>
                  <a:pt x="1918122" y="6680"/>
                </a:lnTo>
                <a:lnTo>
                  <a:pt x="1917133" y="13969"/>
                </a:lnTo>
                <a:lnTo>
                  <a:pt x="1917059" y="14519"/>
                </a:lnTo>
                <a:lnTo>
                  <a:pt x="1915524" y="20878"/>
                </a:lnTo>
                <a:lnTo>
                  <a:pt x="1913265" y="27774"/>
                </a:lnTo>
                <a:lnTo>
                  <a:pt x="1913212" y="28228"/>
                </a:lnTo>
                <a:lnTo>
                  <a:pt x="1912810" y="29164"/>
                </a:lnTo>
                <a:lnTo>
                  <a:pt x="1910888" y="33943"/>
                </a:lnTo>
                <a:lnTo>
                  <a:pt x="1906904" y="41909"/>
                </a:lnTo>
                <a:lnTo>
                  <a:pt x="1902708" y="49275"/>
                </a:lnTo>
                <a:lnTo>
                  <a:pt x="1898271" y="55879"/>
                </a:lnTo>
                <a:lnTo>
                  <a:pt x="1898126" y="56027"/>
                </a:lnTo>
                <a:lnTo>
                  <a:pt x="1892274" y="63741"/>
                </a:lnTo>
                <a:lnTo>
                  <a:pt x="1886711" y="70230"/>
                </a:lnTo>
                <a:lnTo>
                  <a:pt x="1880162" y="77275"/>
                </a:lnTo>
                <a:lnTo>
                  <a:pt x="1880042" y="77532"/>
                </a:lnTo>
                <a:lnTo>
                  <a:pt x="1878631" y="78892"/>
                </a:lnTo>
                <a:lnTo>
                  <a:pt x="1873188" y="84267"/>
                </a:lnTo>
                <a:lnTo>
                  <a:pt x="1872795" y="84492"/>
                </a:lnTo>
                <a:lnTo>
                  <a:pt x="1857255" y="98100"/>
                </a:lnTo>
                <a:lnTo>
                  <a:pt x="1839379" y="111690"/>
                </a:lnTo>
                <a:lnTo>
                  <a:pt x="1818114" y="126037"/>
                </a:lnTo>
                <a:lnTo>
                  <a:pt x="1840737" y="126037"/>
                </a:lnTo>
                <a:lnTo>
                  <a:pt x="1881631" y="93725"/>
                </a:lnTo>
                <a:lnTo>
                  <a:pt x="1908428" y="63499"/>
                </a:lnTo>
                <a:lnTo>
                  <a:pt x="1927732" y="24510"/>
                </a:lnTo>
                <a:lnTo>
                  <a:pt x="1931034" y="761"/>
                </a:lnTo>
                <a:lnTo>
                  <a:pt x="1918461" y="0"/>
                </a:lnTo>
                <a:close/>
              </a:path>
              <a:path w="1931034" h="638175">
                <a:moveTo>
                  <a:pt x="1874309" y="83166"/>
                </a:moveTo>
                <a:lnTo>
                  <a:pt x="1872795" y="84492"/>
                </a:lnTo>
                <a:lnTo>
                  <a:pt x="1873188" y="84267"/>
                </a:lnTo>
                <a:lnTo>
                  <a:pt x="1874309" y="831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422592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Multi-headed</a:t>
            </a:r>
            <a:r>
              <a:rPr sz="3350" spc="-5" dirty="0"/>
              <a:t> </a:t>
            </a:r>
            <a:r>
              <a:rPr sz="3350" spc="-10" dirty="0"/>
              <a:t>attention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610984" y="1162748"/>
            <a:ext cx="8360409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What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want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look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multiple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places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sentence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once?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466" y="1764982"/>
            <a:ext cx="9969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mbria Math"/>
                <a:cs typeface="Cambria Math"/>
              </a:rPr>
              <a:t>𝑖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3101" y="1611439"/>
            <a:ext cx="995045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5"/>
              </a:spcBef>
              <a:buClr>
                <a:srgbClr val="007B92"/>
              </a:buClr>
              <a:buFont typeface="Times New Roman"/>
              <a:buChar char="•"/>
              <a:tabLst>
                <a:tab pos="266700" algn="l"/>
              </a:tabLst>
            </a:pPr>
            <a:r>
              <a:rPr sz="2300" dirty="0">
                <a:latin typeface="Calibri"/>
                <a:cs typeface="Calibri"/>
              </a:rPr>
              <a:t>For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𝑖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self-attention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“looks” where </a:t>
            </a:r>
            <a:r>
              <a:rPr sz="2300" spc="75" dirty="0">
                <a:latin typeface="Cambria Math"/>
                <a:cs typeface="Cambria Math"/>
              </a:rPr>
              <a:t>𝑥</a:t>
            </a:r>
            <a:r>
              <a:rPr sz="2475" spc="112" baseline="31986" dirty="0">
                <a:latin typeface="Cambria Math"/>
                <a:cs typeface="Cambria Math"/>
              </a:rPr>
              <a:t>⊤</a:t>
            </a:r>
            <a:r>
              <a:rPr sz="2300" spc="75" dirty="0">
                <a:latin typeface="Cambria Math"/>
                <a:cs typeface="Cambria Math"/>
              </a:rPr>
              <a:t>𝑄</a:t>
            </a:r>
            <a:r>
              <a:rPr sz="2475" spc="112" baseline="28619" dirty="0">
                <a:latin typeface="Cambria Math"/>
                <a:cs typeface="Cambria Math"/>
              </a:rPr>
              <a:t>⊤</a:t>
            </a:r>
            <a:r>
              <a:rPr sz="2300" spc="75" dirty="0">
                <a:latin typeface="Cambria Math"/>
                <a:cs typeface="Cambria Math"/>
              </a:rPr>
              <a:t>𝐾𝑥</a:t>
            </a:r>
            <a:r>
              <a:rPr sz="2475" spc="112" baseline="-15151" dirty="0">
                <a:latin typeface="Cambria Math"/>
                <a:cs typeface="Cambria Math"/>
              </a:rPr>
              <a:t>𝑗</a:t>
            </a:r>
            <a:r>
              <a:rPr sz="2475" spc="434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high,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maybe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want</a:t>
            </a:r>
            <a:r>
              <a:rPr sz="2300" spc="-25" dirty="0">
                <a:latin typeface="Calibri"/>
                <a:cs typeface="Calibri"/>
              </a:rPr>
              <a:t> to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984" y="1916646"/>
            <a:ext cx="9029700" cy="86868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655"/>
              </a:spcBef>
            </a:pPr>
            <a:r>
              <a:rPr sz="2300" dirty="0">
                <a:latin typeface="Calibri"/>
                <a:cs typeface="Calibri"/>
              </a:rPr>
              <a:t>focus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different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𝑗</a:t>
            </a:r>
            <a:r>
              <a:rPr sz="2300" spc="5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different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reasons?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We’ll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define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multiple</a:t>
            </a:r>
            <a:r>
              <a:rPr sz="2300" b="1" spc="-7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attention</a:t>
            </a:r>
            <a:r>
              <a:rPr sz="2300" b="1" spc="-7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“heads”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multiple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Q,K,V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matrices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7430" y="2951543"/>
            <a:ext cx="49085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50" spc="80" dirty="0">
                <a:latin typeface="Cambria Math"/>
                <a:cs typeface="Cambria Math"/>
              </a:rPr>
              <a:t>𝑑×</a:t>
            </a:r>
            <a:r>
              <a:rPr sz="2025" u="heavy" spc="120" baseline="41152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𝑑</a:t>
            </a:r>
            <a:endParaRPr sz="2025" baseline="41152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884" y="3012376"/>
            <a:ext cx="10672445" cy="11461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93700" marR="55880" indent="-343535">
              <a:lnSpc>
                <a:spcPts val="2740"/>
              </a:lnSpc>
              <a:spcBef>
                <a:spcPts val="21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  <a:tab pos="2828925" algn="l"/>
              </a:tabLst>
            </a:pPr>
            <a:r>
              <a:rPr sz="2300" spc="-10" dirty="0">
                <a:latin typeface="Calibri"/>
                <a:cs typeface="Calibri"/>
              </a:rPr>
              <a:t>Let</a:t>
            </a:r>
            <a:r>
              <a:rPr sz="2300" spc="-10" dirty="0">
                <a:latin typeface="Cambria Math"/>
                <a:cs typeface="Cambria Math"/>
              </a:rPr>
              <a:t>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𝑄</a:t>
            </a:r>
            <a:r>
              <a:rPr sz="2475" baseline="-15151" dirty="0">
                <a:latin typeface="Cambria Math"/>
                <a:cs typeface="Cambria Math"/>
              </a:rPr>
              <a:t>ℓ</a:t>
            </a:r>
            <a:r>
              <a:rPr sz="2300" dirty="0">
                <a:latin typeface="Cambria Math"/>
                <a:cs typeface="Cambria Math"/>
              </a:rPr>
              <a:t>,</a:t>
            </a:r>
            <a:r>
              <a:rPr sz="2300" spc="-130" dirty="0">
                <a:latin typeface="Cambria Math"/>
                <a:cs typeface="Cambria Math"/>
              </a:rPr>
              <a:t> </a:t>
            </a:r>
            <a:r>
              <a:rPr sz="2300" spc="-35" dirty="0">
                <a:latin typeface="Cambria Math"/>
                <a:cs typeface="Cambria Math"/>
              </a:rPr>
              <a:t>𝐾</a:t>
            </a:r>
            <a:r>
              <a:rPr sz="2475" spc="-52" baseline="-15151" dirty="0">
                <a:latin typeface="Cambria Math"/>
                <a:cs typeface="Cambria Math"/>
              </a:rPr>
              <a:t>ℓ</a:t>
            </a:r>
            <a:r>
              <a:rPr sz="2300" spc="-35" dirty="0">
                <a:latin typeface="Cambria Math"/>
                <a:cs typeface="Cambria Math"/>
              </a:rPr>
              <a:t>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spc="-30" dirty="0">
                <a:latin typeface="Cambria Math"/>
                <a:cs typeface="Cambria Math"/>
              </a:rPr>
              <a:t>𝑉</a:t>
            </a:r>
            <a:r>
              <a:rPr sz="2475" spc="-44" baseline="-15151" dirty="0">
                <a:latin typeface="Cambria Math"/>
                <a:cs typeface="Cambria Math"/>
              </a:rPr>
              <a:t>ℓ</a:t>
            </a:r>
            <a:r>
              <a:rPr sz="2475" spc="367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80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ℝ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025" spc="202" baseline="12345" dirty="0">
                <a:latin typeface="Cambria Math"/>
                <a:cs typeface="Cambria Math"/>
              </a:rPr>
              <a:t>ℎ</a:t>
            </a:r>
            <a:r>
              <a:rPr sz="2300" spc="135" dirty="0">
                <a:latin typeface="Calibri"/>
                <a:cs typeface="Calibri"/>
              </a:rPr>
              <a:t>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where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ℎ</a:t>
            </a:r>
            <a:r>
              <a:rPr sz="2300" spc="20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number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heads,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ℓ</a:t>
            </a:r>
            <a:r>
              <a:rPr sz="2300" spc="-15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ranges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1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ℎ</a:t>
            </a:r>
            <a:r>
              <a:rPr sz="2300" spc="-25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46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Each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attention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performs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independently: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47903" y="4278503"/>
            <a:ext cx="1465580" cy="353695"/>
          </a:xfrm>
          <a:custGeom>
            <a:avLst/>
            <a:gdLst/>
            <a:ahLst/>
            <a:cxnLst/>
            <a:rect l="l" t="t" r="r" b="b"/>
            <a:pathLst>
              <a:path w="1465579" h="353695">
                <a:moveTo>
                  <a:pt x="1372483" y="0"/>
                </a:moveTo>
                <a:lnTo>
                  <a:pt x="1368927" y="11684"/>
                </a:lnTo>
                <a:lnTo>
                  <a:pt x="1385121" y="20089"/>
                </a:lnTo>
                <a:lnTo>
                  <a:pt x="1399232" y="32353"/>
                </a:lnTo>
                <a:lnTo>
                  <a:pt x="1421251" y="68453"/>
                </a:lnTo>
                <a:lnTo>
                  <a:pt x="1434570" y="117395"/>
                </a:lnTo>
                <a:lnTo>
                  <a:pt x="1439031" y="176911"/>
                </a:lnTo>
                <a:lnTo>
                  <a:pt x="1437913" y="207891"/>
                </a:lnTo>
                <a:lnTo>
                  <a:pt x="1429011" y="261993"/>
                </a:lnTo>
                <a:lnTo>
                  <a:pt x="1411271" y="305020"/>
                </a:lnTo>
                <a:lnTo>
                  <a:pt x="1385121" y="333353"/>
                </a:lnTo>
                <a:lnTo>
                  <a:pt x="1368927" y="341757"/>
                </a:lnTo>
                <a:lnTo>
                  <a:pt x="1372483" y="353441"/>
                </a:lnTo>
                <a:lnTo>
                  <a:pt x="1411932" y="332422"/>
                </a:lnTo>
                <a:lnTo>
                  <a:pt x="1441190" y="292735"/>
                </a:lnTo>
                <a:lnTo>
                  <a:pt x="1459303" y="239236"/>
                </a:lnTo>
                <a:lnTo>
                  <a:pt x="1465314" y="176911"/>
                </a:lnTo>
                <a:lnTo>
                  <a:pt x="1463885" y="145837"/>
                </a:lnTo>
                <a:lnTo>
                  <a:pt x="1451764" y="86326"/>
                </a:lnTo>
                <a:lnTo>
                  <a:pt x="1427829" y="38540"/>
                </a:lnTo>
                <a:lnTo>
                  <a:pt x="1393487" y="8163"/>
                </a:lnTo>
                <a:lnTo>
                  <a:pt x="1372483" y="0"/>
                </a:lnTo>
                <a:close/>
              </a:path>
              <a:path w="1465579" h="353695">
                <a:moveTo>
                  <a:pt x="92958" y="0"/>
                </a:moveTo>
                <a:lnTo>
                  <a:pt x="53445" y="21018"/>
                </a:lnTo>
                <a:lnTo>
                  <a:pt x="24124" y="60706"/>
                </a:lnTo>
                <a:lnTo>
                  <a:pt x="6058" y="114220"/>
                </a:lnTo>
                <a:lnTo>
                  <a:pt x="0" y="176911"/>
                </a:lnTo>
                <a:lnTo>
                  <a:pt x="1456" y="207891"/>
                </a:lnTo>
                <a:lnTo>
                  <a:pt x="13602" y="267116"/>
                </a:lnTo>
                <a:lnTo>
                  <a:pt x="37504" y="314900"/>
                </a:lnTo>
                <a:lnTo>
                  <a:pt x="71933" y="345277"/>
                </a:lnTo>
                <a:lnTo>
                  <a:pt x="92958" y="353441"/>
                </a:lnTo>
                <a:lnTo>
                  <a:pt x="96514" y="341757"/>
                </a:lnTo>
                <a:lnTo>
                  <a:pt x="80246" y="333353"/>
                </a:lnTo>
                <a:lnTo>
                  <a:pt x="66097" y="321103"/>
                </a:lnTo>
                <a:lnTo>
                  <a:pt x="44063" y="285115"/>
                </a:lnTo>
                <a:lnTo>
                  <a:pt x="30743" y="236251"/>
                </a:lnTo>
                <a:lnTo>
                  <a:pt x="26283" y="176911"/>
                </a:lnTo>
                <a:lnTo>
                  <a:pt x="27400" y="145837"/>
                </a:lnTo>
                <a:lnTo>
                  <a:pt x="36302" y="91596"/>
                </a:lnTo>
                <a:lnTo>
                  <a:pt x="54044" y="48474"/>
                </a:lnTo>
                <a:lnTo>
                  <a:pt x="80246" y="20089"/>
                </a:lnTo>
                <a:lnTo>
                  <a:pt x="96514" y="11684"/>
                </a:lnTo>
                <a:lnTo>
                  <a:pt x="929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30978" y="4393501"/>
            <a:ext cx="13462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latin typeface="Cambria Math"/>
                <a:cs typeface="Cambria Math"/>
              </a:rPr>
              <a:t>ℓ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0401" y="4239196"/>
            <a:ext cx="8312784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05"/>
              </a:spcBef>
              <a:buClr>
                <a:srgbClr val="007B92"/>
              </a:buClr>
              <a:buFont typeface="Times New Roman"/>
              <a:buChar char="•"/>
              <a:tabLst>
                <a:tab pos="279400" algn="l"/>
                <a:tab pos="1697989" algn="l"/>
                <a:tab pos="2825750" algn="l"/>
                <a:tab pos="4276725" algn="l"/>
                <a:tab pos="5970270" algn="l"/>
              </a:tabLst>
            </a:pP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475" baseline="-15151" dirty="0">
                <a:latin typeface="Cambria Math"/>
                <a:cs typeface="Cambria Math"/>
              </a:rPr>
              <a:t>ℓ</a:t>
            </a:r>
            <a:r>
              <a:rPr sz="2475" spc="630" baseline="-15151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=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300" spc="-10" dirty="0">
                <a:latin typeface="Cambria Math"/>
                <a:cs typeface="Cambria Math"/>
              </a:rPr>
              <a:t>softmax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300" spc="65" dirty="0">
                <a:latin typeface="Cambria Math"/>
                <a:cs typeface="Cambria Math"/>
              </a:rPr>
              <a:t>𝑋𝑄</a:t>
            </a:r>
            <a:r>
              <a:rPr sz="2475" spc="97" baseline="-15151" dirty="0">
                <a:latin typeface="Cambria Math"/>
                <a:cs typeface="Cambria Math"/>
              </a:rPr>
              <a:t>ℓ</a:t>
            </a:r>
            <a:r>
              <a:rPr sz="2300" spc="65" dirty="0">
                <a:latin typeface="Cambria Math"/>
                <a:cs typeface="Cambria Math"/>
              </a:rPr>
              <a:t>𝐾</a:t>
            </a:r>
            <a:r>
              <a:rPr sz="2475" spc="97" baseline="31986" dirty="0">
                <a:latin typeface="Cambria Math"/>
                <a:cs typeface="Cambria Math"/>
              </a:rPr>
              <a:t>⊤</a:t>
            </a:r>
            <a:r>
              <a:rPr sz="2300" spc="65" dirty="0">
                <a:latin typeface="Cambria Math"/>
                <a:cs typeface="Cambria Math"/>
              </a:rPr>
              <a:t>𝑋</a:t>
            </a:r>
            <a:r>
              <a:rPr sz="2475" spc="97" baseline="28619" dirty="0">
                <a:latin typeface="Cambria Math"/>
                <a:cs typeface="Cambria Math"/>
              </a:rPr>
              <a:t>⊤</a:t>
            </a:r>
            <a:r>
              <a:rPr sz="2475" baseline="28619" dirty="0">
                <a:latin typeface="Cambria Math"/>
                <a:cs typeface="Cambria Math"/>
              </a:rPr>
              <a:t>	</a:t>
            </a:r>
            <a:r>
              <a:rPr sz="2300" dirty="0">
                <a:latin typeface="Cambria Math"/>
                <a:cs typeface="Cambria Math"/>
              </a:rPr>
              <a:t>∗</a:t>
            </a:r>
            <a:r>
              <a:rPr sz="2300" spc="-25" dirty="0">
                <a:latin typeface="Cambria Math"/>
                <a:cs typeface="Cambria Math"/>
              </a:rPr>
              <a:t> </a:t>
            </a:r>
            <a:r>
              <a:rPr sz="2300" spc="-40" dirty="0">
                <a:latin typeface="Cambria Math"/>
                <a:cs typeface="Cambria Math"/>
              </a:rPr>
              <a:t>𝑋𝑉</a:t>
            </a:r>
            <a:r>
              <a:rPr sz="2475" spc="-60" baseline="-15151" dirty="0">
                <a:latin typeface="Cambria Math"/>
                <a:cs typeface="Cambria Math"/>
              </a:rPr>
              <a:t>ℓ</a:t>
            </a:r>
            <a:r>
              <a:rPr sz="2300" spc="-40" dirty="0">
                <a:latin typeface="Calibri"/>
                <a:cs typeface="Calibri"/>
              </a:rPr>
              <a:t>, </a:t>
            </a:r>
            <a:r>
              <a:rPr sz="2300" spc="-10" dirty="0">
                <a:latin typeface="Calibri"/>
                <a:cs typeface="Calibri"/>
              </a:rPr>
              <a:t>where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475" baseline="-15151" dirty="0">
                <a:latin typeface="Cambria Math"/>
                <a:cs typeface="Cambria Math"/>
              </a:rPr>
              <a:t>ℓ</a:t>
            </a:r>
            <a:r>
              <a:rPr sz="2475" spc="585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30" dirty="0">
                <a:latin typeface="Cambria Math"/>
                <a:cs typeface="Cambria Math"/>
              </a:rPr>
              <a:t> </a:t>
            </a:r>
            <a:r>
              <a:rPr sz="2300" spc="55" dirty="0">
                <a:latin typeface="Cambria Math"/>
                <a:cs typeface="Cambria Math"/>
              </a:rPr>
              <a:t>ℝ</a:t>
            </a:r>
            <a:r>
              <a:rPr sz="2475" spc="82" baseline="28619" dirty="0">
                <a:latin typeface="Cambria Math"/>
                <a:cs typeface="Cambria Math"/>
              </a:rPr>
              <a:t>𝑛 </a:t>
            </a:r>
            <a:r>
              <a:rPr sz="2475" baseline="28619" dirty="0">
                <a:latin typeface="Cambria Math"/>
                <a:cs typeface="Cambria Math"/>
              </a:rPr>
              <a:t>×</a:t>
            </a:r>
            <a:r>
              <a:rPr sz="2475" spc="37" baseline="28619" dirty="0">
                <a:latin typeface="Cambria Math"/>
                <a:cs typeface="Cambria Math"/>
              </a:rPr>
              <a:t> </a:t>
            </a:r>
            <a:r>
              <a:rPr sz="2475" spc="104" baseline="28619" dirty="0">
                <a:latin typeface="Cambria Math"/>
                <a:cs typeface="Cambria Math"/>
              </a:rPr>
              <a:t>𝑑/ℎ</a:t>
            </a:r>
            <a:endParaRPr sz="2475" baseline="28619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64201" y="5187950"/>
            <a:ext cx="64135" cy="271780"/>
          </a:xfrm>
          <a:custGeom>
            <a:avLst/>
            <a:gdLst/>
            <a:ahLst/>
            <a:cxnLst/>
            <a:rect l="l" t="t" r="r" b="b"/>
            <a:pathLst>
              <a:path w="64135" h="271779">
                <a:moveTo>
                  <a:pt x="63754" y="0"/>
                </a:moveTo>
                <a:lnTo>
                  <a:pt x="0" y="0"/>
                </a:lnTo>
                <a:lnTo>
                  <a:pt x="0" y="11430"/>
                </a:lnTo>
                <a:lnTo>
                  <a:pt x="40005" y="11430"/>
                </a:lnTo>
                <a:lnTo>
                  <a:pt x="40005" y="261620"/>
                </a:lnTo>
                <a:lnTo>
                  <a:pt x="0" y="261620"/>
                </a:lnTo>
                <a:lnTo>
                  <a:pt x="0" y="271780"/>
                </a:lnTo>
                <a:lnTo>
                  <a:pt x="63754" y="271780"/>
                </a:lnTo>
                <a:lnTo>
                  <a:pt x="63754" y="261620"/>
                </a:lnTo>
                <a:lnTo>
                  <a:pt x="63754" y="11430"/>
                </a:lnTo>
                <a:lnTo>
                  <a:pt x="63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24709" y="5187950"/>
            <a:ext cx="64135" cy="271780"/>
          </a:xfrm>
          <a:custGeom>
            <a:avLst/>
            <a:gdLst/>
            <a:ahLst/>
            <a:cxnLst/>
            <a:rect l="l" t="t" r="r" b="b"/>
            <a:pathLst>
              <a:path w="64135" h="271779">
                <a:moveTo>
                  <a:pt x="6375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61620"/>
                </a:lnTo>
                <a:lnTo>
                  <a:pt x="0" y="271780"/>
                </a:lnTo>
                <a:lnTo>
                  <a:pt x="63754" y="271780"/>
                </a:lnTo>
                <a:lnTo>
                  <a:pt x="63754" y="261620"/>
                </a:lnTo>
                <a:lnTo>
                  <a:pt x="23749" y="261620"/>
                </a:lnTo>
                <a:lnTo>
                  <a:pt x="23749" y="11430"/>
                </a:lnTo>
                <a:lnTo>
                  <a:pt x="63754" y="11430"/>
                </a:lnTo>
                <a:lnTo>
                  <a:pt x="63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5584" y="4600507"/>
            <a:ext cx="7079615" cy="8858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20"/>
              </a:spcBef>
              <a:buClr>
                <a:srgbClr val="8B1515"/>
              </a:buClr>
              <a:buFont typeface="Times New Roman"/>
              <a:buChar char="•"/>
              <a:tabLst>
                <a:tab pos="381000" algn="l"/>
              </a:tabLst>
            </a:pPr>
            <a:r>
              <a:rPr sz="2300" dirty="0">
                <a:latin typeface="Calibri"/>
                <a:cs typeface="Calibri"/>
              </a:rPr>
              <a:t>Then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heads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combined!</a:t>
            </a:r>
            <a:endParaRPr sz="23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630"/>
              </a:spcBef>
              <a:buClr>
                <a:srgbClr val="007B92"/>
              </a:buClr>
              <a:buFont typeface="Times New Roman"/>
              <a:buChar char="•"/>
              <a:tabLst>
                <a:tab pos="723265" algn="l"/>
                <a:tab pos="2110740" algn="l"/>
              </a:tabLst>
            </a:pP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300" spc="100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=</a:t>
            </a:r>
            <a:r>
              <a:rPr sz="2300" dirty="0">
                <a:latin typeface="Cambria Math"/>
                <a:cs typeface="Cambria Math"/>
              </a:rPr>
              <a:t>	output</a:t>
            </a:r>
            <a:r>
              <a:rPr sz="2475" baseline="-15151" dirty="0">
                <a:latin typeface="Cambria Math"/>
                <a:cs typeface="Cambria Math"/>
              </a:rPr>
              <a:t>1</a:t>
            </a:r>
            <a:r>
              <a:rPr sz="2300" dirty="0">
                <a:latin typeface="Cambria Math"/>
                <a:cs typeface="Cambria Math"/>
              </a:rPr>
              <a:t>,</a:t>
            </a:r>
            <a:r>
              <a:rPr sz="2300" spc="-9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…</a:t>
            </a:r>
            <a:r>
              <a:rPr sz="2300" spc="-11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,</a:t>
            </a:r>
            <a:r>
              <a:rPr sz="2300" spc="-8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475" baseline="-15151" dirty="0">
                <a:latin typeface="Cambria Math"/>
                <a:cs typeface="Cambria Math"/>
              </a:rPr>
              <a:t>ℎ</a:t>
            </a:r>
            <a:r>
              <a:rPr sz="2475" spc="225" baseline="-15151" dirty="0">
                <a:latin typeface="Cambria Math"/>
                <a:cs typeface="Cambria Math"/>
              </a:rPr>
              <a:t>  </a:t>
            </a:r>
            <a:r>
              <a:rPr sz="2300" dirty="0">
                <a:latin typeface="Cambria Math"/>
                <a:cs typeface="Cambria Math"/>
              </a:rPr>
              <a:t>𝑌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where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𝑌</a:t>
            </a:r>
            <a:r>
              <a:rPr sz="2300" spc="24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80" dirty="0">
                <a:latin typeface="Cambria Math"/>
                <a:cs typeface="Cambria Math"/>
              </a:rPr>
              <a:t> </a:t>
            </a:r>
            <a:r>
              <a:rPr sz="2300" spc="45" dirty="0">
                <a:latin typeface="Cambria Math"/>
                <a:cs typeface="Cambria Math"/>
              </a:rPr>
              <a:t>ℝ</a:t>
            </a:r>
            <a:r>
              <a:rPr sz="2475" spc="67" baseline="28619" dirty="0">
                <a:latin typeface="Cambria Math"/>
                <a:cs typeface="Cambria Math"/>
              </a:rPr>
              <a:t>𝑑×𝑑</a:t>
            </a:r>
            <a:endParaRPr sz="2475" baseline="28619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785">
              <a:lnSpc>
                <a:spcPts val="2615"/>
              </a:lnSpc>
            </a:pPr>
            <a:r>
              <a:rPr sz="2300" spc="-50" dirty="0">
                <a:solidFill>
                  <a:srgbClr val="8B1515"/>
                </a:solidFill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  <a:p>
            <a:pPr marL="186690">
              <a:lnSpc>
                <a:spcPct val="100000"/>
              </a:lnSpc>
              <a:spcBef>
                <a:spcPts val="1645"/>
              </a:spcBef>
            </a:pPr>
            <a:r>
              <a:rPr spc="-25" dirty="0"/>
              <a:t>35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4354" y="6024629"/>
            <a:ext cx="9945370" cy="31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sz="2300" dirty="0">
                <a:latin typeface="Calibri"/>
                <a:cs typeface="Calibri"/>
              </a:rPr>
              <a:t>Each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gets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“look”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different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things,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construct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vectors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differently.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948563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Multi-head</a:t>
            </a:r>
            <a:r>
              <a:rPr sz="3350" spc="40" dirty="0"/>
              <a:t> </a:t>
            </a:r>
            <a:r>
              <a:rPr sz="3350" spc="-10" dirty="0"/>
              <a:t>self-</a:t>
            </a:r>
            <a:r>
              <a:rPr sz="3350" dirty="0"/>
              <a:t>attention</a:t>
            </a:r>
            <a:r>
              <a:rPr sz="3350" spc="40" dirty="0"/>
              <a:t> </a:t>
            </a:r>
            <a:r>
              <a:rPr sz="3350" dirty="0"/>
              <a:t>is</a:t>
            </a:r>
            <a:r>
              <a:rPr sz="3350" spc="-5" dirty="0"/>
              <a:t> </a:t>
            </a:r>
            <a:r>
              <a:rPr sz="3350" dirty="0"/>
              <a:t>computationally</a:t>
            </a:r>
            <a:r>
              <a:rPr sz="3350" spc="35" dirty="0"/>
              <a:t> </a:t>
            </a:r>
            <a:r>
              <a:rPr sz="3350" spc="-10" dirty="0"/>
              <a:t>efficient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077556" y="1074711"/>
            <a:ext cx="10363200" cy="17564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00"/>
              </a:spcBef>
              <a:buClr>
                <a:srgbClr val="8B1515"/>
              </a:buClr>
              <a:buFont typeface="Times New Roman"/>
              <a:buChar char="•"/>
              <a:tabLst>
                <a:tab pos="368300" algn="l"/>
              </a:tabLst>
            </a:pPr>
            <a:r>
              <a:rPr sz="2300" dirty="0">
                <a:latin typeface="Calibri"/>
                <a:cs typeface="Calibri"/>
              </a:rPr>
              <a:t>Even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though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compute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ℎ</a:t>
            </a:r>
            <a:r>
              <a:rPr sz="2300" spc="10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many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heads,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it’s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really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more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costly.</a:t>
            </a:r>
            <a:endParaRPr sz="2300">
              <a:latin typeface="Calibri"/>
              <a:cs typeface="Calibri"/>
            </a:endParaRPr>
          </a:p>
          <a:p>
            <a:pPr marL="711200" lvl="1" indent="-228600">
              <a:lnSpc>
                <a:spcPct val="100000"/>
              </a:lnSpc>
              <a:spcBef>
                <a:spcPts val="700"/>
              </a:spcBef>
              <a:buClr>
                <a:srgbClr val="007B92"/>
              </a:buClr>
              <a:buFont typeface="Times New Roman"/>
              <a:buChar char="•"/>
              <a:tabLst>
                <a:tab pos="711200" algn="l"/>
              </a:tabLst>
            </a:pPr>
            <a:r>
              <a:rPr sz="2300" dirty="0">
                <a:latin typeface="Calibri"/>
                <a:cs typeface="Calibri"/>
              </a:rPr>
              <a:t>We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compute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𝑋𝑄</a:t>
            </a:r>
            <a:r>
              <a:rPr sz="2300" spc="16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05" dirty="0">
                <a:latin typeface="Cambria Math"/>
                <a:cs typeface="Cambria Math"/>
              </a:rPr>
              <a:t> </a:t>
            </a:r>
            <a:r>
              <a:rPr sz="2300" spc="80" dirty="0">
                <a:latin typeface="Cambria Math"/>
                <a:cs typeface="Cambria Math"/>
              </a:rPr>
              <a:t>ℝ</a:t>
            </a:r>
            <a:r>
              <a:rPr sz="2475" spc="120" baseline="28619" dirty="0">
                <a:latin typeface="Cambria Math"/>
                <a:cs typeface="Cambria Math"/>
              </a:rPr>
              <a:t>𝑛×𝑑</a:t>
            </a:r>
            <a:r>
              <a:rPr sz="2300" spc="80" dirty="0">
                <a:latin typeface="Calibri"/>
                <a:cs typeface="Calibri"/>
              </a:rPr>
              <a:t>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reshape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85" dirty="0">
                <a:latin typeface="Cambria Math"/>
                <a:cs typeface="Cambria Math"/>
              </a:rPr>
              <a:t>ℝ</a:t>
            </a:r>
            <a:r>
              <a:rPr sz="2475" spc="127" baseline="28619" dirty="0">
                <a:latin typeface="Cambria Math"/>
                <a:cs typeface="Cambria Math"/>
              </a:rPr>
              <a:t>𝑛×ℎ×𝑑/ℎ</a:t>
            </a:r>
            <a:r>
              <a:rPr sz="2300" spc="85" dirty="0">
                <a:latin typeface="Calibri"/>
                <a:cs typeface="Calibri"/>
              </a:rPr>
              <a:t>.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(Likewise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𝑋𝐾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20" dirty="0">
                <a:latin typeface="Cambria Math"/>
                <a:cs typeface="Cambria Math"/>
              </a:rPr>
              <a:t>𝑋𝑉</a:t>
            </a:r>
            <a:r>
              <a:rPr sz="2300" spc="-20" dirty="0">
                <a:latin typeface="Calibri"/>
                <a:cs typeface="Calibri"/>
              </a:rPr>
              <a:t>.)</a:t>
            </a:r>
            <a:endParaRPr sz="2300">
              <a:latin typeface="Calibri"/>
              <a:cs typeface="Calibri"/>
            </a:endParaRPr>
          </a:p>
          <a:p>
            <a:pPr marL="711200" lvl="1" indent="-228600">
              <a:lnSpc>
                <a:spcPct val="100000"/>
              </a:lnSpc>
              <a:spcBef>
                <a:spcPts val="700"/>
              </a:spcBef>
              <a:buClr>
                <a:srgbClr val="007B92"/>
              </a:buClr>
              <a:buFont typeface="Times New Roman"/>
              <a:buChar char="•"/>
              <a:tabLst>
                <a:tab pos="711200" algn="l"/>
              </a:tabLst>
            </a:pPr>
            <a:r>
              <a:rPr sz="2300" dirty="0">
                <a:latin typeface="Calibri"/>
                <a:cs typeface="Calibri"/>
              </a:rPr>
              <a:t>Then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 transpose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80" dirty="0">
                <a:latin typeface="Cambria Math"/>
                <a:cs typeface="Cambria Math"/>
              </a:rPr>
              <a:t>ℝ</a:t>
            </a:r>
            <a:r>
              <a:rPr sz="2475" spc="120" baseline="28619" dirty="0">
                <a:latin typeface="Cambria Math"/>
                <a:cs typeface="Cambria Math"/>
              </a:rPr>
              <a:t>ℎ×𝑛×𝑑/ℎ</a:t>
            </a:r>
            <a:r>
              <a:rPr sz="2300" spc="80" dirty="0">
                <a:latin typeface="Calibri"/>
                <a:cs typeface="Calibri"/>
              </a:rPr>
              <a:t>;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now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head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axis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like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batch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axis.</a:t>
            </a:r>
            <a:endParaRPr sz="2300">
              <a:latin typeface="Calibri"/>
              <a:cs typeface="Calibri"/>
            </a:endParaRPr>
          </a:p>
          <a:p>
            <a:pPr marL="710565" lvl="1" indent="-227965">
              <a:lnSpc>
                <a:spcPct val="100000"/>
              </a:lnSpc>
              <a:spcBef>
                <a:spcPts val="484"/>
              </a:spcBef>
              <a:buClr>
                <a:srgbClr val="007B92"/>
              </a:buClr>
              <a:buFont typeface="Times New Roman"/>
              <a:buChar char="•"/>
              <a:tabLst>
                <a:tab pos="710565" algn="l"/>
              </a:tabLst>
            </a:pPr>
            <a:r>
              <a:rPr sz="2300" dirty="0">
                <a:latin typeface="Calibri"/>
                <a:cs typeface="Calibri"/>
              </a:rPr>
              <a:t>Almost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everything else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identical,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matrices</a:t>
            </a:r>
            <a:r>
              <a:rPr sz="2300" b="1" spc="-4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are</a:t>
            </a:r>
            <a:r>
              <a:rPr sz="2300" b="1" spc="-7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the</a:t>
            </a:r>
            <a:r>
              <a:rPr sz="2300" b="1" spc="-1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same</a:t>
            </a:r>
            <a:r>
              <a:rPr sz="2300" b="1" spc="-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sizes.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95" y="6509804"/>
            <a:ext cx="20827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Calibri"/>
                <a:cs typeface="Calibri"/>
              </a:rPr>
              <a:t>36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93208" y="3282695"/>
            <a:ext cx="494030" cy="1207135"/>
          </a:xfrm>
          <a:custGeom>
            <a:avLst/>
            <a:gdLst/>
            <a:ahLst/>
            <a:cxnLst/>
            <a:rect l="l" t="t" r="r" b="b"/>
            <a:pathLst>
              <a:path w="494029" h="1207135">
                <a:moveTo>
                  <a:pt x="155448" y="25908"/>
                </a:moveTo>
                <a:lnTo>
                  <a:pt x="153416" y="15811"/>
                </a:lnTo>
                <a:lnTo>
                  <a:pt x="147866" y="7581"/>
                </a:lnTo>
                <a:lnTo>
                  <a:pt x="139636" y="2032"/>
                </a:lnTo>
                <a:lnTo>
                  <a:pt x="129540" y="0"/>
                </a:lnTo>
                <a:lnTo>
                  <a:pt x="25908" y="0"/>
                </a:lnTo>
                <a:lnTo>
                  <a:pt x="15798" y="2032"/>
                </a:lnTo>
                <a:lnTo>
                  <a:pt x="7569" y="7581"/>
                </a:lnTo>
                <a:lnTo>
                  <a:pt x="2019" y="15811"/>
                </a:lnTo>
                <a:lnTo>
                  <a:pt x="0" y="25908"/>
                </a:lnTo>
                <a:lnTo>
                  <a:pt x="0" y="1181100"/>
                </a:lnTo>
                <a:lnTo>
                  <a:pt x="2019" y="1191158"/>
                </a:lnTo>
                <a:lnTo>
                  <a:pt x="7569" y="1199400"/>
                </a:lnTo>
                <a:lnTo>
                  <a:pt x="15798" y="1204963"/>
                </a:lnTo>
                <a:lnTo>
                  <a:pt x="25908" y="1207008"/>
                </a:lnTo>
                <a:lnTo>
                  <a:pt x="129540" y="1207008"/>
                </a:lnTo>
                <a:lnTo>
                  <a:pt x="139636" y="1204963"/>
                </a:lnTo>
                <a:lnTo>
                  <a:pt x="147866" y="1199400"/>
                </a:lnTo>
                <a:lnTo>
                  <a:pt x="153416" y="1191158"/>
                </a:lnTo>
                <a:lnTo>
                  <a:pt x="155448" y="1181100"/>
                </a:lnTo>
                <a:lnTo>
                  <a:pt x="155448" y="25908"/>
                </a:lnTo>
                <a:close/>
              </a:path>
              <a:path w="494029" h="1207135">
                <a:moveTo>
                  <a:pt x="320040" y="25908"/>
                </a:moveTo>
                <a:lnTo>
                  <a:pt x="318008" y="15811"/>
                </a:lnTo>
                <a:lnTo>
                  <a:pt x="312458" y="7581"/>
                </a:lnTo>
                <a:lnTo>
                  <a:pt x="304228" y="2032"/>
                </a:lnTo>
                <a:lnTo>
                  <a:pt x="294132" y="0"/>
                </a:lnTo>
                <a:lnTo>
                  <a:pt x="190500" y="0"/>
                </a:lnTo>
                <a:lnTo>
                  <a:pt x="180390" y="2032"/>
                </a:lnTo>
                <a:lnTo>
                  <a:pt x="172161" y="7581"/>
                </a:lnTo>
                <a:lnTo>
                  <a:pt x="166611" y="15811"/>
                </a:lnTo>
                <a:lnTo>
                  <a:pt x="164592" y="25908"/>
                </a:lnTo>
                <a:lnTo>
                  <a:pt x="164592" y="1181100"/>
                </a:lnTo>
                <a:lnTo>
                  <a:pt x="166611" y="1191158"/>
                </a:lnTo>
                <a:lnTo>
                  <a:pt x="172161" y="1199400"/>
                </a:lnTo>
                <a:lnTo>
                  <a:pt x="180390" y="1204963"/>
                </a:lnTo>
                <a:lnTo>
                  <a:pt x="190500" y="1207008"/>
                </a:lnTo>
                <a:lnTo>
                  <a:pt x="294132" y="1207008"/>
                </a:lnTo>
                <a:lnTo>
                  <a:pt x="304228" y="1204963"/>
                </a:lnTo>
                <a:lnTo>
                  <a:pt x="312458" y="1199400"/>
                </a:lnTo>
                <a:lnTo>
                  <a:pt x="318008" y="1191158"/>
                </a:lnTo>
                <a:lnTo>
                  <a:pt x="320040" y="1181100"/>
                </a:lnTo>
                <a:lnTo>
                  <a:pt x="320040" y="25908"/>
                </a:lnTo>
                <a:close/>
              </a:path>
              <a:path w="494029" h="1207135">
                <a:moveTo>
                  <a:pt x="493776" y="25908"/>
                </a:moveTo>
                <a:lnTo>
                  <a:pt x="491744" y="15811"/>
                </a:lnTo>
                <a:lnTo>
                  <a:pt x="486194" y="7581"/>
                </a:lnTo>
                <a:lnTo>
                  <a:pt x="477964" y="2032"/>
                </a:lnTo>
                <a:lnTo>
                  <a:pt x="467868" y="0"/>
                </a:lnTo>
                <a:lnTo>
                  <a:pt x="364236" y="0"/>
                </a:lnTo>
                <a:lnTo>
                  <a:pt x="354126" y="2032"/>
                </a:lnTo>
                <a:lnTo>
                  <a:pt x="345897" y="7581"/>
                </a:lnTo>
                <a:lnTo>
                  <a:pt x="340347" y="15811"/>
                </a:lnTo>
                <a:lnTo>
                  <a:pt x="338328" y="25908"/>
                </a:lnTo>
                <a:lnTo>
                  <a:pt x="338328" y="1181100"/>
                </a:lnTo>
                <a:lnTo>
                  <a:pt x="340347" y="1191158"/>
                </a:lnTo>
                <a:lnTo>
                  <a:pt x="345897" y="1199400"/>
                </a:lnTo>
                <a:lnTo>
                  <a:pt x="354126" y="1204963"/>
                </a:lnTo>
                <a:lnTo>
                  <a:pt x="364236" y="1207008"/>
                </a:lnTo>
                <a:lnTo>
                  <a:pt x="467868" y="1207008"/>
                </a:lnTo>
                <a:lnTo>
                  <a:pt x="477964" y="1204963"/>
                </a:lnTo>
                <a:lnTo>
                  <a:pt x="486194" y="1199400"/>
                </a:lnTo>
                <a:lnTo>
                  <a:pt x="491744" y="1191158"/>
                </a:lnTo>
                <a:lnTo>
                  <a:pt x="493776" y="1181100"/>
                </a:lnTo>
                <a:lnTo>
                  <a:pt x="493776" y="25908"/>
                </a:lnTo>
                <a:close/>
              </a:path>
            </a:pathLst>
          </a:custGeom>
          <a:solidFill>
            <a:srgbClr val="F1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95951" y="3706431"/>
            <a:ext cx="36322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25" dirty="0">
                <a:latin typeface="Cambria Math"/>
                <a:cs typeface="Cambria Math"/>
              </a:rPr>
              <a:t>𝑋𝑄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2200" y="3220529"/>
            <a:ext cx="3392804" cy="7251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215"/>
              </a:spcBef>
            </a:pPr>
            <a:r>
              <a:rPr sz="2300" dirty="0">
                <a:latin typeface="Calibri"/>
                <a:cs typeface="Calibri"/>
              </a:rPr>
              <a:t>First,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take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query-</a:t>
            </a:r>
            <a:r>
              <a:rPr sz="2300" dirty="0">
                <a:latin typeface="Calibri"/>
                <a:cs typeface="Calibri"/>
              </a:rPr>
              <a:t>key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dot </a:t>
            </a:r>
            <a:r>
              <a:rPr sz="2300" dirty="0">
                <a:latin typeface="Calibri"/>
                <a:cs typeface="Calibri"/>
              </a:rPr>
              <a:t>products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matrix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1829" y="4006596"/>
            <a:ext cx="592455" cy="271145"/>
          </a:xfrm>
          <a:custGeom>
            <a:avLst/>
            <a:gdLst/>
            <a:ahLst/>
            <a:cxnLst/>
            <a:rect l="l" t="t" r="r" b="b"/>
            <a:pathLst>
              <a:path w="592454" h="271145">
                <a:moveTo>
                  <a:pt x="505714" y="0"/>
                </a:moveTo>
                <a:lnTo>
                  <a:pt x="501904" y="10921"/>
                </a:lnTo>
                <a:lnTo>
                  <a:pt x="517572" y="17754"/>
                </a:lnTo>
                <a:lnTo>
                  <a:pt x="531050" y="27193"/>
                </a:lnTo>
                <a:lnTo>
                  <a:pt x="558434" y="70871"/>
                </a:lnTo>
                <a:lnTo>
                  <a:pt x="566391" y="110702"/>
                </a:lnTo>
                <a:lnTo>
                  <a:pt x="567435" y="134111"/>
                </a:lnTo>
                <a:lnTo>
                  <a:pt x="566435" y="158045"/>
                </a:lnTo>
                <a:lnTo>
                  <a:pt x="558434" y="199245"/>
                </a:lnTo>
                <a:lnTo>
                  <a:pt x="531098" y="243585"/>
                </a:lnTo>
                <a:lnTo>
                  <a:pt x="502284" y="259968"/>
                </a:lnTo>
                <a:lnTo>
                  <a:pt x="505714" y="271017"/>
                </a:lnTo>
                <a:lnTo>
                  <a:pt x="542750" y="253666"/>
                </a:lnTo>
                <a:lnTo>
                  <a:pt x="569975" y="223646"/>
                </a:lnTo>
                <a:lnTo>
                  <a:pt x="586660" y="183435"/>
                </a:lnTo>
                <a:lnTo>
                  <a:pt x="592200" y="135508"/>
                </a:lnTo>
                <a:lnTo>
                  <a:pt x="590815" y="111015"/>
                </a:lnTo>
                <a:lnTo>
                  <a:pt x="579610" y="66661"/>
                </a:lnTo>
                <a:lnTo>
                  <a:pt x="557470" y="30807"/>
                </a:lnTo>
                <a:lnTo>
                  <a:pt x="525379" y="7046"/>
                </a:lnTo>
                <a:lnTo>
                  <a:pt x="505714" y="0"/>
                </a:lnTo>
                <a:close/>
              </a:path>
              <a:path w="592454" h="271145">
                <a:moveTo>
                  <a:pt x="86486" y="0"/>
                </a:moveTo>
                <a:lnTo>
                  <a:pt x="49609" y="17319"/>
                </a:lnTo>
                <a:lnTo>
                  <a:pt x="22351" y="47497"/>
                </a:lnTo>
                <a:lnTo>
                  <a:pt x="5603" y="87741"/>
                </a:lnTo>
                <a:lnTo>
                  <a:pt x="79" y="134111"/>
                </a:lnTo>
                <a:lnTo>
                  <a:pt x="0" y="135508"/>
                </a:lnTo>
                <a:lnTo>
                  <a:pt x="5603" y="183435"/>
                </a:lnTo>
                <a:lnTo>
                  <a:pt x="22351" y="223646"/>
                </a:lnTo>
                <a:lnTo>
                  <a:pt x="49514" y="253666"/>
                </a:lnTo>
                <a:lnTo>
                  <a:pt x="86486" y="271017"/>
                </a:lnTo>
                <a:lnTo>
                  <a:pt x="89916" y="259968"/>
                </a:lnTo>
                <a:lnTo>
                  <a:pt x="74485" y="253110"/>
                </a:lnTo>
                <a:lnTo>
                  <a:pt x="61150" y="243585"/>
                </a:lnTo>
                <a:lnTo>
                  <a:pt x="33766" y="199245"/>
                </a:lnTo>
                <a:lnTo>
                  <a:pt x="25765" y="158045"/>
                </a:lnTo>
                <a:lnTo>
                  <a:pt x="24823" y="135508"/>
                </a:lnTo>
                <a:lnTo>
                  <a:pt x="24764" y="134111"/>
                </a:lnTo>
                <a:lnTo>
                  <a:pt x="28765" y="89931"/>
                </a:lnTo>
                <a:lnTo>
                  <a:pt x="49934" y="39229"/>
                </a:lnTo>
                <a:lnTo>
                  <a:pt x="90296" y="10921"/>
                </a:lnTo>
                <a:lnTo>
                  <a:pt x="864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2200" y="3925506"/>
            <a:ext cx="27311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multiplication: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𝑋𝑄</a:t>
            </a:r>
            <a:r>
              <a:rPr sz="2300" spc="430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𝑋𝐾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9525" y="3900614"/>
            <a:ext cx="17399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15" dirty="0">
                <a:latin typeface="Cambria Math"/>
                <a:cs typeface="Cambria Math"/>
              </a:rPr>
              <a:t>⊤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88152" y="3986783"/>
            <a:ext cx="1216660" cy="494030"/>
          </a:xfrm>
          <a:custGeom>
            <a:avLst/>
            <a:gdLst/>
            <a:ahLst/>
            <a:cxnLst/>
            <a:rect l="l" t="t" r="r" b="b"/>
            <a:pathLst>
              <a:path w="1216659" h="494029">
                <a:moveTo>
                  <a:pt x="1216152" y="364236"/>
                </a:moveTo>
                <a:lnTo>
                  <a:pt x="1214120" y="354139"/>
                </a:lnTo>
                <a:lnTo>
                  <a:pt x="1208570" y="345909"/>
                </a:lnTo>
                <a:lnTo>
                  <a:pt x="1200340" y="340360"/>
                </a:lnTo>
                <a:lnTo>
                  <a:pt x="1190244" y="338328"/>
                </a:lnTo>
                <a:lnTo>
                  <a:pt x="25908" y="338328"/>
                </a:lnTo>
                <a:lnTo>
                  <a:pt x="15798" y="340360"/>
                </a:lnTo>
                <a:lnTo>
                  <a:pt x="7569" y="345909"/>
                </a:lnTo>
                <a:lnTo>
                  <a:pt x="2019" y="354139"/>
                </a:lnTo>
                <a:lnTo>
                  <a:pt x="0" y="364236"/>
                </a:lnTo>
                <a:lnTo>
                  <a:pt x="0" y="467868"/>
                </a:lnTo>
                <a:lnTo>
                  <a:pt x="2019" y="477926"/>
                </a:lnTo>
                <a:lnTo>
                  <a:pt x="7569" y="486168"/>
                </a:lnTo>
                <a:lnTo>
                  <a:pt x="15798" y="491731"/>
                </a:lnTo>
                <a:lnTo>
                  <a:pt x="25908" y="493776"/>
                </a:lnTo>
                <a:lnTo>
                  <a:pt x="1190244" y="493776"/>
                </a:lnTo>
                <a:lnTo>
                  <a:pt x="1200340" y="491731"/>
                </a:lnTo>
                <a:lnTo>
                  <a:pt x="1208570" y="486156"/>
                </a:lnTo>
                <a:lnTo>
                  <a:pt x="1214120" y="477926"/>
                </a:lnTo>
                <a:lnTo>
                  <a:pt x="1216152" y="467868"/>
                </a:lnTo>
                <a:lnTo>
                  <a:pt x="1216152" y="364236"/>
                </a:lnTo>
                <a:close/>
              </a:path>
              <a:path w="1216659" h="494029">
                <a:moveTo>
                  <a:pt x="1216152" y="190500"/>
                </a:moveTo>
                <a:lnTo>
                  <a:pt x="1214120" y="180403"/>
                </a:lnTo>
                <a:lnTo>
                  <a:pt x="1208570" y="172173"/>
                </a:lnTo>
                <a:lnTo>
                  <a:pt x="1200340" y="166624"/>
                </a:lnTo>
                <a:lnTo>
                  <a:pt x="1190244" y="164592"/>
                </a:lnTo>
                <a:lnTo>
                  <a:pt x="25908" y="164592"/>
                </a:lnTo>
                <a:lnTo>
                  <a:pt x="15798" y="166624"/>
                </a:lnTo>
                <a:lnTo>
                  <a:pt x="7569" y="172173"/>
                </a:lnTo>
                <a:lnTo>
                  <a:pt x="2019" y="180403"/>
                </a:lnTo>
                <a:lnTo>
                  <a:pt x="0" y="190500"/>
                </a:lnTo>
                <a:lnTo>
                  <a:pt x="0" y="294132"/>
                </a:lnTo>
                <a:lnTo>
                  <a:pt x="2019" y="304190"/>
                </a:lnTo>
                <a:lnTo>
                  <a:pt x="7569" y="312420"/>
                </a:lnTo>
                <a:lnTo>
                  <a:pt x="15798" y="317995"/>
                </a:lnTo>
                <a:lnTo>
                  <a:pt x="25908" y="320040"/>
                </a:lnTo>
                <a:lnTo>
                  <a:pt x="1190244" y="320040"/>
                </a:lnTo>
                <a:lnTo>
                  <a:pt x="1200340" y="317995"/>
                </a:lnTo>
                <a:lnTo>
                  <a:pt x="1208570" y="312420"/>
                </a:lnTo>
                <a:lnTo>
                  <a:pt x="1214120" y="304190"/>
                </a:lnTo>
                <a:lnTo>
                  <a:pt x="1216152" y="294132"/>
                </a:lnTo>
                <a:lnTo>
                  <a:pt x="1216152" y="190500"/>
                </a:lnTo>
                <a:close/>
              </a:path>
              <a:path w="1216659" h="494029">
                <a:moveTo>
                  <a:pt x="1216152" y="25908"/>
                </a:moveTo>
                <a:lnTo>
                  <a:pt x="1214120" y="15811"/>
                </a:lnTo>
                <a:lnTo>
                  <a:pt x="1208570" y="7581"/>
                </a:lnTo>
                <a:lnTo>
                  <a:pt x="1200340" y="2032"/>
                </a:lnTo>
                <a:lnTo>
                  <a:pt x="1190244" y="0"/>
                </a:lnTo>
                <a:lnTo>
                  <a:pt x="25908" y="0"/>
                </a:lnTo>
                <a:lnTo>
                  <a:pt x="15798" y="2032"/>
                </a:lnTo>
                <a:lnTo>
                  <a:pt x="7569" y="7581"/>
                </a:lnTo>
                <a:lnTo>
                  <a:pt x="2019" y="15811"/>
                </a:lnTo>
                <a:lnTo>
                  <a:pt x="0" y="25908"/>
                </a:lnTo>
                <a:lnTo>
                  <a:pt x="0" y="129540"/>
                </a:lnTo>
                <a:lnTo>
                  <a:pt x="2019" y="139598"/>
                </a:lnTo>
                <a:lnTo>
                  <a:pt x="7569" y="147828"/>
                </a:lnTo>
                <a:lnTo>
                  <a:pt x="15798" y="153403"/>
                </a:lnTo>
                <a:lnTo>
                  <a:pt x="25908" y="155448"/>
                </a:lnTo>
                <a:lnTo>
                  <a:pt x="1190244" y="155448"/>
                </a:lnTo>
                <a:lnTo>
                  <a:pt x="1200340" y="153403"/>
                </a:lnTo>
                <a:lnTo>
                  <a:pt x="1208570" y="147828"/>
                </a:lnTo>
                <a:lnTo>
                  <a:pt x="1214120" y="139598"/>
                </a:lnTo>
                <a:lnTo>
                  <a:pt x="1216152" y="129540"/>
                </a:lnTo>
                <a:lnTo>
                  <a:pt x="1216152" y="25908"/>
                </a:lnTo>
                <a:close/>
              </a:path>
            </a:pathLst>
          </a:custGeom>
          <a:solidFill>
            <a:srgbClr val="DBA2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40501" y="3979100"/>
            <a:ext cx="7689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000" spc="104" baseline="-20833" dirty="0">
                <a:latin typeface="Cambria Math"/>
                <a:cs typeface="Cambria Math"/>
              </a:rPr>
              <a:t>𝐾</a:t>
            </a:r>
            <a:r>
              <a:rPr sz="1450" spc="70" dirty="0">
                <a:latin typeface="Cambria Math"/>
                <a:cs typeface="Cambria Math"/>
              </a:rPr>
              <a:t>⊤</a:t>
            </a:r>
            <a:r>
              <a:rPr sz="1450" spc="215" dirty="0">
                <a:latin typeface="Cambria Math"/>
                <a:cs typeface="Cambria Math"/>
              </a:rPr>
              <a:t> </a:t>
            </a:r>
            <a:r>
              <a:rPr sz="3000" spc="67" baseline="-20833" dirty="0">
                <a:latin typeface="Cambria Math"/>
                <a:cs typeface="Cambria Math"/>
              </a:rPr>
              <a:t>𝑋</a:t>
            </a:r>
            <a:r>
              <a:rPr sz="1450" spc="45" dirty="0">
                <a:latin typeface="Cambria Math"/>
                <a:cs typeface="Cambria Math"/>
              </a:rPr>
              <a:t>⊤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2189" y="5046154"/>
            <a:ext cx="2727960" cy="143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00"/>
              </a:spcBef>
            </a:pPr>
            <a:r>
              <a:rPr sz="2300" dirty="0">
                <a:latin typeface="Calibri"/>
                <a:cs typeface="Calibri"/>
              </a:rPr>
              <a:t>Next,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softmax,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compute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weighted </a:t>
            </a:r>
            <a:r>
              <a:rPr sz="2300" dirty="0">
                <a:latin typeface="Calibri"/>
                <a:cs typeface="Calibri"/>
              </a:rPr>
              <a:t>average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another </a:t>
            </a:r>
            <a:r>
              <a:rPr sz="2300" dirty="0">
                <a:latin typeface="Calibri"/>
                <a:cs typeface="Calibri"/>
              </a:rPr>
              <a:t>matrix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multiplication.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1589" y="5492927"/>
            <a:ext cx="97726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" dirty="0">
                <a:latin typeface="Cambria Math"/>
                <a:cs typeface="Cambria Math"/>
              </a:rPr>
              <a:t>softmax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76088" y="4493895"/>
            <a:ext cx="2891155" cy="1962150"/>
            <a:chOff x="5276088" y="4493895"/>
            <a:chExt cx="2891155" cy="196215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6088" y="5093208"/>
              <a:ext cx="224027" cy="13395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44668" y="5143500"/>
              <a:ext cx="109855" cy="1207135"/>
            </a:xfrm>
            <a:custGeom>
              <a:avLst/>
              <a:gdLst/>
              <a:ahLst/>
              <a:cxnLst/>
              <a:rect l="l" t="t" r="r" b="b"/>
              <a:pathLst>
                <a:path w="109854" h="1207135">
                  <a:moveTo>
                    <a:pt x="109728" y="1206944"/>
                  </a:moveTo>
                  <a:lnTo>
                    <a:pt x="44933" y="1167981"/>
                  </a:lnTo>
                  <a:lnTo>
                    <a:pt x="21177" y="1124267"/>
                  </a:lnTo>
                  <a:lnTo>
                    <a:pt x="5596" y="1068831"/>
                  </a:lnTo>
                  <a:lnTo>
                    <a:pt x="0" y="1005001"/>
                  </a:lnTo>
                  <a:lnTo>
                    <a:pt x="0" y="201930"/>
                  </a:lnTo>
                  <a:lnTo>
                    <a:pt x="5596" y="138062"/>
                  </a:lnTo>
                  <a:lnTo>
                    <a:pt x="21177" y="82625"/>
                  </a:lnTo>
                  <a:lnTo>
                    <a:pt x="44933" y="38929"/>
                  </a:lnTo>
                  <a:lnTo>
                    <a:pt x="75053" y="10283"/>
                  </a:lnTo>
                  <a:lnTo>
                    <a:pt x="109728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5635" y="5138834"/>
              <a:ext cx="179070" cy="129403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018020" y="5161788"/>
              <a:ext cx="100965" cy="1207135"/>
            </a:xfrm>
            <a:custGeom>
              <a:avLst/>
              <a:gdLst/>
              <a:ahLst/>
              <a:cxnLst/>
              <a:rect l="l" t="t" r="r" b="b"/>
              <a:pathLst>
                <a:path w="100965" h="1207135">
                  <a:moveTo>
                    <a:pt x="0" y="0"/>
                  </a:moveTo>
                  <a:lnTo>
                    <a:pt x="59381" y="35690"/>
                  </a:lnTo>
                  <a:lnTo>
                    <a:pt x="81162" y="75739"/>
                  </a:lnTo>
                  <a:lnTo>
                    <a:pt x="95451" y="126536"/>
                  </a:lnTo>
                  <a:lnTo>
                    <a:pt x="100583" y="185039"/>
                  </a:lnTo>
                  <a:lnTo>
                    <a:pt x="100583" y="1021829"/>
                  </a:lnTo>
                  <a:lnTo>
                    <a:pt x="95451" y="1080339"/>
                  </a:lnTo>
                  <a:lnTo>
                    <a:pt x="81162" y="1131155"/>
                  </a:lnTo>
                  <a:lnTo>
                    <a:pt x="59381" y="1171227"/>
                  </a:lnTo>
                  <a:lnTo>
                    <a:pt x="31772" y="1197507"/>
                  </a:lnTo>
                  <a:lnTo>
                    <a:pt x="0" y="120694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35700" y="4493895"/>
              <a:ext cx="1931035" cy="638175"/>
            </a:xfrm>
            <a:custGeom>
              <a:avLst/>
              <a:gdLst/>
              <a:ahLst/>
              <a:cxnLst/>
              <a:rect l="l" t="t" r="r" b="b"/>
              <a:pathLst>
                <a:path w="1931034" h="638175">
                  <a:moveTo>
                    <a:pt x="0" y="553084"/>
                  </a:moveTo>
                  <a:lnTo>
                    <a:pt x="5079" y="638174"/>
                  </a:lnTo>
                  <a:lnTo>
                    <a:pt x="69976" y="583056"/>
                  </a:lnTo>
                  <a:lnTo>
                    <a:pt x="69383" y="582802"/>
                  </a:lnTo>
                  <a:lnTo>
                    <a:pt x="35560" y="582802"/>
                  </a:lnTo>
                  <a:lnTo>
                    <a:pt x="24384" y="576706"/>
                  </a:lnTo>
                  <a:lnTo>
                    <a:pt x="30118" y="565985"/>
                  </a:lnTo>
                  <a:lnTo>
                    <a:pt x="0" y="553084"/>
                  </a:lnTo>
                  <a:close/>
                </a:path>
                <a:path w="1931034" h="638175">
                  <a:moveTo>
                    <a:pt x="30118" y="565985"/>
                  </a:moveTo>
                  <a:lnTo>
                    <a:pt x="24384" y="576706"/>
                  </a:lnTo>
                  <a:lnTo>
                    <a:pt x="35560" y="582802"/>
                  </a:lnTo>
                  <a:lnTo>
                    <a:pt x="41916" y="571038"/>
                  </a:lnTo>
                  <a:lnTo>
                    <a:pt x="30118" y="565985"/>
                  </a:lnTo>
                  <a:close/>
                </a:path>
                <a:path w="1931034" h="638175">
                  <a:moveTo>
                    <a:pt x="41916" y="571038"/>
                  </a:moveTo>
                  <a:lnTo>
                    <a:pt x="35560" y="582802"/>
                  </a:lnTo>
                  <a:lnTo>
                    <a:pt x="69383" y="582802"/>
                  </a:lnTo>
                  <a:lnTo>
                    <a:pt x="41916" y="571038"/>
                  </a:lnTo>
                  <a:close/>
                </a:path>
                <a:path w="1931034" h="638175">
                  <a:moveTo>
                    <a:pt x="1819414" y="125160"/>
                  </a:moveTo>
                  <a:lnTo>
                    <a:pt x="1771136" y="152780"/>
                  </a:lnTo>
                  <a:lnTo>
                    <a:pt x="1716676" y="178269"/>
                  </a:lnTo>
                  <a:lnTo>
                    <a:pt x="1656777" y="201855"/>
                  </a:lnTo>
                  <a:lnTo>
                    <a:pt x="1588516" y="224535"/>
                  </a:lnTo>
                  <a:lnTo>
                    <a:pt x="1516126" y="244855"/>
                  </a:lnTo>
                  <a:lnTo>
                    <a:pt x="1478026" y="254253"/>
                  </a:lnTo>
                  <a:lnTo>
                    <a:pt x="1439036" y="262889"/>
                  </a:lnTo>
                  <a:lnTo>
                    <a:pt x="1398904" y="271144"/>
                  </a:lnTo>
                  <a:lnTo>
                    <a:pt x="1358010" y="278764"/>
                  </a:lnTo>
                  <a:lnTo>
                    <a:pt x="1316354" y="285622"/>
                  </a:lnTo>
                  <a:lnTo>
                    <a:pt x="1273936" y="291718"/>
                  </a:lnTo>
                  <a:lnTo>
                    <a:pt x="1230883" y="297179"/>
                  </a:lnTo>
                  <a:lnTo>
                    <a:pt x="1187323" y="301751"/>
                  </a:lnTo>
                  <a:lnTo>
                    <a:pt x="1143380" y="305688"/>
                  </a:lnTo>
                  <a:lnTo>
                    <a:pt x="1098264" y="308902"/>
                  </a:lnTo>
                  <a:lnTo>
                    <a:pt x="1054480" y="311022"/>
                  </a:lnTo>
                  <a:lnTo>
                    <a:pt x="1009650" y="312419"/>
                  </a:lnTo>
                  <a:lnTo>
                    <a:pt x="919860" y="313435"/>
                  </a:lnTo>
                  <a:lnTo>
                    <a:pt x="874776" y="314705"/>
                  </a:lnTo>
                  <a:lnTo>
                    <a:pt x="829945" y="316991"/>
                  </a:lnTo>
                  <a:lnTo>
                    <a:pt x="785495" y="320039"/>
                  </a:lnTo>
                  <a:lnTo>
                    <a:pt x="741172" y="323976"/>
                  </a:lnTo>
                  <a:lnTo>
                    <a:pt x="697356" y="328802"/>
                  </a:lnTo>
                  <a:lnTo>
                    <a:pt x="654176" y="334263"/>
                  </a:lnTo>
                  <a:lnTo>
                    <a:pt x="611504" y="340486"/>
                  </a:lnTo>
                  <a:lnTo>
                    <a:pt x="569595" y="347344"/>
                  </a:lnTo>
                  <a:lnTo>
                    <a:pt x="528447" y="354837"/>
                  </a:lnTo>
                  <a:lnTo>
                    <a:pt x="488188" y="363092"/>
                  </a:lnTo>
                  <a:lnTo>
                    <a:pt x="448945" y="371982"/>
                  </a:lnTo>
                  <a:lnTo>
                    <a:pt x="410591" y="381380"/>
                  </a:lnTo>
                  <a:lnTo>
                    <a:pt x="373506" y="391413"/>
                  </a:lnTo>
                  <a:lnTo>
                    <a:pt x="303022" y="412876"/>
                  </a:lnTo>
                  <a:lnTo>
                    <a:pt x="238107" y="436379"/>
                  </a:lnTo>
                  <a:lnTo>
                    <a:pt x="179577" y="461390"/>
                  </a:lnTo>
                  <a:lnTo>
                    <a:pt x="127888" y="488060"/>
                  </a:lnTo>
                  <a:lnTo>
                    <a:pt x="83820" y="516000"/>
                  </a:lnTo>
                  <a:lnTo>
                    <a:pt x="48260" y="544829"/>
                  </a:lnTo>
                  <a:lnTo>
                    <a:pt x="30118" y="565985"/>
                  </a:lnTo>
                  <a:lnTo>
                    <a:pt x="41916" y="571038"/>
                  </a:lnTo>
                  <a:lnTo>
                    <a:pt x="43382" y="568324"/>
                  </a:lnTo>
                  <a:lnTo>
                    <a:pt x="43052" y="568324"/>
                  </a:lnTo>
                  <a:lnTo>
                    <a:pt x="43807" y="567514"/>
                  </a:lnTo>
                  <a:lnTo>
                    <a:pt x="44069" y="567054"/>
                  </a:lnTo>
                  <a:lnTo>
                    <a:pt x="44242" y="567054"/>
                  </a:lnTo>
                  <a:lnTo>
                    <a:pt x="49967" y="561023"/>
                  </a:lnTo>
                  <a:lnTo>
                    <a:pt x="50561" y="560323"/>
                  </a:lnTo>
                  <a:lnTo>
                    <a:pt x="57023" y="553973"/>
                  </a:lnTo>
                  <a:lnTo>
                    <a:pt x="58103" y="553084"/>
                  </a:lnTo>
                  <a:lnTo>
                    <a:pt x="73447" y="539747"/>
                  </a:lnTo>
                  <a:lnTo>
                    <a:pt x="91436" y="526163"/>
                  </a:lnTo>
                  <a:lnTo>
                    <a:pt x="110326" y="513492"/>
                  </a:lnTo>
                  <a:lnTo>
                    <a:pt x="133744" y="499282"/>
                  </a:lnTo>
                  <a:lnTo>
                    <a:pt x="133900" y="499282"/>
                  </a:lnTo>
                  <a:lnTo>
                    <a:pt x="158623" y="485901"/>
                  </a:lnTo>
                  <a:lnTo>
                    <a:pt x="184602" y="473048"/>
                  </a:lnTo>
                  <a:lnTo>
                    <a:pt x="212978" y="460374"/>
                  </a:lnTo>
                  <a:lnTo>
                    <a:pt x="242697" y="448182"/>
                  </a:lnTo>
                  <a:lnTo>
                    <a:pt x="273839" y="436379"/>
                  </a:lnTo>
                  <a:lnTo>
                    <a:pt x="274045" y="436379"/>
                  </a:lnTo>
                  <a:lnTo>
                    <a:pt x="306958" y="424941"/>
                  </a:lnTo>
                  <a:lnTo>
                    <a:pt x="376595" y="403674"/>
                  </a:lnTo>
                  <a:lnTo>
                    <a:pt x="413639" y="393699"/>
                  </a:lnTo>
                  <a:lnTo>
                    <a:pt x="451739" y="384301"/>
                  </a:lnTo>
                  <a:lnTo>
                    <a:pt x="490854" y="375538"/>
                  </a:lnTo>
                  <a:lnTo>
                    <a:pt x="530732" y="367283"/>
                  </a:lnTo>
                  <a:lnTo>
                    <a:pt x="571753" y="359790"/>
                  </a:lnTo>
                  <a:lnTo>
                    <a:pt x="613409" y="352932"/>
                  </a:lnTo>
                  <a:lnTo>
                    <a:pt x="655827" y="346836"/>
                  </a:lnTo>
                  <a:lnTo>
                    <a:pt x="698753" y="341375"/>
                  </a:lnTo>
                  <a:lnTo>
                    <a:pt x="742442" y="336676"/>
                  </a:lnTo>
                  <a:lnTo>
                    <a:pt x="786383" y="332739"/>
                  </a:lnTo>
                  <a:lnTo>
                    <a:pt x="830706" y="329691"/>
                  </a:lnTo>
                  <a:lnTo>
                    <a:pt x="875283" y="327405"/>
                  </a:lnTo>
                  <a:lnTo>
                    <a:pt x="919988" y="326135"/>
                  </a:lnTo>
                  <a:lnTo>
                    <a:pt x="1009776" y="325119"/>
                  </a:lnTo>
                  <a:lnTo>
                    <a:pt x="1054861" y="323722"/>
                  </a:lnTo>
                  <a:lnTo>
                    <a:pt x="1099693" y="321563"/>
                  </a:lnTo>
                  <a:lnTo>
                    <a:pt x="1144270" y="318388"/>
                  </a:lnTo>
                  <a:lnTo>
                    <a:pt x="1188466" y="314451"/>
                  </a:lnTo>
                  <a:lnTo>
                    <a:pt x="1232407" y="309752"/>
                  </a:lnTo>
                  <a:lnTo>
                    <a:pt x="1275588" y="304291"/>
                  </a:lnTo>
                  <a:lnTo>
                    <a:pt x="1318259" y="298068"/>
                  </a:lnTo>
                  <a:lnTo>
                    <a:pt x="1360170" y="291210"/>
                  </a:lnTo>
                  <a:lnTo>
                    <a:pt x="1401318" y="283590"/>
                  </a:lnTo>
                  <a:lnTo>
                    <a:pt x="1441577" y="275335"/>
                  </a:lnTo>
                  <a:lnTo>
                    <a:pt x="1480947" y="266572"/>
                  </a:lnTo>
                  <a:lnTo>
                    <a:pt x="1519174" y="257174"/>
                  </a:lnTo>
                  <a:lnTo>
                    <a:pt x="1556384" y="247141"/>
                  </a:lnTo>
                  <a:lnTo>
                    <a:pt x="1626870" y="225678"/>
                  </a:lnTo>
                  <a:lnTo>
                    <a:pt x="1691525" y="202275"/>
                  </a:lnTo>
                  <a:lnTo>
                    <a:pt x="1750314" y="177164"/>
                  </a:lnTo>
                  <a:lnTo>
                    <a:pt x="1802002" y="150494"/>
                  </a:lnTo>
                  <a:lnTo>
                    <a:pt x="1840737" y="126037"/>
                  </a:lnTo>
                  <a:lnTo>
                    <a:pt x="1818114" y="126037"/>
                  </a:lnTo>
                  <a:lnTo>
                    <a:pt x="1819414" y="125160"/>
                  </a:lnTo>
                  <a:close/>
                </a:path>
                <a:path w="1931034" h="638175">
                  <a:moveTo>
                    <a:pt x="43820" y="567514"/>
                  </a:moveTo>
                  <a:lnTo>
                    <a:pt x="43052" y="568324"/>
                  </a:lnTo>
                  <a:lnTo>
                    <a:pt x="43382" y="568324"/>
                  </a:lnTo>
                  <a:lnTo>
                    <a:pt x="43820" y="567514"/>
                  </a:lnTo>
                  <a:close/>
                </a:path>
                <a:path w="1931034" h="638175">
                  <a:moveTo>
                    <a:pt x="44242" y="567054"/>
                  </a:moveTo>
                  <a:lnTo>
                    <a:pt x="44069" y="567054"/>
                  </a:lnTo>
                  <a:lnTo>
                    <a:pt x="43820" y="567514"/>
                  </a:lnTo>
                  <a:lnTo>
                    <a:pt x="44242" y="567054"/>
                  </a:lnTo>
                  <a:close/>
                </a:path>
                <a:path w="1931034" h="638175">
                  <a:moveTo>
                    <a:pt x="111580" y="512751"/>
                  </a:moveTo>
                  <a:lnTo>
                    <a:pt x="111429" y="512751"/>
                  </a:lnTo>
                  <a:lnTo>
                    <a:pt x="110326" y="513492"/>
                  </a:lnTo>
                  <a:lnTo>
                    <a:pt x="111580" y="512751"/>
                  </a:lnTo>
                  <a:close/>
                </a:path>
                <a:path w="1931034" h="638175">
                  <a:moveTo>
                    <a:pt x="133900" y="499282"/>
                  </a:moveTo>
                  <a:lnTo>
                    <a:pt x="133744" y="499282"/>
                  </a:lnTo>
                  <a:lnTo>
                    <a:pt x="132460" y="500062"/>
                  </a:lnTo>
                  <a:lnTo>
                    <a:pt x="133900" y="499282"/>
                  </a:lnTo>
                  <a:close/>
                </a:path>
                <a:path w="1931034" h="638175">
                  <a:moveTo>
                    <a:pt x="187587" y="471698"/>
                  </a:moveTo>
                  <a:lnTo>
                    <a:pt x="184582" y="473048"/>
                  </a:lnTo>
                  <a:lnTo>
                    <a:pt x="184834" y="473048"/>
                  </a:lnTo>
                  <a:lnTo>
                    <a:pt x="187587" y="471698"/>
                  </a:lnTo>
                  <a:close/>
                </a:path>
                <a:path w="1931034" h="638175">
                  <a:moveTo>
                    <a:pt x="274045" y="436379"/>
                  </a:moveTo>
                  <a:lnTo>
                    <a:pt x="273839" y="436379"/>
                  </a:lnTo>
                  <a:lnTo>
                    <a:pt x="271565" y="437240"/>
                  </a:lnTo>
                  <a:lnTo>
                    <a:pt x="274045" y="436379"/>
                  </a:lnTo>
                  <a:close/>
                </a:path>
                <a:path w="1931034" h="638175">
                  <a:moveTo>
                    <a:pt x="380194" y="402695"/>
                  </a:moveTo>
                  <a:lnTo>
                    <a:pt x="376576" y="403674"/>
                  </a:lnTo>
                  <a:lnTo>
                    <a:pt x="376828" y="403674"/>
                  </a:lnTo>
                  <a:lnTo>
                    <a:pt x="380194" y="402695"/>
                  </a:lnTo>
                  <a:close/>
                </a:path>
                <a:path w="1931034" h="638175">
                  <a:moveTo>
                    <a:pt x="1622683" y="213687"/>
                  </a:moveTo>
                  <a:lnTo>
                    <a:pt x="1622466" y="213687"/>
                  </a:lnTo>
                  <a:lnTo>
                    <a:pt x="1620837" y="214248"/>
                  </a:lnTo>
                  <a:lnTo>
                    <a:pt x="1622683" y="213687"/>
                  </a:lnTo>
                  <a:close/>
                </a:path>
                <a:path w="1931034" h="638175">
                  <a:moveTo>
                    <a:pt x="1686972" y="190456"/>
                  </a:moveTo>
                  <a:lnTo>
                    <a:pt x="1686734" y="190456"/>
                  </a:lnTo>
                  <a:lnTo>
                    <a:pt x="1683664" y="191705"/>
                  </a:lnTo>
                  <a:lnTo>
                    <a:pt x="1686972" y="190456"/>
                  </a:lnTo>
                  <a:close/>
                </a:path>
                <a:path w="1931034" h="638175">
                  <a:moveTo>
                    <a:pt x="1716695" y="178269"/>
                  </a:moveTo>
                  <a:lnTo>
                    <a:pt x="1716459" y="178269"/>
                  </a:lnTo>
                  <a:lnTo>
                    <a:pt x="1713879" y="179415"/>
                  </a:lnTo>
                  <a:lnTo>
                    <a:pt x="1716695" y="178269"/>
                  </a:lnTo>
                  <a:close/>
                </a:path>
                <a:path w="1931034" h="638175">
                  <a:moveTo>
                    <a:pt x="1744767" y="165702"/>
                  </a:moveTo>
                  <a:lnTo>
                    <a:pt x="1744532" y="165702"/>
                  </a:lnTo>
                  <a:lnTo>
                    <a:pt x="1742026" y="166919"/>
                  </a:lnTo>
                  <a:lnTo>
                    <a:pt x="1744767" y="165702"/>
                  </a:lnTo>
                  <a:close/>
                </a:path>
                <a:path w="1931034" h="638175">
                  <a:moveTo>
                    <a:pt x="1918461" y="0"/>
                  </a:moveTo>
                  <a:lnTo>
                    <a:pt x="1918122" y="6680"/>
                  </a:lnTo>
                  <a:lnTo>
                    <a:pt x="1917133" y="13969"/>
                  </a:lnTo>
                  <a:lnTo>
                    <a:pt x="1917059" y="14519"/>
                  </a:lnTo>
                  <a:lnTo>
                    <a:pt x="1915524" y="20878"/>
                  </a:lnTo>
                  <a:lnTo>
                    <a:pt x="1913265" y="27774"/>
                  </a:lnTo>
                  <a:lnTo>
                    <a:pt x="1913212" y="28228"/>
                  </a:lnTo>
                  <a:lnTo>
                    <a:pt x="1912810" y="29164"/>
                  </a:lnTo>
                  <a:lnTo>
                    <a:pt x="1910888" y="33943"/>
                  </a:lnTo>
                  <a:lnTo>
                    <a:pt x="1906904" y="41909"/>
                  </a:lnTo>
                  <a:lnTo>
                    <a:pt x="1902708" y="49275"/>
                  </a:lnTo>
                  <a:lnTo>
                    <a:pt x="1898271" y="55879"/>
                  </a:lnTo>
                  <a:lnTo>
                    <a:pt x="1898126" y="56027"/>
                  </a:lnTo>
                  <a:lnTo>
                    <a:pt x="1892274" y="63741"/>
                  </a:lnTo>
                  <a:lnTo>
                    <a:pt x="1886711" y="70230"/>
                  </a:lnTo>
                  <a:lnTo>
                    <a:pt x="1880162" y="77275"/>
                  </a:lnTo>
                  <a:lnTo>
                    <a:pt x="1880042" y="77532"/>
                  </a:lnTo>
                  <a:lnTo>
                    <a:pt x="1878631" y="78892"/>
                  </a:lnTo>
                  <a:lnTo>
                    <a:pt x="1873188" y="84267"/>
                  </a:lnTo>
                  <a:lnTo>
                    <a:pt x="1872795" y="84492"/>
                  </a:lnTo>
                  <a:lnTo>
                    <a:pt x="1857255" y="98100"/>
                  </a:lnTo>
                  <a:lnTo>
                    <a:pt x="1839379" y="111690"/>
                  </a:lnTo>
                  <a:lnTo>
                    <a:pt x="1818114" y="126037"/>
                  </a:lnTo>
                  <a:lnTo>
                    <a:pt x="1840737" y="126037"/>
                  </a:lnTo>
                  <a:lnTo>
                    <a:pt x="1881631" y="93725"/>
                  </a:lnTo>
                  <a:lnTo>
                    <a:pt x="1908428" y="63499"/>
                  </a:lnTo>
                  <a:lnTo>
                    <a:pt x="1927732" y="24510"/>
                  </a:lnTo>
                  <a:lnTo>
                    <a:pt x="1931034" y="761"/>
                  </a:lnTo>
                  <a:lnTo>
                    <a:pt x="1918461" y="0"/>
                  </a:lnTo>
                  <a:close/>
                </a:path>
                <a:path w="1931034" h="638175">
                  <a:moveTo>
                    <a:pt x="1874309" y="83166"/>
                  </a:moveTo>
                  <a:lnTo>
                    <a:pt x="1872795" y="84492"/>
                  </a:lnTo>
                  <a:lnTo>
                    <a:pt x="1873188" y="84267"/>
                  </a:lnTo>
                  <a:lnTo>
                    <a:pt x="1874309" y="831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58968" y="5161787"/>
              <a:ext cx="1431290" cy="1294130"/>
            </a:xfrm>
            <a:custGeom>
              <a:avLst/>
              <a:gdLst/>
              <a:ahLst/>
              <a:cxnLst/>
              <a:rect l="l" t="t" r="r" b="b"/>
              <a:pathLst>
                <a:path w="1431290" h="1294129">
                  <a:moveTo>
                    <a:pt x="1431036" y="202692"/>
                  </a:moveTo>
                  <a:lnTo>
                    <a:pt x="1425676" y="156197"/>
                  </a:lnTo>
                  <a:lnTo>
                    <a:pt x="1410423" y="113525"/>
                  </a:lnTo>
                  <a:lnTo>
                    <a:pt x="1386484" y="75895"/>
                  </a:lnTo>
                  <a:lnTo>
                    <a:pt x="1355090" y="44513"/>
                  </a:lnTo>
                  <a:lnTo>
                    <a:pt x="1317447" y="20599"/>
                  </a:lnTo>
                  <a:lnTo>
                    <a:pt x="1274800" y="5359"/>
                  </a:lnTo>
                  <a:lnTo>
                    <a:pt x="1228344" y="0"/>
                  </a:lnTo>
                  <a:lnTo>
                    <a:pt x="307848" y="0"/>
                  </a:lnTo>
                  <a:lnTo>
                    <a:pt x="261378" y="5359"/>
                  </a:lnTo>
                  <a:lnTo>
                    <a:pt x="218732" y="20599"/>
                  </a:lnTo>
                  <a:lnTo>
                    <a:pt x="181089" y="44513"/>
                  </a:lnTo>
                  <a:lnTo>
                    <a:pt x="149694" y="75895"/>
                  </a:lnTo>
                  <a:lnTo>
                    <a:pt x="134708" y="99453"/>
                  </a:lnTo>
                  <a:lnTo>
                    <a:pt x="112687" y="107315"/>
                  </a:lnTo>
                  <a:lnTo>
                    <a:pt x="75336" y="131064"/>
                  </a:lnTo>
                  <a:lnTo>
                    <a:pt x="44183" y="162217"/>
                  </a:lnTo>
                  <a:lnTo>
                    <a:pt x="20434" y="199567"/>
                  </a:lnTo>
                  <a:lnTo>
                    <a:pt x="5308" y="241909"/>
                  </a:lnTo>
                  <a:lnTo>
                    <a:pt x="0" y="288036"/>
                  </a:lnTo>
                  <a:lnTo>
                    <a:pt x="0" y="1092644"/>
                  </a:lnTo>
                  <a:lnTo>
                    <a:pt x="5308" y="1138770"/>
                  </a:lnTo>
                  <a:lnTo>
                    <a:pt x="20434" y="1181112"/>
                  </a:lnTo>
                  <a:lnTo>
                    <a:pt x="44183" y="1218476"/>
                  </a:lnTo>
                  <a:lnTo>
                    <a:pt x="75336" y="1249629"/>
                  </a:lnTo>
                  <a:lnTo>
                    <a:pt x="112687" y="1273365"/>
                  </a:lnTo>
                  <a:lnTo>
                    <a:pt x="155028" y="1288503"/>
                  </a:lnTo>
                  <a:lnTo>
                    <a:pt x="201168" y="1293812"/>
                  </a:lnTo>
                  <a:lnTo>
                    <a:pt x="1124712" y="1293812"/>
                  </a:lnTo>
                  <a:lnTo>
                    <a:pt x="1170838" y="1288503"/>
                  </a:lnTo>
                  <a:lnTo>
                    <a:pt x="1213180" y="1273365"/>
                  </a:lnTo>
                  <a:lnTo>
                    <a:pt x="1250530" y="1249629"/>
                  </a:lnTo>
                  <a:lnTo>
                    <a:pt x="1281684" y="1218476"/>
                  </a:lnTo>
                  <a:lnTo>
                    <a:pt x="1290066" y="1205280"/>
                  </a:lnTo>
                  <a:lnTo>
                    <a:pt x="1317447" y="1195489"/>
                  </a:lnTo>
                  <a:lnTo>
                    <a:pt x="1355090" y="1171562"/>
                  </a:lnTo>
                  <a:lnTo>
                    <a:pt x="1386484" y="1140167"/>
                  </a:lnTo>
                  <a:lnTo>
                    <a:pt x="1410423" y="1102537"/>
                  </a:lnTo>
                  <a:lnTo>
                    <a:pt x="1425676" y="1059878"/>
                  </a:lnTo>
                  <a:lnTo>
                    <a:pt x="1431036" y="1013396"/>
                  </a:lnTo>
                  <a:lnTo>
                    <a:pt x="1431036" y="20269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64124" y="5161788"/>
              <a:ext cx="1325880" cy="1216660"/>
            </a:xfrm>
            <a:custGeom>
              <a:avLst/>
              <a:gdLst/>
              <a:ahLst/>
              <a:cxnLst/>
              <a:rect l="l" t="t" r="r" b="b"/>
              <a:pathLst>
                <a:path w="1325879" h="1216660">
                  <a:moveTo>
                    <a:pt x="202691" y="1216088"/>
                  </a:moveTo>
                  <a:lnTo>
                    <a:pt x="156234" y="1210734"/>
                  </a:lnTo>
                  <a:lnTo>
                    <a:pt x="113577" y="1195485"/>
                  </a:lnTo>
                  <a:lnTo>
                    <a:pt x="75942" y="1171557"/>
                  </a:lnTo>
                  <a:lnTo>
                    <a:pt x="44547" y="1140167"/>
                  </a:lnTo>
                  <a:lnTo>
                    <a:pt x="20611" y="1102532"/>
                  </a:lnTo>
                  <a:lnTo>
                    <a:pt x="5356" y="1059870"/>
                  </a:lnTo>
                  <a:lnTo>
                    <a:pt x="0" y="1013396"/>
                  </a:lnTo>
                  <a:lnTo>
                    <a:pt x="0" y="202692"/>
                  </a:lnTo>
                  <a:lnTo>
                    <a:pt x="5356" y="156194"/>
                  </a:lnTo>
                  <a:lnTo>
                    <a:pt x="20611" y="113522"/>
                  </a:lnTo>
                  <a:lnTo>
                    <a:pt x="44547" y="75888"/>
                  </a:lnTo>
                  <a:lnTo>
                    <a:pt x="75942" y="44507"/>
                  </a:lnTo>
                  <a:lnTo>
                    <a:pt x="113577" y="20589"/>
                  </a:lnTo>
                  <a:lnTo>
                    <a:pt x="156234" y="5349"/>
                  </a:lnTo>
                  <a:lnTo>
                    <a:pt x="202691" y="0"/>
                  </a:lnTo>
                  <a:lnTo>
                    <a:pt x="1123187" y="0"/>
                  </a:lnTo>
                  <a:lnTo>
                    <a:pt x="1169645" y="5349"/>
                  </a:lnTo>
                  <a:lnTo>
                    <a:pt x="1212302" y="20589"/>
                  </a:lnTo>
                  <a:lnTo>
                    <a:pt x="1249937" y="44507"/>
                  </a:lnTo>
                  <a:lnTo>
                    <a:pt x="1281332" y="75888"/>
                  </a:lnTo>
                  <a:lnTo>
                    <a:pt x="1305268" y="113522"/>
                  </a:lnTo>
                  <a:lnTo>
                    <a:pt x="1320523" y="156194"/>
                  </a:lnTo>
                  <a:lnTo>
                    <a:pt x="1325879" y="202692"/>
                  </a:lnTo>
                  <a:lnTo>
                    <a:pt x="1325879" y="1013396"/>
                  </a:lnTo>
                  <a:lnTo>
                    <a:pt x="1320523" y="1059870"/>
                  </a:lnTo>
                  <a:lnTo>
                    <a:pt x="1305268" y="1102532"/>
                  </a:lnTo>
                  <a:lnTo>
                    <a:pt x="1281332" y="1140167"/>
                  </a:lnTo>
                  <a:lnTo>
                    <a:pt x="1249937" y="1171557"/>
                  </a:lnTo>
                  <a:lnTo>
                    <a:pt x="1212302" y="1195485"/>
                  </a:lnTo>
                  <a:lnTo>
                    <a:pt x="1169645" y="1210734"/>
                  </a:lnTo>
                  <a:lnTo>
                    <a:pt x="1123187" y="1216088"/>
                  </a:lnTo>
                  <a:lnTo>
                    <a:pt x="202691" y="121608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73852" y="5070348"/>
              <a:ext cx="1316990" cy="1216660"/>
            </a:xfrm>
            <a:custGeom>
              <a:avLst/>
              <a:gdLst/>
              <a:ahLst/>
              <a:cxnLst/>
              <a:rect l="l" t="t" r="r" b="b"/>
              <a:pathLst>
                <a:path w="1316990" h="1216660">
                  <a:moveTo>
                    <a:pt x="1114044" y="0"/>
                  </a:moveTo>
                  <a:lnTo>
                    <a:pt x="202692" y="0"/>
                  </a:lnTo>
                  <a:lnTo>
                    <a:pt x="156234" y="5349"/>
                  </a:lnTo>
                  <a:lnTo>
                    <a:pt x="113577" y="20589"/>
                  </a:lnTo>
                  <a:lnTo>
                    <a:pt x="75942" y="44507"/>
                  </a:lnTo>
                  <a:lnTo>
                    <a:pt x="44547" y="75888"/>
                  </a:lnTo>
                  <a:lnTo>
                    <a:pt x="20611" y="113522"/>
                  </a:lnTo>
                  <a:lnTo>
                    <a:pt x="5356" y="156194"/>
                  </a:lnTo>
                  <a:lnTo>
                    <a:pt x="0" y="202691"/>
                  </a:lnTo>
                  <a:lnTo>
                    <a:pt x="0" y="1013396"/>
                  </a:lnTo>
                  <a:lnTo>
                    <a:pt x="5356" y="1059870"/>
                  </a:lnTo>
                  <a:lnTo>
                    <a:pt x="20611" y="1102532"/>
                  </a:lnTo>
                  <a:lnTo>
                    <a:pt x="44547" y="1140167"/>
                  </a:lnTo>
                  <a:lnTo>
                    <a:pt x="75942" y="1171557"/>
                  </a:lnTo>
                  <a:lnTo>
                    <a:pt x="113577" y="1195485"/>
                  </a:lnTo>
                  <a:lnTo>
                    <a:pt x="156234" y="1210734"/>
                  </a:lnTo>
                  <a:lnTo>
                    <a:pt x="202692" y="1216088"/>
                  </a:lnTo>
                  <a:lnTo>
                    <a:pt x="1114044" y="1216088"/>
                  </a:lnTo>
                  <a:lnTo>
                    <a:pt x="1160501" y="1210734"/>
                  </a:lnTo>
                  <a:lnTo>
                    <a:pt x="1203158" y="1195485"/>
                  </a:lnTo>
                  <a:lnTo>
                    <a:pt x="1240793" y="1171557"/>
                  </a:lnTo>
                  <a:lnTo>
                    <a:pt x="1272188" y="1140167"/>
                  </a:lnTo>
                  <a:lnTo>
                    <a:pt x="1296124" y="1102532"/>
                  </a:lnTo>
                  <a:lnTo>
                    <a:pt x="1311379" y="1059870"/>
                  </a:lnTo>
                  <a:lnTo>
                    <a:pt x="1316736" y="1013396"/>
                  </a:lnTo>
                  <a:lnTo>
                    <a:pt x="1316736" y="202691"/>
                  </a:lnTo>
                  <a:lnTo>
                    <a:pt x="1311379" y="156194"/>
                  </a:lnTo>
                  <a:lnTo>
                    <a:pt x="1296124" y="113522"/>
                  </a:lnTo>
                  <a:lnTo>
                    <a:pt x="1272188" y="75888"/>
                  </a:lnTo>
                  <a:lnTo>
                    <a:pt x="1240793" y="44507"/>
                  </a:lnTo>
                  <a:lnTo>
                    <a:pt x="1203158" y="20589"/>
                  </a:lnTo>
                  <a:lnTo>
                    <a:pt x="1160501" y="5349"/>
                  </a:lnTo>
                  <a:lnTo>
                    <a:pt x="111404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73852" y="5070348"/>
              <a:ext cx="1316990" cy="1216660"/>
            </a:xfrm>
            <a:custGeom>
              <a:avLst/>
              <a:gdLst/>
              <a:ahLst/>
              <a:cxnLst/>
              <a:rect l="l" t="t" r="r" b="b"/>
              <a:pathLst>
                <a:path w="1316990" h="1216660">
                  <a:moveTo>
                    <a:pt x="202692" y="1216088"/>
                  </a:moveTo>
                  <a:lnTo>
                    <a:pt x="156234" y="1210734"/>
                  </a:lnTo>
                  <a:lnTo>
                    <a:pt x="113577" y="1195485"/>
                  </a:lnTo>
                  <a:lnTo>
                    <a:pt x="75942" y="1171557"/>
                  </a:lnTo>
                  <a:lnTo>
                    <a:pt x="44547" y="1140167"/>
                  </a:lnTo>
                  <a:lnTo>
                    <a:pt x="20611" y="1102532"/>
                  </a:lnTo>
                  <a:lnTo>
                    <a:pt x="5356" y="1059870"/>
                  </a:lnTo>
                  <a:lnTo>
                    <a:pt x="0" y="1013396"/>
                  </a:lnTo>
                  <a:lnTo>
                    <a:pt x="0" y="202691"/>
                  </a:lnTo>
                  <a:lnTo>
                    <a:pt x="5356" y="156194"/>
                  </a:lnTo>
                  <a:lnTo>
                    <a:pt x="20611" y="113522"/>
                  </a:lnTo>
                  <a:lnTo>
                    <a:pt x="44547" y="75888"/>
                  </a:lnTo>
                  <a:lnTo>
                    <a:pt x="75942" y="44507"/>
                  </a:lnTo>
                  <a:lnTo>
                    <a:pt x="113577" y="20589"/>
                  </a:lnTo>
                  <a:lnTo>
                    <a:pt x="156234" y="5349"/>
                  </a:lnTo>
                  <a:lnTo>
                    <a:pt x="202692" y="0"/>
                  </a:lnTo>
                  <a:lnTo>
                    <a:pt x="1114044" y="0"/>
                  </a:lnTo>
                  <a:lnTo>
                    <a:pt x="1160501" y="5349"/>
                  </a:lnTo>
                  <a:lnTo>
                    <a:pt x="1203158" y="20589"/>
                  </a:lnTo>
                  <a:lnTo>
                    <a:pt x="1240793" y="44507"/>
                  </a:lnTo>
                  <a:lnTo>
                    <a:pt x="1272188" y="75888"/>
                  </a:lnTo>
                  <a:lnTo>
                    <a:pt x="1296124" y="113522"/>
                  </a:lnTo>
                  <a:lnTo>
                    <a:pt x="1311379" y="156194"/>
                  </a:lnTo>
                  <a:lnTo>
                    <a:pt x="1316736" y="202691"/>
                  </a:lnTo>
                  <a:lnTo>
                    <a:pt x="1316736" y="1013396"/>
                  </a:lnTo>
                  <a:lnTo>
                    <a:pt x="1311379" y="1059870"/>
                  </a:lnTo>
                  <a:lnTo>
                    <a:pt x="1296124" y="1102532"/>
                  </a:lnTo>
                  <a:lnTo>
                    <a:pt x="1272188" y="1140167"/>
                  </a:lnTo>
                  <a:lnTo>
                    <a:pt x="1240793" y="1171557"/>
                  </a:lnTo>
                  <a:lnTo>
                    <a:pt x="1203158" y="1195485"/>
                  </a:lnTo>
                  <a:lnTo>
                    <a:pt x="1160501" y="1210734"/>
                  </a:lnTo>
                  <a:lnTo>
                    <a:pt x="1114044" y="1216088"/>
                  </a:lnTo>
                  <a:lnTo>
                    <a:pt x="202692" y="121608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91327" y="5537708"/>
            <a:ext cx="11118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mbria Math"/>
                <a:cs typeface="Cambria Math"/>
              </a:rPr>
              <a:t>𝑋𝑄𝐾</a:t>
            </a:r>
            <a:r>
              <a:rPr sz="2175" baseline="28735" dirty="0">
                <a:latin typeface="Cambria Math"/>
                <a:cs typeface="Cambria Math"/>
              </a:rPr>
              <a:t>⊤</a:t>
            </a:r>
            <a:r>
              <a:rPr sz="2175" spc="615" baseline="28735" dirty="0">
                <a:latin typeface="Cambria Math"/>
                <a:cs typeface="Cambria Math"/>
              </a:rPr>
              <a:t> </a:t>
            </a:r>
            <a:r>
              <a:rPr sz="2000" spc="45" dirty="0">
                <a:latin typeface="Cambria Math"/>
                <a:cs typeface="Cambria Math"/>
              </a:rPr>
              <a:t>𝑋</a:t>
            </a:r>
            <a:r>
              <a:rPr sz="2175" spc="67" baseline="28735" dirty="0">
                <a:latin typeface="Cambria Math"/>
                <a:cs typeface="Cambria Math"/>
              </a:rPr>
              <a:t>⊤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14229" y="5171313"/>
            <a:ext cx="494030" cy="1207135"/>
          </a:xfrm>
          <a:custGeom>
            <a:avLst/>
            <a:gdLst/>
            <a:ahLst/>
            <a:cxnLst/>
            <a:rect l="l" t="t" r="r" b="b"/>
            <a:pathLst>
              <a:path w="494029" h="1207135">
                <a:moveTo>
                  <a:pt x="155448" y="25908"/>
                </a:moveTo>
                <a:lnTo>
                  <a:pt x="153416" y="15811"/>
                </a:lnTo>
                <a:lnTo>
                  <a:pt x="147866" y="7581"/>
                </a:lnTo>
                <a:lnTo>
                  <a:pt x="139636" y="2032"/>
                </a:lnTo>
                <a:lnTo>
                  <a:pt x="129540" y="0"/>
                </a:lnTo>
                <a:lnTo>
                  <a:pt x="25908" y="0"/>
                </a:lnTo>
                <a:lnTo>
                  <a:pt x="15798" y="2032"/>
                </a:lnTo>
                <a:lnTo>
                  <a:pt x="7569" y="7581"/>
                </a:lnTo>
                <a:lnTo>
                  <a:pt x="2019" y="15811"/>
                </a:lnTo>
                <a:lnTo>
                  <a:pt x="0" y="25908"/>
                </a:lnTo>
                <a:lnTo>
                  <a:pt x="0" y="1181036"/>
                </a:lnTo>
                <a:lnTo>
                  <a:pt x="2019" y="1191120"/>
                </a:lnTo>
                <a:lnTo>
                  <a:pt x="7569" y="1199362"/>
                </a:lnTo>
                <a:lnTo>
                  <a:pt x="15798" y="1204912"/>
                </a:lnTo>
                <a:lnTo>
                  <a:pt x="25908" y="1206944"/>
                </a:lnTo>
                <a:lnTo>
                  <a:pt x="129540" y="1206944"/>
                </a:lnTo>
                <a:lnTo>
                  <a:pt x="139636" y="1204912"/>
                </a:lnTo>
                <a:lnTo>
                  <a:pt x="147866" y="1199362"/>
                </a:lnTo>
                <a:lnTo>
                  <a:pt x="153416" y="1191120"/>
                </a:lnTo>
                <a:lnTo>
                  <a:pt x="155448" y="1181036"/>
                </a:lnTo>
                <a:lnTo>
                  <a:pt x="155448" y="25908"/>
                </a:lnTo>
                <a:close/>
              </a:path>
              <a:path w="494029" h="1207135">
                <a:moveTo>
                  <a:pt x="320040" y="25908"/>
                </a:moveTo>
                <a:lnTo>
                  <a:pt x="318008" y="15811"/>
                </a:lnTo>
                <a:lnTo>
                  <a:pt x="312458" y="7581"/>
                </a:lnTo>
                <a:lnTo>
                  <a:pt x="304228" y="2032"/>
                </a:lnTo>
                <a:lnTo>
                  <a:pt x="294132" y="0"/>
                </a:lnTo>
                <a:lnTo>
                  <a:pt x="190500" y="0"/>
                </a:lnTo>
                <a:lnTo>
                  <a:pt x="180390" y="2032"/>
                </a:lnTo>
                <a:lnTo>
                  <a:pt x="172161" y="7581"/>
                </a:lnTo>
                <a:lnTo>
                  <a:pt x="166611" y="15811"/>
                </a:lnTo>
                <a:lnTo>
                  <a:pt x="164592" y="25908"/>
                </a:lnTo>
                <a:lnTo>
                  <a:pt x="164592" y="1181036"/>
                </a:lnTo>
                <a:lnTo>
                  <a:pt x="166611" y="1191120"/>
                </a:lnTo>
                <a:lnTo>
                  <a:pt x="172161" y="1199362"/>
                </a:lnTo>
                <a:lnTo>
                  <a:pt x="180390" y="1204912"/>
                </a:lnTo>
                <a:lnTo>
                  <a:pt x="190500" y="1206944"/>
                </a:lnTo>
                <a:lnTo>
                  <a:pt x="294132" y="1206944"/>
                </a:lnTo>
                <a:lnTo>
                  <a:pt x="304228" y="1204912"/>
                </a:lnTo>
                <a:lnTo>
                  <a:pt x="312458" y="1199362"/>
                </a:lnTo>
                <a:lnTo>
                  <a:pt x="318008" y="1191120"/>
                </a:lnTo>
                <a:lnTo>
                  <a:pt x="320040" y="1181036"/>
                </a:lnTo>
                <a:lnTo>
                  <a:pt x="320040" y="25908"/>
                </a:lnTo>
                <a:close/>
              </a:path>
              <a:path w="494029" h="1207135">
                <a:moveTo>
                  <a:pt x="493776" y="27432"/>
                </a:moveTo>
                <a:lnTo>
                  <a:pt x="491604" y="16725"/>
                </a:lnTo>
                <a:lnTo>
                  <a:pt x="485724" y="8001"/>
                </a:lnTo>
                <a:lnTo>
                  <a:pt x="476999" y="2146"/>
                </a:lnTo>
                <a:lnTo>
                  <a:pt x="466344" y="0"/>
                </a:lnTo>
                <a:lnTo>
                  <a:pt x="356616" y="0"/>
                </a:lnTo>
                <a:lnTo>
                  <a:pt x="345948" y="2146"/>
                </a:lnTo>
                <a:lnTo>
                  <a:pt x="337223" y="8001"/>
                </a:lnTo>
                <a:lnTo>
                  <a:pt x="331343" y="16725"/>
                </a:lnTo>
                <a:lnTo>
                  <a:pt x="329184" y="27432"/>
                </a:lnTo>
                <a:lnTo>
                  <a:pt x="329184" y="1179512"/>
                </a:lnTo>
                <a:lnTo>
                  <a:pt x="331343" y="1190193"/>
                </a:lnTo>
                <a:lnTo>
                  <a:pt x="337223" y="1198918"/>
                </a:lnTo>
                <a:lnTo>
                  <a:pt x="345948" y="1204798"/>
                </a:lnTo>
                <a:lnTo>
                  <a:pt x="356616" y="1206944"/>
                </a:lnTo>
                <a:lnTo>
                  <a:pt x="466344" y="1206944"/>
                </a:lnTo>
                <a:lnTo>
                  <a:pt x="476999" y="1204798"/>
                </a:lnTo>
                <a:lnTo>
                  <a:pt x="485724" y="1198918"/>
                </a:lnTo>
                <a:lnTo>
                  <a:pt x="491604" y="1190193"/>
                </a:lnTo>
                <a:lnTo>
                  <a:pt x="493776" y="1179512"/>
                </a:lnTo>
                <a:lnTo>
                  <a:pt x="493776" y="27432"/>
                </a:lnTo>
                <a:close/>
              </a:path>
            </a:pathLst>
          </a:custGeom>
          <a:solidFill>
            <a:srgbClr val="B6D2C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7197852" y="5584050"/>
            <a:ext cx="56540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endParaRPr lang="en-US" sz="2000" spc="-480" dirty="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457306" y="6005944"/>
            <a:ext cx="1666239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mbria Math"/>
                <a:cs typeface="Cambria Math"/>
              </a:rPr>
              <a:t>output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∈</a:t>
            </a:r>
            <a:r>
              <a:rPr sz="2000" spc="85" dirty="0">
                <a:latin typeface="Cambria Math"/>
                <a:cs typeface="Cambria Math"/>
              </a:rPr>
              <a:t> </a:t>
            </a:r>
            <a:r>
              <a:rPr sz="2000" spc="30" dirty="0">
                <a:latin typeface="Cambria Math"/>
                <a:cs typeface="Cambria Math"/>
              </a:rPr>
              <a:t>ℝ</a:t>
            </a:r>
            <a:r>
              <a:rPr sz="2175" spc="44" baseline="28735" dirty="0">
                <a:latin typeface="Cambria Math"/>
                <a:cs typeface="Cambria Math"/>
              </a:rPr>
              <a:t>𝑛×𝑑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34325" y="5435231"/>
            <a:ext cx="2489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b="1" spc="-50" dirty="0">
                <a:latin typeface="Calibri"/>
                <a:cs typeface="Calibri"/>
              </a:rPr>
              <a:t>=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93608" y="5148071"/>
            <a:ext cx="494030" cy="1207135"/>
          </a:xfrm>
          <a:custGeom>
            <a:avLst/>
            <a:gdLst/>
            <a:ahLst/>
            <a:cxnLst/>
            <a:rect l="l" t="t" r="r" b="b"/>
            <a:pathLst>
              <a:path w="494029" h="1207135">
                <a:moveTo>
                  <a:pt x="155448" y="25908"/>
                </a:moveTo>
                <a:lnTo>
                  <a:pt x="153416" y="15811"/>
                </a:lnTo>
                <a:lnTo>
                  <a:pt x="147866" y="7581"/>
                </a:lnTo>
                <a:lnTo>
                  <a:pt x="139636" y="2032"/>
                </a:lnTo>
                <a:lnTo>
                  <a:pt x="129540" y="0"/>
                </a:lnTo>
                <a:lnTo>
                  <a:pt x="25908" y="0"/>
                </a:lnTo>
                <a:lnTo>
                  <a:pt x="15798" y="2032"/>
                </a:lnTo>
                <a:lnTo>
                  <a:pt x="7569" y="7581"/>
                </a:lnTo>
                <a:lnTo>
                  <a:pt x="2019" y="15811"/>
                </a:lnTo>
                <a:lnTo>
                  <a:pt x="0" y="25908"/>
                </a:lnTo>
                <a:lnTo>
                  <a:pt x="0" y="1181036"/>
                </a:lnTo>
                <a:lnTo>
                  <a:pt x="2019" y="1191120"/>
                </a:lnTo>
                <a:lnTo>
                  <a:pt x="7569" y="1199362"/>
                </a:lnTo>
                <a:lnTo>
                  <a:pt x="15798" y="1204912"/>
                </a:lnTo>
                <a:lnTo>
                  <a:pt x="25908" y="1206944"/>
                </a:lnTo>
                <a:lnTo>
                  <a:pt x="129540" y="1206944"/>
                </a:lnTo>
                <a:lnTo>
                  <a:pt x="139636" y="1204912"/>
                </a:lnTo>
                <a:lnTo>
                  <a:pt x="147866" y="1199362"/>
                </a:lnTo>
                <a:lnTo>
                  <a:pt x="153416" y="1191120"/>
                </a:lnTo>
                <a:lnTo>
                  <a:pt x="155448" y="1181036"/>
                </a:lnTo>
                <a:lnTo>
                  <a:pt x="155448" y="25908"/>
                </a:lnTo>
                <a:close/>
              </a:path>
              <a:path w="494029" h="1207135">
                <a:moveTo>
                  <a:pt x="320040" y="25908"/>
                </a:moveTo>
                <a:lnTo>
                  <a:pt x="318008" y="15811"/>
                </a:lnTo>
                <a:lnTo>
                  <a:pt x="312458" y="7581"/>
                </a:lnTo>
                <a:lnTo>
                  <a:pt x="304228" y="2032"/>
                </a:lnTo>
                <a:lnTo>
                  <a:pt x="294132" y="0"/>
                </a:lnTo>
                <a:lnTo>
                  <a:pt x="190500" y="0"/>
                </a:lnTo>
                <a:lnTo>
                  <a:pt x="180390" y="2032"/>
                </a:lnTo>
                <a:lnTo>
                  <a:pt x="172161" y="7581"/>
                </a:lnTo>
                <a:lnTo>
                  <a:pt x="166611" y="15811"/>
                </a:lnTo>
                <a:lnTo>
                  <a:pt x="164592" y="25908"/>
                </a:lnTo>
                <a:lnTo>
                  <a:pt x="164592" y="1181036"/>
                </a:lnTo>
                <a:lnTo>
                  <a:pt x="166611" y="1191120"/>
                </a:lnTo>
                <a:lnTo>
                  <a:pt x="172161" y="1199362"/>
                </a:lnTo>
                <a:lnTo>
                  <a:pt x="180390" y="1204912"/>
                </a:lnTo>
                <a:lnTo>
                  <a:pt x="190500" y="1206944"/>
                </a:lnTo>
                <a:lnTo>
                  <a:pt x="294132" y="1206944"/>
                </a:lnTo>
                <a:lnTo>
                  <a:pt x="304228" y="1204912"/>
                </a:lnTo>
                <a:lnTo>
                  <a:pt x="312458" y="1199362"/>
                </a:lnTo>
                <a:lnTo>
                  <a:pt x="318008" y="1191120"/>
                </a:lnTo>
                <a:lnTo>
                  <a:pt x="320040" y="1181036"/>
                </a:lnTo>
                <a:lnTo>
                  <a:pt x="320040" y="25908"/>
                </a:lnTo>
                <a:close/>
              </a:path>
              <a:path w="494029" h="1207135">
                <a:moveTo>
                  <a:pt x="493776" y="27432"/>
                </a:moveTo>
                <a:lnTo>
                  <a:pt x="491604" y="16725"/>
                </a:lnTo>
                <a:lnTo>
                  <a:pt x="485724" y="8001"/>
                </a:lnTo>
                <a:lnTo>
                  <a:pt x="476999" y="2146"/>
                </a:lnTo>
                <a:lnTo>
                  <a:pt x="466344" y="0"/>
                </a:lnTo>
                <a:lnTo>
                  <a:pt x="356616" y="0"/>
                </a:lnTo>
                <a:lnTo>
                  <a:pt x="345948" y="2146"/>
                </a:lnTo>
                <a:lnTo>
                  <a:pt x="337223" y="8001"/>
                </a:lnTo>
                <a:lnTo>
                  <a:pt x="331343" y="16725"/>
                </a:lnTo>
                <a:lnTo>
                  <a:pt x="329184" y="27432"/>
                </a:lnTo>
                <a:lnTo>
                  <a:pt x="329184" y="1179512"/>
                </a:lnTo>
                <a:lnTo>
                  <a:pt x="331343" y="1190193"/>
                </a:lnTo>
                <a:lnTo>
                  <a:pt x="337223" y="1198918"/>
                </a:lnTo>
                <a:lnTo>
                  <a:pt x="345948" y="1204798"/>
                </a:lnTo>
                <a:lnTo>
                  <a:pt x="356616" y="1206944"/>
                </a:lnTo>
                <a:lnTo>
                  <a:pt x="466344" y="1206944"/>
                </a:lnTo>
                <a:lnTo>
                  <a:pt x="476999" y="1204798"/>
                </a:lnTo>
                <a:lnTo>
                  <a:pt x="485724" y="1198918"/>
                </a:lnTo>
                <a:lnTo>
                  <a:pt x="491604" y="1190193"/>
                </a:lnTo>
                <a:lnTo>
                  <a:pt x="493776" y="1179512"/>
                </a:lnTo>
                <a:lnTo>
                  <a:pt x="493776" y="2743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869680" y="5870384"/>
            <a:ext cx="457200" cy="475615"/>
          </a:xfrm>
          <a:custGeom>
            <a:avLst/>
            <a:gdLst/>
            <a:ahLst/>
            <a:cxnLst/>
            <a:rect l="l" t="t" r="r" b="b"/>
            <a:pathLst>
              <a:path w="457200" h="475614">
                <a:moveTo>
                  <a:pt x="381000" y="0"/>
                </a:moveTo>
                <a:lnTo>
                  <a:pt x="76200" y="0"/>
                </a:lnTo>
                <a:lnTo>
                  <a:pt x="46559" y="5989"/>
                </a:lnTo>
                <a:lnTo>
                  <a:pt x="22336" y="22321"/>
                </a:lnTo>
                <a:lnTo>
                  <a:pt x="5994" y="46543"/>
                </a:lnTo>
                <a:lnTo>
                  <a:pt x="0" y="76199"/>
                </a:lnTo>
                <a:lnTo>
                  <a:pt x="0" y="399287"/>
                </a:lnTo>
                <a:lnTo>
                  <a:pt x="5994" y="428944"/>
                </a:lnTo>
                <a:lnTo>
                  <a:pt x="22336" y="453166"/>
                </a:lnTo>
                <a:lnTo>
                  <a:pt x="46559" y="469498"/>
                </a:lnTo>
                <a:lnTo>
                  <a:pt x="76200" y="475487"/>
                </a:lnTo>
                <a:lnTo>
                  <a:pt x="381000" y="475487"/>
                </a:lnTo>
                <a:lnTo>
                  <a:pt x="410640" y="469498"/>
                </a:lnTo>
                <a:lnTo>
                  <a:pt x="434863" y="453166"/>
                </a:lnTo>
                <a:lnTo>
                  <a:pt x="451205" y="428944"/>
                </a:lnTo>
                <a:lnTo>
                  <a:pt x="457200" y="399287"/>
                </a:lnTo>
                <a:lnTo>
                  <a:pt x="457200" y="76199"/>
                </a:lnTo>
                <a:lnTo>
                  <a:pt x="451205" y="46543"/>
                </a:lnTo>
                <a:lnTo>
                  <a:pt x="434863" y="22321"/>
                </a:lnTo>
                <a:lnTo>
                  <a:pt x="410640" y="5989"/>
                </a:lnTo>
                <a:lnTo>
                  <a:pt x="381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904605" y="5801804"/>
            <a:ext cx="401955" cy="871219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1025"/>
              </a:spcBef>
            </a:pPr>
            <a:r>
              <a:rPr sz="2000" spc="-50" dirty="0">
                <a:latin typeface="Cambria Math"/>
                <a:cs typeface="Cambria Math"/>
              </a:rPr>
              <a:t>𝑃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000" spc="-25" dirty="0">
                <a:latin typeface="Calibri"/>
                <a:cs typeface="Calibri"/>
              </a:rPr>
              <a:t>mix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34270" y="5435231"/>
            <a:ext cx="2489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b="1" spc="-50" dirty="0">
                <a:latin typeface="Calibri"/>
                <a:cs typeface="Calibri"/>
              </a:rPr>
              <a:t>=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857231" y="5157215"/>
            <a:ext cx="457200" cy="1207135"/>
          </a:xfrm>
          <a:custGeom>
            <a:avLst/>
            <a:gdLst/>
            <a:ahLst/>
            <a:cxnLst/>
            <a:rect l="l" t="t" r="r" b="b"/>
            <a:pathLst>
              <a:path w="457200" h="1207135">
                <a:moveTo>
                  <a:pt x="381000" y="0"/>
                </a:moveTo>
                <a:lnTo>
                  <a:pt x="76200" y="0"/>
                </a:lnTo>
                <a:lnTo>
                  <a:pt x="46559" y="5976"/>
                </a:lnTo>
                <a:lnTo>
                  <a:pt x="22336" y="22288"/>
                </a:lnTo>
                <a:lnTo>
                  <a:pt x="5994" y="46505"/>
                </a:lnTo>
                <a:lnTo>
                  <a:pt x="0" y="76199"/>
                </a:lnTo>
                <a:lnTo>
                  <a:pt x="0" y="1130744"/>
                </a:lnTo>
                <a:lnTo>
                  <a:pt x="5994" y="1160401"/>
                </a:lnTo>
                <a:lnTo>
                  <a:pt x="22336" y="1184622"/>
                </a:lnTo>
                <a:lnTo>
                  <a:pt x="46559" y="1200955"/>
                </a:lnTo>
                <a:lnTo>
                  <a:pt x="76200" y="1206944"/>
                </a:lnTo>
                <a:lnTo>
                  <a:pt x="381000" y="1206944"/>
                </a:lnTo>
                <a:lnTo>
                  <a:pt x="410640" y="1200955"/>
                </a:lnTo>
                <a:lnTo>
                  <a:pt x="434863" y="1184622"/>
                </a:lnTo>
                <a:lnTo>
                  <a:pt x="451205" y="1160401"/>
                </a:lnTo>
                <a:lnTo>
                  <a:pt x="457200" y="1130744"/>
                </a:lnTo>
                <a:lnTo>
                  <a:pt x="457200" y="76199"/>
                </a:lnTo>
                <a:lnTo>
                  <a:pt x="451205" y="46505"/>
                </a:lnTo>
                <a:lnTo>
                  <a:pt x="434863" y="22288"/>
                </a:lnTo>
                <a:lnTo>
                  <a:pt x="410640" y="5976"/>
                </a:lnTo>
                <a:lnTo>
                  <a:pt x="381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007729" y="4127627"/>
            <a:ext cx="52578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latin typeface="Cambria Math"/>
                <a:cs typeface="Cambria Math"/>
              </a:rPr>
              <a:t>∈</a:t>
            </a:r>
            <a:r>
              <a:rPr sz="2350" spc="170" dirty="0">
                <a:latin typeface="Cambria Math"/>
                <a:cs typeface="Cambria Math"/>
              </a:rPr>
              <a:t> </a:t>
            </a:r>
            <a:r>
              <a:rPr sz="2350" spc="-50" dirty="0">
                <a:latin typeface="Cambria Math"/>
                <a:cs typeface="Cambria Math"/>
              </a:rPr>
              <a:t>ℝ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10014" y="4098607"/>
            <a:ext cx="76327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80" dirty="0">
                <a:latin typeface="Cambria Math"/>
                <a:cs typeface="Cambria Math"/>
              </a:rPr>
              <a:t>3×𝑛×𝑛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765410" y="3336861"/>
            <a:ext cx="181228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007B92"/>
                </a:solidFill>
                <a:latin typeface="Calibri"/>
                <a:cs typeface="Calibri"/>
              </a:rPr>
              <a:t>h=</a:t>
            </a:r>
            <a:r>
              <a:rPr sz="1800" dirty="0">
                <a:solidFill>
                  <a:srgbClr val="007B92"/>
                </a:solidFill>
                <a:latin typeface="Calibri"/>
                <a:cs typeface="Calibri"/>
              </a:rPr>
              <a:t>3</a:t>
            </a:r>
            <a:r>
              <a:rPr sz="1800" spc="-4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7B92"/>
                </a:solidFill>
                <a:latin typeface="Calibri"/>
                <a:cs typeface="Calibri"/>
              </a:rPr>
              <a:t>sets</a:t>
            </a:r>
            <a:r>
              <a:rPr sz="1800" spc="-4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7B92"/>
                </a:solidFill>
                <a:latin typeface="Calibri"/>
                <a:cs typeface="Calibri"/>
              </a:rPr>
              <a:t>of</a:t>
            </a:r>
            <a:r>
              <a:rPr sz="1800" spc="3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7B92"/>
                </a:solidFill>
                <a:latin typeface="Calibri"/>
                <a:cs typeface="Calibri"/>
              </a:rPr>
              <a:t>all</a:t>
            </a:r>
            <a:r>
              <a:rPr sz="1800" spc="-4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7B92"/>
                </a:solidFill>
                <a:latin typeface="Calibri"/>
                <a:cs typeface="Calibri"/>
              </a:rPr>
              <a:t>pairs</a:t>
            </a:r>
            <a:r>
              <a:rPr sz="1800" spc="2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7B92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007B92"/>
                </a:solidFill>
                <a:latin typeface="Calibri"/>
                <a:cs typeface="Calibri"/>
              </a:rPr>
              <a:t>attention</a:t>
            </a:r>
            <a:r>
              <a:rPr sz="1800" spc="-70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7B92"/>
                </a:solidFill>
                <a:latin typeface="Calibri"/>
                <a:cs typeface="Calibri"/>
              </a:rPr>
              <a:t>scores!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488935" y="3099625"/>
            <a:ext cx="1536700" cy="1390650"/>
            <a:chOff x="7488935" y="3099625"/>
            <a:chExt cx="1536700" cy="1390650"/>
          </a:xfrm>
        </p:grpSpPr>
        <p:sp>
          <p:nvSpPr>
            <p:cNvPr id="39" name="object 39"/>
            <p:cNvSpPr/>
            <p:nvPr/>
          </p:nvSpPr>
          <p:spPr>
            <a:xfrm>
              <a:off x="7488936" y="3195827"/>
              <a:ext cx="1422400" cy="1294130"/>
            </a:xfrm>
            <a:custGeom>
              <a:avLst/>
              <a:gdLst/>
              <a:ahLst/>
              <a:cxnLst/>
              <a:rect l="l" t="t" r="r" b="b"/>
              <a:pathLst>
                <a:path w="1422400" h="1294129">
                  <a:moveTo>
                    <a:pt x="1421892" y="202692"/>
                  </a:moveTo>
                  <a:lnTo>
                    <a:pt x="1416532" y="156197"/>
                  </a:lnTo>
                  <a:lnTo>
                    <a:pt x="1401279" y="113525"/>
                  </a:lnTo>
                  <a:lnTo>
                    <a:pt x="1377340" y="75895"/>
                  </a:lnTo>
                  <a:lnTo>
                    <a:pt x="1345946" y="44513"/>
                  </a:lnTo>
                  <a:lnTo>
                    <a:pt x="1308303" y="20599"/>
                  </a:lnTo>
                  <a:lnTo>
                    <a:pt x="1265656" y="5359"/>
                  </a:lnTo>
                  <a:lnTo>
                    <a:pt x="1219200" y="0"/>
                  </a:lnTo>
                  <a:lnTo>
                    <a:pt x="307848" y="0"/>
                  </a:lnTo>
                  <a:lnTo>
                    <a:pt x="261378" y="5359"/>
                  </a:lnTo>
                  <a:lnTo>
                    <a:pt x="218732" y="20599"/>
                  </a:lnTo>
                  <a:lnTo>
                    <a:pt x="181089" y="44513"/>
                  </a:lnTo>
                  <a:lnTo>
                    <a:pt x="149694" y="75895"/>
                  </a:lnTo>
                  <a:lnTo>
                    <a:pt x="134708" y="99453"/>
                  </a:lnTo>
                  <a:lnTo>
                    <a:pt x="112687" y="107315"/>
                  </a:lnTo>
                  <a:lnTo>
                    <a:pt x="75336" y="131064"/>
                  </a:lnTo>
                  <a:lnTo>
                    <a:pt x="44183" y="162217"/>
                  </a:lnTo>
                  <a:lnTo>
                    <a:pt x="20434" y="199567"/>
                  </a:lnTo>
                  <a:lnTo>
                    <a:pt x="5308" y="241909"/>
                  </a:lnTo>
                  <a:lnTo>
                    <a:pt x="0" y="288036"/>
                  </a:lnTo>
                  <a:lnTo>
                    <a:pt x="0" y="1092708"/>
                  </a:lnTo>
                  <a:lnTo>
                    <a:pt x="5308" y="1138809"/>
                  </a:lnTo>
                  <a:lnTo>
                    <a:pt x="20434" y="1181138"/>
                  </a:lnTo>
                  <a:lnTo>
                    <a:pt x="44183" y="1218488"/>
                  </a:lnTo>
                  <a:lnTo>
                    <a:pt x="75336" y="1249654"/>
                  </a:lnTo>
                  <a:lnTo>
                    <a:pt x="112687" y="1273416"/>
                  </a:lnTo>
                  <a:lnTo>
                    <a:pt x="155028" y="1288567"/>
                  </a:lnTo>
                  <a:lnTo>
                    <a:pt x="201168" y="1293876"/>
                  </a:lnTo>
                  <a:lnTo>
                    <a:pt x="1124712" y="1293876"/>
                  </a:lnTo>
                  <a:lnTo>
                    <a:pt x="1170838" y="1288567"/>
                  </a:lnTo>
                  <a:lnTo>
                    <a:pt x="1213180" y="1273416"/>
                  </a:lnTo>
                  <a:lnTo>
                    <a:pt x="1250530" y="1249654"/>
                  </a:lnTo>
                  <a:lnTo>
                    <a:pt x="1281684" y="1218488"/>
                  </a:lnTo>
                  <a:lnTo>
                    <a:pt x="1292720" y="1201127"/>
                  </a:lnTo>
                  <a:lnTo>
                    <a:pt x="1308303" y="1195552"/>
                  </a:lnTo>
                  <a:lnTo>
                    <a:pt x="1345946" y="1171613"/>
                  </a:lnTo>
                  <a:lnTo>
                    <a:pt x="1377340" y="1140218"/>
                  </a:lnTo>
                  <a:lnTo>
                    <a:pt x="1401279" y="1102575"/>
                  </a:lnTo>
                  <a:lnTo>
                    <a:pt x="1416532" y="1059929"/>
                  </a:lnTo>
                  <a:lnTo>
                    <a:pt x="1421892" y="1013460"/>
                  </a:lnTo>
                  <a:lnTo>
                    <a:pt x="1421892" y="20269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94091" y="3195828"/>
              <a:ext cx="1316990" cy="1216660"/>
            </a:xfrm>
            <a:custGeom>
              <a:avLst/>
              <a:gdLst/>
              <a:ahLst/>
              <a:cxnLst/>
              <a:rect l="l" t="t" r="r" b="b"/>
              <a:pathLst>
                <a:path w="1316990" h="1216660">
                  <a:moveTo>
                    <a:pt x="202691" y="1216152"/>
                  </a:moveTo>
                  <a:lnTo>
                    <a:pt x="156234" y="1210795"/>
                  </a:lnTo>
                  <a:lnTo>
                    <a:pt x="113577" y="1195540"/>
                  </a:lnTo>
                  <a:lnTo>
                    <a:pt x="75942" y="1171604"/>
                  </a:lnTo>
                  <a:lnTo>
                    <a:pt x="44547" y="1140209"/>
                  </a:lnTo>
                  <a:lnTo>
                    <a:pt x="20611" y="1102574"/>
                  </a:lnTo>
                  <a:lnTo>
                    <a:pt x="5356" y="1059917"/>
                  </a:lnTo>
                  <a:lnTo>
                    <a:pt x="0" y="1013460"/>
                  </a:lnTo>
                  <a:lnTo>
                    <a:pt x="0" y="202692"/>
                  </a:lnTo>
                  <a:lnTo>
                    <a:pt x="5356" y="156194"/>
                  </a:lnTo>
                  <a:lnTo>
                    <a:pt x="20611" y="113522"/>
                  </a:lnTo>
                  <a:lnTo>
                    <a:pt x="44547" y="75888"/>
                  </a:lnTo>
                  <a:lnTo>
                    <a:pt x="75942" y="44507"/>
                  </a:lnTo>
                  <a:lnTo>
                    <a:pt x="113577" y="20589"/>
                  </a:lnTo>
                  <a:lnTo>
                    <a:pt x="156234" y="5349"/>
                  </a:lnTo>
                  <a:lnTo>
                    <a:pt x="202691" y="0"/>
                  </a:lnTo>
                  <a:lnTo>
                    <a:pt x="1114043" y="0"/>
                  </a:lnTo>
                  <a:lnTo>
                    <a:pt x="1160501" y="5349"/>
                  </a:lnTo>
                  <a:lnTo>
                    <a:pt x="1203158" y="20589"/>
                  </a:lnTo>
                  <a:lnTo>
                    <a:pt x="1240793" y="44507"/>
                  </a:lnTo>
                  <a:lnTo>
                    <a:pt x="1272188" y="75888"/>
                  </a:lnTo>
                  <a:lnTo>
                    <a:pt x="1296124" y="113522"/>
                  </a:lnTo>
                  <a:lnTo>
                    <a:pt x="1311379" y="156194"/>
                  </a:lnTo>
                  <a:lnTo>
                    <a:pt x="1316735" y="202692"/>
                  </a:lnTo>
                  <a:lnTo>
                    <a:pt x="1316735" y="1013460"/>
                  </a:lnTo>
                  <a:lnTo>
                    <a:pt x="1311379" y="1059917"/>
                  </a:lnTo>
                  <a:lnTo>
                    <a:pt x="1296124" y="1102574"/>
                  </a:lnTo>
                  <a:lnTo>
                    <a:pt x="1272188" y="1140209"/>
                  </a:lnTo>
                  <a:lnTo>
                    <a:pt x="1240793" y="1171604"/>
                  </a:lnTo>
                  <a:lnTo>
                    <a:pt x="1203158" y="1195540"/>
                  </a:lnTo>
                  <a:lnTo>
                    <a:pt x="1160501" y="1210795"/>
                  </a:lnTo>
                  <a:lnTo>
                    <a:pt x="1114043" y="1216152"/>
                  </a:lnTo>
                  <a:lnTo>
                    <a:pt x="202691" y="121615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03819" y="3104388"/>
              <a:ext cx="1316990" cy="1216660"/>
            </a:xfrm>
            <a:custGeom>
              <a:avLst/>
              <a:gdLst/>
              <a:ahLst/>
              <a:cxnLst/>
              <a:rect l="l" t="t" r="r" b="b"/>
              <a:pathLst>
                <a:path w="1316990" h="1216660">
                  <a:moveTo>
                    <a:pt x="1114044" y="0"/>
                  </a:moveTo>
                  <a:lnTo>
                    <a:pt x="202691" y="0"/>
                  </a:lnTo>
                  <a:lnTo>
                    <a:pt x="156234" y="5349"/>
                  </a:lnTo>
                  <a:lnTo>
                    <a:pt x="113577" y="20589"/>
                  </a:lnTo>
                  <a:lnTo>
                    <a:pt x="75942" y="44507"/>
                  </a:lnTo>
                  <a:lnTo>
                    <a:pt x="44547" y="75888"/>
                  </a:lnTo>
                  <a:lnTo>
                    <a:pt x="20611" y="113522"/>
                  </a:lnTo>
                  <a:lnTo>
                    <a:pt x="5356" y="156194"/>
                  </a:lnTo>
                  <a:lnTo>
                    <a:pt x="0" y="202691"/>
                  </a:lnTo>
                  <a:lnTo>
                    <a:pt x="0" y="1013460"/>
                  </a:lnTo>
                  <a:lnTo>
                    <a:pt x="5356" y="1059917"/>
                  </a:lnTo>
                  <a:lnTo>
                    <a:pt x="20611" y="1102574"/>
                  </a:lnTo>
                  <a:lnTo>
                    <a:pt x="44547" y="1140209"/>
                  </a:lnTo>
                  <a:lnTo>
                    <a:pt x="75942" y="1171604"/>
                  </a:lnTo>
                  <a:lnTo>
                    <a:pt x="113577" y="1195540"/>
                  </a:lnTo>
                  <a:lnTo>
                    <a:pt x="156234" y="1210795"/>
                  </a:lnTo>
                  <a:lnTo>
                    <a:pt x="202691" y="1216152"/>
                  </a:lnTo>
                  <a:lnTo>
                    <a:pt x="1114044" y="1216152"/>
                  </a:lnTo>
                  <a:lnTo>
                    <a:pt x="1160501" y="1210795"/>
                  </a:lnTo>
                  <a:lnTo>
                    <a:pt x="1203158" y="1195540"/>
                  </a:lnTo>
                  <a:lnTo>
                    <a:pt x="1240793" y="1171604"/>
                  </a:lnTo>
                  <a:lnTo>
                    <a:pt x="1272188" y="1140209"/>
                  </a:lnTo>
                  <a:lnTo>
                    <a:pt x="1296124" y="1102574"/>
                  </a:lnTo>
                  <a:lnTo>
                    <a:pt x="1311379" y="1059917"/>
                  </a:lnTo>
                  <a:lnTo>
                    <a:pt x="1316735" y="1013460"/>
                  </a:lnTo>
                  <a:lnTo>
                    <a:pt x="1316735" y="202691"/>
                  </a:lnTo>
                  <a:lnTo>
                    <a:pt x="1311379" y="156194"/>
                  </a:lnTo>
                  <a:lnTo>
                    <a:pt x="1296124" y="113522"/>
                  </a:lnTo>
                  <a:lnTo>
                    <a:pt x="1272188" y="75888"/>
                  </a:lnTo>
                  <a:lnTo>
                    <a:pt x="1240793" y="44507"/>
                  </a:lnTo>
                  <a:lnTo>
                    <a:pt x="1203158" y="20589"/>
                  </a:lnTo>
                  <a:lnTo>
                    <a:pt x="1160501" y="5349"/>
                  </a:lnTo>
                  <a:lnTo>
                    <a:pt x="111404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03819" y="3104388"/>
              <a:ext cx="1316990" cy="1216660"/>
            </a:xfrm>
            <a:custGeom>
              <a:avLst/>
              <a:gdLst/>
              <a:ahLst/>
              <a:cxnLst/>
              <a:rect l="l" t="t" r="r" b="b"/>
              <a:pathLst>
                <a:path w="1316990" h="1216660">
                  <a:moveTo>
                    <a:pt x="202691" y="1216152"/>
                  </a:moveTo>
                  <a:lnTo>
                    <a:pt x="156234" y="1210795"/>
                  </a:lnTo>
                  <a:lnTo>
                    <a:pt x="113577" y="1195540"/>
                  </a:lnTo>
                  <a:lnTo>
                    <a:pt x="75942" y="1171604"/>
                  </a:lnTo>
                  <a:lnTo>
                    <a:pt x="44547" y="1140209"/>
                  </a:lnTo>
                  <a:lnTo>
                    <a:pt x="20611" y="1102574"/>
                  </a:lnTo>
                  <a:lnTo>
                    <a:pt x="5356" y="1059917"/>
                  </a:lnTo>
                  <a:lnTo>
                    <a:pt x="0" y="1013460"/>
                  </a:lnTo>
                  <a:lnTo>
                    <a:pt x="0" y="202691"/>
                  </a:lnTo>
                  <a:lnTo>
                    <a:pt x="5356" y="156194"/>
                  </a:lnTo>
                  <a:lnTo>
                    <a:pt x="20611" y="113522"/>
                  </a:lnTo>
                  <a:lnTo>
                    <a:pt x="44547" y="75888"/>
                  </a:lnTo>
                  <a:lnTo>
                    <a:pt x="75942" y="44507"/>
                  </a:lnTo>
                  <a:lnTo>
                    <a:pt x="113577" y="20589"/>
                  </a:lnTo>
                  <a:lnTo>
                    <a:pt x="156234" y="5349"/>
                  </a:lnTo>
                  <a:lnTo>
                    <a:pt x="202691" y="0"/>
                  </a:lnTo>
                  <a:lnTo>
                    <a:pt x="1114044" y="0"/>
                  </a:lnTo>
                  <a:lnTo>
                    <a:pt x="1160501" y="5349"/>
                  </a:lnTo>
                  <a:lnTo>
                    <a:pt x="1203158" y="20589"/>
                  </a:lnTo>
                  <a:lnTo>
                    <a:pt x="1240793" y="44507"/>
                  </a:lnTo>
                  <a:lnTo>
                    <a:pt x="1272188" y="75888"/>
                  </a:lnTo>
                  <a:lnTo>
                    <a:pt x="1296124" y="113522"/>
                  </a:lnTo>
                  <a:lnTo>
                    <a:pt x="1311379" y="156194"/>
                  </a:lnTo>
                  <a:lnTo>
                    <a:pt x="1316735" y="202691"/>
                  </a:lnTo>
                  <a:lnTo>
                    <a:pt x="1316735" y="1013460"/>
                  </a:lnTo>
                  <a:lnTo>
                    <a:pt x="1311379" y="1059917"/>
                  </a:lnTo>
                  <a:lnTo>
                    <a:pt x="1296124" y="1102574"/>
                  </a:lnTo>
                  <a:lnTo>
                    <a:pt x="1272188" y="1140209"/>
                  </a:lnTo>
                  <a:lnTo>
                    <a:pt x="1240793" y="1171604"/>
                  </a:lnTo>
                  <a:lnTo>
                    <a:pt x="1203158" y="1195540"/>
                  </a:lnTo>
                  <a:lnTo>
                    <a:pt x="1160501" y="1210795"/>
                  </a:lnTo>
                  <a:lnTo>
                    <a:pt x="1114044" y="1216152"/>
                  </a:lnTo>
                  <a:lnTo>
                    <a:pt x="202691" y="121615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820659" y="3569271"/>
            <a:ext cx="11118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Cambria Math"/>
                <a:cs typeface="Cambria Math"/>
              </a:rPr>
              <a:t>𝑋𝑄𝐾</a:t>
            </a:r>
            <a:r>
              <a:rPr sz="2175" baseline="28735" dirty="0">
                <a:latin typeface="Cambria Math"/>
                <a:cs typeface="Cambria Math"/>
              </a:rPr>
              <a:t>⊤</a:t>
            </a:r>
            <a:r>
              <a:rPr sz="2175" spc="615" baseline="28735" dirty="0">
                <a:latin typeface="Cambria Math"/>
                <a:cs typeface="Cambria Math"/>
              </a:rPr>
              <a:t> </a:t>
            </a:r>
            <a:r>
              <a:rPr sz="2000" spc="45" dirty="0">
                <a:latin typeface="Cambria Math"/>
                <a:cs typeface="Cambria Math"/>
              </a:rPr>
              <a:t>𝑋</a:t>
            </a:r>
            <a:r>
              <a:rPr sz="2175" spc="67" baseline="28735" dirty="0">
                <a:latin typeface="Cambria Math"/>
                <a:cs typeface="Cambria Math"/>
              </a:rPr>
              <a:t>⊤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85786" y="3507740"/>
            <a:ext cx="248920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b="1" spc="-50" dirty="0">
                <a:latin typeface="Calibri"/>
                <a:cs typeface="Calibri"/>
              </a:rPr>
              <a:t>=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131BEA-942B-0CAF-C486-2A9E8569341F}"/>
              </a:ext>
            </a:extLst>
          </p:cNvPr>
          <p:cNvSpPr txBox="1"/>
          <p:nvPr/>
        </p:nvSpPr>
        <p:spPr>
          <a:xfrm>
            <a:off x="7173339" y="5549728"/>
            <a:ext cx="58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V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dirty="0"/>
              <a:t>Scaled</a:t>
            </a:r>
            <a:r>
              <a:rPr sz="3000" spc="-114" dirty="0"/>
              <a:t> </a:t>
            </a:r>
            <a:r>
              <a:rPr sz="3000" dirty="0"/>
              <a:t>Dot</a:t>
            </a:r>
            <a:r>
              <a:rPr sz="3000" spc="-45" dirty="0"/>
              <a:t> </a:t>
            </a:r>
            <a:r>
              <a:rPr sz="3000" dirty="0"/>
              <a:t>Product </a:t>
            </a:r>
            <a:r>
              <a:rPr sz="3000" b="0" dirty="0">
                <a:latin typeface="Calibri"/>
                <a:cs typeface="Calibri"/>
              </a:rPr>
              <a:t>[Vaswani</a:t>
            </a:r>
            <a:r>
              <a:rPr sz="3000" b="0" spc="-50" dirty="0">
                <a:latin typeface="Calibri"/>
                <a:cs typeface="Calibri"/>
              </a:rPr>
              <a:t> </a:t>
            </a:r>
            <a:r>
              <a:rPr sz="3000" b="0" dirty="0">
                <a:latin typeface="Calibri"/>
                <a:cs typeface="Calibri"/>
              </a:rPr>
              <a:t>et</a:t>
            </a:r>
            <a:r>
              <a:rPr sz="3000" b="0" spc="-75" dirty="0">
                <a:latin typeface="Calibri"/>
                <a:cs typeface="Calibri"/>
              </a:rPr>
              <a:t> </a:t>
            </a:r>
            <a:r>
              <a:rPr sz="3000" b="0" dirty="0">
                <a:latin typeface="Calibri"/>
                <a:cs typeface="Calibri"/>
              </a:rPr>
              <a:t>al.,</a:t>
            </a:r>
            <a:r>
              <a:rPr sz="3000" b="0" spc="-40" dirty="0">
                <a:latin typeface="Calibri"/>
                <a:cs typeface="Calibri"/>
              </a:rPr>
              <a:t> </a:t>
            </a:r>
            <a:r>
              <a:rPr sz="3000" b="0" spc="-10" dirty="0">
                <a:latin typeface="Calibri"/>
                <a:cs typeface="Calibri"/>
              </a:rPr>
              <a:t>2017]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53867" y="3629278"/>
            <a:ext cx="1465580" cy="353695"/>
          </a:xfrm>
          <a:custGeom>
            <a:avLst/>
            <a:gdLst/>
            <a:ahLst/>
            <a:cxnLst/>
            <a:rect l="l" t="t" r="r" b="b"/>
            <a:pathLst>
              <a:path w="1465579" h="353695">
                <a:moveTo>
                  <a:pt x="1372483" y="0"/>
                </a:moveTo>
                <a:lnTo>
                  <a:pt x="1368927" y="11684"/>
                </a:lnTo>
                <a:lnTo>
                  <a:pt x="1385139" y="20143"/>
                </a:lnTo>
                <a:lnTo>
                  <a:pt x="1399280" y="32400"/>
                </a:lnTo>
                <a:lnTo>
                  <a:pt x="1421251" y="68453"/>
                </a:lnTo>
                <a:lnTo>
                  <a:pt x="1434570" y="117395"/>
                </a:lnTo>
                <a:lnTo>
                  <a:pt x="1439031" y="176911"/>
                </a:lnTo>
                <a:lnTo>
                  <a:pt x="1437913" y="207891"/>
                </a:lnTo>
                <a:lnTo>
                  <a:pt x="1429011" y="261993"/>
                </a:lnTo>
                <a:lnTo>
                  <a:pt x="1411325" y="305020"/>
                </a:lnTo>
                <a:lnTo>
                  <a:pt x="1385139" y="333353"/>
                </a:lnTo>
                <a:lnTo>
                  <a:pt x="1368927" y="341757"/>
                </a:lnTo>
                <a:lnTo>
                  <a:pt x="1372483" y="353441"/>
                </a:lnTo>
                <a:lnTo>
                  <a:pt x="1411932" y="332422"/>
                </a:lnTo>
                <a:lnTo>
                  <a:pt x="1441190" y="292735"/>
                </a:lnTo>
                <a:lnTo>
                  <a:pt x="1459303" y="239236"/>
                </a:lnTo>
                <a:lnTo>
                  <a:pt x="1465314" y="176911"/>
                </a:lnTo>
                <a:lnTo>
                  <a:pt x="1463885" y="145837"/>
                </a:lnTo>
                <a:lnTo>
                  <a:pt x="1451764" y="86326"/>
                </a:lnTo>
                <a:lnTo>
                  <a:pt x="1427829" y="38558"/>
                </a:lnTo>
                <a:lnTo>
                  <a:pt x="1393487" y="8217"/>
                </a:lnTo>
                <a:lnTo>
                  <a:pt x="1372483" y="0"/>
                </a:lnTo>
                <a:close/>
              </a:path>
              <a:path w="1465579" h="353695">
                <a:moveTo>
                  <a:pt x="92958" y="0"/>
                </a:moveTo>
                <a:lnTo>
                  <a:pt x="53445" y="21066"/>
                </a:lnTo>
                <a:lnTo>
                  <a:pt x="24124" y="60706"/>
                </a:lnTo>
                <a:lnTo>
                  <a:pt x="6058" y="114220"/>
                </a:lnTo>
                <a:lnTo>
                  <a:pt x="0" y="176911"/>
                </a:lnTo>
                <a:lnTo>
                  <a:pt x="1456" y="207891"/>
                </a:lnTo>
                <a:lnTo>
                  <a:pt x="13602" y="267116"/>
                </a:lnTo>
                <a:lnTo>
                  <a:pt x="37504" y="314900"/>
                </a:lnTo>
                <a:lnTo>
                  <a:pt x="71933" y="345277"/>
                </a:lnTo>
                <a:lnTo>
                  <a:pt x="92958" y="353441"/>
                </a:lnTo>
                <a:lnTo>
                  <a:pt x="96514" y="341757"/>
                </a:lnTo>
                <a:lnTo>
                  <a:pt x="80246" y="333353"/>
                </a:lnTo>
                <a:lnTo>
                  <a:pt x="66097" y="321103"/>
                </a:lnTo>
                <a:lnTo>
                  <a:pt x="44063" y="285115"/>
                </a:lnTo>
                <a:lnTo>
                  <a:pt x="30743" y="236251"/>
                </a:lnTo>
                <a:lnTo>
                  <a:pt x="26283" y="176911"/>
                </a:lnTo>
                <a:lnTo>
                  <a:pt x="27400" y="145837"/>
                </a:lnTo>
                <a:lnTo>
                  <a:pt x="36302" y="91596"/>
                </a:lnTo>
                <a:lnTo>
                  <a:pt x="54044" y="48492"/>
                </a:lnTo>
                <a:lnTo>
                  <a:pt x="80246" y="20143"/>
                </a:lnTo>
                <a:lnTo>
                  <a:pt x="96514" y="11684"/>
                </a:lnTo>
                <a:lnTo>
                  <a:pt x="929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23738" y="4127372"/>
            <a:ext cx="699135" cy="365760"/>
          </a:xfrm>
          <a:custGeom>
            <a:avLst/>
            <a:gdLst/>
            <a:ahLst/>
            <a:cxnLst/>
            <a:rect l="l" t="t" r="r" b="b"/>
            <a:pathLst>
              <a:path w="699135" h="365760">
                <a:moveTo>
                  <a:pt x="699135" y="0"/>
                </a:moveTo>
                <a:lnTo>
                  <a:pt x="214502" y="0"/>
                </a:lnTo>
                <a:lnTo>
                  <a:pt x="214502" y="2158"/>
                </a:lnTo>
                <a:lnTo>
                  <a:pt x="183007" y="2158"/>
                </a:lnTo>
                <a:lnTo>
                  <a:pt x="96265" y="327151"/>
                </a:lnTo>
                <a:lnTo>
                  <a:pt x="46862" y="216788"/>
                </a:lnTo>
                <a:lnTo>
                  <a:pt x="0" y="238251"/>
                </a:lnTo>
                <a:lnTo>
                  <a:pt x="4445" y="249046"/>
                </a:lnTo>
                <a:lnTo>
                  <a:pt x="28575" y="238251"/>
                </a:lnTo>
                <a:lnTo>
                  <a:pt x="87629" y="365378"/>
                </a:lnTo>
                <a:lnTo>
                  <a:pt x="101600" y="365378"/>
                </a:lnTo>
                <a:lnTo>
                  <a:pt x="194437" y="21081"/>
                </a:lnTo>
                <a:lnTo>
                  <a:pt x="223012" y="21081"/>
                </a:lnTo>
                <a:lnTo>
                  <a:pt x="223012" y="18287"/>
                </a:lnTo>
                <a:lnTo>
                  <a:pt x="699135" y="18287"/>
                </a:lnTo>
                <a:lnTo>
                  <a:pt x="699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4856" y="1092999"/>
            <a:ext cx="9993630" cy="375221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55"/>
              </a:spcBef>
              <a:buClr>
                <a:srgbClr val="8B1515"/>
              </a:buClr>
              <a:buFont typeface="Times New Roman"/>
              <a:buChar char="•"/>
              <a:tabLst>
                <a:tab pos="381000" algn="l"/>
              </a:tabLst>
            </a:pPr>
            <a:r>
              <a:rPr sz="2300" b="1" dirty="0">
                <a:latin typeface="Calibri"/>
                <a:cs typeface="Calibri"/>
              </a:rPr>
              <a:t>“Scaled</a:t>
            </a:r>
            <a:r>
              <a:rPr sz="2300" b="1" spc="-1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Dot</a:t>
            </a:r>
            <a:r>
              <a:rPr sz="2300" b="1" spc="-6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Product”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aids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training.</a:t>
            </a:r>
            <a:endParaRPr sz="2300" dirty="0">
              <a:latin typeface="Calibri"/>
              <a:cs typeface="Calibri"/>
            </a:endParaRPr>
          </a:p>
          <a:p>
            <a:pPr marL="381000" indent="-342900">
              <a:lnSpc>
                <a:spcPts val="275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81000" algn="l"/>
              </a:tabLst>
            </a:pPr>
            <a:r>
              <a:rPr sz="2300" dirty="0">
                <a:latin typeface="Calibri"/>
                <a:cs typeface="Calibri"/>
              </a:rPr>
              <a:t>When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dimensionality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𝑑</a:t>
            </a:r>
            <a:r>
              <a:rPr sz="2300" spc="20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becomes</a:t>
            </a:r>
            <a:r>
              <a:rPr sz="2300" spc="-1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large,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products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between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vectors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tend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to</a:t>
            </a:r>
            <a:endParaRPr sz="2300" dirty="0">
              <a:latin typeface="Calibri"/>
              <a:cs typeface="Calibri"/>
            </a:endParaRPr>
          </a:p>
          <a:p>
            <a:pPr marL="38100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become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large.</a:t>
            </a:r>
            <a:endParaRPr sz="2300" dirty="0">
              <a:latin typeface="Calibri"/>
              <a:cs typeface="Calibri"/>
            </a:endParaRPr>
          </a:p>
          <a:p>
            <a:pPr marL="723900" lvl="1" indent="-228600">
              <a:lnSpc>
                <a:spcPct val="100000"/>
              </a:lnSpc>
              <a:spcBef>
                <a:spcPts val="560"/>
              </a:spcBef>
              <a:buClr>
                <a:srgbClr val="007B92"/>
              </a:buClr>
              <a:buFont typeface="Times New Roman"/>
              <a:buChar char="•"/>
              <a:tabLst>
                <a:tab pos="723900" algn="l"/>
              </a:tabLst>
            </a:pPr>
            <a:r>
              <a:rPr sz="2300" dirty="0">
                <a:latin typeface="Calibri"/>
                <a:cs typeface="Calibri"/>
              </a:rPr>
              <a:t>Because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softmax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function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large,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making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</a:t>
            </a:r>
            <a:endParaRPr sz="2300" dirty="0">
              <a:latin typeface="Calibri"/>
              <a:cs typeface="Calibri"/>
            </a:endParaRPr>
          </a:p>
          <a:p>
            <a:pPr marL="724535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Calibri"/>
                <a:cs typeface="Calibri"/>
              </a:rPr>
              <a:t>gradients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small.</a:t>
            </a:r>
            <a:endParaRPr sz="2300" dirty="0">
              <a:latin typeface="Calibri"/>
              <a:cs typeface="Calibri"/>
            </a:endParaRPr>
          </a:p>
          <a:p>
            <a:pPr marL="3810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81000" algn="l"/>
              </a:tabLst>
            </a:pPr>
            <a:r>
              <a:rPr sz="2300" dirty="0">
                <a:latin typeface="Calibri"/>
                <a:cs typeface="Calibri"/>
              </a:rPr>
              <a:t>Instead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self-attention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function we’ve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seen:</a:t>
            </a:r>
            <a:endParaRPr sz="2300" dirty="0">
              <a:latin typeface="Calibri"/>
              <a:cs typeface="Calibri"/>
            </a:endParaRPr>
          </a:p>
          <a:p>
            <a:pPr marL="158115" algn="ctr">
              <a:lnSpc>
                <a:spcPts val="1989"/>
              </a:lnSpc>
              <a:spcBef>
                <a:spcPts val="844"/>
              </a:spcBef>
              <a:tabLst>
                <a:tab pos="1577340" algn="l"/>
                <a:tab pos="2704465" algn="l"/>
                <a:tab pos="4156075" algn="l"/>
              </a:tabLst>
            </a:pP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475" baseline="-15151" dirty="0">
                <a:latin typeface="Cambria Math"/>
                <a:cs typeface="Cambria Math"/>
              </a:rPr>
              <a:t>ℓ</a:t>
            </a:r>
            <a:r>
              <a:rPr sz="2475" spc="607" baseline="-15151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=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300" spc="-10" dirty="0">
                <a:latin typeface="Cambria Math"/>
                <a:cs typeface="Cambria Math"/>
              </a:rPr>
              <a:t>softmax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300" spc="65" dirty="0">
                <a:latin typeface="Cambria Math"/>
                <a:cs typeface="Cambria Math"/>
              </a:rPr>
              <a:t>𝑋𝑄</a:t>
            </a:r>
            <a:r>
              <a:rPr sz="2475" spc="97" baseline="-15151" dirty="0">
                <a:latin typeface="Cambria Math"/>
                <a:cs typeface="Cambria Math"/>
              </a:rPr>
              <a:t>ℓ</a:t>
            </a:r>
            <a:r>
              <a:rPr sz="2300" spc="65" dirty="0">
                <a:latin typeface="Cambria Math"/>
                <a:cs typeface="Cambria Math"/>
              </a:rPr>
              <a:t>𝐾</a:t>
            </a:r>
            <a:r>
              <a:rPr sz="2475" spc="97" baseline="31986" dirty="0">
                <a:latin typeface="Cambria Math"/>
                <a:cs typeface="Cambria Math"/>
              </a:rPr>
              <a:t>⊤</a:t>
            </a:r>
            <a:r>
              <a:rPr sz="2300" spc="65" dirty="0">
                <a:latin typeface="Cambria Math"/>
                <a:cs typeface="Cambria Math"/>
              </a:rPr>
              <a:t>𝑋</a:t>
            </a:r>
            <a:r>
              <a:rPr sz="2475" spc="97" baseline="28619" dirty="0">
                <a:latin typeface="Cambria Math"/>
                <a:cs typeface="Cambria Math"/>
              </a:rPr>
              <a:t>⊤</a:t>
            </a:r>
            <a:r>
              <a:rPr sz="2475" baseline="28619" dirty="0">
                <a:latin typeface="Cambria Math"/>
                <a:cs typeface="Cambria Math"/>
              </a:rPr>
              <a:t>	</a:t>
            </a:r>
            <a:r>
              <a:rPr sz="2300" dirty="0">
                <a:latin typeface="Cambria Math"/>
                <a:cs typeface="Cambria Math"/>
              </a:rPr>
              <a:t>∗ </a:t>
            </a:r>
            <a:r>
              <a:rPr sz="2300" spc="-25" dirty="0">
                <a:latin typeface="Cambria Math"/>
                <a:cs typeface="Cambria Math"/>
              </a:rPr>
              <a:t>𝑋𝑉</a:t>
            </a:r>
            <a:r>
              <a:rPr sz="2475" spc="-37" baseline="-15151" dirty="0">
                <a:latin typeface="Cambria Math"/>
                <a:cs typeface="Cambria Math"/>
              </a:rPr>
              <a:t>ℓ</a:t>
            </a:r>
            <a:endParaRPr sz="2475" baseline="-15151" dirty="0">
              <a:latin typeface="Cambria Math"/>
              <a:cs typeface="Cambria Math"/>
            </a:endParaRPr>
          </a:p>
          <a:p>
            <a:pPr marL="2088514" algn="ctr">
              <a:lnSpc>
                <a:spcPts val="1210"/>
              </a:lnSpc>
            </a:pPr>
            <a:r>
              <a:rPr sz="1650" spc="-50" dirty="0">
                <a:latin typeface="Cambria Math"/>
                <a:cs typeface="Cambria Math"/>
              </a:rPr>
              <a:t>ℓ</a:t>
            </a:r>
            <a:endParaRPr sz="1650" dirty="0">
              <a:latin typeface="Cambria Math"/>
              <a:cs typeface="Cambria Math"/>
            </a:endParaRPr>
          </a:p>
          <a:p>
            <a:pPr marL="355600" indent="-343535" algn="ctr">
              <a:lnSpc>
                <a:spcPct val="100000"/>
              </a:lnSpc>
              <a:spcBef>
                <a:spcPts val="84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  <a:tab pos="4649470" algn="l"/>
              </a:tabLst>
            </a:pPr>
            <a:r>
              <a:rPr sz="2300" dirty="0">
                <a:latin typeface="Calibri"/>
                <a:cs typeface="Calibri"/>
              </a:rPr>
              <a:t>We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divide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attention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scores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by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dirty="0">
                <a:latin typeface="Cambria Math"/>
                <a:cs typeface="Cambria Math"/>
              </a:rPr>
              <a:t>𝑑/ℎ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stop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scores from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becoming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large</a:t>
            </a:r>
            <a:endParaRPr sz="2300" dirty="0">
              <a:latin typeface="Calibri"/>
              <a:cs typeface="Calibri"/>
            </a:endParaRPr>
          </a:p>
          <a:p>
            <a:pPr marL="83185" algn="ctr">
              <a:lnSpc>
                <a:spcPct val="100000"/>
              </a:lnSpc>
              <a:spcBef>
                <a:spcPts val="125"/>
              </a:spcBef>
            </a:pPr>
            <a:r>
              <a:rPr sz="2300" dirty="0">
                <a:latin typeface="Calibri"/>
                <a:cs typeface="Calibri"/>
              </a:rPr>
              <a:t>just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function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𝑑/ℎ</a:t>
            </a:r>
            <a:r>
              <a:rPr sz="2300" spc="20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(The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dimensionality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divided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number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heads.)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8928" y="5090286"/>
            <a:ext cx="248666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1456690" algn="l"/>
              </a:tabLst>
            </a:pP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475" baseline="-15151" dirty="0">
                <a:latin typeface="Cambria Math"/>
                <a:cs typeface="Cambria Math"/>
              </a:rPr>
              <a:t>ℓ</a:t>
            </a:r>
            <a:r>
              <a:rPr sz="2475" spc="660" baseline="-15151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=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300" spc="-10" dirty="0">
                <a:latin typeface="Cambria Math"/>
                <a:cs typeface="Cambria Math"/>
              </a:rPr>
              <a:t>softmax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90259" y="5016626"/>
            <a:ext cx="1241425" cy="578485"/>
          </a:xfrm>
          <a:custGeom>
            <a:avLst/>
            <a:gdLst/>
            <a:ahLst/>
            <a:cxnLst/>
            <a:rect l="l" t="t" r="r" b="b"/>
            <a:pathLst>
              <a:path w="1241425" h="578485">
                <a:moveTo>
                  <a:pt x="110998" y="9525"/>
                </a:moveTo>
                <a:lnTo>
                  <a:pt x="64033" y="42506"/>
                </a:lnTo>
                <a:lnTo>
                  <a:pt x="30607" y="105664"/>
                </a:lnTo>
                <a:lnTo>
                  <a:pt x="17195" y="144627"/>
                </a:lnTo>
                <a:lnTo>
                  <a:pt x="7632" y="188137"/>
                </a:lnTo>
                <a:lnTo>
                  <a:pt x="1905" y="236207"/>
                </a:lnTo>
                <a:lnTo>
                  <a:pt x="0" y="288798"/>
                </a:lnTo>
                <a:lnTo>
                  <a:pt x="1816" y="339318"/>
                </a:lnTo>
                <a:lnTo>
                  <a:pt x="7632" y="389801"/>
                </a:lnTo>
                <a:lnTo>
                  <a:pt x="17195" y="433362"/>
                </a:lnTo>
                <a:lnTo>
                  <a:pt x="30607" y="472313"/>
                </a:lnTo>
                <a:lnTo>
                  <a:pt x="64033" y="535495"/>
                </a:lnTo>
                <a:lnTo>
                  <a:pt x="102616" y="578027"/>
                </a:lnTo>
                <a:lnTo>
                  <a:pt x="110998" y="568452"/>
                </a:lnTo>
                <a:lnTo>
                  <a:pt x="93675" y="549452"/>
                </a:lnTo>
                <a:lnTo>
                  <a:pt x="77939" y="525792"/>
                </a:lnTo>
                <a:lnTo>
                  <a:pt x="51181" y="464439"/>
                </a:lnTo>
                <a:lnTo>
                  <a:pt x="40919" y="427037"/>
                </a:lnTo>
                <a:lnTo>
                  <a:pt x="33566" y="385318"/>
                </a:lnTo>
                <a:lnTo>
                  <a:pt x="29159" y="339318"/>
                </a:lnTo>
                <a:lnTo>
                  <a:pt x="27686" y="289052"/>
                </a:lnTo>
                <a:lnTo>
                  <a:pt x="29159" y="238734"/>
                </a:lnTo>
                <a:lnTo>
                  <a:pt x="33566" y="192722"/>
                </a:lnTo>
                <a:lnTo>
                  <a:pt x="40919" y="151003"/>
                </a:lnTo>
                <a:lnTo>
                  <a:pt x="51181" y="113538"/>
                </a:lnTo>
                <a:lnTo>
                  <a:pt x="77939" y="52298"/>
                </a:lnTo>
                <a:lnTo>
                  <a:pt x="93675" y="28600"/>
                </a:lnTo>
                <a:lnTo>
                  <a:pt x="110998" y="9525"/>
                </a:lnTo>
                <a:close/>
              </a:path>
              <a:path w="1241425" h="578485">
                <a:moveTo>
                  <a:pt x="1112774" y="281178"/>
                </a:moveTo>
                <a:lnTo>
                  <a:pt x="116065" y="281178"/>
                </a:lnTo>
                <a:lnTo>
                  <a:pt x="116065" y="299466"/>
                </a:lnTo>
                <a:lnTo>
                  <a:pt x="1112774" y="299466"/>
                </a:lnTo>
                <a:lnTo>
                  <a:pt x="1112774" y="281178"/>
                </a:lnTo>
                <a:close/>
              </a:path>
              <a:path w="1241425" h="578485">
                <a:moveTo>
                  <a:pt x="1241298" y="288798"/>
                </a:moveTo>
                <a:lnTo>
                  <a:pt x="1239469" y="238734"/>
                </a:lnTo>
                <a:lnTo>
                  <a:pt x="1239380" y="236207"/>
                </a:lnTo>
                <a:lnTo>
                  <a:pt x="1233639" y="188137"/>
                </a:lnTo>
                <a:lnTo>
                  <a:pt x="1224038" y="144627"/>
                </a:lnTo>
                <a:lnTo>
                  <a:pt x="1210564" y="105664"/>
                </a:lnTo>
                <a:lnTo>
                  <a:pt x="1177226" y="42506"/>
                </a:lnTo>
                <a:lnTo>
                  <a:pt x="1138555" y="0"/>
                </a:lnTo>
                <a:lnTo>
                  <a:pt x="1130300" y="9525"/>
                </a:lnTo>
                <a:lnTo>
                  <a:pt x="1147597" y="28600"/>
                </a:lnTo>
                <a:lnTo>
                  <a:pt x="1163332" y="52298"/>
                </a:lnTo>
                <a:lnTo>
                  <a:pt x="1189990" y="113538"/>
                </a:lnTo>
                <a:lnTo>
                  <a:pt x="1200315" y="151003"/>
                </a:lnTo>
                <a:lnTo>
                  <a:pt x="1207706" y="192722"/>
                </a:lnTo>
                <a:lnTo>
                  <a:pt x="1212126" y="238734"/>
                </a:lnTo>
                <a:lnTo>
                  <a:pt x="1213599" y="288798"/>
                </a:lnTo>
                <a:lnTo>
                  <a:pt x="1213612" y="289052"/>
                </a:lnTo>
                <a:lnTo>
                  <a:pt x="1212126" y="339318"/>
                </a:lnTo>
                <a:lnTo>
                  <a:pt x="1207706" y="385318"/>
                </a:lnTo>
                <a:lnTo>
                  <a:pt x="1200315" y="427037"/>
                </a:lnTo>
                <a:lnTo>
                  <a:pt x="1189990" y="464439"/>
                </a:lnTo>
                <a:lnTo>
                  <a:pt x="1163332" y="525780"/>
                </a:lnTo>
                <a:lnTo>
                  <a:pt x="1130300" y="568452"/>
                </a:lnTo>
                <a:lnTo>
                  <a:pt x="1138555" y="578027"/>
                </a:lnTo>
                <a:lnTo>
                  <a:pt x="1177226" y="535495"/>
                </a:lnTo>
                <a:lnTo>
                  <a:pt x="1210564" y="472313"/>
                </a:lnTo>
                <a:lnTo>
                  <a:pt x="1224038" y="433362"/>
                </a:lnTo>
                <a:lnTo>
                  <a:pt x="1233639" y="389801"/>
                </a:lnTo>
                <a:lnTo>
                  <a:pt x="1239380" y="341630"/>
                </a:lnTo>
                <a:lnTo>
                  <a:pt x="1241285" y="289052"/>
                </a:lnTo>
                <a:lnTo>
                  <a:pt x="1241298" y="288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41768" y="5096636"/>
            <a:ext cx="11557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50" dirty="0">
                <a:latin typeface="Cambria Math"/>
                <a:cs typeface="Cambria Math"/>
              </a:rPr>
              <a:t>ℓ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7127" y="5000053"/>
            <a:ext cx="106870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50" spc="114" dirty="0">
                <a:latin typeface="Cambria Math"/>
                <a:cs typeface="Cambria Math"/>
              </a:rPr>
              <a:t>𝑋𝑄</a:t>
            </a:r>
            <a:r>
              <a:rPr sz="2025" spc="172" baseline="-14403" dirty="0">
                <a:latin typeface="Cambria Math"/>
                <a:cs typeface="Cambria Math"/>
              </a:rPr>
              <a:t>ℓ</a:t>
            </a:r>
            <a:r>
              <a:rPr sz="1650" spc="114" dirty="0">
                <a:latin typeface="Cambria Math"/>
                <a:cs typeface="Cambria Math"/>
              </a:rPr>
              <a:t>𝐾</a:t>
            </a:r>
            <a:r>
              <a:rPr sz="2025" spc="172" baseline="30864" dirty="0">
                <a:latin typeface="Cambria Math"/>
                <a:cs typeface="Cambria Math"/>
              </a:rPr>
              <a:t>⊤</a:t>
            </a:r>
            <a:r>
              <a:rPr sz="1650" spc="114" dirty="0">
                <a:latin typeface="Cambria Math"/>
                <a:cs typeface="Cambria Math"/>
              </a:rPr>
              <a:t>𝑋</a:t>
            </a:r>
            <a:r>
              <a:rPr sz="2025" spc="172" baseline="24691" dirty="0">
                <a:latin typeface="Cambria Math"/>
                <a:cs typeface="Cambria Math"/>
              </a:rPr>
              <a:t>⊤</a:t>
            </a:r>
            <a:endParaRPr sz="2025" baseline="24691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42556" y="5350890"/>
            <a:ext cx="541020" cy="261620"/>
          </a:xfrm>
          <a:custGeom>
            <a:avLst/>
            <a:gdLst/>
            <a:ahLst/>
            <a:cxnLst/>
            <a:rect l="l" t="t" r="r" b="b"/>
            <a:pathLst>
              <a:path w="541020" h="261620">
                <a:moveTo>
                  <a:pt x="160274" y="0"/>
                </a:moveTo>
                <a:lnTo>
                  <a:pt x="131572" y="0"/>
                </a:lnTo>
                <a:lnTo>
                  <a:pt x="69215" y="233680"/>
                </a:lnTo>
                <a:lnTo>
                  <a:pt x="33654" y="154432"/>
                </a:lnTo>
                <a:lnTo>
                  <a:pt x="0" y="169799"/>
                </a:lnTo>
                <a:lnTo>
                  <a:pt x="3175" y="177546"/>
                </a:lnTo>
                <a:lnTo>
                  <a:pt x="20574" y="169799"/>
                </a:lnTo>
                <a:lnTo>
                  <a:pt x="63119" y="261175"/>
                </a:lnTo>
                <a:lnTo>
                  <a:pt x="73025" y="261175"/>
                </a:lnTo>
                <a:lnTo>
                  <a:pt x="139826" y="13716"/>
                </a:lnTo>
                <a:lnTo>
                  <a:pt x="156972" y="13716"/>
                </a:lnTo>
                <a:lnTo>
                  <a:pt x="156972" y="20066"/>
                </a:lnTo>
                <a:lnTo>
                  <a:pt x="541020" y="20066"/>
                </a:lnTo>
                <a:lnTo>
                  <a:pt x="541020" y="1778"/>
                </a:lnTo>
                <a:lnTo>
                  <a:pt x="160274" y="1778"/>
                </a:lnTo>
                <a:lnTo>
                  <a:pt x="160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89750" y="5330507"/>
            <a:ext cx="40513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70" dirty="0">
                <a:latin typeface="Cambria Math"/>
                <a:cs typeface="Cambria Math"/>
              </a:rPr>
              <a:t>𝑑/ℎ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37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88326" y="5090286"/>
            <a:ext cx="72453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dirty="0">
                <a:latin typeface="Cambria Math"/>
                <a:cs typeface="Cambria Math"/>
              </a:rPr>
              <a:t>∗ </a:t>
            </a:r>
            <a:r>
              <a:rPr sz="2300" spc="-25" dirty="0">
                <a:latin typeface="Cambria Math"/>
                <a:cs typeface="Cambria Math"/>
              </a:rPr>
              <a:t>𝑋𝑉</a:t>
            </a:r>
            <a:r>
              <a:rPr sz="2475" spc="-37" baseline="-15151" dirty="0">
                <a:latin typeface="Cambria Math"/>
                <a:cs typeface="Cambria Math"/>
              </a:rPr>
              <a:t>ℓ</a:t>
            </a:r>
            <a:endParaRPr sz="2475" baseline="-15151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The</a:t>
            </a:r>
            <a:r>
              <a:rPr spc="60" dirty="0"/>
              <a:t> </a:t>
            </a:r>
            <a:r>
              <a:rPr dirty="0"/>
              <a:t>Transformer</a:t>
            </a:r>
            <a:r>
              <a:rPr spc="110" dirty="0"/>
              <a:t> </a:t>
            </a:r>
            <a:r>
              <a:rPr spc="-10" dirty="0"/>
              <a:t>Decoder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256" y="1162748"/>
            <a:ext cx="4091304" cy="3746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3535">
              <a:lnSpc>
                <a:spcPct val="99900"/>
              </a:lnSpc>
              <a:spcBef>
                <a:spcPts val="11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Now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we’ve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replaced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multi-</a:t>
            </a:r>
            <a:r>
              <a:rPr sz="2300" dirty="0">
                <a:latin typeface="Calibri"/>
                <a:cs typeface="Calibri"/>
              </a:rPr>
              <a:t>head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we’ll</a:t>
            </a:r>
            <a:r>
              <a:rPr sz="2300" spc="-1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two </a:t>
            </a:r>
            <a:r>
              <a:rPr sz="2300" b="1" dirty="0">
                <a:latin typeface="Calibri"/>
                <a:cs typeface="Calibri"/>
              </a:rPr>
              <a:t>optimization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tricks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up </a:t>
            </a:r>
            <a:r>
              <a:rPr sz="2300" dirty="0">
                <a:latin typeface="Calibri"/>
                <a:cs typeface="Calibri"/>
              </a:rPr>
              <a:t>being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b="1" dirty="0">
                <a:latin typeface="Calibri"/>
                <a:cs typeface="Calibri"/>
              </a:rPr>
              <a:t>Residual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Connections</a:t>
            </a:r>
            <a:endParaRPr sz="23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b="1" dirty="0">
                <a:latin typeface="Calibri"/>
                <a:cs typeface="Calibri"/>
              </a:rPr>
              <a:t>Layer</a:t>
            </a:r>
            <a:r>
              <a:rPr sz="2300" b="1" spc="-4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Normalization</a:t>
            </a:r>
            <a:endParaRPr sz="2300" dirty="0">
              <a:latin typeface="Calibri"/>
              <a:cs typeface="Calibri"/>
            </a:endParaRPr>
          </a:p>
          <a:p>
            <a:pPr marL="355600" marR="63500" indent="-343535">
              <a:lnSpc>
                <a:spcPct val="101899"/>
              </a:lnSpc>
              <a:spcBef>
                <a:spcPts val="50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most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diagrams,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often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written</a:t>
            </a:r>
            <a:endParaRPr sz="2300" dirty="0">
              <a:latin typeface="Calibri"/>
              <a:cs typeface="Calibri"/>
            </a:endParaRPr>
          </a:p>
          <a:p>
            <a:pPr marL="355600">
              <a:lnSpc>
                <a:spcPts val="2740"/>
              </a:lnSpc>
            </a:pPr>
            <a:r>
              <a:rPr sz="2300" dirty="0">
                <a:latin typeface="Calibri"/>
                <a:cs typeface="Calibri"/>
              </a:rPr>
              <a:t>together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“Add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&amp;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Norm”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9150" y="5610859"/>
            <a:ext cx="2802890" cy="4102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dirty="0">
                <a:latin typeface="Calibri"/>
                <a:cs typeface="Calibri"/>
              </a:rPr>
              <a:t>Transformer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Decoder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0216" y="612648"/>
            <a:ext cx="3557762" cy="47411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1109091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The</a:t>
            </a:r>
            <a:r>
              <a:rPr sz="3350" b="0" spc="-6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Transformer</a:t>
            </a:r>
            <a:r>
              <a:rPr sz="3350" b="0" spc="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Encoder:</a:t>
            </a:r>
            <a:r>
              <a:rPr sz="3350" b="0" spc="65" dirty="0">
                <a:latin typeface="Calibri"/>
                <a:cs typeface="Calibri"/>
              </a:rPr>
              <a:t> </a:t>
            </a:r>
            <a:r>
              <a:rPr sz="3350" dirty="0"/>
              <a:t>Residual</a:t>
            </a:r>
            <a:r>
              <a:rPr sz="3350" spc="-10" dirty="0"/>
              <a:t> </a:t>
            </a:r>
            <a:r>
              <a:rPr sz="3350" dirty="0"/>
              <a:t>connections</a:t>
            </a:r>
            <a:r>
              <a:rPr sz="3350" spc="60" dirty="0"/>
              <a:t> </a:t>
            </a:r>
            <a:r>
              <a:rPr sz="3100" b="0" dirty="0">
                <a:latin typeface="Calibri"/>
                <a:cs typeface="Calibri"/>
              </a:rPr>
              <a:t>[</a:t>
            </a:r>
            <a:r>
              <a:rPr sz="3100" b="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He</a:t>
            </a:r>
            <a:r>
              <a:rPr sz="3100" b="0" u="sng" spc="-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3100" b="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3100" b="0" u="sng" spc="-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3100" b="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3100" b="0" u="sng" spc="-3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3100" b="0" u="sng" spc="-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2016</a:t>
            </a:r>
            <a:r>
              <a:rPr sz="3100" b="0" u="none" spc="-10" dirty="0">
                <a:latin typeface="Calibri"/>
                <a:cs typeface="Calibri"/>
              </a:rPr>
              <a:t>]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51476" y="1650110"/>
            <a:ext cx="500380" cy="194945"/>
          </a:xfrm>
          <a:custGeom>
            <a:avLst/>
            <a:gdLst/>
            <a:ahLst/>
            <a:cxnLst/>
            <a:rect l="l" t="t" r="r" b="b"/>
            <a:pathLst>
              <a:path w="500379" h="194944">
                <a:moveTo>
                  <a:pt x="438023" y="0"/>
                </a:moveTo>
                <a:lnTo>
                  <a:pt x="435356" y="7874"/>
                </a:lnTo>
                <a:lnTo>
                  <a:pt x="446591" y="12731"/>
                </a:lnTo>
                <a:lnTo>
                  <a:pt x="456279" y="19494"/>
                </a:lnTo>
                <a:lnTo>
                  <a:pt x="479551" y="64611"/>
                </a:lnTo>
                <a:lnTo>
                  <a:pt x="482473" y="96392"/>
                </a:lnTo>
                <a:lnTo>
                  <a:pt x="481738" y="113534"/>
                </a:lnTo>
                <a:lnTo>
                  <a:pt x="470915" y="155575"/>
                </a:lnTo>
                <a:lnTo>
                  <a:pt x="435610" y="186816"/>
                </a:lnTo>
                <a:lnTo>
                  <a:pt x="438023" y="194690"/>
                </a:lnTo>
                <a:lnTo>
                  <a:pt x="475241" y="172634"/>
                </a:lnTo>
                <a:lnTo>
                  <a:pt x="496188" y="131794"/>
                </a:lnTo>
                <a:lnTo>
                  <a:pt x="500252" y="97409"/>
                </a:lnTo>
                <a:lnTo>
                  <a:pt x="499247" y="79775"/>
                </a:lnTo>
                <a:lnTo>
                  <a:pt x="499233" y="79523"/>
                </a:lnTo>
                <a:lnTo>
                  <a:pt x="484124" y="34036"/>
                </a:lnTo>
                <a:lnTo>
                  <a:pt x="452191" y="5068"/>
                </a:lnTo>
                <a:lnTo>
                  <a:pt x="438023" y="0"/>
                </a:lnTo>
                <a:close/>
              </a:path>
              <a:path w="500379" h="194944">
                <a:moveTo>
                  <a:pt x="62102" y="0"/>
                </a:moveTo>
                <a:lnTo>
                  <a:pt x="25009" y="22109"/>
                </a:lnTo>
                <a:lnTo>
                  <a:pt x="4016" y="63007"/>
                </a:lnTo>
                <a:lnTo>
                  <a:pt x="0" y="97409"/>
                </a:lnTo>
                <a:lnTo>
                  <a:pt x="901" y="113534"/>
                </a:lnTo>
                <a:lnTo>
                  <a:pt x="16001" y="160654"/>
                </a:lnTo>
                <a:lnTo>
                  <a:pt x="48005" y="189640"/>
                </a:lnTo>
                <a:lnTo>
                  <a:pt x="62102" y="194690"/>
                </a:lnTo>
                <a:lnTo>
                  <a:pt x="64643" y="186816"/>
                </a:lnTo>
                <a:lnTo>
                  <a:pt x="53518" y="181935"/>
                </a:lnTo>
                <a:lnTo>
                  <a:pt x="43942" y="175101"/>
                </a:lnTo>
                <a:lnTo>
                  <a:pt x="20653" y="129127"/>
                </a:lnTo>
                <a:lnTo>
                  <a:pt x="17779" y="96392"/>
                </a:lnTo>
                <a:lnTo>
                  <a:pt x="18496" y="79775"/>
                </a:lnTo>
                <a:lnTo>
                  <a:pt x="29337" y="38735"/>
                </a:lnTo>
                <a:lnTo>
                  <a:pt x="64897" y="7874"/>
                </a:lnTo>
                <a:lnTo>
                  <a:pt x="62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77556" y="1065567"/>
            <a:ext cx="8186420" cy="92329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69"/>
              </a:spcBef>
              <a:buClr>
                <a:srgbClr val="8B1515"/>
              </a:buClr>
              <a:buFont typeface="Times New Roman"/>
              <a:buChar char="•"/>
              <a:tabLst>
                <a:tab pos="368300" algn="l"/>
              </a:tabLst>
            </a:pPr>
            <a:r>
              <a:rPr sz="2300" b="1" dirty="0">
                <a:latin typeface="Calibri"/>
                <a:cs typeface="Calibri"/>
              </a:rPr>
              <a:t>Residual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connections</a:t>
            </a:r>
            <a:r>
              <a:rPr sz="2300" b="1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trick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help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better.</a:t>
            </a:r>
            <a:endParaRPr sz="2300">
              <a:latin typeface="Calibri"/>
              <a:cs typeface="Calibri"/>
            </a:endParaRPr>
          </a:p>
          <a:p>
            <a:pPr marL="711200" lvl="1" indent="-228600">
              <a:lnSpc>
                <a:spcPct val="100000"/>
              </a:lnSpc>
              <a:spcBef>
                <a:spcPts val="775"/>
              </a:spcBef>
              <a:buClr>
                <a:srgbClr val="007B92"/>
              </a:buClr>
              <a:buFont typeface="Times New Roman"/>
              <a:buChar char="•"/>
              <a:tabLst>
                <a:tab pos="711200" algn="l"/>
              </a:tabLst>
            </a:pPr>
            <a:r>
              <a:rPr sz="2300" dirty="0">
                <a:latin typeface="Calibri"/>
                <a:cs typeface="Calibri"/>
              </a:rPr>
              <a:t>Instead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55" dirty="0">
                <a:latin typeface="Cambria Math"/>
                <a:cs typeface="Cambria Math"/>
              </a:rPr>
              <a:t>𝑋</a:t>
            </a:r>
            <a:r>
              <a:rPr sz="2475" spc="82" baseline="28619" dirty="0">
                <a:latin typeface="Cambria Math"/>
                <a:cs typeface="Cambria Math"/>
              </a:rPr>
              <a:t>(𝑖)</a:t>
            </a:r>
            <a:r>
              <a:rPr sz="2475" spc="540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0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Layer(𝑋</a:t>
            </a:r>
            <a:r>
              <a:rPr sz="2300" spc="285" dirty="0">
                <a:latin typeface="Cambria Math"/>
                <a:cs typeface="Cambria Math"/>
              </a:rPr>
              <a:t> </a:t>
            </a:r>
            <a:r>
              <a:rPr sz="2475" baseline="28619" dirty="0">
                <a:latin typeface="Cambria Math"/>
                <a:cs typeface="Cambria Math"/>
              </a:rPr>
              <a:t>𝑖−1</a:t>
            </a:r>
            <a:r>
              <a:rPr sz="2475" spc="622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)</a:t>
            </a:r>
            <a:r>
              <a:rPr sz="2300" spc="-5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(where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𝑖</a:t>
            </a:r>
            <a:r>
              <a:rPr sz="2300" spc="70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represents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layer)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3221" y="2939288"/>
            <a:ext cx="500380" cy="194945"/>
          </a:xfrm>
          <a:custGeom>
            <a:avLst/>
            <a:gdLst/>
            <a:ahLst/>
            <a:cxnLst/>
            <a:rect l="l" t="t" r="r" b="b"/>
            <a:pathLst>
              <a:path w="500379" h="194944">
                <a:moveTo>
                  <a:pt x="438023" y="0"/>
                </a:moveTo>
                <a:lnTo>
                  <a:pt x="435228" y="8000"/>
                </a:lnTo>
                <a:lnTo>
                  <a:pt x="446520" y="12858"/>
                </a:lnTo>
                <a:lnTo>
                  <a:pt x="456215" y="19621"/>
                </a:lnTo>
                <a:lnTo>
                  <a:pt x="479488" y="64690"/>
                </a:lnTo>
                <a:lnTo>
                  <a:pt x="481603" y="79650"/>
                </a:lnTo>
                <a:lnTo>
                  <a:pt x="481631" y="79849"/>
                </a:lnTo>
                <a:lnTo>
                  <a:pt x="479472" y="129254"/>
                </a:lnTo>
                <a:lnTo>
                  <a:pt x="464290" y="166441"/>
                </a:lnTo>
                <a:lnTo>
                  <a:pt x="435482" y="186944"/>
                </a:lnTo>
                <a:lnTo>
                  <a:pt x="438023" y="194817"/>
                </a:lnTo>
                <a:lnTo>
                  <a:pt x="475241" y="172708"/>
                </a:lnTo>
                <a:lnTo>
                  <a:pt x="496125" y="131921"/>
                </a:lnTo>
                <a:lnTo>
                  <a:pt x="500125" y="97536"/>
                </a:lnTo>
                <a:lnTo>
                  <a:pt x="499136" y="79849"/>
                </a:lnTo>
                <a:lnTo>
                  <a:pt x="484124" y="34162"/>
                </a:lnTo>
                <a:lnTo>
                  <a:pt x="452120" y="5141"/>
                </a:lnTo>
                <a:lnTo>
                  <a:pt x="438023" y="0"/>
                </a:lnTo>
                <a:close/>
              </a:path>
              <a:path w="500379" h="194944">
                <a:moveTo>
                  <a:pt x="62102" y="0"/>
                </a:moveTo>
                <a:lnTo>
                  <a:pt x="24955" y="22234"/>
                </a:lnTo>
                <a:lnTo>
                  <a:pt x="4000" y="63134"/>
                </a:lnTo>
                <a:lnTo>
                  <a:pt x="0" y="97536"/>
                </a:lnTo>
                <a:lnTo>
                  <a:pt x="901" y="113661"/>
                </a:lnTo>
                <a:lnTo>
                  <a:pt x="16001" y="160782"/>
                </a:lnTo>
                <a:lnTo>
                  <a:pt x="47934" y="189749"/>
                </a:lnTo>
                <a:lnTo>
                  <a:pt x="62102" y="194817"/>
                </a:lnTo>
                <a:lnTo>
                  <a:pt x="64515" y="186944"/>
                </a:lnTo>
                <a:lnTo>
                  <a:pt x="53447" y="182062"/>
                </a:lnTo>
                <a:lnTo>
                  <a:pt x="43878" y="175228"/>
                </a:lnTo>
                <a:lnTo>
                  <a:pt x="20653" y="129254"/>
                </a:lnTo>
                <a:lnTo>
                  <a:pt x="17822" y="97536"/>
                </a:lnTo>
                <a:lnTo>
                  <a:pt x="17779" y="96520"/>
                </a:lnTo>
                <a:lnTo>
                  <a:pt x="24262" y="51032"/>
                </a:lnTo>
                <a:lnTo>
                  <a:pt x="53661" y="12858"/>
                </a:lnTo>
                <a:lnTo>
                  <a:pt x="64897" y="8000"/>
                </a:lnTo>
                <a:lnTo>
                  <a:pt x="62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22349" y="2902077"/>
            <a:ext cx="9651365" cy="725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065" indent="-227965">
              <a:lnSpc>
                <a:spcPts val="2750"/>
              </a:lnSpc>
              <a:spcBef>
                <a:spcPts val="105"/>
              </a:spcBef>
              <a:buClr>
                <a:srgbClr val="007B92"/>
              </a:buClr>
              <a:buFont typeface="Times New Roman"/>
              <a:buChar char="•"/>
              <a:tabLst>
                <a:tab pos="266065" algn="l"/>
                <a:tab pos="3140710" algn="l"/>
              </a:tabLst>
            </a:pPr>
            <a:r>
              <a:rPr sz="2300" dirty="0">
                <a:latin typeface="Calibri"/>
                <a:cs typeface="Calibri"/>
              </a:rPr>
              <a:t>We</a:t>
            </a:r>
            <a:r>
              <a:rPr sz="2300" spc="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let</a:t>
            </a:r>
            <a:r>
              <a:rPr sz="2300" spc="45" dirty="0">
                <a:latin typeface="Calibri"/>
                <a:cs typeface="Calibri"/>
              </a:rPr>
              <a:t> </a:t>
            </a:r>
            <a:r>
              <a:rPr sz="2300" spc="50" dirty="0">
                <a:latin typeface="Cambria Math"/>
                <a:cs typeface="Cambria Math"/>
              </a:rPr>
              <a:t>𝑋</a:t>
            </a:r>
            <a:r>
              <a:rPr sz="2475" spc="75" baseline="28619" dirty="0">
                <a:latin typeface="Cambria Math"/>
                <a:cs typeface="Cambria Math"/>
              </a:rPr>
              <a:t>(𝑖)</a:t>
            </a:r>
            <a:r>
              <a:rPr sz="2475" spc="630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5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𝑋</a:t>
            </a:r>
            <a:r>
              <a:rPr sz="2475" baseline="28619" dirty="0">
                <a:latin typeface="Cambria Math"/>
                <a:cs typeface="Cambria Math"/>
              </a:rPr>
              <a:t>(𝑖−1)</a:t>
            </a:r>
            <a:r>
              <a:rPr sz="2475" spc="427" baseline="28619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+</a:t>
            </a:r>
            <a:r>
              <a:rPr sz="2300" dirty="0">
                <a:latin typeface="Cambria Math"/>
                <a:cs typeface="Cambria Math"/>
              </a:rPr>
              <a:t>	Layer(𝑋</a:t>
            </a:r>
            <a:r>
              <a:rPr sz="2300" spc="300" dirty="0">
                <a:latin typeface="Cambria Math"/>
                <a:cs typeface="Cambria Math"/>
              </a:rPr>
              <a:t> </a:t>
            </a:r>
            <a:r>
              <a:rPr sz="2475" baseline="28619" dirty="0">
                <a:latin typeface="Cambria Math"/>
                <a:cs typeface="Cambria Math"/>
              </a:rPr>
              <a:t>𝑖−1</a:t>
            </a:r>
            <a:r>
              <a:rPr sz="2475" spc="675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)</a:t>
            </a:r>
            <a:r>
              <a:rPr sz="2300" spc="15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(so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only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“the</a:t>
            </a:r>
            <a:r>
              <a:rPr sz="2300" spc="-10" dirty="0">
                <a:latin typeface="Calibri"/>
                <a:cs typeface="Calibri"/>
              </a:rPr>
              <a:t> residual”</a:t>
            </a:r>
            <a:endParaRPr sz="2300" dirty="0">
              <a:latin typeface="Calibri"/>
              <a:cs typeface="Calibri"/>
            </a:endParaRPr>
          </a:p>
          <a:p>
            <a:pPr marL="26670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from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previous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layer)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7749" y="4935156"/>
            <a:ext cx="4740275" cy="1155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007B92"/>
              </a:buClr>
              <a:buFont typeface="Times New Roman"/>
              <a:buChar char="•"/>
              <a:tabLst>
                <a:tab pos="241300" algn="l"/>
              </a:tabLst>
            </a:pPr>
            <a:r>
              <a:rPr sz="2300" dirty="0">
                <a:latin typeface="Calibri"/>
                <a:cs typeface="Calibri"/>
              </a:rPr>
              <a:t>Gradient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great</a:t>
            </a:r>
            <a:r>
              <a:rPr sz="2300" b="1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residual</a:t>
            </a:r>
            <a:endParaRPr sz="23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Calibri"/>
                <a:cs typeface="Calibri"/>
              </a:rPr>
              <a:t>connection;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it’s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1!</a:t>
            </a:r>
            <a:endParaRPr sz="23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241300" algn="l"/>
              </a:tabLst>
            </a:pPr>
            <a:r>
              <a:rPr sz="2300" dirty="0">
                <a:latin typeface="Calibri"/>
                <a:cs typeface="Calibri"/>
              </a:rPr>
              <a:t>Bias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towards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identity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function!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49523" y="2194560"/>
            <a:ext cx="2590800" cy="548640"/>
            <a:chOff x="3049523" y="2194560"/>
            <a:chExt cx="2590800" cy="548640"/>
          </a:xfrm>
        </p:grpSpPr>
        <p:sp>
          <p:nvSpPr>
            <p:cNvPr id="9" name="object 9"/>
            <p:cNvSpPr/>
            <p:nvPr/>
          </p:nvSpPr>
          <p:spPr>
            <a:xfrm>
              <a:off x="3049523" y="240792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2514600" y="0"/>
                  </a:moveTo>
                  <a:lnTo>
                    <a:pt x="2514600" y="76200"/>
                  </a:lnTo>
                  <a:lnTo>
                    <a:pt x="2578100" y="44450"/>
                  </a:lnTo>
                  <a:lnTo>
                    <a:pt x="2527300" y="44450"/>
                  </a:lnTo>
                  <a:lnTo>
                    <a:pt x="2527300" y="31750"/>
                  </a:lnTo>
                  <a:lnTo>
                    <a:pt x="2578100" y="31750"/>
                  </a:lnTo>
                  <a:lnTo>
                    <a:pt x="2514600" y="0"/>
                  </a:lnTo>
                  <a:close/>
                </a:path>
                <a:path w="2590800" h="76200">
                  <a:moveTo>
                    <a:pt x="2514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514600" y="44450"/>
                  </a:lnTo>
                  <a:lnTo>
                    <a:pt x="2514600" y="31750"/>
                  </a:lnTo>
                  <a:close/>
                </a:path>
                <a:path w="2590800" h="76200">
                  <a:moveTo>
                    <a:pt x="2578100" y="31750"/>
                  </a:moveTo>
                  <a:lnTo>
                    <a:pt x="2527300" y="31750"/>
                  </a:lnTo>
                  <a:lnTo>
                    <a:pt x="2527300" y="44450"/>
                  </a:lnTo>
                  <a:lnTo>
                    <a:pt x="2578100" y="44450"/>
                  </a:lnTo>
                  <a:lnTo>
                    <a:pt x="2590800" y="38100"/>
                  </a:lnTo>
                  <a:lnTo>
                    <a:pt x="25781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57015" y="2194560"/>
              <a:ext cx="1289685" cy="548640"/>
            </a:xfrm>
            <a:custGeom>
              <a:avLst/>
              <a:gdLst/>
              <a:ahLst/>
              <a:cxnLst/>
              <a:rect l="l" t="t" r="r" b="b"/>
              <a:pathLst>
                <a:path w="1289685" h="548639">
                  <a:moveTo>
                    <a:pt x="1197864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179" y="492758"/>
                  </a:lnTo>
                  <a:lnTo>
                    <a:pt x="26765" y="521827"/>
                  </a:lnTo>
                  <a:lnTo>
                    <a:pt x="55828" y="541442"/>
                  </a:lnTo>
                  <a:lnTo>
                    <a:pt x="91439" y="548639"/>
                  </a:lnTo>
                  <a:lnTo>
                    <a:pt x="1197864" y="548639"/>
                  </a:lnTo>
                  <a:lnTo>
                    <a:pt x="1233475" y="541442"/>
                  </a:lnTo>
                  <a:lnTo>
                    <a:pt x="1262538" y="521827"/>
                  </a:lnTo>
                  <a:lnTo>
                    <a:pt x="1282124" y="492758"/>
                  </a:lnTo>
                  <a:lnTo>
                    <a:pt x="1289304" y="457200"/>
                  </a:lnTo>
                  <a:lnTo>
                    <a:pt x="1289304" y="91439"/>
                  </a:lnTo>
                  <a:lnTo>
                    <a:pt x="1282124" y="55828"/>
                  </a:lnTo>
                  <a:lnTo>
                    <a:pt x="1262538" y="26765"/>
                  </a:lnTo>
                  <a:lnTo>
                    <a:pt x="1233475" y="7179"/>
                  </a:lnTo>
                  <a:lnTo>
                    <a:pt x="1197864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41622" y="2259457"/>
            <a:ext cx="72580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0" dirty="0">
                <a:latin typeface="Source Sans Pro"/>
                <a:cs typeface="Source Sans Pro"/>
              </a:rPr>
              <a:t>Layer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2936" y="2122614"/>
            <a:ext cx="410273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3610610" algn="l"/>
              </a:tabLst>
            </a:pPr>
            <a:r>
              <a:rPr sz="3300" spc="60" baseline="-20202" dirty="0">
                <a:latin typeface="Cambria Math"/>
                <a:cs typeface="Cambria Math"/>
              </a:rPr>
              <a:t>𝑋</a:t>
            </a:r>
            <a:r>
              <a:rPr sz="1550" spc="40" dirty="0">
                <a:latin typeface="Cambria Math"/>
                <a:cs typeface="Cambria Math"/>
              </a:rPr>
              <a:t>(𝑖−1)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3300" spc="67" baseline="-20202" dirty="0">
                <a:latin typeface="Cambria Math"/>
                <a:cs typeface="Cambria Math"/>
              </a:rPr>
              <a:t>𝑋</a:t>
            </a:r>
            <a:r>
              <a:rPr sz="1550" spc="45" dirty="0">
                <a:latin typeface="Cambria Math"/>
                <a:cs typeface="Cambria Math"/>
              </a:rPr>
              <a:t>(𝑖)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49523" y="3794759"/>
            <a:ext cx="2590800" cy="539750"/>
            <a:chOff x="3049523" y="3794759"/>
            <a:chExt cx="2590800" cy="539750"/>
          </a:xfrm>
        </p:grpSpPr>
        <p:sp>
          <p:nvSpPr>
            <p:cNvPr id="14" name="object 14"/>
            <p:cNvSpPr/>
            <p:nvPr/>
          </p:nvSpPr>
          <p:spPr>
            <a:xfrm>
              <a:off x="3049523" y="3998975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2514600" y="0"/>
                  </a:moveTo>
                  <a:lnTo>
                    <a:pt x="2514600" y="76200"/>
                  </a:lnTo>
                  <a:lnTo>
                    <a:pt x="2578100" y="44450"/>
                  </a:lnTo>
                  <a:lnTo>
                    <a:pt x="2527300" y="44450"/>
                  </a:lnTo>
                  <a:lnTo>
                    <a:pt x="2527300" y="31750"/>
                  </a:lnTo>
                  <a:lnTo>
                    <a:pt x="2578100" y="31750"/>
                  </a:lnTo>
                  <a:lnTo>
                    <a:pt x="2514600" y="0"/>
                  </a:lnTo>
                  <a:close/>
                </a:path>
                <a:path w="2590800" h="76200">
                  <a:moveTo>
                    <a:pt x="2514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514600" y="44450"/>
                  </a:lnTo>
                  <a:lnTo>
                    <a:pt x="2514600" y="31750"/>
                  </a:lnTo>
                  <a:close/>
                </a:path>
                <a:path w="2590800" h="76200">
                  <a:moveTo>
                    <a:pt x="2578100" y="31750"/>
                  </a:moveTo>
                  <a:lnTo>
                    <a:pt x="2527300" y="31750"/>
                  </a:lnTo>
                  <a:lnTo>
                    <a:pt x="2527300" y="44450"/>
                  </a:lnTo>
                  <a:lnTo>
                    <a:pt x="2578100" y="44450"/>
                  </a:lnTo>
                  <a:lnTo>
                    <a:pt x="2590800" y="38100"/>
                  </a:lnTo>
                  <a:lnTo>
                    <a:pt x="25781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7015" y="3794759"/>
              <a:ext cx="1289685" cy="539750"/>
            </a:xfrm>
            <a:custGeom>
              <a:avLst/>
              <a:gdLst/>
              <a:ahLst/>
              <a:cxnLst/>
              <a:rect l="l" t="t" r="r" b="b"/>
              <a:pathLst>
                <a:path w="1289685" h="539750">
                  <a:moveTo>
                    <a:pt x="1199388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5"/>
                  </a:lnTo>
                  <a:lnTo>
                    <a:pt x="0" y="449579"/>
                  </a:lnTo>
                  <a:lnTo>
                    <a:pt x="7066" y="484578"/>
                  </a:lnTo>
                  <a:lnTo>
                    <a:pt x="26336" y="513159"/>
                  </a:lnTo>
                  <a:lnTo>
                    <a:pt x="54917" y="532429"/>
                  </a:lnTo>
                  <a:lnTo>
                    <a:pt x="89916" y="539495"/>
                  </a:lnTo>
                  <a:lnTo>
                    <a:pt x="1199388" y="539495"/>
                  </a:lnTo>
                  <a:lnTo>
                    <a:pt x="1234386" y="532429"/>
                  </a:lnTo>
                  <a:lnTo>
                    <a:pt x="1262967" y="513159"/>
                  </a:lnTo>
                  <a:lnTo>
                    <a:pt x="1282237" y="484578"/>
                  </a:lnTo>
                  <a:lnTo>
                    <a:pt x="1289304" y="449579"/>
                  </a:lnTo>
                  <a:lnTo>
                    <a:pt x="1289304" y="89915"/>
                  </a:lnTo>
                  <a:lnTo>
                    <a:pt x="1282237" y="54917"/>
                  </a:lnTo>
                  <a:lnTo>
                    <a:pt x="1262967" y="26336"/>
                  </a:lnTo>
                  <a:lnTo>
                    <a:pt x="1234386" y="7066"/>
                  </a:lnTo>
                  <a:lnTo>
                    <a:pt x="1199388" y="0"/>
                  </a:lnTo>
                  <a:close/>
                </a:path>
              </a:pathLst>
            </a:custGeom>
            <a:solidFill>
              <a:srgbClr val="FFA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41622" y="3857434"/>
            <a:ext cx="72517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10" dirty="0">
                <a:latin typeface="Source Sans Pro"/>
                <a:cs typeface="Source Sans Pro"/>
              </a:rPr>
              <a:t>Layer</a:t>
            </a:r>
            <a:endParaRPr sz="2350">
              <a:latin typeface="Source Sans Pro"/>
              <a:cs typeface="Source Sans Pr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2936" y="3720274"/>
            <a:ext cx="410273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3610610" algn="l"/>
              </a:tabLst>
            </a:pPr>
            <a:r>
              <a:rPr sz="3300" spc="60" baseline="-20202" dirty="0">
                <a:latin typeface="Cambria Math"/>
                <a:cs typeface="Cambria Math"/>
              </a:rPr>
              <a:t>𝑋</a:t>
            </a:r>
            <a:r>
              <a:rPr sz="1550" spc="40" dirty="0">
                <a:latin typeface="Cambria Math"/>
                <a:cs typeface="Cambria Math"/>
              </a:rPr>
              <a:t>(𝑖−1)</a:t>
            </a:r>
            <a:r>
              <a:rPr sz="1550" dirty="0">
                <a:latin typeface="Cambria Math"/>
                <a:cs typeface="Cambria Math"/>
              </a:rPr>
              <a:t>	</a:t>
            </a:r>
            <a:r>
              <a:rPr sz="3300" spc="67" baseline="-20202" dirty="0">
                <a:latin typeface="Cambria Math"/>
                <a:cs typeface="Cambria Math"/>
              </a:rPr>
              <a:t>𝑋</a:t>
            </a:r>
            <a:r>
              <a:rPr sz="1550" spc="45" dirty="0">
                <a:latin typeface="Cambria Math"/>
                <a:cs typeface="Cambria Math"/>
              </a:rPr>
              <a:t>(𝑖)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44761" y="3886200"/>
            <a:ext cx="2334895" cy="617855"/>
            <a:chOff x="3044761" y="3886200"/>
            <a:chExt cx="2334895" cy="617855"/>
          </a:xfrm>
        </p:grpSpPr>
        <p:sp>
          <p:nvSpPr>
            <p:cNvPr id="19" name="object 19"/>
            <p:cNvSpPr/>
            <p:nvPr/>
          </p:nvSpPr>
          <p:spPr>
            <a:xfrm>
              <a:off x="3049524" y="4037076"/>
              <a:ext cx="2325370" cy="462280"/>
            </a:xfrm>
            <a:custGeom>
              <a:avLst/>
              <a:gdLst/>
              <a:ahLst/>
              <a:cxnLst/>
              <a:rect l="l" t="t" r="r" b="b"/>
              <a:pathLst>
                <a:path w="2325370" h="462279">
                  <a:moveTo>
                    <a:pt x="0" y="0"/>
                  </a:moveTo>
                  <a:lnTo>
                    <a:pt x="381000" y="0"/>
                  </a:lnTo>
                  <a:lnTo>
                    <a:pt x="381000" y="461899"/>
                  </a:lnTo>
                  <a:lnTo>
                    <a:pt x="762000" y="461899"/>
                  </a:lnTo>
                </a:path>
                <a:path w="2325370" h="462279">
                  <a:moveTo>
                    <a:pt x="768096" y="461899"/>
                  </a:moveTo>
                  <a:lnTo>
                    <a:pt x="2056638" y="461899"/>
                  </a:lnTo>
                  <a:lnTo>
                    <a:pt x="2056638" y="0"/>
                  </a:lnTo>
                  <a:lnTo>
                    <a:pt x="232498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74335" y="388620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8" y="0"/>
                  </a:moveTo>
                  <a:lnTo>
                    <a:pt x="106314" y="7924"/>
                  </a:lnTo>
                  <a:lnTo>
                    <a:pt x="63642" y="29992"/>
                  </a:lnTo>
                  <a:lnTo>
                    <a:pt x="29992" y="63642"/>
                  </a:lnTo>
                  <a:lnTo>
                    <a:pt x="7924" y="106314"/>
                  </a:lnTo>
                  <a:lnTo>
                    <a:pt x="0" y="155448"/>
                  </a:lnTo>
                  <a:lnTo>
                    <a:pt x="7924" y="204581"/>
                  </a:lnTo>
                  <a:lnTo>
                    <a:pt x="29992" y="247253"/>
                  </a:lnTo>
                  <a:lnTo>
                    <a:pt x="63642" y="280903"/>
                  </a:lnTo>
                  <a:lnTo>
                    <a:pt x="106314" y="302971"/>
                  </a:lnTo>
                  <a:lnTo>
                    <a:pt x="155448" y="310895"/>
                  </a:lnTo>
                  <a:lnTo>
                    <a:pt x="204581" y="302971"/>
                  </a:lnTo>
                  <a:lnTo>
                    <a:pt x="247253" y="280903"/>
                  </a:lnTo>
                  <a:lnTo>
                    <a:pt x="280903" y="247253"/>
                  </a:lnTo>
                  <a:lnTo>
                    <a:pt x="302971" y="204581"/>
                  </a:lnTo>
                  <a:lnTo>
                    <a:pt x="310896" y="155448"/>
                  </a:lnTo>
                  <a:lnTo>
                    <a:pt x="302971" y="106314"/>
                  </a:lnTo>
                  <a:lnTo>
                    <a:pt x="280903" y="63642"/>
                  </a:lnTo>
                  <a:lnTo>
                    <a:pt x="247253" y="29992"/>
                  </a:lnTo>
                  <a:lnTo>
                    <a:pt x="204581" y="7924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37582" y="3811714"/>
            <a:ext cx="1758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22" name="object 22" descr="Graphical user interface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6021" y="3916257"/>
            <a:ext cx="3956858" cy="159920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865364" y="5483651"/>
            <a:ext cx="3345179" cy="1258570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  <a:tabLst>
                <a:tab pos="2197735" algn="l"/>
              </a:tabLst>
            </a:pP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[no</a:t>
            </a:r>
            <a:r>
              <a:rPr sz="2100" spc="-4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600058"/>
                </a:solidFill>
                <a:latin typeface="Calibri"/>
                <a:cs typeface="Calibri"/>
              </a:rPr>
              <a:t>residuals]</a:t>
            </a:r>
            <a:r>
              <a:rPr sz="2100" dirty="0">
                <a:solidFill>
                  <a:srgbClr val="600058"/>
                </a:solidFill>
                <a:latin typeface="Calibri"/>
                <a:cs typeface="Calibri"/>
              </a:rPr>
              <a:t>	</a:t>
            </a:r>
            <a:r>
              <a:rPr sz="2100" spc="-10" dirty="0">
                <a:solidFill>
                  <a:srgbClr val="600058"/>
                </a:solidFill>
                <a:latin typeface="Calibri"/>
                <a:cs typeface="Calibri"/>
              </a:rPr>
              <a:t>[residuals]</a:t>
            </a:r>
            <a:endParaRPr sz="2100">
              <a:latin typeface="Calibri"/>
              <a:cs typeface="Calibri"/>
            </a:endParaRPr>
          </a:p>
          <a:p>
            <a:pPr marL="505459" marR="212090" indent="-86995">
              <a:lnSpc>
                <a:spcPct val="120100"/>
              </a:lnSpc>
              <a:spcBef>
                <a:spcPts val="700"/>
              </a:spcBef>
            </a:pPr>
            <a:r>
              <a:rPr sz="1800" dirty="0">
                <a:solidFill>
                  <a:srgbClr val="600058"/>
                </a:solidFill>
                <a:latin typeface="Calibri"/>
                <a:cs typeface="Calibri"/>
              </a:rPr>
              <a:t>[Loss</a:t>
            </a:r>
            <a:r>
              <a:rPr sz="1800" spc="-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00058"/>
                </a:solidFill>
                <a:latin typeface="Calibri"/>
                <a:cs typeface="Calibri"/>
              </a:rPr>
              <a:t>landscape</a:t>
            </a:r>
            <a:r>
              <a:rPr sz="1800" spc="-4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00058"/>
                </a:solidFill>
                <a:latin typeface="Calibri"/>
                <a:cs typeface="Calibri"/>
              </a:rPr>
              <a:t>visualization, </a:t>
            </a:r>
            <a:r>
              <a:rPr sz="18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4"/>
              </a:rPr>
              <a:t>Li</a:t>
            </a:r>
            <a:r>
              <a:rPr sz="1800" u="sng" spc="-4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4"/>
              </a:rPr>
              <a:t>et</a:t>
            </a:r>
            <a:r>
              <a:rPr sz="1800" u="sng" spc="-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4"/>
              </a:rPr>
              <a:t>al.,</a:t>
            </a:r>
            <a:r>
              <a:rPr sz="1800" u="sng" spc="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4"/>
              </a:rPr>
              <a:t>2018</a:t>
            </a:r>
            <a:r>
              <a:rPr sz="1800" u="none" dirty="0">
                <a:solidFill>
                  <a:srgbClr val="600058"/>
                </a:solidFill>
                <a:latin typeface="Calibri"/>
                <a:cs typeface="Calibri"/>
              </a:rPr>
              <a:t>,</a:t>
            </a:r>
            <a:r>
              <a:rPr sz="1800" u="none" spc="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600058"/>
                </a:solidFill>
                <a:latin typeface="Calibri"/>
                <a:cs typeface="Calibri"/>
              </a:rPr>
              <a:t>on</a:t>
            </a:r>
            <a:r>
              <a:rPr sz="1800" u="none" spc="10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1800" u="none" dirty="0">
                <a:solidFill>
                  <a:srgbClr val="600058"/>
                </a:solidFill>
                <a:latin typeface="Calibri"/>
                <a:cs typeface="Calibri"/>
              </a:rPr>
              <a:t>a</a:t>
            </a:r>
            <a:r>
              <a:rPr sz="1800" u="none" spc="-5" dirty="0">
                <a:solidFill>
                  <a:srgbClr val="600058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600058"/>
                </a:solidFill>
                <a:latin typeface="Calibri"/>
                <a:cs typeface="Calibri"/>
              </a:rPr>
              <a:t>ResNet]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5495" y="6509804"/>
            <a:ext cx="20827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Calibri"/>
                <a:cs typeface="Calibri"/>
              </a:rPr>
              <a:t>39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1109599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b="0" dirty="0">
                <a:latin typeface="Calibri"/>
                <a:cs typeface="Calibri"/>
              </a:rPr>
              <a:t>The</a:t>
            </a:r>
            <a:r>
              <a:rPr sz="3350" b="0" spc="-50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Transformer</a:t>
            </a:r>
            <a:r>
              <a:rPr sz="3350" b="0" spc="25" dirty="0">
                <a:latin typeface="Calibri"/>
                <a:cs typeface="Calibri"/>
              </a:rPr>
              <a:t> </a:t>
            </a:r>
            <a:r>
              <a:rPr sz="3350" b="0" dirty="0">
                <a:latin typeface="Calibri"/>
                <a:cs typeface="Calibri"/>
              </a:rPr>
              <a:t>Encoder:</a:t>
            </a:r>
            <a:r>
              <a:rPr sz="3350" b="0" spc="80" dirty="0">
                <a:latin typeface="Calibri"/>
                <a:cs typeface="Calibri"/>
              </a:rPr>
              <a:t> </a:t>
            </a:r>
            <a:r>
              <a:rPr sz="3350" dirty="0"/>
              <a:t>Layer</a:t>
            </a:r>
            <a:r>
              <a:rPr sz="3350" spc="-5" dirty="0"/>
              <a:t> </a:t>
            </a:r>
            <a:r>
              <a:rPr sz="3350" dirty="0"/>
              <a:t>normalization</a:t>
            </a:r>
            <a:r>
              <a:rPr sz="3350" spc="390" dirty="0"/>
              <a:t> </a:t>
            </a:r>
            <a:r>
              <a:rPr sz="3350" b="0" dirty="0">
                <a:latin typeface="Calibri"/>
                <a:cs typeface="Calibri"/>
              </a:rPr>
              <a:t>[</a:t>
            </a:r>
            <a:r>
              <a:rPr sz="3350" b="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Ba</a:t>
            </a:r>
            <a:r>
              <a:rPr sz="3350" b="0" u="sng" spc="1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3350" b="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et al., </a:t>
            </a:r>
            <a:r>
              <a:rPr sz="3350" b="0" u="sng" spc="-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2016</a:t>
            </a:r>
            <a:r>
              <a:rPr sz="3350" b="0" u="none" spc="-10" dirty="0">
                <a:latin typeface="Calibri"/>
                <a:cs typeface="Calibri"/>
              </a:rPr>
              <a:t>]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28113" y="3514725"/>
            <a:ext cx="146685" cy="18415"/>
          </a:xfrm>
          <a:custGeom>
            <a:avLst/>
            <a:gdLst/>
            <a:ahLst/>
            <a:cxnLst/>
            <a:rect l="l" t="t" r="r" b="b"/>
            <a:pathLst>
              <a:path w="146685" h="18414">
                <a:moveTo>
                  <a:pt x="146304" y="0"/>
                </a:moveTo>
                <a:lnTo>
                  <a:pt x="0" y="0"/>
                </a:lnTo>
                <a:lnTo>
                  <a:pt x="0" y="18287"/>
                </a:lnTo>
                <a:lnTo>
                  <a:pt x="146304" y="18287"/>
                </a:lnTo>
                <a:lnTo>
                  <a:pt x="1463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5794" y="3534600"/>
            <a:ext cx="16002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5" dirty="0">
                <a:latin typeface="Cambria Math"/>
                <a:cs typeface="Cambria Math"/>
              </a:rPr>
              <a:t>𝑑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4954" y="3459797"/>
            <a:ext cx="68707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4675" algn="l"/>
              </a:tabLst>
            </a:pPr>
            <a:r>
              <a:rPr sz="1650" spc="65" dirty="0">
                <a:latin typeface="Cambria Math"/>
                <a:cs typeface="Cambria Math"/>
              </a:rPr>
              <a:t>𝑗=1</a:t>
            </a:r>
            <a:r>
              <a:rPr sz="1650" dirty="0">
                <a:latin typeface="Cambria Math"/>
                <a:cs typeface="Cambria Math"/>
              </a:rPr>
              <a:t>	</a:t>
            </a:r>
            <a:r>
              <a:rPr sz="2475" spc="202" baseline="3367" dirty="0">
                <a:latin typeface="Cambria Math"/>
                <a:cs typeface="Cambria Math"/>
              </a:rPr>
              <a:t>𝑗</a:t>
            </a:r>
            <a:endParaRPr sz="2475" baseline="3367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9456" y="1092999"/>
            <a:ext cx="10130790" cy="25895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655"/>
              </a:spcBef>
              <a:buClr>
                <a:srgbClr val="8B1515"/>
              </a:buClr>
              <a:buFont typeface="Times New Roman"/>
              <a:buChar char="•"/>
              <a:tabLst>
                <a:tab pos="406400" algn="l"/>
              </a:tabLst>
            </a:pPr>
            <a:r>
              <a:rPr sz="2300" b="1" dirty="0">
                <a:latin typeface="Calibri"/>
                <a:cs typeface="Calibri"/>
              </a:rPr>
              <a:t>Layer</a:t>
            </a:r>
            <a:r>
              <a:rPr sz="2300" b="1" spc="-7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normalization</a:t>
            </a:r>
            <a:r>
              <a:rPr sz="2300" b="1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trick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help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train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faster.</a:t>
            </a:r>
            <a:endParaRPr sz="2300" dirty="0">
              <a:latin typeface="Calibri"/>
              <a:cs typeface="Calibri"/>
            </a:endParaRPr>
          </a:p>
          <a:p>
            <a:pPr marL="406400" indent="-342900">
              <a:lnSpc>
                <a:spcPts val="275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406400" algn="l"/>
              </a:tabLst>
            </a:pPr>
            <a:r>
              <a:rPr sz="2300" dirty="0">
                <a:latin typeface="Calibri"/>
                <a:cs typeface="Calibri"/>
              </a:rPr>
              <a:t>Idea: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cut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down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uninformative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variation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hidden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vector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by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normalizing</a:t>
            </a:r>
            <a:endParaRPr sz="2300" dirty="0">
              <a:latin typeface="Calibri"/>
              <a:cs typeface="Calibri"/>
            </a:endParaRPr>
          </a:p>
          <a:p>
            <a:pPr marL="40640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standard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deviation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within</a:t>
            </a:r>
            <a:r>
              <a:rPr sz="2300" b="1" spc="-4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each</a:t>
            </a:r>
            <a:r>
              <a:rPr sz="2300" b="1" spc="-5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layer</a:t>
            </a:r>
            <a:r>
              <a:rPr sz="2300" spc="-10" dirty="0">
                <a:latin typeface="Calibri"/>
                <a:cs typeface="Calibri"/>
              </a:rPr>
              <a:t>.</a:t>
            </a:r>
            <a:endParaRPr sz="2300" dirty="0">
              <a:latin typeface="Calibri"/>
              <a:cs typeface="Calibri"/>
            </a:endParaRPr>
          </a:p>
          <a:p>
            <a:pPr marL="749300" lvl="1" indent="-228600">
              <a:lnSpc>
                <a:spcPct val="100000"/>
              </a:lnSpc>
              <a:spcBef>
                <a:spcPts val="560"/>
              </a:spcBef>
              <a:buClr>
                <a:srgbClr val="007B92"/>
              </a:buClr>
              <a:buFont typeface="Times New Roman"/>
              <a:buChar char="•"/>
              <a:tabLst>
                <a:tab pos="749300" algn="l"/>
              </a:tabLst>
            </a:pPr>
            <a:r>
              <a:rPr sz="2300" dirty="0">
                <a:latin typeface="Calibri"/>
                <a:cs typeface="Calibri"/>
              </a:rPr>
              <a:t>LayerNorm’s success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may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normalizing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gradients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[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Xu</a:t>
            </a:r>
            <a:r>
              <a:rPr sz="2300" u="sng" spc="-3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et</a:t>
            </a:r>
            <a:r>
              <a:rPr sz="2300" u="sng" spc="-2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al.,</a:t>
            </a:r>
            <a:r>
              <a:rPr sz="2300" u="sng" spc="2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spc="-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2019</a:t>
            </a:r>
            <a:r>
              <a:rPr sz="2300" u="none" spc="-10" dirty="0">
                <a:latin typeface="Calibri"/>
                <a:cs typeface="Calibri"/>
              </a:rPr>
              <a:t>]</a:t>
            </a:r>
            <a:endParaRPr sz="2300" dirty="0">
              <a:latin typeface="Calibri"/>
              <a:cs typeface="Calibri"/>
            </a:endParaRPr>
          </a:p>
          <a:p>
            <a:pPr marL="406400" indent="-342900">
              <a:lnSpc>
                <a:spcPct val="100000"/>
              </a:lnSpc>
              <a:spcBef>
                <a:spcPts val="625"/>
              </a:spcBef>
              <a:buClr>
                <a:srgbClr val="8B1515"/>
              </a:buClr>
              <a:buFont typeface="Times New Roman"/>
              <a:buChar char="•"/>
              <a:tabLst>
                <a:tab pos="406400" algn="l"/>
              </a:tabLst>
            </a:pPr>
            <a:r>
              <a:rPr sz="2300" dirty="0">
                <a:latin typeface="Calibri"/>
                <a:cs typeface="Calibri"/>
              </a:rPr>
              <a:t>Let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𝑥</a:t>
            </a:r>
            <a:r>
              <a:rPr sz="2300" spc="16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9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ℝ</a:t>
            </a:r>
            <a:r>
              <a:rPr sz="2475" baseline="28619" dirty="0">
                <a:latin typeface="Cambria Math"/>
                <a:cs typeface="Cambria Math"/>
              </a:rPr>
              <a:t>𝑑</a:t>
            </a:r>
            <a:r>
              <a:rPr sz="2475" spc="427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individual (word)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vector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model.</a:t>
            </a:r>
            <a:endParaRPr sz="2300" dirty="0">
              <a:latin typeface="Calibri"/>
              <a:cs typeface="Calibri"/>
            </a:endParaRPr>
          </a:p>
          <a:p>
            <a:pPr marL="406400" indent="-342900">
              <a:lnSpc>
                <a:spcPct val="100000"/>
              </a:lnSpc>
              <a:spcBef>
                <a:spcPts val="1350"/>
              </a:spcBef>
              <a:buClr>
                <a:srgbClr val="8B1515"/>
              </a:buClr>
              <a:buFont typeface="Times New Roman"/>
              <a:buChar char="•"/>
              <a:tabLst>
                <a:tab pos="406400" algn="l"/>
                <a:tab pos="2223770" algn="l"/>
              </a:tabLst>
            </a:pPr>
            <a:r>
              <a:rPr sz="2300" dirty="0">
                <a:latin typeface="Calibri"/>
                <a:cs typeface="Calibri"/>
              </a:rPr>
              <a:t>Let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𝜇</a:t>
            </a:r>
            <a:r>
              <a:rPr sz="2300" spc="19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90" dirty="0">
                <a:latin typeface="Cambria Math"/>
                <a:cs typeface="Cambria Math"/>
              </a:rPr>
              <a:t> </a:t>
            </a:r>
            <a:r>
              <a:rPr sz="2475" baseline="45454" dirty="0">
                <a:latin typeface="Cambria Math"/>
                <a:cs typeface="Cambria Math"/>
              </a:rPr>
              <a:t>1</a:t>
            </a:r>
            <a:r>
              <a:rPr sz="2475" spc="172" baseline="45454" dirty="0">
                <a:latin typeface="Cambria Math"/>
                <a:cs typeface="Cambria Math"/>
              </a:rPr>
              <a:t> </a:t>
            </a:r>
            <a:r>
              <a:rPr sz="3450" spc="262" baseline="2415" dirty="0">
                <a:latin typeface="Cambria Math"/>
                <a:cs typeface="Cambria Math"/>
              </a:rPr>
              <a:t>σ</a:t>
            </a:r>
            <a:r>
              <a:rPr sz="2475" spc="262" baseline="31986" dirty="0">
                <a:latin typeface="Cambria Math"/>
                <a:cs typeface="Cambria Math"/>
              </a:rPr>
              <a:t>𝑑</a:t>
            </a:r>
            <a:r>
              <a:rPr sz="2475" baseline="31986" dirty="0">
                <a:latin typeface="Cambria Math"/>
                <a:cs typeface="Cambria Math"/>
              </a:rPr>
              <a:t>	</a:t>
            </a:r>
            <a:r>
              <a:rPr sz="2300" dirty="0">
                <a:latin typeface="Cambria Math"/>
                <a:cs typeface="Cambria Math"/>
              </a:rPr>
              <a:t>𝑥</a:t>
            </a:r>
            <a:r>
              <a:rPr sz="2300" spc="185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;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mean;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𝜇</a:t>
            </a:r>
            <a:r>
              <a:rPr sz="2300" spc="18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20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ℝ</a:t>
            </a:r>
            <a:r>
              <a:rPr sz="2300" spc="-25" dirty="0">
                <a:latin typeface="Calibri"/>
                <a:cs typeface="Calibri"/>
              </a:rPr>
              <a:t>.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7257" y="4145660"/>
            <a:ext cx="146685" cy="18415"/>
          </a:xfrm>
          <a:custGeom>
            <a:avLst/>
            <a:gdLst/>
            <a:ahLst/>
            <a:cxnLst/>
            <a:rect l="l" t="t" r="r" b="b"/>
            <a:pathLst>
              <a:path w="146685" h="18414">
                <a:moveTo>
                  <a:pt x="146304" y="0"/>
                </a:moveTo>
                <a:lnTo>
                  <a:pt x="0" y="0"/>
                </a:lnTo>
                <a:lnTo>
                  <a:pt x="0" y="18287"/>
                </a:lnTo>
                <a:lnTo>
                  <a:pt x="146304" y="18287"/>
                </a:lnTo>
                <a:lnTo>
                  <a:pt x="1463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25954" y="4166425"/>
            <a:ext cx="16002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45" dirty="0">
                <a:latin typeface="Cambria Math"/>
                <a:cs typeface="Cambria Math"/>
              </a:rPr>
              <a:t>𝑑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392" y="4091749"/>
            <a:ext cx="410209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65" dirty="0">
                <a:latin typeface="Cambria Math"/>
                <a:cs typeface="Cambria Math"/>
              </a:rPr>
              <a:t>𝑗=1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7855" y="3817111"/>
            <a:ext cx="4184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450" spc="262" baseline="-20531" dirty="0">
                <a:latin typeface="Cambria Math"/>
                <a:cs typeface="Cambria Math"/>
              </a:rPr>
              <a:t>σ</a:t>
            </a:r>
            <a:r>
              <a:rPr sz="1650" spc="175" dirty="0">
                <a:latin typeface="Cambria Math"/>
                <a:cs typeface="Cambria Math"/>
              </a:rPr>
              <a:t>𝑑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13308" y="3976751"/>
            <a:ext cx="973455" cy="353695"/>
          </a:xfrm>
          <a:custGeom>
            <a:avLst/>
            <a:gdLst/>
            <a:ahLst/>
            <a:cxnLst/>
            <a:rect l="l" t="t" r="r" b="b"/>
            <a:pathLst>
              <a:path w="973454" h="353695">
                <a:moveTo>
                  <a:pt x="879977" y="0"/>
                </a:moveTo>
                <a:lnTo>
                  <a:pt x="876421" y="11684"/>
                </a:lnTo>
                <a:lnTo>
                  <a:pt x="892689" y="20143"/>
                </a:lnTo>
                <a:lnTo>
                  <a:pt x="906837" y="32400"/>
                </a:lnTo>
                <a:lnTo>
                  <a:pt x="928872" y="68453"/>
                </a:lnTo>
                <a:lnTo>
                  <a:pt x="942191" y="117395"/>
                </a:lnTo>
                <a:lnTo>
                  <a:pt x="946652" y="176911"/>
                </a:lnTo>
                <a:lnTo>
                  <a:pt x="945534" y="207891"/>
                </a:lnTo>
                <a:lnTo>
                  <a:pt x="936632" y="261993"/>
                </a:lnTo>
                <a:lnTo>
                  <a:pt x="918890" y="305020"/>
                </a:lnTo>
                <a:lnTo>
                  <a:pt x="892689" y="333353"/>
                </a:lnTo>
                <a:lnTo>
                  <a:pt x="876421" y="341756"/>
                </a:lnTo>
                <a:lnTo>
                  <a:pt x="879977" y="353441"/>
                </a:lnTo>
                <a:lnTo>
                  <a:pt x="919489" y="332422"/>
                </a:lnTo>
                <a:lnTo>
                  <a:pt x="948811" y="292735"/>
                </a:lnTo>
                <a:lnTo>
                  <a:pt x="966876" y="239236"/>
                </a:lnTo>
                <a:lnTo>
                  <a:pt x="972935" y="176911"/>
                </a:lnTo>
                <a:lnTo>
                  <a:pt x="971489" y="145837"/>
                </a:lnTo>
                <a:lnTo>
                  <a:pt x="959332" y="86326"/>
                </a:lnTo>
                <a:lnTo>
                  <a:pt x="935430" y="38558"/>
                </a:lnTo>
                <a:lnTo>
                  <a:pt x="901001" y="8217"/>
                </a:lnTo>
                <a:lnTo>
                  <a:pt x="879977" y="0"/>
                </a:lnTo>
                <a:close/>
              </a:path>
              <a:path w="973454" h="353695">
                <a:moveTo>
                  <a:pt x="92831" y="0"/>
                </a:moveTo>
                <a:lnTo>
                  <a:pt x="53381" y="21066"/>
                </a:lnTo>
                <a:lnTo>
                  <a:pt x="24124" y="60706"/>
                </a:lnTo>
                <a:lnTo>
                  <a:pt x="6010" y="114220"/>
                </a:lnTo>
                <a:lnTo>
                  <a:pt x="0" y="176911"/>
                </a:lnTo>
                <a:lnTo>
                  <a:pt x="1439" y="207891"/>
                </a:lnTo>
                <a:lnTo>
                  <a:pt x="13549" y="267116"/>
                </a:lnTo>
                <a:lnTo>
                  <a:pt x="37484" y="314900"/>
                </a:lnTo>
                <a:lnTo>
                  <a:pt x="71826" y="345277"/>
                </a:lnTo>
                <a:lnTo>
                  <a:pt x="92831" y="353441"/>
                </a:lnTo>
                <a:lnTo>
                  <a:pt x="96387" y="341756"/>
                </a:lnTo>
                <a:lnTo>
                  <a:pt x="80192" y="333353"/>
                </a:lnTo>
                <a:lnTo>
                  <a:pt x="66081" y="321103"/>
                </a:lnTo>
                <a:lnTo>
                  <a:pt x="44063" y="285115"/>
                </a:lnTo>
                <a:lnTo>
                  <a:pt x="30743" y="236251"/>
                </a:lnTo>
                <a:lnTo>
                  <a:pt x="26283" y="176911"/>
                </a:lnTo>
                <a:lnTo>
                  <a:pt x="27400" y="145837"/>
                </a:lnTo>
                <a:lnTo>
                  <a:pt x="36302" y="91596"/>
                </a:lnTo>
                <a:lnTo>
                  <a:pt x="54042" y="48492"/>
                </a:lnTo>
                <a:lnTo>
                  <a:pt x="80192" y="20143"/>
                </a:lnTo>
                <a:lnTo>
                  <a:pt x="96387" y="11684"/>
                </a:lnTo>
                <a:lnTo>
                  <a:pt x="928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02378" y="3824922"/>
            <a:ext cx="14732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latin typeface="Cambria Math"/>
                <a:cs typeface="Cambria Math"/>
              </a:rPr>
              <a:t>2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3279" y="3937190"/>
            <a:ext cx="442849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67435" algn="l"/>
              </a:tabLst>
            </a:pPr>
            <a:r>
              <a:rPr sz="2300" dirty="0">
                <a:latin typeface="Cambria Math"/>
                <a:cs typeface="Cambria Math"/>
              </a:rPr>
              <a:t>𝑥</a:t>
            </a:r>
            <a:r>
              <a:rPr sz="2475" baseline="-15151" dirty="0">
                <a:latin typeface="Cambria Math"/>
                <a:cs typeface="Cambria Math"/>
              </a:rPr>
              <a:t>𝑗</a:t>
            </a:r>
            <a:r>
              <a:rPr sz="2475" spc="419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−</a:t>
            </a:r>
            <a:r>
              <a:rPr sz="2300" spc="-30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𝜇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300" dirty="0">
                <a:latin typeface="Calibri"/>
                <a:cs typeface="Calibri"/>
              </a:rPr>
              <a:t>;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 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variance;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𝜎</a:t>
            </a:r>
            <a:r>
              <a:rPr sz="2300" spc="17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10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ℝ</a:t>
            </a:r>
            <a:r>
              <a:rPr sz="2300" spc="-25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10225" y="5727522"/>
            <a:ext cx="859790" cy="18415"/>
          </a:xfrm>
          <a:custGeom>
            <a:avLst/>
            <a:gdLst/>
            <a:ahLst/>
            <a:cxnLst/>
            <a:rect l="l" t="t" r="r" b="b"/>
            <a:pathLst>
              <a:path w="859789" h="18414">
                <a:moveTo>
                  <a:pt x="859536" y="0"/>
                </a:moveTo>
                <a:lnTo>
                  <a:pt x="0" y="0"/>
                </a:lnTo>
                <a:lnTo>
                  <a:pt x="0" y="18288"/>
                </a:lnTo>
                <a:lnTo>
                  <a:pt x="859536" y="18288"/>
                </a:lnTo>
                <a:lnTo>
                  <a:pt x="859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52156" y="3785146"/>
            <a:ext cx="9613265" cy="189166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300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Let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𝜎</a:t>
            </a:r>
            <a:r>
              <a:rPr sz="2300" spc="16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70" dirty="0">
                <a:latin typeface="Cambria Math"/>
                <a:cs typeface="Cambria Math"/>
              </a:rPr>
              <a:t> </a:t>
            </a:r>
            <a:r>
              <a:rPr sz="2475" spc="-75" baseline="45454" dirty="0">
                <a:latin typeface="Cambria Math"/>
                <a:cs typeface="Cambria Math"/>
              </a:rPr>
              <a:t>1</a:t>
            </a:r>
            <a:endParaRPr sz="2475" baseline="45454">
              <a:latin typeface="Cambria Math"/>
              <a:cs typeface="Cambria Math"/>
            </a:endParaRPr>
          </a:p>
          <a:p>
            <a:pPr marL="393700" indent="-342900">
              <a:lnSpc>
                <a:spcPct val="100000"/>
              </a:lnSpc>
              <a:spcBef>
                <a:spcPts val="120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Let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𝛾</a:t>
            </a:r>
            <a:r>
              <a:rPr sz="2300" spc="18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2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ℝ</a:t>
            </a:r>
            <a:r>
              <a:rPr sz="2475" baseline="28619" dirty="0">
                <a:latin typeface="Cambria Math"/>
                <a:cs typeface="Cambria Math"/>
              </a:rPr>
              <a:t>𝑑</a:t>
            </a:r>
            <a:r>
              <a:rPr sz="2475" spc="472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𝛽</a:t>
            </a:r>
            <a:r>
              <a:rPr sz="2300" spc="18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ℝ</a:t>
            </a:r>
            <a:r>
              <a:rPr sz="2475" baseline="28619" dirty="0">
                <a:latin typeface="Cambria Math"/>
                <a:cs typeface="Cambria Math"/>
              </a:rPr>
              <a:t>𝑑</a:t>
            </a:r>
            <a:r>
              <a:rPr sz="2475" spc="465" baseline="28619" dirty="0">
                <a:latin typeface="Cambria Math"/>
                <a:cs typeface="Cambria Math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learned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“gain”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“bias”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parameters.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(Can</a:t>
            </a:r>
            <a:r>
              <a:rPr sz="2300" spc="-10" dirty="0">
                <a:latin typeface="Calibri"/>
                <a:cs typeface="Calibri"/>
              </a:rPr>
              <a:t> omit!)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484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Then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layer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normalization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computes:</a:t>
            </a:r>
            <a:endParaRPr sz="2300">
              <a:latin typeface="Calibri"/>
              <a:cs typeface="Calibri"/>
            </a:endParaRPr>
          </a:p>
          <a:p>
            <a:pPr marL="366395" algn="ctr">
              <a:lnSpc>
                <a:spcPct val="100000"/>
              </a:lnSpc>
              <a:spcBef>
                <a:spcPts val="760"/>
              </a:spcBef>
              <a:tabLst>
                <a:tab pos="661035" algn="l"/>
              </a:tabLst>
            </a:pPr>
            <a:r>
              <a:rPr sz="2300" spc="-50" dirty="0">
                <a:latin typeface="Cambria Math"/>
                <a:cs typeface="Cambria Math"/>
              </a:rPr>
              <a:t>𝑥</a:t>
            </a:r>
            <a:r>
              <a:rPr sz="2300" dirty="0">
                <a:latin typeface="Cambria Math"/>
                <a:cs typeface="Cambria Math"/>
              </a:rPr>
              <a:t>	−</a:t>
            </a:r>
            <a:r>
              <a:rPr sz="2300" spc="-10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𝜇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14415" y="5800648"/>
            <a:ext cx="855344" cy="281940"/>
          </a:xfrm>
          <a:custGeom>
            <a:avLst/>
            <a:gdLst/>
            <a:ahLst/>
            <a:cxnLst/>
            <a:rect l="l" t="t" r="r" b="b"/>
            <a:pathLst>
              <a:path w="855345" h="281939">
                <a:moveTo>
                  <a:pt x="855345" y="25"/>
                </a:moveTo>
                <a:lnTo>
                  <a:pt x="167894" y="0"/>
                </a:lnTo>
                <a:lnTo>
                  <a:pt x="97282" y="243878"/>
                </a:lnTo>
                <a:lnTo>
                  <a:pt x="46862" y="133007"/>
                </a:lnTo>
                <a:lnTo>
                  <a:pt x="0" y="154444"/>
                </a:lnTo>
                <a:lnTo>
                  <a:pt x="4445" y="165150"/>
                </a:lnTo>
                <a:lnTo>
                  <a:pt x="28575" y="154444"/>
                </a:lnTo>
                <a:lnTo>
                  <a:pt x="87630" y="281597"/>
                </a:lnTo>
                <a:lnTo>
                  <a:pt x="101600" y="281597"/>
                </a:lnTo>
                <a:lnTo>
                  <a:pt x="178435" y="18999"/>
                </a:lnTo>
                <a:lnTo>
                  <a:pt x="204216" y="18999"/>
                </a:lnTo>
                <a:lnTo>
                  <a:pt x="204216" y="18313"/>
                </a:lnTo>
                <a:lnTo>
                  <a:pt x="855345" y="18313"/>
                </a:lnTo>
                <a:lnTo>
                  <a:pt x="855345" y="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92851" y="5746127"/>
            <a:ext cx="68834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dirty="0">
                <a:latin typeface="Cambria Math"/>
                <a:cs typeface="Cambria Math"/>
              </a:rPr>
              <a:t>𝜎</a:t>
            </a:r>
            <a:r>
              <a:rPr sz="2300" spc="6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+</a:t>
            </a:r>
            <a:r>
              <a:rPr sz="2300" spc="-10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𝜖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2134" y="5520994"/>
            <a:ext cx="306705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60270" algn="l"/>
              </a:tabLst>
            </a:pPr>
            <a:r>
              <a:rPr sz="2300" dirty="0">
                <a:latin typeface="Cambria Math"/>
                <a:cs typeface="Cambria Math"/>
              </a:rPr>
              <a:t>output</a:t>
            </a:r>
            <a:r>
              <a:rPr sz="2300" spc="70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=</a:t>
            </a:r>
            <a:r>
              <a:rPr sz="2300" dirty="0">
                <a:latin typeface="Cambria Math"/>
                <a:cs typeface="Cambria Math"/>
              </a:rPr>
              <a:t>	∗</a:t>
            </a:r>
            <a:r>
              <a:rPr sz="2300" spc="-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𝛾</a:t>
            </a:r>
            <a:r>
              <a:rPr sz="2300" spc="6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+</a:t>
            </a:r>
            <a:r>
              <a:rPr sz="2300" spc="-15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𝛽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46447" y="6103061"/>
            <a:ext cx="1240155" cy="330200"/>
          </a:xfrm>
          <a:custGeom>
            <a:avLst/>
            <a:gdLst/>
            <a:ahLst/>
            <a:cxnLst/>
            <a:rect l="l" t="t" r="r" b="b"/>
            <a:pathLst>
              <a:path w="1240154" h="330200">
                <a:moveTo>
                  <a:pt x="1164286" y="30844"/>
                </a:moveTo>
                <a:lnTo>
                  <a:pt x="0" y="317423"/>
                </a:lnTo>
                <a:lnTo>
                  <a:pt x="3048" y="329755"/>
                </a:lnTo>
                <a:lnTo>
                  <a:pt x="1167314" y="43181"/>
                </a:lnTo>
                <a:lnTo>
                  <a:pt x="1164286" y="30844"/>
                </a:lnTo>
                <a:close/>
              </a:path>
              <a:path w="1240154" h="330200">
                <a:moveTo>
                  <a:pt x="1229174" y="27800"/>
                </a:moveTo>
                <a:lnTo>
                  <a:pt x="1176654" y="27800"/>
                </a:lnTo>
                <a:lnTo>
                  <a:pt x="1179702" y="40132"/>
                </a:lnTo>
                <a:lnTo>
                  <a:pt x="1167314" y="43181"/>
                </a:lnTo>
                <a:lnTo>
                  <a:pt x="1174877" y="73990"/>
                </a:lnTo>
                <a:lnTo>
                  <a:pt x="1229174" y="27800"/>
                </a:lnTo>
                <a:close/>
              </a:path>
              <a:path w="1240154" h="330200">
                <a:moveTo>
                  <a:pt x="1176654" y="27800"/>
                </a:moveTo>
                <a:lnTo>
                  <a:pt x="1164286" y="30844"/>
                </a:lnTo>
                <a:lnTo>
                  <a:pt x="1167314" y="43181"/>
                </a:lnTo>
                <a:lnTo>
                  <a:pt x="1179702" y="40132"/>
                </a:lnTo>
                <a:lnTo>
                  <a:pt x="1176654" y="27800"/>
                </a:lnTo>
                <a:close/>
              </a:path>
              <a:path w="1240154" h="330200">
                <a:moveTo>
                  <a:pt x="1156715" y="0"/>
                </a:moveTo>
                <a:lnTo>
                  <a:pt x="1164286" y="30844"/>
                </a:lnTo>
                <a:lnTo>
                  <a:pt x="1176654" y="27800"/>
                </a:lnTo>
                <a:lnTo>
                  <a:pt x="1229174" y="27800"/>
                </a:lnTo>
                <a:lnTo>
                  <a:pt x="1239774" y="18783"/>
                </a:lnTo>
                <a:lnTo>
                  <a:pt x="11567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441320" y="6080671"/>
            <a:ext cx="183197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Normalize</a:t>
            </a:r>
            <a:r>
              <a:rPr sz="1800" spc="-5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by</a:t>
            </a:r>
            <a:r>
              <a:rPr sz="1800" spc="-5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75E53"/>
                </a:solidFill>
                <a:latin typeface="Calibri"/>
                <a:cs typeface="Calibri"/>
              </a:rPr>
              <a:t>scalar </a:t>
            </a: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mean</a:t>
            </a:r>
            <a:r>
              <a:rPr sz="1800" spc="-2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and</a:t>
            </a:r>
            <a:r>
              <a:rPr sz="1800" spc="-8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75E53"/>
                </a:solidFill>
                <a:latin typeface="Calibri"/>
                <a:cs typeface="Calibri"/>
              </a:rPr>
              <a:t>variance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60766" y="6080671"/>
            <a:ext cx="248094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Modulate</a:t>
            </a:r>
            <a:r>
              <a:rPr sz="1800" spc="-2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by</a:t>
            </a:r>
            <a:r>
              <a:rPr sz="1800" spc="-7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75E53"/>
                </a:solidFill>
                <a:latin typeface="Calibri"/>
                <a:cs typeface="Calibri"/>
              </a:rPr>
              <a:t>learned elementwise</a:t>
            </a:r>
            <a:r>
              <a:rPr sz="1800" spc="-4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gain</a:t>
            </a:r>
            <a:r>
              <a:rPr sz="1800" spc="-20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75E53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175E53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75E53"/>
                </a:solidFill>
                <a:latin typeface="Calibri"/>
                <a:cs typeface="Calibri"/>
              </a:rPr>
              <a:t>bias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91171" y="6113360"/>
            <a:ext cx="802640" cy="319405"/>
          </a:xfrm>
          <a:custGeom>
            <a:avLst/>
            <a:gdLst/>
            <a:ahLst/>
            <a:cxnLst/>
            <a:rect l="l" t="t" r="r" b="b"/>
            <a:pathLst>
              <a:path w="802640" h="319404">
                <a:moveTo>
                  <a:pt x="73437" y="29670"/>
                </a:moveTo>
                <a:lnTo>
                  <a:pt x="68923" y="41553"/>
                </a:lnTo>
                <a:lnTo>
                  <a:pt x="797813" y="319214"/>
                </a:lnTo>
                <a:lnTo>
                  <a:pt x="802385" y="307352"/>
                </a:lnTo>
                <a:lnTo>
                  <a:pt x="73437" y="29670"/>
                </a:lnTo>
                <a:close/>
              </a:path>
              <a:path w="802640" h="319404">
                <a:moveTo>
                  <a:pt x="84708" y="0"/>
                </a:moveTo>
                <a:lnTo>
                  <a:pt x="0" y="8483"/>
                </a:lnTo>
                <a:lnTo>
                  <a:pt x="57657" y="71208"/>
                </a:lnTo>
                <a:lnTo>
                  <a:pt x="68923" y="41553"/>
                </a:lnTo>
                <a:lnTo>
                  <a:pt x="57023" y="37020"/>
                </a:lnTo>
                <a:lnTo>
                  <a:pt x="61595" y="25158"/>
                </a:lnTo>
                <a:lnTo>
                  <a:pt x="75151" y="25158"/>
                </a:lnTo>
                <a:lnTo>
                  <a:pt x="84708" y="0"/>
                </a:lnTo>
                <a:close/>
              </a:path>
              <a:path w="802640" h="319404">
                <a:moveTo>
                  <a:pt x="61595" y="25158"/>
                </a:moveTo>
                <a:lnTo>
                  <a:pt x="57023" y="37020"/>
                </a:lnTo>
                <a:lnTo>
                  <a:pt x="68923" y="41553"/>
                </a:lnTo>
                <a:lnTo>
                  <a:pt x="73437" y="29670"/>
                </a:lnTo>
                <a:lnTo>
                  <a:pt x="61595" y="25158"/>
                </a:lnTo>
                <a:close/>
              </a:path>
              <a:path w="802640" h="319404">
                <a:moveTo>
                  <a:pt x="75151" y="25158"/>
                </a:moveTo>
                <a:lnTo>
                  <a:pt x="61595" y="25158"/>
                </a:lnTo>
                <a:lnTo>
                  <a:pt x="73437" y="29670"/>
                </a:lnTo>
                <a:lnTo>
                  <a:pt x="75151" y="25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85495" y="6509804"/>
            <a:ext cx="20827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Calibri"/>
                <a:cs typeface="Calibri"/>
              </a:rPr>
              <a:t>40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The</a:t>
            </a:r>
            <a:r>
              <a:rPr spc="60" dirty="0"/>
              <a:t> </a:t>
            </a:r>
            <a:r>
              <a:rPr dirty="0"/>
              <a:t>Transformer</a:t>
            </a:r>
            <a:r>
              <a:rPr spc="110" dirty="0"/>
              <a:t> </a:t>
            </a:r>
            <a:r>
              <a:rPr spc="-10" dirty="0"/>
              <a:t>Decoder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0984" y="1162748"/>
            <a:ext cx="4557395" cy="4451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 algn="ctr">
              <a:lnSpc>
                <a:spcPts val="2750"/>
              </a:lnSpc>
              <a:spcBef>
                <a:spcPts val="105"/>
              </a:spcBef>
              <a:buClr>
                <a:srgbClr val="8B1515"/>
              </a:buClr>
              <a:buFont typeface="Times New Roman"/>
              <a:buChar char="•"/>
              <a:tabLst>
                <a:tab pos="34290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Decoder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stack</a:t>
            </a:r>
            <a:endParaRPr sz="2300">
              <a:latin typeface="Calibri"/>
              <a:cs typeface="Calibri"/>
            </a:endParaRPr>
          </a:p>
          <a:p>
            <a:pPr marR="64769" algn="ctr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of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Decoder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Blocks</a:t>
            </a:r>
            <a:r>
              <a:rPr sz="2300" spc="-1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Each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Block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consists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of: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60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spc="-10" dirty="0">
                <a:latin typeface="Calibri"/>
                <a:cs typeface="Calibri"/>
              </a:rPr>
              <a:t>Self-attention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Add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&amp;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Norm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spc="-20" dirty="0">
                <a:latin typeface="Calibri"/>
                <a:cs typeface="Calibri"/>
              </a:rPr>
              <a:t>Feed-</a:t>
            </a:r>
            <a:r>
              <a:rPr sz="2300" spc="-10" dirty="0">
                <a:latin typeface="Calibri"/>
                <a:cs typeface="Calibri"/>
              </a:rPr>
              <a:t>Forward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Add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&amp;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Norm</a:t>
            </a:r>
            <a:endParaRPr sz="23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65"/>
              </a:spcBef>
              <a:buClr>
                <a:srgbClr val="007B92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That’s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it!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We’ve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gone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Decoder.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9150" y="5610859"/>
            <a:ext cx="2802890" cy="4102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dirty="0">
                <a:latin typeface="Calibri"/>
                <a:cs typeface="Calibri"/>
              </a:rPr>
              <a:t>Transformer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Decoder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5" name="object 5" descr="Diagram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7647" y="173786"/>
            <a:ext cx="3739896" cy="65104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The</a:t>
            </a:r>
            <a:r>
              <a:rPr spc="70" dirty="0"/>
              <a:t> </a:t>
            </a:r>
            <a:r>
              <a:rPr dirty="0"/>
              <a:t>Transformer</a:t>
            </a:r>
            <a:r>
              <a:rPr spc="135" dirty="0"/>
              <a:t> </a:t>
            </a:r>
            <a:r>
              <a:rPr spc="-10" dirty="0">
                <a:solidFill>
                  <a:srgbClr val="000000"/>
                </a:solidFill>
              </a:rPr>
              <a:t>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81850" y="5703728"/>
            <a:ext cx="277749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500" dirty="0">
                <a:latin typeface="Calibri"/>
                <a:cs typeface="Calibri"/>
              </a:rPr>
              <a:t>Transformer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Decoder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35040" y="360282"/>
            <a:ext cx="3943985" cy="6146165"/>
            <a:chOff x="6035040" y="360282"/>
            <a:chExt cx="3943985" cy="61461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1746" y="360282"/>
              <a:ext cx="3537054" cy="61458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5040" y="4160520"/>
              <a:ext cx="1714500" cy="1376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86729" y="4274820"/>
              <a:ext cx="1532255" cy="1195070"/>
            </a:xfrm>
            <a:custGeom>
              <a:avLst/>
              <a:gdLst/>
              <a:ahLst/>
              <a:cxnLst/>
              <a:rect l="l" t="t" r="r" b="b"/>
              <a:pathLst>
                <a:path w="1532254" h="1195070">
                  <a:moveTo>
                    <a:pt x="1463827" y="36735"/>
                  </a:moveTo>
                  <a:lnTo>
                    <a:pt x="0" y="1174622"/>
                  </a:lnTo>
                  <a:lnTo>
                    <a:pt x="15494" y="1194688"/>
                  </a:lnTo>
                  <a:lnTo>
                    <a:pt x="1479386" y="56722"/>
                  </a:lnTo>
                  <a:lnTo>
                    <a:pt x="1463827" y="36735"/>
                  </a:lnTo>
                  <a:close/>
                </a:path>
                <a:path w="1532254" h="1195070">
                  <a:moveTo>
                    <a:pt x="1517915" y="28955"/>
                  </a:moveTo>
                  <a:lnTo>
                    <a:pt x="1473835" y="28955"/>
                  </a:lnTo>
                  <a:lnTo>
                    <a:pt x="1489455" y="48894"/>
                  </a:lnTo>
                  <a:lnTo>
                    <a:pt x="1479386" y="56722"/>
                  </a:lnTo>
                  <a:lnTo>
                    <a:pt x="1495044" y="76834"/>
                  </a:lnTo>
                  <a:lnTo>
                    <a:pt x="1517915" y="28955"/>
                  </a:lnTo>
                  <a:close/>
                </a:path>
                <a:path w="1532254" h="1195070">
                  <a:moveTo>
                    <a:pt x="1473835" y="28955"/>
                  </a:moveTo>
                  <a:lnTo>
                    <a:pt x="1463827" y="36735"/>
                  </a:lnTo>
                  <a:lnTo>
                    <a:pt x="1479386" y="56722"/>
                  </a:lnTo>
                  <a:lnTo>
                    <a:pt x="1489455" y="48894"/>
                  </a:lnTo>
                  <a:lnTo>
                    <a:pt x="1473835" y="28955"/>
                  </a:lnTo>
                  <a:close/>
                </a:path>
                <a:path w="1532254" h="1195070">
                  <a:moveTo>
                    <a:pt x="1531747" y="0"/>
                  </a:moveTo>
                  <a:lnTo>
                    <a:pt x="1448180" y="16636"/>
                  </a:lnTo>
                  <a:lnTo>
                    <a:pt x="1463827" y="36735"/>
                  </a:lnTo>
                  <a:lnTo>
                    <a:pt x="1473835" y="28955"/>
                  </a:lnTo>
                  <a:lnTo>
                    <a:pt x="1517915" y="28955"/>
                  </a:lnTo>
                  <a:lnTo>
                    <a:pt x="15317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90256" y="1162748"/>
            <a:ext cx="5012690" cy="4789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51915" indent="-343535">
              <a:lnSpc>
                <a:spcPct val="100099"/>
              </a:lnSpc>
              <a:spcBef>
                <a:spcPts val="10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Decoder </a:t>
            </a:r>
            <a:r>
              <a:rPr sz="2300" dirty="0">
                <a:latin typeface="Calibri"/>
                <a:cs typeface="Calibri"/>
              </a:rPr>
              <a:t>constrains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unidirectional </a:t>
            </a:r>
            <a:r>
              <a:rPr sz="2300" b="1" dirty="0">
                <a:latin typeface="Calibri"/>
                <a:cs typeface="Calibri"/>
              </a:rPr>
              <a:t>context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language models.</a:t>
            </a:r>
            <a:endParaRPr sz="2300">
              <a:latin typeface="Calibri"/>
              <a:cs typeface="Calibri"/>
            </a:endParaRPr>
          </a:p>
          <a:p>
            <a:pPr marL="355600" marR="1081405" indent="-343535" algn="just">
              <a:lnSpc>
                <a:spcPct val="100600"/>
              </a:lnSpc>
              <a:spcBef>
                <a:spcPts val="54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What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want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bidirectional </a:t>
            </a:r>
            <a:r>
              <a:rPr sz="2300" b="1" dirty="0">
                <a:latin typeface="Calibri"/>
                <a:cs typeface="Calibri"/>
              </a:rPr>
              <a:t>context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like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 bidirectional </a:t>
            </a:r>
            <a:r>
              <a:rPr sz="2300" spc="-20" dirty="0">
                <a:latin typeface="Calibri"/>
                <a:cs typeface="Calibri"/>
              </a:rPr>
              <a:t>RNN?</a:t>
            </a:r>
            <a:endParaRPr sz="2300">
              <a:latin typeface="Calibri"/>
              <a:cs typeface="Calibri"/>
            </a:endParaRPr>
          </a:p>
          <a:p>
            <a:pPr marL="355600" marR="990600" indent="-343535">
              <a:lnSpc>
                <a:spcPct val="100099"/>
              </a:lnSpc>
              <a:spcBef>
                <a:spcPts val="55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This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Transformer </a:t>
            </a:r>
            <a:r>
              <a:rPr sz="2300" dirty="0">
                <a:latin typeface="Calibri"/>
                <a:cs typeface="Calibri"/>
              </a:rPr>
              <a:t>Encoder.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only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difference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is </a:t>
            </a:r>
            <a:r>
              <a:rPr sz="2300" dirty="0">
                <a:latin typeface="Calibri"/>
                <a:cs typeface="Calibri"/>
              </a:rPr>
              <a:t>that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remove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the</a:t>
            </a:r>
            <a:r>
              <a:rPr sz="2300" b="1" spc="-3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masking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self-</a:t>
            </a:r>
            <a:r>
              <a:rPr sz="2300" spc="-10" dirty="0">
                <a:latin typeface="Calibri"/>
                <a:cs typeface="Calibri"/>
              </a:rPr>
              <a:t>attention.</a:t>
            </a:r>
            <a:endParaRPr sz="2300">
              <a:latin typeface="Calibri"/>
              <a:cs typeface="Calibri"/>
            </a:endParaRPr>
          </a:p>
          <a:p>
            <a:pPr marL="2997835">
              <a:lnSpc>
                <a:spcPct val="100000"/>
              </a:lnSpc>
              <a:spcBef>
                <a:spcPts val="2370"/>
              </a:spcBef>
            </a:pPr>
            <a:r>
              <a:rPr sz="3000" b="1" dirty="0">
                <a:latin typeface="Calibri"/>
                <a:cs typeface="Calibri"/>
              </a:rPr>
              <a:t>No</a:t>
            </a:r>
            <a:r>
              <a:rPr sz="3000" b="1" spc="-5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Masking!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Diagram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5566" y="74516"/>
            <a:ext cx="5531149" cy="661587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The</a:t>
            </a:r>
            <a:r>
              <a:rPr spc="130" dirty="0"/>
              <a:t> </a:t>
            </a:r>
            <a:r>
              <a:rPr dirty="0"/>
              <a:t>Transformer</a:t>
            </a:r>
            <a:r>
              <a:rPr spc="185" dirty="0"/>
              <a:t> </a:t>
            </a:r>
            <a:r>
              <a:rPr dirty="0"/>
              <a:t>Encoder-</a:t>
            </a:r>
            <a:r>
              <a:rPr spc="-10" dirty="0"/>
              <a:t>Decoder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95" y="6509804"/>
            <a:ext cx="20827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Calibri"/>
                <a:cs typeface="Calibri"/>
              </a:rPr>
              <a:t>43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0256" y="1162748"/>
            <a:ext cx="4060190" cy="5504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80340" indent="-343535">
              <a:lnSpc>
                <a:spcPct val="100299"/>
              </a:lnSpc>
              <a:spcBef>
                <a:spcPts val="9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lang="en-US" sz="2300" dirty="0">
                <a:latin typeface="Calibri"/>
                <a:cs typeface="Calibri"/>
              </a:rPr>
              <a:t>I</a:t>
            </a:r>
            <a:r>
              <a:rPr sz="2300" dirty="0">
                <a:latin typeface="Calibri"/>
                <a:cs typeface="Calibri"/>
              </a:rPr>
              <a:t>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machine </a:t>
            </a:r>
            <a:r>
              <a:rPr sz="2300" dirty="0">
                <a:latin typeface="Calibri"/>
                <a:cs typeface="Calibri"/>
              </a:rPr>
              <a:t>translation,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processed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 </a:t>
            </a:r>
            <a:r>
              <a:rPr sz="2300" dirty="0">
                <a:latin typeface="Calibri"/>
                <a:cs typeface="Calibri"/>
              </a:rPr>
              <a:t>source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sentence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a </a:t>
            </a:r>
            <a:r>
              <a:rPr sz="2300" b="1" dirty="0">
                <a:latin typeface="Calibri"/>
                <a:cs typeface="Calibri"/>
              </a:rPr>
              <a:t>bidirectional</a:t>
            </a:r>
            <a:r>
              <a:rPr sz="2300" b="1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 </a:t>
            </a:r>
            <a:r>
              <a:rPr sz="2300" dirty="0">
                <a:latin typeface="Calibri"/>
                <a:cs typeface="Calibri"/>
              </a:rPr>
              <a:t>generated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target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a </a:t>
            </a:r>
            <a:r>
              <a:rPr sz="2300" b="1" dirty="0">
                <a:latin typeface="Calibri"/>
                <a:cs typeface="Calibri"/>
              </a:rPr>
              <a:t>unidirectional</a:t>
            </a:r>
            <a:r>
              <a:rPr sz="2300" b="1" spc="-114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model</a:t>
            </a:r>
            <a:r>
              <a:rPr sz="2300" spc="-10" dirty="0">
                <a:latin typeface="Calibri"/>
                <a:cs typeface="Calibri"/>
              </a:rPr>
              <a:t>.</a:t>
            </a:r>
            <a:endParaRPr sz="2300" dirty="0">
              <a:latin typeface="Calibri"/>
              <a:cs typeface="Calibri"/>
            </a:endParaRPr>
          </a:p>
          <a:p>
            <a:pPr marL="355600" marR="5080" indent="-343535">
              <a:lnSpc>
                <a:spcPct val="99300"/>
              </a:lnSpc>
              <a:spcBef>
                <a:spcPts val="58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For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kind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seq2seq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format,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often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a </a:t>
            </a: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Encoder-Decoder.</a:t>
            </a:r>
            <a:endParaRPr sz="23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We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normal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Transformer</a:t>
            </a:r>
            <a:endParaRPr sz="23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300" spc="-10" dirty="0">
                <a:latin typeface="Calibri"/>
                <a:cs typeface="Calibri"/>
              </a:rPr>
              <a:t>Encoder.</a:t>
            </a:r>
            <a:endParaRPr sz="2300" dirty="0">
              <a:latin typeface="Calibri"/>
              <a:cs typeface="Calibri"/>
            </a:endParaRPr>
          </a:p>
          <a:p>
            <a:pPr marL="355600" marR="124460" indent="-343535">
              <a:lnSpc>
                <a:spcPct val="100099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Our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Decoder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is </a:t>
            </a:r>
            <a:r>
              <a:rPr sz="2300" dirty="0">
                <a:latin typeface="Calibri"/>
                <a:cs typeface="Calibri"/>
              </a:rPr>
              <a:t>modified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perform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cross-</a:t>
            </a:r>
            <a:r>
              <a:rPr sz="2300" b="1" dirty="0">
                <a:latin typeface="Calibri"/>
                <a:cs typeface="Calibri"/>
              </a:rPr>
              <a:t>attention</a:t>
            </a:r>
            <a:r>
              <a:rPr sz="2300" b="1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 </a:t>
            </a:r>
            <a:r>
              <a:rPr sz="2300" spc="-10" dirty="0">
                <a:latin typeface="Calibri"/>
                <a:cs typeface="Calibri"/>
              </a:rPr>
              <a:t>Encoder.</a:t>
            </a:r>
            <a:endParaRPr sz="2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433768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Cross-attention</a:t>
            </a:r>
            <a:r>
              <a:rPr sz="3350" spc="60" dirty="0"/>
              <a:t> </a:t>
            </a:r>
            <a:r>
              <a:rPr sz="3350" spc="-10" dirty="0"/>
              <a:t>(details)</a:t>
            </a:r>
            <a:endParaRPr sz="335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039456" y="1162748"/>
            <a:ext cx="5339715" cy="22868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0" marR="109220" indent="-343535" algn="just">
              <a:lnSpc>
                <a:spcPct val="100600"/>
              </a:lnSpc>
              <a:spcBef>
                <a:spcPts val="90"/>
              </a:spcBef>
              <a:buClr>
                <a:srgbClr val="8B1515"/>
              </a:buClr>
              <a:buFont typeface="Times New Roman"/>
              <a:buChar char="•"/>
              <a:tabLst>
                <a:tab pos="406400" algn="l"/>
              </a:tabLst>
            </a:pPr>
            <a:r>
              <a:rPr dirty="0"/>
              <a:t>We</a:t>
            </a:r>
            <a:r>
              <a:rPr spc="5" dirty="0"/>
              <a:t> </a:t>
            </a:r>
            <a:r>
              <a:rPr dirty="0"/>
              <a:t>saw</a:t>
            </a:r>
            <a:r>
              <a:rPr spc="-5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spc="-10" dirty="0"/>
              <a:t>self-</a:t>
            </a:r>
            <a:r>
              <a:rPr dirty="0"/>
              <a:t>attention</a:t>
            </a:r>
            <a:r>
              <a:rPr spc="-5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when</a:t>
            </a:r>
            <a:r>
              <a:rPr spc="15" dirty="0"/>
              <a:t> </a:t>
            </a:r>
            <a:r>
              <a:rPr spc="-10" dirty="0"/>
              <a:t>keys, </a:t>
            </a:r>
            <a:r>
              <a:rPr dirty="0"/>
              <a:t>queries,</a:t>
            </a:r>
            <a:r>
              <a:rPr spc="-5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values</a:t>
            </a:r>
            <a:r>
              <a:rPr spc="-15" dirty="0"/>
              <a:t> </a:t>
            </a:r>
            <a:r>
              <a:rPr dirty="0"/>
              <a:t>come</a:t>
            </a:r>
            <a:r>
              <a:rPr spc="-45" dirty="0"/>
              <a:t> </a:t>
            </a: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20" dirty="0"/>
              <a:t>same </a:t>
            </a:r>
            <a:r>
              <a:rPr spc="-10" dirty="0"/>
              <a:t>source</a:t>
            </a:r>
            <a:r>
              <a:rPr lang="en-US" spc="-10" dirty="0"/>
              <a:t> (shown in decoder)</a:t>
            </a:r>
            <a:endParaRPr spc="-10" dirty="0"/>
          </a:p>
          <a:p>
            <a:pPr marL="406400" indent="-342900" algn="just">
              <a:lnSpc>
                <a:spcPct val="100000"/>
              </a:lnSpc>
              <a:spcBef>
                <a:spcPts val="465"/>
              </a:spcBef>
              <a:buClr>
                <a:srgbClr val="8B1515"/>
              </a:buClr>
              <a:buFont typeface="Times New Roman"/>
              <a:buChar char="•"/>
              <a:tabLst>
                <a:tab pos="406400" algn="l"/>
              </a:tabLst>
            </a:pPr>
            <a:endParaRPr lang="en-US" dirty="0"/>
          </a:p>
          <a:p>
            <a:pPr marL="406400" indent="-342900" algn="just">
              <a:lnSpc>
                <a:spcPct val="100000"/>
              </a:lnSpc>
              <a:spcBef>
                <a:spcPts val="465"/>
              </a:spcBef>
              <a:buClr>
                <a:srgbClr val="8B1515"/>
              </a:buClr>
              <a:buFont typeface="Times New Roman"/>
              <a:buChar char="•"/>
              <a:tabLst>
                <a:tab pos="406400" algn="l"/>
              </a:tabLst>
            </a:pPr>
            <a:r>
              <a:rPr dirty="0"/>
              <a:t>Let</a:t>
            </a:r>
            <a:r>
              <a:rPr spc="30" dirty="0"/>
              <a:t> </a:t>
            </a:r>
            <a:r>
              <a:rPr dirty="0">
                <a:latin typeface="Cambria Math"/>
                <a:cs typeface="Cambria Math"/>
              </a:rPr>
              <a:t>ℎ</a:t>
            </a:r>
            <a:r>
              <a:rPr sz="2475" baseline="-15151" dirty="0">
                <a:latin typeface="Cambria Math"/>
                <a:cs typeface="Cambria Math"/>
              </a:rPr>
              <a:t>1</a:t>
            </a:r>
            <a:r>
              <a:rPr sz="2300" dirty="0">
                <a:latin typeface="Cambria Math"/>
                <a:cs typeface="Cambria Math"/>
              </a:rPr>
              <a:t>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…</a:t>
            </a:r>
            <a:r>
              <a:rPr sz="2300" spc="-13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spc="55" dirty="0">
                <a:latin typeface="Cambria Math"/>
                <a:cs typeface="Cambria Math"/>
              </a:rPr>
              <a:t>ℎ</a:t>
            </a:r>
            <a:r>
              <a:rPr sz="2475" spc="82" baseline="-15151" dirty="0">
                <a:latin typeface="Cambria Math"/>
                <a:cs typeface="Cambria Math"/>
              </a:rPr>
              <a:t>𝑛</a:t>
            </a:r>
            <a:r>
              <a:rPr sz="2475" spc="434" baseline="-15151" dirty="0">
                <a:latin typeface="Cambria Math"/>
                <a:cs typeface="Cambria Math"/>
              </a:rPr>
              <a:t> </a:t>
            </a:r>
            <a:r>
              <a:rPr sz="2300" dirty="0"/>
              <a:t>be</a:t>
            </a:r>
            <a:r>
              <a:rPr sz="2300" spc="-10" dirty="0"/>
              <a:t> </a:t>
            </a:r>
            <a:r>
              <a:rPr sz="2300" b="1" dirty="0">
                <a:latin typeface="Calibri"/>
                <a:cs typeface="Calibri"/>
              </a:rPr>
              <a:t>output </a:t>
            </a:r>
            <a:r>
              <a:rPr sz="2300" dirty="0"/>
              <a:t>vectors</a:t>
            </a:r>
            <a:r>
              <a:rPr sz="2300" spc="-10" dirty="0"/>
              <a:t> </a:t>
            </a:r>
            <a:r>
              <a:rPr sz="2300" b="1" dirty="0">
                <a:latin typeface="Calibri"/>
                <a:cs typeface="Calibri"/>
              </a:rPr>
              <a:t>from</a:t>
            </a:r>
            <a:r>
              <a:rPr sz="2300" b="1" spc="-25" dirty="0">
                <a:latin typeface="Calibri"/>
                <a:cs typeface="Calibri"/>
              </a:rPr>
              <a:t> </a:t>
            </a:r>
            <a:r>
              <a:rPr sz="2300" spc="-25" dirty="0"/>
              <a:t>the</a:t>
            </a:r>
            <a:endParaRPr sz="2300" dirty="0">
              <a:latin typeface="Calibri"/>
              <a:cs typeface="Calibri"/>
            </a:endParaRPr>
          </a:p>
          <a:p>
            <a:pPr marL="406400" algn="just">
              <a:lnSpc>
                <a:spcPct val="100000"/>
              </a:lnSpc>
              <a:spcBef>
                <a:spcPts val="50"/>
              </a:spcBef>
            </a:pPr>
            <a:r>
              <a:rPr dirty="0"/>
              <a:t>Transformer</a:t>
            </a:r>
            <a:r>
              <a:rPr spc="-25" dirty="0"/>
              <a:t> </a:t>
            </a:r>
            <a:r>
              <a:rPr b="1" dirty="0">
                <a:latin typeface="Calibri"/>
                <a:cs typeface="Calibri"/>
              </a:rPr>
              <a:t>encoder</a:t>
            </a:r>
            <a:r>
              <a:rPr dirty="0"/>
              <a:t>;</a:t>
            </a:r>
            <a:r>
              <a:rPr spc="515" dirty="0"/>
              <a:t> </a:t>
            </a:r>
            <a:r>
              <a:rPr dirty="0">
                <a:latin typeface="Cambria Math"/>
                <a:cs typeface="Cambria Math"/>
              </a:rPr>
              <a:t>𝑥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622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20" dirty="0">
                <a:latin typeface="Cambria Math"/>
                <a:cs typeface="Cambria Math"/>
              </a:rPr>
              <a:t> </a:t>
            </a:r>
            <a:r>
              <a:rPr sz="2300" spc="-25" dirty="0">
                <a:latin typeface="Cambria Math"/>
                <a:cs typeface="Cambria Math"/>
              </a:rPr>
              <a:t>ℝ</a:t>
            </a:r>
            <a:r>
              <a:rPr sz="2475" spc="-37" baseline="28619" dirty="0">
                <a:latin typeface="Cambria Math"/>
                <a:cs typeface="Cambria Math"/>
              </a:rPr>
              <a:t>𝑑</a:t>
            </a:r>
            <a:endParaRPr sz="2475" baseline="28619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4916" y="3978783"/>
            <a:ext cx="918844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8985" algn="l"/>
              </a:tabLst>
            </a:pPr>
            <a:r>
              <a:rPr sz="1650" spc="-50" dirty="0">
                <a:latin typeface="Cambria Math"/>
                <a:cs typeface="Cambria Math"/>
              </a:rPr>
              <a:t>1</a:t>
            </a:r>
            <a:r>
              <a:rPr sz="1650" dirty="0">
                <a:latin typeface="Cambria Math"/>
                <a:cs typeface="Cambria Math"/>
              </a:rPr>
              <a:t>	</a:t>
            </a:r>
            <a:r>
              <a:rPr sz="1650" spc="70" dirty="0">
                <a:latin typeface="Cambria Math"/>
                <a:cs typeface="Cambria Math"/>
              </a:rPr>
              <a:t>𝑛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0256" y="3836352"/>
            <a:ext cx="493966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  <a:tab pos="1894205" algn="l"/>
              </a:tabLst>
            </a:pPr>
            <a:r>
              <a:rPr sz="2300" dirty="0">
                <a:latin typeface="Calibri"/>
                <a:cs typeface="Calibri"/>
              </a:rPr>
              <a:t>Let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𝑧</a:t>
            </a:r>
            <a:r>
              <a:rPr sz="2300" spc="44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…</a:t>
            </a:r>
            <a:r>
              <a:rPr sz="2300" spc="-135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𝑧</a:t>
            </a:r>
            <a:r>
              <a:rPr sz="2300" dirty="0">
                <a:latin typeface="Cambria Math"/>
                <a:cs typeface="Cambria Math"/>
              </a:rPr>
              <a:t>	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input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vectors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2156" y="4124374"/>
            <a:ext cx="5362575" cy="241490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650"/>
              </a:spcBef>
            </a:pPr>
            <a:r>
              <a:rPr sz="2300" dirty="0">
                <a:latin typeface="Calibri"/>
                <a:cs typeface="Calibri"/>
              </a:rPr>
              <a:t>Transformer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decoder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𝑧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592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∈</a:t>
            </a:r>
            <a:r>
              <a:rPr sz="2300" spc="100" dirty="0">
                <a:latin typeface="Cambria Math"/>
                <a:cs typeface="Cambria Math"/>
              </a:rPr>
              <a:t> </a:t>
            </a:r>
            <a:r>
              <a:rPr sz="2300" spc="-35" dirty="0">
                <a:latin typeface="Cambria Math"/>
                <a:cs typeface="Cambria Math"/>
              </a:rPr>
              <a:t>ℝ</a:t>
            </a:r>
            <a:r>
              <a:rPr sz="2475" spc="-52" baseline="28619" dirty="0">
                <a:latin typeface="Cambria Math"/>
                <a:cs typeface="Cambria Math"/>
              </a:rPr>
              <a:t>𝑑</a:t>
            </a:r>
            <a:endParaRPr sz="2475" baseline="28619">
              <a:latin typeface="Cambria Math"/>
              <a:cs typeface="Cambria Math"/>
            </a:endParaRPr>
          </a:p>
          <a:p>
            <a:pPr marL="393700" indent="-342900">
              <a:lnSpc>
                <a:spcPts val="275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Then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keys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drawn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  <a:p>
            <a:pPr marL="393700">
              <a:lnSpc>
                <a:spcPts val="2750"/>
              </a:lnSpc>
            </a:pPr>
            <a:r>
              <a:rPr sz="2300" b="1" dirty="0">
                <a:latin typeface="Calibri"/>
                <a:cs typeface="Calibri"/>
              </a:rPr>
              <a:t>encoder</a:t>
            </a:r>
            <a:r>
              <a:rPr sz="2300" b="1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(like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 </a:t>
            </a:r>
            <a:r>
              <a:rPr sz="2300" spc="-10" dirty="0">
                <a:latin typeface="Calibri"/>
                <a:cs typeface="Calibri"/>
              </a:rPr>
              <a:t>memory):</a:t>
            </a:r>
            <a:endParaRPr sz="2300">
              <a:latin typeface="Calibri"/>
              <a:cs typeface="Calibri"/>
            </a:endParaRPr>
          </a:p>
          <a:p>
            <a:pPr marL="7366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736600" algn="l"/>
              </a:tabLst>
            </a:pPr>
            <a:r>
              <a:rPr sz="2300" dirty="0">
                <a:latin typeface="Cambria Math"/>
                <a:cs typeface="Cambria Math"/>
              </a:rPr>
              <a:t>𝑘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667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30" dirty="0">
                <a:latin typeface="Cambria Math"/>
                <a:cs typeface="Cambria Math"/>
              </a:rPr>
              <a:t> </a:t>
            </a:r>
            <a:r>
              <a:rPr sz="2300" spc="65" dirty="0">
                <a:latin typeface="Cambria Math"/>
                <a:cs typeface="Cambria Math"/>
              </a:rPr>
              <a:t>𝐾ℎ</a:t>
            </a:r>
            <a:r>
              <a:rPr sz="2475" spc="97" baseline="-15151" dirty="0">
                <a:latin typeface="Cambria Math"/>
                <a:cs typeface="Cambria Math"/>
              </a:rPr>
              <a:t>𝑖</a:t>
            </a:r>
            <a:r>
              <a:rPr sz="2300" spc="65" dirty="0">
                <a:latin typeface="Calibri"/>
                <a:cs typeface="Calibri"/>
              </a:rPr>
              <a:t>,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𝑣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667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30" dirty="0">
                <a:latin typeface="Cambria Math"/>
                <a:cs typeface="Cambria Math"/>
              </a:rPr>
              <a:t> </a:t>
            </a:r>
            <a:r>
              <a:rPr sz="2300" spc="45" dirty="0">
                <a:latin typeface="Cambria Math"/>
                <a:cs typeface="Cambria Math"/>
              </a:rPr>
              <a:t>𝑉ℎ</a:t>
            </a:r>
            <a:r>
              <a:rPr sz="2475" spc="67" baseline="-15151" dirty="0">
                <a:latin typeface="Cambria Math"/>
                <a:cs typeface="Cambria Math"/>
              </a:rPr>
              <a:t>𝑖</a:t>
            </a:r>
            <a:r>
              <a:rPr sz="2300" spc="45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93700" algn="l"/>
              </a:tabLst>
            </a:pPr>
            <a:r>
              <a:rPr sz="2300" dirty="0">
                <a:latin typeface="Calibri"/>
                <a:cs typeface="Calibri"/>
              </a:rPr>
              <a:t>And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queries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drawn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55"/>
              </a:spcBef>
            </a:pPr>
            <a:r>
              <a:rPr sz="2300" b="1" dirty="0">
                <a:latin typeface="Calibri"/>
                <a:cs typeface="Calibri"/>
              </a:rPr>
              <a:t>decoder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𝑞</a:t>
            </a:r>
            <a:r>
              <a:rPr sz="2475" baseline="-15151" dirty="0">
                <a:latin typeface="Cambria Math"/>
                <a:cs typeface="Cambria Math"/>
              </a:rPr>
              <a:t>𝑖</a:t>
            </a:r>
            <a:r>
              <a:rPr sz="2475" spc="615" baseline="-15151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05" dirty="0">
                <a:latin typeface="Cambria Math"/>
                <a:cs typeface="Cambria Math"/>
              </a:rPr>
              <a:t> </a:t>
            </a:r>
            <a:r>
              <a:rPr sz="2300" spc="30" dirty="0">
                <a:latin typeface="Cambria Math"/>
                <a:cs typeface="Cambria Math"/>
              </a:rPr>
              <a:t>𝑄𝑧</a:t>
            </a:r>
            <a:r>
              <a:rPr sz="2475" spc="44" baseline="-15151" dirty="0">
                <a:latin typeface="Cambria Math"/>
                <a:cs typeface="Cambria Math"/>
              </a:rPr>
              <a:t>𝑖</a:t>
            </a:r>
            <a:r>
              <a:rPr sz="2300" spc="3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495" y="6509804"/>
            <a:ext cx="20827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Calibri"/>
                <a:cs typeface="Calibri"/>
              </a:rPr>
              <a:t>44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0" name="object 10" descr="Diagram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3361" y="562930"/>
            <a:ext cx="5137939" cy="613952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056119" y="2066734"/>
            <a:ext cx="1575435" cy="5086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150" dirty="0">
                <a:latin typeface="Cambria Math"/>
                <a:cs typeface="Cambria Math"/>
              </a:rPr>
              <a:t>ℎ</a:t>
            </a:r>
            <a:r>
              <a:rPr sz="3450" baseline="-15700" dirty="0">
                <a:latin typeface="Cambria Math"/>
                <a:cs typeface="Cambria Math"/>
              </a:rPr>
              <a:t>1</a:t>
            </a:r>
            <a:r>
              <a:rPr sz="3150" dirty="0">
                <a:latin typeface="Cambria Math"/>
                <a:cs typeface="Cambria Math"/>
              </a:rPr>
              <a:t>,</a:t>
            </a:r>
            <a:r>
              <a:rPr sz="3150" spc="-105" dirty="0">
                <a:latin typeface="Cambria Math"/>
                <a:cs typeface="Cambria Math"/>
              </a:rPr>
              <a:t> </a:t>
            </a:r>
            <a:r>
              <a:rPr sz="3150" dirty="0">
                <a:latin typeface="Cambria Math"/>
                <a:cs typeface="Cambria Math"/>
              </a:rPr>
              <a:t>…</a:t>
            </a:r>
            <a:r>
              <a:rPr sz="3150" spc="-85" dirty="0">
                <a:latin typeface="Cambria Math"/>
                <a:cs typeface="Cambria Math"/>
              </a:rPr>
              <a:t> </a:t>
            </a:r>
            <a:r>
              <a:rPr sz="3150" dirty="0">
                <a:latin typeface="Cambria Math"/>
                <a:cs typeface="Cambria Math"/>
              </a:rPr>
              <a:t>,</a:t>
            </a:r>
            <a:r>
              <a:rPr sz="3150" spc="-100" dirty="0">
                <a:latin typeface="Cambria Math"/>
                <a:cs typeface="Cambria Math"/>
              </a:rPr>
              <a:t> </a:t>
            </a:r>
            <a:r>
              <a:rPr sz="3150" spc="65" dirty="0">
                <a:latin typeface="Cambria Math"/>
                <a:cs typeface="Cambria Math"/>
              </a:rPr>
              <a:t>ℎ</a:t>
            </a:r>
            <a:r>
              <a:rPr sz="3450" spc="97" baseline="-15700" dirty="0">
                <a:latin typeface="Cambria Math"/>
                <a:cs typeface="Cambria Math"/>
              </a:rPr>
              <a:t>𝑛</a:t>
            </a:r>
            <a:endParaRPr sz="3450" baseline="-157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88552" y="0"/>
            <a:ext cx="3045460" cy="2816860"/>
          </a:xfrm>
          <a:custGeom>
            <a:avLst/>
            <a:gdLst/>
            <a:ahLst/>
            <a:cxnLst/>
            <a:rect l="l" t="t" r="r" b="b"/>
            <a:pathLst>
              <a:path w="3045459" h="2816860">
                <a:moveTo>
                  <a:pt x="3044952" y="0"/>
                </a:moveTo>
                <a:lnTo>
                  <a:pt x="0" y="0"/>
                </a:lnTo>
                <a:lnTo>
                  <a:pt x="0" y="2816352"/>
                </a:lnTo>
                <a:lnTo>
                  <a:pt x="3044952" y="2816352"/>
                </a:lnTo>
                <a:lnTo>
                  <a:pt x="3044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041760" y="3651821"/>
            <a:ext cx="18478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5" dirty="0">
                <a:latin typeface="Cambria Math"/>
                <a:cs typeface="Cambria Math"/>
              </a:rPr>
              <a:t>1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75644" y="3464242"/>
            <a:ext cx="1186180" cy="487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965" algn="l"/>
              </a:tabLst>
            </a:pPr>
            <a:r>
              <a:rPr sz="3000" spc="-50" dirty="0">
                <a:latin typeface="Cambria Math"/>
                <a:cs typeface="Cambria Math"/>
              </a:rPr>
              <a:t>𝑧</a:t>
            </a:r>
            <a:r>
              <a:rPr sz="3000" dirty="0">
                <a:latin typeface="Cambria Math"/>
                <a:cs typeface="Cambria Math"/>
              </a:rPr>
              <a:t>	,</a:t>
            </a:r>
            <a:r>
              <a:rPr sz="3000" spc="-160" dirty="0">
                <a:latin typeface="Cambria Math"/>
                <a:cs typeface="Cambria Math"/>
              </a:rPr>
              <a:t> </a:t>
            </a:r>
            <a:r>
              <a:rPr sz="3000" dirty="0">
                <a:latin typeface="Cambria Math"/>
                <a:cs typeface="Cambria Math"/>
              </a:rPr>
              <a:t>…</a:t>
            </a:r>
            <a:r>
              <a:rPr sz="3000" spc="-175" dirty="0">
                <a:latin typeface="Cambria Math"/>
                <a:cs typeface="Cambria Math"/>
              </a:rPr>
              <a:t> </a:t>
            </a:r>
            <a:r>
              <a:rPr sz="3000" dirty="0">
                <a:latin typeface="Cambria Math"/>
                <a:cs typeface="Cambria Math"/>
              </a:rPr>
              <a:t>,</a:t>
            </a:r>
            <a:r>
              <a:rPr sz="3000" spc="-160" dirty="0">
                <a:latin typeface="Cambria Math"/>
                <a:cs typeface="Cambria Math"/>
              </a:rPr>
              <a:t> </a:t>
            </a:r>
            <a:r>
              <a:rPr sz="3000" spc="-50" dirty="0">
                <a:latin typeface="Cambria Math"/>
                <a:cs typeface="Cambria Math"/>
              </a:rPr>
              <a:t>𝑧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025248" y="3651821"/>
            <a:ext cx="20383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110" dirty="0">
                <a:latin typeface="Cambria Math"/>
                <a:cs typeface="Cambria Math"/>
              </a:rPr>
              <a:t>𝑛</a:t>
            </a:r>
            <a:endParaRPr sz="21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621792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6.</a:t>
            </a:r>
            <a:r>
              <a:rPr sz="3350" spc="5" dirty="0"/>
              <a:t> </a:t>
            </a:r>
            <a:r>
              <a:rPr sz="3350" dirty="0"/>
              <a:t>Great</a:t>
            </a:r>
            <a:r>
              <a:rPr sz="3350" spc="20" dirty="0"/>
              <a:t> </a:t>
            </a:r>
            <a:r>
              <a:rPr sz="3350" dirty="0"/>
              <a:t>Results</a:t>
            </a:r>
            <a:r>
              <a:rPr sz="3350" spc="-15" dirty="0"/>
              <a:t> </a:t>
            </a:r>
            <a:r>
              <a:rPr sz="3350" dirty="0"/>
              <a:t>with</a:t>
            </a:r>
            <a:r>
              <a:rPr sz="3350" spc="-45" dirty="0"/>
              <a:t> </a:t>
            </a:r>
            <a:r>
              <a:rPr sz="3350" spc="-10" dirty="0"/>
              <a:t>Transformers</a:t>
            </a:r>
            <a:endParaRPr sz="3350"/>
          </a:p>
        </p:txBody>
      </p:sp>
      <p:pic>
        <p:nvPicPr>
          <p:cNvPr id="3" name="object 3" descr="Graphical user interface, application, Teams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211" y="1618424"/>
            <a:ext cx="8682713" cy="37109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80728" y="6357200"/>
            <a:ext cx="255905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20" dirty="0">
                <a:latin typeface="Calibri"/>
                <a:cs typeface="Calibri"/>
              </a:rPr>
              <a:t>[Vaswani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al.,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2017]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5167" y="5703090"/>
            <a:ext cx="6689725" cy="64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0"/>
              </a:lnSpc>
              <a:tabLst>
                <a:tab pos="4128135" algn="l"/>
              </a:tabLst>
            </a:pPr>
            <a:r>
              <a:rPr sz="2300" dirty="0">
                <a:latin typeface="Calibri"/>
                <a:cs typeface="Calibri"/>
              </a:rPr>
              <a:t>Not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just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better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Machine</a:t>
            </a:r>
            <a:r>
              <a:rPr sz="2300" dirty="0">
                <a:latin typeface="Calibri"/>
                <a:cs typeface="Calibri"/>
              </a:rPr>
              <a:t>	Also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more </a:t>
            </a:r>
            <a:r>
              <a:rPr sz="2300" spc="-10" dirty="0">
                <a:latin typeface="Calibri"/>
                <a:cs typeface="Calibri"/>
              </a:rPr>
              <a:t>efficient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to</a:t>
            </a:r>
            <a:endParaRPr sz="2300">
              <a:latin typeface="Calibri"/>
              <a:cs typeface="Calibri"/>
            </a:endParaRPr>
          </a:p>
          <a:p>
            <a:pPr>
              <a:lnSpc>
                <a:spcPts val="2750"/>
              </a:lnSpc>
              <a:tabLst>
                <a:tab pos="4128135" algn="l"/>
              </a:tabLst>
            </a:pPr>
            <a:r>
              <a:rPr sz="2300" spc="-25" dirty="0">
                <a:latin typeface="Calibri"/>
                <a:cs typeface="Calibri"/>
              </a:rPr>
              <a:t>Translation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BLEU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scores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train!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495" y="976693"/>
            <a:ext cx="768540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First,</a:t>
            </a:r>
            <a:r>
              <a:rPr sz="2300" spc="-1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Machine</a:t>
            </a:r>
            <a:r>
              <a:rPr sz="2300" spc="-7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Translation</a:t>
            </a:r>
            <a:r>
              <a:rPr sz="2300" spc="-6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from</a:t>
            </a:r>
            <a:r>
              <a:rPr sz="2300" spc="-11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the</a:t>
            </a:r>
            <a:r>
              <a:rPr sz="2300" spc="-7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original</a:t>
            </a:r>
            <a:r>
              <a:rPr sz="2300" spc="-3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Transformers</a:t>
            </a:r>
            <a:r>
              <a:rPr sz="2300" spc="-40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8B1515"/>
                </a:solidFill>
                <a:latin typeface="Calibri"/>
                <a:cs typeface="Calibri"/>
              </a:rPr>
              <a:t>paper!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495" y="6427190"/>
            <a:ext cx="631571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latin typeface="Calibri"/>
                <a:cs typeface="Calibri"/>
              </a:rPr>
              <a:t>45</a:t>
            </a:r>
            <a:r>
              <a:rPr sz="1350" spc="445" dirty="0">
                <a:latin typeface="Calibri"/>
                <a:cs typeface="Calibri"/>
              </a:rPr>
              <a:t> </a:t>
            </a:r>
            <a:r>
              <a:rPr sz="3000" spc="-44" baseline="1388" dirty="0">
                <a:latin typeface="Calibri"/>
                <a:cs typeface="Calibri"/>
              </a:rPr>
              <a:t>[Test</a:t>
            </a:r>
            <a:r>
              <a:rPr sz="3000" spc="15" baseline="1388" dirty="0">
                <a:latin typeface="Calibri"/>
                <a:cs typeface="Calibri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sets:</a:t>
            </a:r>
            <a:r>
              <a:rPr sz="3000" spc="-97" baseline="1388" dirty="0">
                <a:latin typeface="Calibri"/>
                <a:cs typeface="Calibri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WMT 2014</a:t>
            </a:r>
            <a:r>
              <a:rPr sz="3000" spc="-75" baseline="1388" dirty="0">
                <a:latin typeface="Calibri"/>
                <a:cs typeface="Calibri"/>
              </a:rPr>
              <a:t> </a:t>
            </a:r>
            <a:r>
              <a:rPr sz="3000" spc="-15" baseline="1388" dirty="0">
                <a:latin typeface="Calibri"/>
                <a:cs typeface="Calibri"/>
              </a:rPr>
              <a:t>English-</a:t>
            </a:r>
            <a:r>
              <a:rPr sz="3000" baseline="1388" dirty="0">
                <a:latin typeface="Calibri"/>
                <a:cs typeface="Calibri"/>
              </a:rPr>
              <a:t>German</a:t>
            </a:r>
            <a:r>
              <a:rPr sz="3000" spc="-22" baseline="1388" dirty="0">
                <a:latin typeface="Calibri"/>
                <a:cs typeface="Calibri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and</a:t>
            </a:r>
            <a:r>
              <a:rPr sz="3000" spc="-120" baseline="1388" dirty="0">
                <a:latin typeface="Calibri"/>
                <a:cs typeface="Calibri"/>
              </a:rPr>
              <a:t> </a:t>
            </a:r>
            <a:r>
              <a:rPr sz="3000" baseline="1388" dirty="0">
                <a:latin typeface="Calibri"/>
                <a:cs typeface="Calibri"/>
              </a:rPr>
              <a:t>English-</a:t>
            </a:r>
            <a:r>
              <a:rPr sz="3000" spc="-15" baseline="1388" dirty="0">
                <a:latin typeface="Calibri"/>
                <a:cs typeface="Calibri"/>
              </a:rPr>
              <a:t>French]</a:t>
            </a:r>
            <a:endParaRPr sz="3000" baseline="1388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0161" y="4644897"/>
            <a:ext cx="10936605" cy="1811020"/>
            <a:chOff x="530161" y="4644897"/>
            <a:chExt cx="10936605" cy="1811020"/>
          </a:xfrm>
        </p:grpSpPr>
        <p:sp>
          <p:nvSpPr>
            <p:cNvPr id="9" name="object 9"/>
            <p:cNvSpPr/>
            <p:nvPr/>
          </p:nvSpPr>
          <p:spPr>
            <a:xfrm>
              <a:off x="534924" y="4649660"/>
              <a:ext cx="10899775" cy="1801495"/>
            </a:xfrm>
            <a:custGeom>
              <a:avLst/>
              <a:gdLst/>
              <a:ahLst/>
              <a:cxnLst/>
              <a:rect l="l" t="t" r="r" b="b"/>
              <a:pathLst>
                <a:path w="10899775" h="1801495">
                  <a:moveTo>
                    <a:pt x="10899648" y="0"/>
                  </a:moveTo>
                  <a:lnTo>
                    <a:pt x="0" y="0"/>
                  </a:lnTo>
                  <a:lnTo>
                    <a:pt x="0" y="1801367"/>
                  </a:lnTo>
                  <a:lnTo>
                    <a:pt x="10899648" y="1801367"/>
                  </a:lnTo>
                  <a:lnTo>
                    <a:pt x="10899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924" y="4649660"/>
              <a:ext cx="10899775" cy="1801495"/>
            </a:xfrm>
            <a:custGeom>
              <a:avLst/>
              <a:gdLst/>
              <a:ahLst/>
              <a:cxnLst/>
              <a:rect l="l" t="t" r="r" b="b"/>
              <a:pathLst>
                <a:path w="10899775" h="1801495">
                  <a:moveTo>
                    <a:pt x="0" y="1801367"/>
                  </a:moveTo>
                  <a:lnTo>
                    <a:pt x="10899648" y="1801367"/>
                  </a:lnTo>
                  <a:lnTo>
                    <a:pt x="10899648" y="0"/>
                  </a:lnTo>
                  <a:lnTo>
                    <a:pt x="0" y="0"/>
                  </a:lnTo>
                  <a:lnTo>
                    <a:pt x="0" y="180136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78723" y="4695380"/>
              <a:ext cx="3383279" cy="1645920"/>
            </a:xfrm>
            <a:custGeom>
              <a:avLst/>
              <a:gdLst/>
              <a:ahLst/>
              <a:cxnLst/>
              <a:rect l="l" t="t" r="r" b="b"/>
              <a:pathLst>
                <a:path w="3383279" h="1645920">
                  <a:moveTo>
                    <a:pt x="3383279" y="0"/>
                  </a:moveTo>
                  <a:lnTo>
                    <a:pt x="0" y="0"/>
                  </a:lnTo>
                  <a:lnTo>
                    <a:pt x="0" y="1645919"/>
                  </a:lnTo>
                  <a:lnTo>
                    <a:pt x="3383279" y="1645919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78723" y="4695380"/>
              <a:ext cx="3383279" cy="1645920"/>
            </a:xfrm>
            <a:custGeom>
              <a:avLst/>
              <a:gdLst/>
              <a:ahLst/>
              <a:cxnLst/>
              <a:rect l="l" t="t" r="r" b="b"/>
              <a:pathLst>
                <a:path w="3383279" h="1645920">
                  <a:moveTo>
                    <a:pt x="0" y="1645919"/>
                  </a:moveTo>
                  <a:lnTo>
                    <a:pt x="3383279" y="1645919"/>
                  </a:lnTo>
                  <a:lnTo>
                    <a:pt x="3383279" y="0"/>
                  </a:lnTo>
                  <a:lnTo>
                    <a:pt x="0" y="0"/>
                  </a:lnTo>
                  <a:lnTo>
                    <a:pt x="0" y="164591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65876" y="5326329"/>
              <a:ext cx="5221605" cy="951230"/>
            </a:xfrm>
            <a:custGeom>
              <a:avLst/>
              <a:gdLst/>
              <a:ahLst/>
              <a:cxnLst/>
              <a:rect l="l" t="t" r="r" b="b"/>
              <a:pathLst>
                <a:path w="5221605" h="951229">
                  <a:moveTo>
                    <a:pt x="5221224" y="0"/>
                  </a:moveTo>
                  <a:lnTo>
                    <a:pt x="0" y="0"/>
                  </a:lnTo>
                  <a:lnTo>
                    <a:pt x="0" y="950963"/>
                  </a:lnTo>
                  <a:lnTo>
                    <a:pt x="5221224" y="950963"/>
                  </a:lnTo>
                  <a:lnTo>
                    <a:pt x="5221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65876" y="5326329"/>
              <a:ext cx="5221605" cy="951230"/>
            </a:xfrm>
            <a:custGeom>
              <a:avLst/>
              <a:gdLst/>
              <a:ahLst/>
              <a:cxnLst/>
              <a:rect l="l" t="t" r="r" b="b"/>
              <a:pathLst>
                <a:path w="5221605" h="951229">
                  <a:moveTo>
                    <a:pt x="0" y="950963"/>
                  </a:moveTo>
                  <a:lnTo>
                    <a:pt x="5221224" y="950963"/>
                  </a:lnTo>
                  <a:lnTo>
                    <a:pt x="5221224" y="0"/>
                  </a:lnTo>
                  <a:lnTo>
                    <a:pt x="0" y="0"/>
                  </a:lnTo>
                  <a:lnTo>
                    <a:pt x="0" y="95096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578866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Great</a:t>
            </a:r>
            <a:r>
              <a:rPr sz="3350" spc="10" dirty="0"/>
              <a:t> </a:t>
            </a:r>
            <a:r>
              <a:rPr sz="3350" dirty="0"/>
              <a:t>Results</a:t>
            </a:r>
            <a:r>
              <a:rPr sz="3350" spc="-15" dirty="0"/>
              <a:t> </a:t>
            </a:r>
            <a:r>
              <a:rPr sz="3350" dirty="0"/>
              <a:t>with</a:t>
            </a:r>
            <a:r>
              <a:rPr sz="3350" spc="30" dirty="0"/>
              <a:t> </a:t>
            </a:r>
            <a:r>
              <a:rPr sz="3350" spc="-10" dirty="0"/>
              <a:t>Transformers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7855584" y="6357200"/>
            <a:ext cx="4078604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libri"/>
                <a:cs typeface="Calibri"/>
              </a:rPr>
              <a:t>[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Liu</a:t>
            </a:r>
            <a:r>
              <a:rPr sz="2300" u="sng" spc="-3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300" u="sng" spc="-1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300" u="sng" spc="-5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2018</a:t>
            </a:r>
            <a:r>
              <a:rPr sz="2300" u="none" dirty="0">
                <a:latin typeface="Calibri"/>
                <a:cs typeface="Calibri"/>
              </a:rPr>
              <a:t>];</a:t>
            </a:r>
            <a:r>
              <a:rPr sz="2300" u="none" spc="-40" dirty="0">
                <a:latin typeface="Calibri"/>
                <a:cs typeface="Calibri"/>
              </a:rPr>
              <a:t> </a:t>
            </a:r>
            <a:r>
              <a:rPr sz="2300" u="none" dirty="0">
                <a:latin typeface="Calibri"/>
                <a:cs typeface="Calibri"/>
              </a:rPr>
              <a:t>WikiSum </a:t>
            </a:r>
            <a:r>
              <a:rPr sz="2300" u="none" spc="-10" dirty="0">
                <a:latin typeface="Calibri"/>
                <a:cs typeface="Calibri"/>
              </a:rPr>
              <a:t>dataset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7182" y="4810886"/>
            <a:ext cx="3735704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30" dirty="0">
                <a:solidFill>
                  <a:srgbClr val="007B92"/>
                </a:solidFill>
                <a:latin typeface="Calibri"/>
                <a:cs typeface="Calibri"/>
              </a:rPr>
              <a:t>Transformers</a:t>
            </a:r>
            <a:r>
              <a:rPr sz="2300" spc="-10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7B92"/>
                </a:solidFill>
                <a:latin typeface="Calibri"/>
                <a:cs typeface="Calibri"/>
              </a:rPr>
              <a:t>all</a:t>
            </a:r>
            <a:r>
              <a:rPr sz="2300" spc="-60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7B92"/>
                </a:solidFill>
                <a:latin typeface="Calibri"/>
                <a:cs typeface="Calibri"/>
              </a:rPr>
              <a:t>the</a:t>
            </a:r>
            <a:r>
              <a:rPr sz="2300" spc="-30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7B92"/>
                </a:solidFill>
                <a:latin typeface="Calibri"/>
                <a:cs typeface="Calibri"/>
              </a:rPr>
              <a:t>way</a:t>
            </a:r>
            <a:r>
              <a:rPr sz="2300" spc="-6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007B92"/>
                </a:solidFill>
                <a:latin typeface="Calibri"/>
                <a:cs typeface="Calibri"/>
              </a:rPr>
              <a:t>down.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495" y="976693"/>
            <a:ext cx="3399154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Next,</a:t>
            </a:r>
            <a:r>
              <a:rPr sz="2300" spc="-4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8B1515"/>
                </a:solidFill>
                <a:latin typeface="Calibri"/>
                <a:cs typeface="Calibri"/>
              </a:rPr>
              <a:t>document</a:t>
            </a:r>
            <a:r>
              <a:rPr sz="2300" spc="-85" dirty="0">
                <a:solidFill>
                  <a:srgbClr val="8B1515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8B1515"/>
                </a:solidFill>
                <a:latin typeface="Calibri"/>
                <a:cs typeface="Calibri"/>
              </a:rPr>
              <a:t>generation!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6332" y="1773935"/>
            <a:ext cx="9648190" cy="2961640"/>
            <a:chOff x="986332" y="1773935"/>
            <a:chExt cx="9648190" cy="29616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3663" y="1773935"/>
              <a:ext cx="8750808" cy="239498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86332" y="2638043"/>
              <a:ext cx="6412865" cy="2097405"/>
            </a:xfrm>
            <a:custGeom>
              <a:avLst/>
              <a:gdLst/>
              <a:ahLst/>
              <a:cxnLst/>
              <a:rect l="l" t="t" r="r" b="b"/>
              <a:pathLst>
                <a:path w="6412865" h="2097404">
                  <a:moveTo>
                    <a:pt x="897839" y="85090"/>
                  </a:moveTo>
                  <a:lnTo>
                    <a:pt x="896632" y="55245"/>
                  </a:lnTo>
                  <a:lnTo>
                    <a:pt x="894410" y="0"/>
                  </a:lnTo>
                  <a:lnTo>
                    <a:pt x="828370" y="53848"/>
                  </a:lnTo>
                  <a:lnTo>
                    <a:pt x="857300" y="66865"/>
                  </a:lnTo>
                  <a:lnTo>
                    <a:pt x="0" y="1973072"/>
                  </a:lnTo>
                  <a:lnTo>
                    <a:pt x="11582" y="1978279"/>
                  </a:lnTo>
                  <a:lnTo>
                    <a:pt x="868857" y="72072"/>
                  </a:lnTo>
                  <a:lnTo>
                    <a:pt x="897839" y="85090"/>
                  </a:lnTo>
                  <a:close/>
                </a:path>
                <a:path w="6412865" h="2097404">
                  <a:moveTo>
                    <a:pt x="6412687" y="1554480"/>
                  </a:moveTo>
                  <a:lnTo>
                    <a:pt x="6330391" y="1576324"/>
                  </a:lnTo>
                  <a:lnTo>
                    <a:pt x="6351346" y="1600098"/>
                  </a:lnTo>
                  <a:lnTo>
                    <a:pt x="5798896" y="2087626"/>
                  </a:lnTo>
                  <a:lnTo>
                    <a:pt x="5807278" y="2097151"/>
                  </a:lnTo>
                  <a:lnTo>
                    <a:pt x="6359741" y="1609610"/>
                  </a:lnTo>
                  <a:lnTo>
                    <a:pt x="6380810" y="1633474"/>
                  </a:lnTo>
                  <a:lnTo>
                    <a:pt x="6397663" y="1591691"/>
                  </a:lnTo>
                  <a:lnTo>
                    <a:pt x="6412687" y="1554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7299" y="4718240"/>
            <a:ext cx="2015489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007B92"/>
                </a:solidFill>
                <a:latin typeface="Calibri"/>
                <a:cs typeface="Calibri"/>
              </a:rPr>
              <a:t>The</a:t>
            </a:r>
            <a:r>
              <a:rPr sz="2300" spc="-5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7B92"/>
                </a:solidFill>
                <a:latin typeface="Calibri"/>
                <a:cs typeface="Calibri"/>
              </a:rPr>
              <a:t>old</a:t>
            </a:r>
            <a:r>
              <a:rPr sz="2300" spc="-60" dirty="0">
                <a:solidFill>
                  <a:srgbClr val="007B92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007B92"/>
                </a:solidFill>
                <a:latin typeface="Calibri"/>
                <a:cs typeface="Calibri"/>
              </a:rPr>
              <a:t>standard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495" y="6509804"/>
            <a:ext cx="208279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Calibri"/>
                <a:cs typeface="Calibri"/>
              </a:rPr>
              <a:t>46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256" y="1092999"/>
            <a:ext cx="9076690" cy="374332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1" dirty="0">
                <a:latin typeface="Calibri"/>
                <a:cs typeface="Calibri"/>
              </a:rPr>
              <a:t>Quadratic</a:t>
            </a:r>
            <a:r>
              <a:rPr sz="2300" b="1" spc="-1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compute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in </a:t>
            </a:r>
            <a:r>
              <a:rPr sz="2300" b="1" spc="-20" dirty="0">
                <a:latin typeface="Calibri"/>
                <a:cs typeface="Calibri"/>
              </a:rPr>
              <a:t>self-</a:t>
            </a:r>
            <a:r>
              <a:rPr sz="2300" b="1" dirty="0">
                <a:latin typeface="Calibri"/>
                <a:cs typeface="Calibri"/>
              </a:rPr>
              <a:t>attention</a:t>
            </a:r>
            <a:r>
              <a:rPr sz="2300" b="1" spc="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(today)</a:t>
            </a:r>
            <a:r>
              <a:rPr sz="2300" spc="-1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ts val="275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Computing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pairs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interactions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means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our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computation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grows</a:t>
            </a:r>
            <a:endParaRPr sz="2300">
              <a:latin typeface="Calibri"/>
              <a:cs typeface="Calibri"/>
            </a:endParaRPr>
          </a:p>
          <a:p>
            <a:pPr marL="699135">
              <a:lnSpc>
                <a:spcPts val="2750"/>
              </a:lnSpc>
            </a:pPr>
            <a:r>
              <a:rPr sz="2300" b="1" dirty="0">
                <a:latin typeface="Calibri"/>
                <a:cs typeface="Calibri"/>
              </a:rPr>
              <a:t>quadratically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sequence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length!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60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b="1" dirty="0">
                <a:latin typeface="Calibri"/>
                <a:cs typeface="Calibri"/>
              </a:rPr>
              <a:t>What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if</a:t>
            </a:r>
            <a:r>
              <a:rPr sz="2300" b="1" spc="2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the</a:t>
            </a:r>
            <a:r>
              <a:rPr sz="2300" b="1" spc="-4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seq</a:t>
            </a:r>
            <a:r>
              <a:rPr sz="2300" b="1" spc="2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length</a:t>
            </a:r>
            <a:r>
              <a:rPr sz="2300" b="1" spc="5" dirty="0">
                <a:latin typeface="Calibri"/>
                <a:cs typeface="Calibri"/>
              </a:rPr>
              <a:t> </a:t>
            </a:r>
            <a:r>
              <a:rPr sz="2300" dirty="0">
                <a:latin typeface="Cambria Math"/>
                <a:cs typeface="Cambria Math"/>
              </a:rPr>
              <a:t>𝒏</a:t>
            </a:r>
            <a:r>
              <a:rPr sz="2300" spc="10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≥</a:t>
            </a:r>
            <a:r>
              <a:rPr sz="2300" spc="11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𝟓𝟎,</a:t>
            </a:r>
            <a:r>
              <a:rPr sz="2300" spc="-12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𝟎𝟎𝟎</a:t>
            </a:r>
            <a:r>
              <a:rPr sz="2300" b="1" dirty="0">
                <a:latin typeface="Calibri"/>
                <a:cs typeface="Calibri"/>
              </a:rPr>
              <a:t>?</a:t>
            </a:r>
            <a:r>
              <a:rPr sz="2300" b="1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E.g.,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work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documents</a:t>
            </a:r>
            <a:endParaRPr sz="23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65"/>
              </a:spcBef>
              <a:buClr>
                <a:srgbClr val="007B92"/>
              </a:buClr>
              <a:buFont typeface="Times New Roman"/>
              <a:buChar char="•"/>
            </a:pP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b="1" dirty="0">
                <a:latin typeface="Calibri"/>
                <a:cs typeface="Calibri"/>
              </a:rPr>
              <a:t>Position</a:t>
            </a:r>
            <a:r>
              <a:rPr sz="2300" b="1" spc="-7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representations</a:t>
            </a:r>
            <a:r>
              <a:rPr sz="2300" spc="-1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dirty="0">
                <a:latin typeface="Calibri"/>
                <a:cs typeface="Calibri"/>
              </a:rPr>
              <a:t>Are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simple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absolute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indices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best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represent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position?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55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dirty="0">
                <a:latin typeface="Calibri"/>
                <a:cs typeface="Calibri"/>
              </a:rPr>
              <a:t>Relative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linear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[Shaw</a:t>
            </a:r>
            <a:r>
              <a:rPr sz="2300" u="sng" spc="-6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300" u="sng" spc="-4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300" u="sng" spc="-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300" u="sng" spc="-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2"/>
              </a:rPr>
              <a:t>2018]</a:t>
            </a:r>
            <a:endParaRPr sz="23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560"/>
              </a:spcBef>
              <a:buClr>
                <a:srgbClr val="007B92"/>
              </a:buClr>
              <a:buFont typeface="Times New Roman"/>
              <a:buChar char="•"/>
              <a:tabLst>
                <a:tab pos="698500" algn="l"/>
              </a:tabLst>
            </a:pPr>
            <a:r>
              <a:rPr sz="2300" spc="-10" dirty="0">
                <a:latin typeface="Calibri"/>
                <a:cs typeface="Calibri"/>
              </a:rPr>
              <a:t>Dependency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syntax-</a:t>
            </a:r>
            <a:r>
              <a:rPr sz="2300" dirty="0">
                <a:latin typeface="Calibri"/>
                <a:cs typeface="Calibri"/>
              </a:rPr>
              <a:t>based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position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[Wang</a:t>
            </a:r>
            <a:r>
              <a:rPr sz="2300" u="sng" spc="5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et</a:t>
            </a:r>
            <a:r>
              <a:rPr sz="2300" u="sng" spc="-3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al.,</a:t>
            </a:r>
            <a:r>
              <a:rPr sz="2300" u="sng" spc="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300" u="sng" spc="-10" dirty="0">
                <a:solidFill>
                  <a:srgbClr val="4197B5"/>
                </a:solidFill>
                <a:uFill>
                  <a:solidFill>
                    <a:srgbClr val="4197B5"/>
                  </a:solidFill>
                </a:uFill>
                <a:latin typeface="Calibri"/>
                <a:cs typeface="Calibri"/>
                <a:hlinkClick r:id="rId3"/>
              </a:rPr>
              <a:t>2019]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47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893508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What</a:t>
            </a:r>
            <a:r>
              <a:rPr sz="3350" spc="5" dirty="0"/>
              <a:t> </a:t>
            </a:r>
            <a:r>
              <a:rPr sz="3350" dirty="0"/>
              <a:t>would</a:t>
            </a:r>
            <a:r>
              <a:rPr sz="3350" spc="10" dirty="0"/>
              <a:t> </a:t>
            </a:r>
            <a:r>
              <a:rPr sz="3350" dirty="0"/>
              <a:t>we</a:t>
            </a:r>
            <a:r>
              <a:rPr sz="3350" spc="-20" dirty="0"/>
              <a:t> </a:t>
            </a:r>
            <a:r>
              <a:rPr sz="3350" dirty="0"/>
              <a:t>like</a:t>
            </a:r>
            <a:r>
              <a:rPr sz="3350" spc="-25" dirty="0"/>
              <a:t> </a:t>
            </a:r>
            <a:r>
              <a:rPr sz="3350" dirty="0"/>
              <a:t>to</a:t>
            </a:r>
            <a:r>
              <a:rPr sz="3350" spc="10" dirty="0"/>
              <a:t> </a:t>
            </a:r>
            <a:r>
              <a:rPr sz="3350" dirty="0"/>
              <a:t>fix</a:t>
            </a:r>
            <a:r>
              <a:rPr sz="3350" spc="-15" dirty="0"/>
              <a:t> </a:t>
            </a:r>
            <a:r>
              <a:rPr sz="3350" dirty="0"/>
              <a:t>about</a:t>
            </a:r>
            <a:r>
              <a:rPr sz="3350" spc="5" dirty="0"/>
              <a:t> </a:t>
            </a:r>
            <a:r>
              <a:rPr sz="3350" dirty="0"/>
              <a:t>the</a:t>
            </a:r>
            <a:r>
              <a:rPr sz="3350" spc="45" dirty="0"/>
              <a:t> </a:t>
            </a:r>
            <a:r>
              <a:rPr sz="3350" spc="-10" dirty="0"/>
              <a:t>Transformer?</a:t>
            </a:r>
            <a:endParaRPr sz="33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0256" y="1162748"/>
            <a:ext cx="9919335" cy="3114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750"/>
              </a:lnSpc>
              <a:spcBef>
                <a:spcPts val="10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Transformers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grow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larger,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larger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larger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percent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compute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6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outside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self-</a:t>
            </a:r>
            <a:r>
              <a:rPr sz="2300" dirty="0">
                <a:latin typeface="Calibri"/>
                <a:cs typeface="Calibri"/>
              </a:rPr>
              <a:t>attention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portion,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despite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quadratic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cost.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practice,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almost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no</a:t>
            </a:r>
            <a:r>
              <a:rPr sz="2300" b="1" spc="1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large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Transformer</a:t>
            </a:r>
            <a:r>
              <a:rPr sz="2300" b="1" spc="-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language</a:t>
            </a:r>
            <a:r>
              <a:rPr sz="2300" b="1" spc="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models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use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anything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but</a:t>
            </a:r>
            <a:r>
              <a:rPr sz="2300" b="1" spc="20" dirty="0">
                <a:latin typeface="Calibri"/>
                <a:cs typeface="Calibri"/>
              </a:rPr>
              <a:t> </a:t>
            </a:r>
            <a:r>
              <a:rPr sz="2300" b="1" spc="-25" dirty="0">
                <a:latin typeface="Calibri"/>
                <a:cs typeface="Calibri"/>
              </a:rPr>
              <a:t>the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5"/>
              </a:spcBef>
            </a:pPr>
            <a:r>
              <a:rPr sz="2300" b="1" dirty="0">
                <a:latin typeface="Calibri"/>
                <a:cs typeface="Calibri"/>
              </a:rPr>
              <a:t>quadratic</a:t>
            </a:r>
            <a:r>
              <a:rPr sz="2300" b="1" spc="-5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cost</a:t>
            </a:r>
            <a:r>
              <a:rPr sz="2300" b="1" spc="-2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attention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we’ve</a:t>
            </a:r>
            <a:r>
              <a:rPr sz="2300" b="1" spc="-8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presented</a:t>
            </a:r>
            <a:r>
              <a:rPr sz="2300" b="1" spc="-3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here.</a:t>
            </a:r>
            <a:endParaRPr sz="23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50"/>
              </a:spcBef>
              <a:buClr>
                <a:srgbClr val="007B92"/>
              </a:buClr>
              <a:buFont typeface="Times New Roman"/>
              <a:buChar char="•"/>
              <a:tabLst>
                <a:tab pos="697865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cheaper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methods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tend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work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well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scale.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So,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there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point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trying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design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cheaper</a:t>
            </a:r>
            <a:r>
              <a:rPr sz="2300" spc="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alternatives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self-</a:t>
            </a:r>
            <a:r>
              <a:rPr sz="2300" spc="-10" dirty="0">
                <a:latin typeface="Calibri"/>
                <a:cs typeface="Calibri"/>
              </a:rPr>
              <a:t>attention?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ts val="2750"/>
              </a:lnSpc>
              <a:spcBef>
                <a:spcPts val="555"/>
              </a:spcBef>
              <a:buClr>
                <a:srgbClr val="8B1515"/>
              </a:buClr>
              <a:buFont typeface="Times New Roman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Or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would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unlock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much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better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models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much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longer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contexts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(&gt;100k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ts val="2750"/>
              </a:lnSpc>
            </a:pPr>
            <a:r>
              <a:rPr sz="2300" dirty="0">
                <a:latin typeface="Calibri"/>
                <a:cs typeface="Calibri"/>
              </a:rPr>
              <a:t>tokens?)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were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right?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69944" rIns="0" bIns="0" rtlCol="0">
            <a:spAutoFit/>
          </a:bodyPr>
          <a:lstStyle/>
          <a:p>
            <a:pPr marL="186690">
              <a:lnSpc>
                <a:spcPts val="1395"/>
              </a:lnSpc>
            </a:pPr>
            <a:r>
              <a:rPr spc="-25" dirty="0"/>
              <a:t>48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495" y="166433"/>
            <a:ext cx="1078865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/>
              <a:t>Do</a:t>
            </a:r>
            <a:r>
              <a:rPr sz="3350" spc="-45" dirty="0"/>
              <a:t> </a:t>
            </a:r>
            <a:r>
              <a:rPr sz="3350" dirty="0"/>
              <a:t>we</a:t>
            </a:r>
            <a:r>
              <a:rPr sz="3350" spc="-10" dirty="0"/>
              <a:t> </a:t>
            </a:r>
            <a:r>
              <a:rPr sz="3350" dirty="0"/>
              <a:t>even</a:t>
            </a:r>
            <a:r>
              <a:rPr sz="3350" spc="30" dirty="0"/>
              <a:t> </a:t>
            </a:r>
            <a:r>
              <a:rPr sz="3350" dirty="0"/>
              <a:t>need</a:t>
            </a:r>
            <a:r>
              <a:rPr sz="3350" spc="30" dirty="0"/>
              <a:t> </a:t>
            </a:r>
            <a:r>
              <a:rPr sz="3350" dirty="0"/>
              <a:t>to</a:t>
            </a:r>
            <a:r>
              <a:rPr sz="3350" spc="20" dirty="0"/>
              <a:t> </a:t>
            </a:r>
            <a:r>
              <a:rPr sz="3350" dirty="0"/>
              <a:t>remove</a:t>
            </a:r>
            <a:r>
              <a:rPr sz="3350" spc="-10" dirty="0"/>
              <a:t> </a:t>
            </a:r>
            <a:r>
              <a:rPr sz="3350" dirty="0"/>
              <a:t>the</a:t>
            </a:r>
            <a:r>
              <a:rPr sz="3350" spc="70" dirty="0"/>
              <a:t> </a:t>
            </a:r>
            <a:r>
              <a:rPr sz="3350" dirty="0"/>
              <a:t>quadratic</a:t>
            </a:r>
            <a:r>
              <a:rPr sz="3350" spc="-10" dirty="0"/>
              <a:t> </a:t>
            </a:r>
            <a:r>
              <a:rPr sz="3350" dirty="0"/>
              <a:t>cost</a:t>
            </a:r>
            <a:r>
              <a:rPr sz="3350" spc="20" dirty="0"/>
              <a:t> </a:t>
            </a:r>
            <a:r>
              <a:rPr sz="3350" dirty="0"/>
              <a:t>of</a:t>
            </a:r>
            <a:r>
              <a:rPr sz="3350" spc="-30" dirty="0"/>
              <a:t> </a:t>
            </a:r>
            <a:r>
              <a:rPr sz="3350" spc="-10" dirty="0"/>
              <a:t>attention?</a:t>
            </a:r>
            <a:endParaRPr sz="3350"/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33DE1-C422-41F9-8A61-CBDD877F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Modern Transformer</a:t>
            </a:r>
          </a:p>
          <a:p xmlns:a="http://schemas.openxmlformats.org/drawingml/2006/main">
            <a:pPr algn="l">
              <a:defRPr sz="390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design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3C850-432C-4031-BE42-40172083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97345480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DD190-01FD-40ED-9689-90D80664D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7d167dfce4e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1F4A3-0950-4F8C-8E60-07FA42B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A modern Transformer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5E2DD-5045-4FE5-AA5A-DDB9EFBE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33" y="1319627"/>
            <a:ext cx="4995333" cy="42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67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Common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918E6-518A-4D73-BDA0-39744EAE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33" y="1962522"/>
            <a:ext cx="4910667" cy="879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Pre-norm: normalize before attention and the feedforward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19B78-3B25-4D52-838C-9305F949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33" y="3045293"/>
            <a:ext cx="4910667" cy="744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RoPE: encode position in queries and keys.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68F2B-A5AF-4156-BDAE-212BC7F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33" y="4077309"/>
            <a:ext cx="4910667" cy="744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SwiGLU: gate the feedforward activations.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4907B-698D-4CD6-AF82-15C5B309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33" y="5109325"/>
            <a:ext cx="4910667" cy="879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Bias terms are often omitted in linear layers and normalization.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BF725-57C4-418E-8B2F-CDF4BB43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00934378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C7B3-DF3E-456A-9223-1B6486D8C4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a41095354478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463B1-7D54-4C12-B57D-8C18689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Pre-norm and the residual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317D-7176-478E-8BE0-E31A303F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544" y="5611853"/>
            <a:ext cx="1968958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Figure from Xiong 2020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A07A0-C004-4B3F-B765-C13D0605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311" y="4618428"/>
            <a:ext cx="4778089" cy="336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2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Set up LayerNorm so that it doesn’t affect the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9DE89-830F-49A7-8901-7218ABDC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919" y="4910699"/>
            <a:ext cx="3938576" cy="337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31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31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31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main residual signal path (on the left)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1D4F7-2538-4996-A82C-D2D9B33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498667" cy="42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Normalize the input to each attention or feedforward sublayer.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51180-933E-47AF-BB9E-332A1D05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333" y="6073668"/>
            <a:ext cx="9821333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67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Pre-norm keeps a direct residual path through the block.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7752E-07DD-45F2-845A-C673F654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47593810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A8AAF-1ADC-4915-9AF2-049E52DA8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44e39289a4c9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5FC48-6376-43E4-B4D0-76F4CC6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LayerNorm and RMSNorm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D5103-2059-456B-BF59-4E45EB52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02709"/>
            <a:ext cx="5757333" cy="727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LayerNorm normalizes the mean and variance across the hidden dimensions.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4D71-0B75-4AB6-9DA6-845B8C53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4060391"/>
            <a:ext cx="5757333" cy="761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RMSNorm rescales without subtracting the mean.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74924-C06A-4E97-8077-C107647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667" y="5041652"/>
            <a:ext cx="5418667" cy="676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rms(x) = √[(1/d) ∑ᵢ xᵢ² + 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356B9-802E-47EE-BD78-F106C146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533" y="5887567"/>
            <a:ext cx="5080000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11111"/>
                </a:solidFill>
                <a:latin typeface="Cambria Math"/>
                <a:ea typeface="Cambria Math"/>
                <a:cs typeface="Cambria Math"/>
              </a:rPr>
              <a:t>yᵢ = γᵢ xᵢ / rms(x)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3FE00-B46E-4A25-A181-C1276CFB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353464"/>
            <a:ext cx="3894667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67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LayerNorm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AB3EE-5FC2-4AF1-B5B3-E8DB01E0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3277"/>
            <a:ext cx="3979333" cy="1184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Center and rescale each token across its hidden dimensions.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9F491-6B37-4A36-A93C-6CC1C004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060391"/>
            <a:ext cx="3894667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67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RMSNorm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5A26A-25E5-4354-B4A2-B35E5045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737123"/>
            <a:ext cx="3979333" cy="1184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 the root mean square; commonly omit the additive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D5978-27B5-4FCB-B730-1FCFBA04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5094056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53F0C-373F-49FB-A9E8-AED541939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5c27f403b431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A8F24-08C6-4294-BC39-BE40B415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Normalization and data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38A66-1AB5-458F-BD78-9E20FD98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417" y="6464518"/>
            <a:ext cx="1402249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[Ivanov et al 2023]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B99C4-8B5B-4F0F-9D0B-19816D3A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813" y="5692485"/>
            <a:ext cx="2095284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Left top (”43G”) is FLOPS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94342-8CF5-4FFF-AAC1-83BBCE84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813" y="5899988"/>
            <a:ext cx="3647310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Right top (“153”) is the FLOP-to-memory ratio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8AA6A-4D16-4E8A-89A3-3E1C9B40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293" y="4464549"/>
            <a:ext cx="4445781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RMSNorm can still matter due to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D768A-9E0F-4EA9-B80B-EFDB6155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93" y="4831337"/>
            <a:ext cx="4575044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importance of data movement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A914D-8C9C-4DF4-AF68-F36C8C7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498667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26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67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Few FLOPs do not necessarily mean little runtime.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983D8-0898-40F0-A255-B522F0CB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1911767"/>
            <a:ext cx="2658533" cy="79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△ Tensor contraction</a:t>
            </a:r>
          </a:p>
          <a:p xmlns:a="http://schemas.openxmlformats.org/drawingml/2006/main">
            <a: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□ Normalization</a:t>
            </a:r>
          </a:p>
          <a:p xmlns:a="http://schemas.openxmlformats.org/drawingml/2006/main">
            <a: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○ Element-wise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C91B6-748D-4603-B244-7193BC6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83695106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5003-D595-49A4-BA67-57103F476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989e9d69e452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7A659-9BD2-49E0-A74B-071332A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Gated feedforward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3DE24-147B-4D95-923A-A2BFD2D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837" y="1418825"/>
            <a:ext cx="5250811" cy="427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GLUs modify the ‘first part’ of a FF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8858B-0EB7-421D-B4D8-9271087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34" y="3228836"/>
            <a:ext cx="10044476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Instead of a linear + ReLU, augment the above with an (entrywise) linear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B495F-1A41-47BA-9B1D-B85E390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82" y="5017330"/>
            <a:ext cx="10309488" cy="427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This gives the gated variant (ReGLU) – note that we have an extra parameter (V)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39C8F-186F-4E40-89A7-D063DA18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19090142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08402-CAA2-4073-BF4F-18EA37C9F9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ecaa9af7a4f6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1C22D-892C-4D96-B9FB-D753EBAC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GeGLU and SwiGLU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3BD8E-B794-40B2-83D9-24475DA9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212" y="1573043"/>
            <a:ext cx="1165881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GeGLU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69F16-8A35-4E5C-851A-7843B40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861013"/>
            <a:ext cx="3217333" cy="1522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gate multiplies two projections element by element.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0AF4C-6C68-4B69-A067-1396BCC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009636"/>
            <a:ext cx="3217333" cy="1099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Three weight matrices instead of two.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12CF5-C642-4B31-A360-BA078BC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870649"/>
            <a:ext cx="10583333" cy="609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 keep parameter count similar, use about 2/3 of the ungated FFN width.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A3CA1-9327-4F2A-868C-ECF25587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64646774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92275-F3B2-4DE9-8C48-74E51CD80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87b780d48422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17B6B-F871-4ED2-BE39-519C04C7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RoPE: relative position through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47DB0-0C02-46AE-BA4B-6CF6B875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41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query–key inner product should depend on relative position i − j.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2BBEE-2196-42BC-93F8-569F6804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943783"/>
            <a:ext cx="10583333" cy="812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Keep the content vectors x and y, but make the positional dependence relative.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C27F7-F598-4ED9-B4B6-0E2F5E7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4161901"/>
            <a:ext cx="10583333" cy="676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Adding position embeddings introduces content–position cross terms.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861C5-50B8-4ADE-82F9-A0BABE3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278508"/>
            <a:ext cx="10583333" cy="812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RoPE instead rotates queries and keys before computing their inner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9D445-B4CD-43FD-AC20-80843509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97747485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9C671-145B-4590-8CEA-F3519814EF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b06e8824b47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3A150-401B-4B98-B854-650834A5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RoPE: rotation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CCA74-BA93-40B5-AE72-05F033EB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707" y="3010421"/>
            <a:ext cx="680988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11EBF-0858-4D19-9B86-2DC7EAD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563" y="3737908"/>
            <a:ext cx="960349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572FD-882F-4069-9294-EF584D87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43" y="5300279"/>
            <a:ext cx="2743823" cy="38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Position independent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543DF-E5BE-43ED-AD07-7FF6EC9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251" y="5630017"/>
            <a:ext cx="1547537" cy="3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embedding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D2C15-025F-4BC7-89E0-6446C688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146" y="3645026"/>
            <a:ext cx="680988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8F1B4-19B0-4FC7-BC8B-011B001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201" y="3387191"/>
            <a:ext cx="961877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B334E-04E5-4D36-82BE-E927A705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735" y="5174271"/>
            <a:ext cx="1613891" cy="38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Embedding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67FAA-2211-4A74-8DD1-14FDE0D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595" y="5503992"/>
            <a:ext cx="2573765" cy="381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“of course we know”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D45E5-9333-44E3-A0BF-C2491076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673" y="5959999"/>
            <a:ext cx="2792863" cy="336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2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Rotate we by ‘2 positions’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6BCA1-4F13-4EB8-8E69-126BE886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176" y="5938580"/>
            <a:ext cx="2782183" cy="336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2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Rotate we by ‘0 positions’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3E0E7-B11E-4840-BFEF-5F63BA56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736" y="3030046"/>
            <a:ext cx="680988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281F0-1F8B-4CBA-AE88-E07F840E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249" y="3682923"/>
            <a:ext cx="960350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know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7324C-580E-4985-A22F-2ED4E78E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971" y="5157472"/>
            <a:ext cx="1614431" cy="3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Embedding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918D1-603E-4EF1-97A3-12721DEA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988" y="5487193"/>
            <a:ext cx="2012029" cy="3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“we know that”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6092C-6D57-4F2B-8200-F9FC57E8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054" y="6279237"/>
            <a:ext cx="2332271" cy="337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31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31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31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know by ‘1 position’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65D6E-30D7-4E55-8538-51887379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101" y="6306536"/>
            <a:ext cx="3037930" cy="336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2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2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Rotate know by ‘3 positions’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493BA-C7E1-41BB-BE4D-423B27A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1319627"/>
            <a:ext cx="10583333" cy="456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Rotate each vector by an angle determined by its 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F72EF-FA2C-4E0F-AB0E-7CE46776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1911767"/>
            <a:ext cx="10583333" cy="592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common shift rotates both vectors equally; their inner product is unchanged.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36DBF-C43F-4E2D-9610-777521B6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8727595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188B1-C370-4C81-A9F2-F032089760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1bc67cc134e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714BE-6792-48FC-B695-A95FAD62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RoPE: rotate coordinate pairs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A4E6A-805A-4894-AD18-B188330E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37" y="1285185"/>
            <a:ext cx="6383429" cy="38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9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9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9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There are many rotations, which one do you pick?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A96A4-6306-461F-BAC5-66ADD5B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41" y="6124687"/>
            <a:ext cx="7480023" cy="307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3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3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39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Just pair up the coordinates and rotate them in 2d (motivation: complex numbers)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3607F-1958-427D-BC35-2061A43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291" y="5785316"/>
            <a:ext cx="1296811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[Su et al 2021]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F6C26-08F4-47D8-932B-FEB96C09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667" y="2453153"/>
            <a:ext cx="2624667" cy="1691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Each coordinate pair has its own rotation frequency.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61C9E-7DB8-4807-80C8-2FFD98F1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4145279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5234A-6FE4-4ADB-AEED-CBDCA3496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7586285c24f9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C658B-A839-4F2A-9E04-9600540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RoPE: the rotation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C7A38-46DF-419C-BCF2-3CD8FF17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37" y="1285185"/>
            <a:ext cx="3900983" cy="38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9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Multiply with sines and cosines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EF571-EC68-48C4-A28A-C6CA4908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786057"/>
            <a:ext cx="10583333" cy="710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 is the token position; θᵢ is the rotation frequency for coordinate pair 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21207-7BA3-43FA-8577-47F6D280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12139893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1327B-BED9-4867-9E2D-EF5C89654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8641340f741a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2CB8A-78F4-4661-9C93-691617E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Feedforward width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3DF19-C215-43B9-85E5-A8DB040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 ungated feedforward layer uses two weight matrices.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BEB98-926D-4ACE-B976-BC011195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3315986"/>
            <a:ext cx="10583333" cy="592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hidden FFN dimension is usually larger than the model dimension.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9DBE1-6AF1-4712-AA2E-D80E7095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836812"/>
            <a:ext cx="10583333" cy="727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common ungated baseline is 4×; with gating, about 8/3× gives a similar parameter count.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BD10D-AB45-488D-9F49-4E09D7D7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18269031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160B8-E824-4B98-89F9-C00BC85F84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7b1ba0b1e47a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83BC1-0162-4F37-A712-8917D1F6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Depth, width, and parallelism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AA7C7-D706-4794-B830-D6D7CED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37" y="1285185"/>
            <a:ext cx="9122837" cy="38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9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9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9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Extremely deep models are harder to parallelize and have higher latency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BDA98-5669-4E7E-9CFC-F31BBECA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994" y="3521343"/>
            <a:ext cx="1370316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[Tay et al 2021]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CB25B-37F9-4FD6-9EE0-44653E0E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667" y="2030195"/>
            <a:ext cx="10329333" cy="609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Depth creates sequential dependencies: each layer waits for the previous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96AE0-EE1F-4DB2-82BC-5808BD0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667" y="2740764"/>
            <a:ext cx="10329333" cy="727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Width allows matrix operations to be split across devices. Pipeline parallelism places groups of layers on separate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2A5EE-45EA-44BE-9402-99A849DF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90089393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7E65C-ABB8-4331-95DE-EC669F51B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263bd06dd42c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C3A81-8265-4123-A499-106BD205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Autoregressive decoding and the KV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AF93A-FED6-4299-B9AB-43F13F4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Generate one token at a time: each new token depends on earlier tokens.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DC4D3-92C0-498C-8FF6-0DB434BB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080950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Cache the keys and values of past tokens in every attention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068F6-876A-4597-AE67-9E1745E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825355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Compute only the new token’s Q, K, and V; attend over cached and new K/V.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29358-7DC4-4AE0-AC5F-F357109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333" y="6496625"/>
            <a:ext cx="6265333" cy="287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KV cache illustration: João Lages, “KV caching explained”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DC5FB-6A44-4650-97D0-24E6E3CA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35364947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57C1E-53B9-47D8-89EF-DBF88D584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1a4afcbf54be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6F958-43FE-4880-BB15-06E4A7D7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Multi-query attention (MQA)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06A3E-70F5-41DC-BACC-8069F09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Many query heads share one key head and one value head.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03EEF-A899-43C8-BDD1-1048BBC6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346181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smaller KV cache reduces memory traffic during decoding.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8E2F7-F652-423D-B001-16FB66AA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6022913"/>
            <a:ext cx="10583333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Each shared head still contains a vector of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CBE76-39B8-4888-9A58-6F0DFB1B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9333" y="6496625"/>
            <a:ext cx="2963333" cy="287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MQA diagram: Fireworks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EDD46-1C38-4316-9E54-693817F8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35776778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9B39A-5B80-4163-9541-38E778568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9f24f73f24a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32F1A-BFEA-4153-9A08-9C785748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Grouped-query attention (GQA)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02516-AFAD-44A5-A9DA-9C000BCC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Each group of query heads shares a key head and a value head.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07E44-0F23-4666-A6D0-5E756AB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413855"/>
            <a:ext cx="10583333" cy="592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Choose the number of KV heads to balance capacity and cache size.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03EBB-4109-4C66-BFCA-6A136406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6158260"/>
            <a:ext cx="10583333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MHA: one KV pair per query head. MQA: one shared KV pair.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13B56-9A0B-4347-8E15-0848E742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79806968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9B3A2-5D0C-4122-94FC-B26B1CCD0A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13232612c434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9722D-828D-4241-9936-C44128D3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Sparse and sliding-window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E32F4-B0CE-4F23-A752-A617E36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37" y="1249058"/>
            <a:ext cx="7768873" cy="381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Attending to the entire context can be expensive (quadratic).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2108B-91F7-46EE-B178-B94FAD4B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25" y="6460322"/>
            <a:ext cx="1452542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[Child et al 2019]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F18C7-747C-4FC9-B849-D5E458A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945604"/>
            <a:ext cx="10583333" cy="710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local window limits direct attention to nearby tokens; sparse patterns can add distant connections.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00CDD-1A87-428B-905B-3B2F246C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74083047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B09D9-08E5-49F2-A15C-AE4DB59A7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cb1cfaff247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0671E-4AE3-4935-876D-EAB32A4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Linear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BD942-F663-4D84-A8A7-3E291C5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3569760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With ρ = identity (no softmax), matrix multiplication can be reordered.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565E3-6309-4FB4-9627-1A1DB01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802975"/>
            <a:ext cx="10583333" cy="575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This avoids the n × n attention matrix: cost is linear in n for fixed head dimensions.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862D6-4B27-4154-9193-DEB3D003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667" y="6513544"/>
            <a:ext cx="5588000" cy="287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Shen et al. (2018); Katharopoulos et al. (2020)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CAC80-459F-401D-91AB-DD60204C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44305067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2461A-0AEF-439B-A460-009096443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ef7488e9c4a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89B11-FC87-4D86-BB9E-C1FB139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Linear attention as a recurrence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87A83-311B-4E0A-90E0-C8FDD3FF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292" y="1661448"/>
            <a:ext cx="7682504" cy="38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9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Recall that in purely linear attention, we consider the reordering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CB00D-A7E5-4807-8EC8-95215ED6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3146803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For causal attention, maintain a state that sums key–value outer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CD086-1DF8-47BD-8F35-72AB828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4737123"/>
            <a:ext cx="10583333" cy="761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Training can use parallel scans or chunks. Decoding updates one state per token.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96CD6-E2A0-4306-83F2-C0E4DA7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786057"/>
            <a:ext cx="10583333" cy="676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state size depends on the head dimensions, not the sequence length.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13648-4263-4FE0-8FEE-0F3EAEEC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48020833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F0F6A-5E2C-438F-84A0-E73A5B16B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b6381ff7847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50433-488E-48E1-A7E8-4AEB96F6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Mixture of experts (MoE)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E7CC1-8C98-478A-8ABD-C93002C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891" y="4783110"/>
            <a:ext cx="1552649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[Fedus et al 2022]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F9581-A935-4B04-812D-8EF565A4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193917"/>
            <a:ext cx="10583333" cy="52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Replace one feedforward layer with several experts and a learned router.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AD1A7-5F5E-450B-87A6-EA5AA6A9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921403"/>
            <a:ext cx="10583333" cy="79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Keep a fixed number active per token: more experts add parameters, while active FFN compute stays similar.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D85AB-CD89-4129-9478-30E726A0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79407878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D3DA6-1D8D-40E6-88ED-868AFD66F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bb80ac69941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37A27-F302-4DA5-9CAC-1E71D475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More capacity at similar active compute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61634-A3F6-40E8-9D14-2AE93928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175" y="6125136"/>
            <a:ext cx="1552480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[Fedus et al 2022]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546E7-7A6C-4370-BBA8-E942670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92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Switch Transformer experiments: more experts improve quality at matched per-token FLOPs.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024D1-0FC3-4BA2-96CD-EEA67F0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80162616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1D422-6A68-43C5-8AB0-07B0CCBA7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05c8a35c24fa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3F6C9-1FE8-4343-932E-44C20776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Routing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D82A5-450D-4E77-B19A-F247DDD7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37" y="1285185"/>
            <a:ext cx="7030545" cy="38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19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19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Many of the routing algorithms boil down to ‘choose top k’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DB0B5-6F3D-433E-80C9-D8D92D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633" y="5594471"/>
            <a:ext cx="2215946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Token chooses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FF29A-E791-4DC9-BDD0-5293EB6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161" y="5961175"/>
            <a:ext cx="1063964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expert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B4CE9-7CAD-4392-B847-96941655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51" y="5590275"/>
            <a:ext cx="2239786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Expert chooses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92FED-B8D5-4B22-B3B8-67B18789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627" y="5956556"/>
            <a:ext cx="993970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C2E54-8EDB-4C87-8AE0-FD4D8EAA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962" y="5590275"/>
            <a:ext cx="2585167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Global routing via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07FE3-9D8F-4D7C-BE7B-15FA67F1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768" y="5956556"/>
            <a:ext cx="1884933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59E53-5012-4AB8-804C-ACB795F3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861" y="6294827"/>
            <a:ext cx="1552481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[Fedus et al 2022]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949E2-0EAD-4A81-A65E-B852B482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64252691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7130E-D948-4B57-A848-48B2611C2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721dcc12a4c7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3E31E-A027-4A7D-9317-AF0D2A2D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Top-k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D241A-E81A-4797-8C86-B1220093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536" y="6464518"/>
            <a:ext cx="1345752" cy="2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4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[Dai et al 2024]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C50D2-1D48-4E7B-9E1E-26DC88D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327" y="1961487"/>
            <a:ext cx="1090250" cy="427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40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Gating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B6099-8379-4A0E-B01B-D144581E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Score the experts, select k, and combine their weighted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738DE-B50F-421C-8367-1BE73E2A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131705"/>
            <a:ext cx="3471333" cy="1099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router maps each token to one score per expert.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C205D-9692-4B66-87EC-4C50F9CE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789698"/>
            <a:ext cx="3471333" cy="1099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Top-k keeps only the selected experts active.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F74CF-C1F4-475A-B6E9-AB929AE4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5193917"/>
            <a:ext cx="3471333" cy="1048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Weights can be normalized before or after selection.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4C4E0-CEDF-4614-8C81-3460943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6175178"/>
            <a:ext cx="8128000" cy="47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Learned scores determine which experts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AEC5F-F43D-4EEC-86E1-629B9AB1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55228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B33E2-23D6-4DD1-A03D-C6C4FAD07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05f09dd904b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6AFED-DF84-4219-B482-1878522D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Fine-grained and shared experts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AAA48-817E-4285-A5C4-CC7C224B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667" y="5616874"/>
            <a:ext cx="10498667" cy="456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Split experts into smaller units; activate several for each token.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900C5-49D5-42F0-8657-BCCD5803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667" y="6259769"/>
            <a:ext cx="10498667" cy="456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Shared experts are always active and learn broadly useful transformations.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36E77-E289-4D01-9475-3B88515F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75200872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19232-49F4-4335-AB11-ACA8AF5F2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3b34a44b7424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06EA0-679A-479D-9FCF-1872B595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Balancing expert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279D2-DF80-4B27-8042-0371811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704" y="5489000"/>
            <a:ext cx="3595962" cy="261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4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4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4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From the Switch Transformer [Fedus et al 2022]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03C95-DF8F-40DB-919D-5C4FB57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Uneven routing can overload a few experts and leave others underused.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147AB-CFA3-473E-B38E-7619D822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333" y="5887567"/>
            <a:ext cx="10244667" cy="710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auxiliary loss penalizes concentrating both assignments and router probability on the same experts.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D5B22-820F-4172-8351-20572E7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72338638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2B378-4AE5-45D5-826F-18254AC7F7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5bbeff0d34b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25293-D61A-4513-9F98-0A98F4E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Expert parallelism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FCEB1-0622-4A1C-A453-CC7BF9D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33" y="1590320"/>
            <a:ext cx="4436533" cy="676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Place different experts on different devices.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9206F-0580-4ECB-849F-71234535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1691830"/>
            <a:ext cx="5080000" cy="609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Route tokens to experts, then return their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54CE3-2D36-4F9C-B1A0-CD659FF2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208142642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251AC-3862-448A-B458-1F7D9F3D7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ccd9f190c422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5D213-444B-4988-88BE-0A31DF75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Efficient expert computation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32507-6A36-4DDA-9C07-41A1D6E6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319627"/>
            <a:ext cx="10583333" cy="50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Routing produces groups of tokens with different sizes for each expert.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CCD21-172C-426C-B9B7-EF7F9A0C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498446"/>
            <a:ext cx="10583333" cy="676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0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Grouped or block-sparse matrix multiplication avoids wasting work on padding.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643DC-9684-4649-A5DA-C3E8282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6276688"/>
            <a:ext cx="10583333" cy="439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93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3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Example: MegaBlocks uses block-sparse kernels for expert FFNs.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BD2E-31DB-4C80-91AA-5D1C3243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79485566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05003-983D-47F1-B175-A01B30DF2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3c0537d2d4d2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EEFA0-FA19-4857-9AC3-D9A4E493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2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07B92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07B92"/>
                </a:solidFill>
                <a:latin typeface="Calibri"/>
                <a:ea typeface="Calibri"/>
                <a:cs typeface="Calibri"/>
              </a:rPr>
              <a:t>MoE: the design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E25BB-0CB2-4F8F-9EF3-48C39B8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667" y="2165542"/>
            <a:ext cx="10160000" cy="93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6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6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Sparse activation increases total model capacity while limiting the experts used per token.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2EB95-5429-4D41-858C-EF78797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667" y="3789698"/>
            <a:ext cx="10160000" cy="93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6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6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router chooses experts; balancing keeps their workloads usable.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2B032-CA9B-44A3-98D9-6B4CC02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667" y="5295426"/>
            <a:ext cx="10160000" cy="1015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667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667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Parameter memory and token communication still matter. Efficient execution is part of the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CD8FF-F5D1-42E8-AAF9-A9D92E4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4009159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0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FBDB8C-49B1-40E3-B0B6-00D7764C6CF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02b0791-3814-49a4-855f-0be042600c3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3635</Words>
  <Application>Microsoft Office PowerPoint</Application>
  <PresentationFormat>Widescreen</PresentationFormat>
  <Paragraphs>651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Cambria Math</vt:lpstr>
      <vt:lpstr>Inter</vt:lpstr>
      <vt:lpstr>Source Sans Pro</vt:lpstr>
      <vt:lpstr>Times New Roman</vt:lpstr>
      <vt:lpstr>Office Theme</vt:lpstr>
      <vt:lpstr>PowerPoint Presentation</vt:lpstr>
      <vt:lpstr>1. Language Modeling</vt:lpstr>
      <vt:lpstr>Language Modeling</vt:lpstr>
      <vt:lpstr>2. How to build a neural language model?</vt:lpstr>
      <vt:lpstr>A fixed-window neural Language Model</vt:lpstr>
      <vt:lpstr>A fixed-window neural Language Model</vt:lpstr>
      <vt:lpstr>The bottleneck problem in RNNs</vt:lpstr>
      <vt:lpstr>3. Attention</vt:lpstr>
      <vt:lpstr>The starting point: mean-pooling for RNNs</vt:lpstr>
      <vt:lpstr>Attention is weighted averaging, which lets you do lookups!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4. Do we even need recurrence at all?</vt:lpstr>
      <vt:lpstr>The building block we need: self attention</vt:lpstr>
      <vt:lpstr>Self-Attention Hypothetical Example</vt:lpstr>
      <vt:lpstr>Self-Attention: keys, queries, values from the same sequence</vt:lpstr>
      <vt:lpstr>Barriers and solutions for Self-Attention as a building block</vt:lpstr>
      <vt:lpstr>Fixing the first self-attention problem: sequence order</vt:lpstr>
      <vt:lpstr>Position representation vectors through sinusoids</vt:lpstr>
      <vt:lpstr>Position representation vectors learned from scratch</vt:lpstr>
      <vt:lpstr>Barriers and solutions for Self-Attention as a building block</vt:lpstr>
      <vt:lpstr>Adding nonlinearities in self-attention</vt:lpstr>
      <vt:lpstr>Barriers and solutions for Self-Attention as a building block</vt:lpstr>
      <vt:lpstr>Masking the future in self-attention</vt:lpstr>
      <vt:lpstr>Barriers and solutions for Self-Attention as a building block</vt:lpstr>
      <vt:lpstr>Necessities for a self-attention building block:</vt:lpstr>
      <vt:lpstr>5. The Transformer Decoder</vt:lpstr>
      <vt:lpstr>Hypothetical Example of Multi-Head Attention</vt:lpstr>
      <vt:lpstr>Sequence-Stacked form of Attention</vt:lpstr>
      <vt:lpstr>Multi-headed attention</vt:lpstr>
      <vt:lpstr>Multi-head self-attention is computationally efficient</vt:lpstr>
      <vt:lpstr>Scaled Dot Product [Vaswani et al., 2017]</vt:lpstr>
      <vt:lpstr>The Transformer Decoder</vt:lpstr>
      <vt:lpstr>The Transformer Encoder: Residual connections [He et al., 2016]</vt:lpstr>
      <vt:lpstr>The Transformer Encoder: Layer normalization [Ba et al., 2016]</vt:lpstr>
      <vt:lpstr>The Transformer Decoder</vt:lpstr>
      <vt:lpstr>The Transformer Encoder</vt:lpstr>
      <vt:lpstr>The Transformer Encoder-Decoder</vt:lpstr>
      <vt:lpstr>Cross-attention (details)</vt:lpstr>
      <vt:lpstr>6. Great Results with Transformers</vt:lpstr>
      <vt:lpstr>Great Results with Transformers</vt:lpstr>
      <vt:lpstr>What would we like to fix about the Transformer?</vt:lpstr>
      <vt:lpstr>Do we even need to remove the quadratic cost of attention?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Manning</dc:creator>
  <cp:lastModifiedBy>CIPRIAN IONUT PADURARU</cp:lastModifiedBy>
  <cp:revision>8</cp:revision>
  <dcterms:created xsi:type="dcterms:W3CDTF">2026-10-11T09:01:27Z</dcterms:created>
  <dcterms:modified xsi:type="dcterms:W3CDTF">2026-10-11T13:05:07Z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LastSaved">
    <vt:filetime>2026-10-11T00:00:00Z</vt:filetime>
  </property>
</Properties>
</file>